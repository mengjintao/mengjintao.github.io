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drawings/drawing1.xml" ContentType="application/vnd.openxmlformats-officedocument.drawingml.chartshapes+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handoutMasterIdLst>
    <p:handoutMasterId r:id="rId32"/>
  </p:handoutMasterIdLst>
  <p:sldIdLst>
    <p:sldId id="256" r:id="rId2"/>
    <p:sldId id="257" r:id="rId3"/>
    <p:sldId id="296" r:id="rId4"/>
    <p:sldId id="302" r:id="rId5"/>
    <p:sldId id="298" r:id="rId6"/>
    <p:sldId id="301" r:id="rId7"/>
    <p:sldId id="299" r:id="rId8"/>
    <p:sldId id="303" r:id="rId9"/>
    <p:sldId id="305" r:id="rId10"/>
    <p:sldId id="318" r:id="rId11"/>
    <p:sldId id="304" r:id="rId12"/>
    <p:sldId id="306" r:id="rId13"/>
    <p:sldId id="315" r:id="rId14"/>
    <p:sldId id="327" r:id="rId15"/>
    <p:sldId id="309" r:id="rId16"/>
    <p:sldId id="316" r:id="rId17"/>
    <p:sldId id="319" r:id="rId18"/>
    <p:sldId id="310" r:id="rId19"/>
    <p:sldId id="317" r:id="rId20"/>
    <p:sldId id="331" r:id="rId21"/>
    <p:sldId id="314" r:id="rId22"/>
    <p:sldId id="326" r:id="rId23"/>
    <p:sldId id="324" r:id="rId24"/>
    <p:sldId id="320" r:id="rId25"/>
    <p:sldId id="332" r:id="rId26"/>
    <p:sldId id="330" r:id="rId27"/>
    <p:sldId id="286" r:id="rId28"/>
    <p:sldId id="288" r:id="rId29"/>
    <p:sldId id="289"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23A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84" autoAdjust="0"/>
    <p:restoredTop sz="99304" autoAdjust="0"/>
  </p:normalViewPr>
  <p:slideViewPr>
    <p:cSldViewPr>
      <p:cViewPr varScale="1">
        <p:scale>
          <a:sx n="75" d="100"/>
          <a:sy n="75" d="100"/>
        </p:scale>
        <p:origin x="-99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file:///E:\360&#20113;&#30424;\U&#30424;\&#27979;&#35797;&#32467;&#26524;\BlueGeneQ.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E:\360&#20113;&#30424;\U&#30424;\&#27979;&#35797;&#32467;&#26524;\BlueGeneQ.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E:\360&#20113;&#30424;\U&#30424;\&#27979;&#35797;&#32467;&#26524;\MPI%20IO.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E:\360&#20113;&#30424;\U&#30424;\&#27979;&#35797;&#32467;&#26524;\MPI%20IO.xlsx" TargetMode="External"/></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E:\360&#20113;&#30424;\U&#30424;\&#27979;&#35797;&#32467;&#26524;\BGQ%20Comparison.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E:\360&#20113;&#30424;\U&#30424;\&#27979;&#35797;&#32467;&#26524;\BlueGeneQ.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E:\360&#20113;&#30424;\U&#30424;\&#27979;&#35797;&#32467;&#26524;\BlueGeneQ.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E:\360&#20113;&#30424;\U&#30424;\&#27979;&#35797;&#32467;&#26524;\optimization%20step%20results.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E:\360&#20113;&#30424;\U&#30424;\&#27979;&#35797;&#32467;&#26524;\optimization%20step%20results.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E:\360&#20113;&#30424;\U&#30424;\&#27979;&#35797;&#32467;&#26524;\FishHuman.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E:\360&#20113;&#30424;\U&#30424;\&#27979;&#35797;&#32467;&#26524;\1khuman4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percentStacked"/>
        <c:varyColors val="0"/>
        <c:ser>
          <c:idx val="0"/>
          <c:order val="0"/>
          <c:tx>
            <c:strRef>
              <c:f>Sheet2!$C$14</c:f>
              <c:strCache>
                <c:ptCount val="1"/>
                <c:pt idx="0">
                  <c:v>Input Parallelization</c:v>
                </c:pt>
              </c:strCache>
            </c:strRef>
          </c:tx>
          <c:invertIfNegative val="0"/>
          <c:cat>
            <c:numRef>
              <c:f>Sheet2!$B$15:$B$21</c:f>
              <c:numCache>
                <c:formatCode>General</c:formatCode>
                <c:ptCount val="7"/>
                <c:pt idx="0">
                  <c:v>128</c:v>
                </c:pt>
                <c:pt idx="1">
                  <c:v>256</c:v>
                </c:pt>
                <c:pt idx="2">
                  <c:v>512</c:v>
                </c:pt>
                <c:pt idx="3">
                  <c:v>1024</c:v>
                </c:pt>
                <c:pt idx="4">
                  <c:v>2048</c:v>
                </c:pt>
                <c:pt idx="5">
                  <c:v>4096</c:v>
                </c:pt>
                <c:pt idx="6">
                  <c:v>8192</c:v>
                </c:pt>
              </c:numCache>
            </c:numRef>
          </c:cat>
          <c:val>
            <c:numRef>
              <c:f>Sheet2!$C$15:$C$21</c:f>
              <c:numCache>
                <c:formatCode>General</c:formatCode>
                <c:ptCount val="7"/>
                <c:pt idx="0">
                  <c:v>22.12</c:v>
                </c:pt>
                <c:pt idx="1">
                  <c:v>38.4</c:v>
                </c:pt>
                <c:pt idx="2">
                  <c:v>39.200000000000003</c:v>
                </c:pt>
                <c:pt idx="3">
                  <c:v>31.83</c:v>
                </c:pt>
                <c:pt idx="4">
                  <c:v>22.72</c:v>
                </c:pt>
                <c:pt idx="5">
                  <c:v>21.39</c:v>
                </c:pt>
                <c:pt idx="6">
                  <c:v>67.239999999999995</c:v>
                </c:pt>
              </c:numCache>
            </c:numRef>
          </c:val>
        </c:ser>
        <c:ser>
          <c:idx val="1"/>
          <c:order val="1"/>
          <c:tx>
            <c:strRef>
              <c:f>Sheet2!$D$14</c:f>
              <c:strCache>
                <c:ptCount val="1"/>
                <c:pt idx="0">
                  <c:v>Construct k-mer Graph </c:v>
                </c:pt>
              </c:strCache>
            </c:strRef>
          </c:tx>
          <c:invertIfNegative val="0"/>
          <c:cat>
            <c:numRef>
              <c:f>Sheet2!$B$15:$B$21</c:f>
              <c:numCache>
                <c:formatCode>General</c:formatCode>
                <c:ptCount val="7"/>
                <c:pt idx="0">
                  <c:v>128</c:v>
                </c:pt>
                <c:pt idx="1">
                  <c:v>256</c:v>
                </c:pt>
                <c:pt idx="2">
                  <c:v>512</c:v>
                </c:pt>
                <c:pt idx="3">
                  <c:v>1024</c:v>
                </c:pt>
                <c:pt idx="4">
                  <c:v>2048</c:v>
                </c:pt>
                <c:pt idx="5">
                  <c:v>4096</c:v>
                </c:pt>
                <c:pt idx="6">
                  <c:v>8192</c:v>
                </c:pt>
              </c:numCache>
            </c:numRef>
          </c:cat>
          <c:val>
            <c:numRef>
              <c:f>Sheet2!$D$15:$D$21</c:f>
              <c:numCache>
                <c:formatCode>General</c:formatCode>
                <c:ptCount val="7"/>
                <c:pt idx="0">
                  <c:v>59.31</c:v>
                </c:pt>
                <c:pt idx="1">
                  <c:v>29.81</c:v>
                </c:pt>
                <c:pt idx="2">
                  <c:v>15.43</c:v>
                </c:pt>
                <c:pt idx="3">
                  <c:v>18.14</c:v>
                </c:pt>
                <c:pt idx="4">
                  <c:v>83.48</c:v>
                </c:pt>
                <c:pt idx="5">
                  <c:v>7.83</c:v>
                </c:pt>
                <c:pt idx="6">
                  <c:v>17.899999999999999</c:v>
                </c:pt>
              </c:numCache>
            </c:numRef>
          </c:val>
        </c:ser>
        <c:ser>
          <c:idx val="2"/>
          <c:order val="2"/>
          <c:tx>
            <c:strRef>
              <c:f>Sheet2!$E$14</c:f>
              <c:strCache>
                <c:ptCount val="1"/>
                <c:pt idx="0">
                  <c:v>cutoffGraph</c:v>
                </c:pt>
              </c:strCache>
            </c:strRef>
          </c:tx>
          <c:invertIfNegative val="0"/>
          <c:cat>
            <c:numRef>
              <c:f>Sheet2!$B$15:$B$21</c:f>
              <c:numCache>
                <c:formatCode>General</c:formatCode>
                <c:ptCount val="7"/>
                <c:pt idx="0">
                  <c:v>128</c:v>
                </c:pt>
                <c:pt idx="1">
                  <c:v>256</c:v>
                </c:pt>
                <c:pt idx="2">
                  <c:v>512</c:v>
                </c:pt>
                <c:pt idx="3">
                  <c:v>1024</c:v>
                </c:pt>
                <c:pt idx="4">
                  <c:v>2048</c:v>
                </c:pt>
                <c:pt idx="5">
                  <c:v>4096</c:v>
                </c:pt>
                <c:pt idx="6">
                  <c:v>8192</c:v>
                </c:pt>
              </c:numCache>
            </c:numRef>
          </c:cat>
          <c:val>
            <c:numRef>
              <c:f>Sheet2!$E$15:$E$21</c:f>
              <c:numCache>
                <c:formatCode>General</c:formatCode>
                <c:ptCount val="7"/>
                <c:pt idx="0">
                  <c:v>2.92</c:v>
                </c:pt>
                <c:pt idx="1">
                  <c:v>1.49</c:v>
                </c:pt>
                <c:pt idx="2">
                  <c:v>0.89</c:v>
                </c:pt>
                <c:pt idx="3">
                  <c:v>0.78</c:v>
                </c:pt>
                <c:pt idx="4">
                  <c:v>1.1200000000000001</c:v>
                </c:pt>
                <c:pt idx="5">
                  <c:v>1</c:v>
                </c:pt>
                <c:pt idx="6">
                  <c:v>1.89</c:v>
                </c:pt>
              </c:numCache>
            </c:numRef>
          </c:val>
        </c:ser>
        <c:ser>
          <c:idx val="3"/>
          <c:order val="3"/>
          <c:tx>
            <c:strRef>
              <c:f>Sheet2!$F$14</c:f>
              <c:strCache>
                <c:ptCount val="1"/>
                <c:pt idx="0">
                  <c:v>Construct MSG Graph</c:v>
                </c:pt>
              </c:strCache>
            </c:strRef>
          </c:tx>
          <c:invertIfNegative val="0"/>
          <c:cat>
            <c:numRef>
              <c:f>Sheet2!$B$15:$B$21</c:f>
              <c:numCache>
                <c:formatCode>General</c:formatCode>
                <c:ptCount val="7"/>
                <c:pt idx="0">
                  <c:v>128</c:v>
                </c:pt>
                <c:pt idx="1">
                  <c:v>256</c:v>
                </c:pt>
                <c:pt idx="2">
                  <c:v>512</c:v>
                </c:pt>
                <c:pt idx="3">
                  <c:v>1024</c:v>
                </c:pt>
                <c:pt idx="4">
                  <c:v>2048</c:v>
                </c:pt>
                <c:pt idx="5">
                  <c:v>4096</c:v>
                </c:pt>
                <c:pt idx="6">
                  <c:v>8192</c:v>
                </c:pt>
              </c:numCache>
            </c:numRef>
          </c:cat>
          <c:val>
            <c:numRef>
              <c:f>Sheet2!$F$15:$F$21</c:f>
              <c:numCache>
                <c:formatCode>General</c:formatCode>
                <c:ptCount val="7"/>
                <c:pt idx="0">
                  <c:v>14.61</c:v>
                </c:pt>
                <c:pt idx="1">
                  <c:v>7.34</c:v>
                </c:pt>
                <c:pt idx="2">
                  <c:v>3.76</c:v>
                </c:pt>
                <c:pt idx="3">
                  <c:v>1.92</c:v>
                </c:pt>
                <c:pt idx="4">
                  <c:v>1.18</c:v>
                </c:pt>
                <c:pt idx="5">
                  <c:v>0.74</c:v>
                </c:pt>
                <c:pt idx="6">
                  <c:v>0.84</c:v>
                </c:pt>
              </c:numCache>
            </c:numRef>
          </c:val>
        </c:ser>
        <c:ser>
          <c:idx val="4"/>
          <c:order val="4"/>
          <c:tx>
            <c:strRef>
              <c:f>Sheet2!$G$14</c:f>
              <c:strCache>
                <c:ptCount val="1"/>
                <c:pt idx="0">
                  <c:v>Graph Simplification</c:v>
                </c:pt>
              </c:strCache>
            </c:strRef>
          </c:tx>
          <c:invertIfNegative val="0"/>
          <c:cat>
            <c:numRef>
              <c:f>Sheet2!$B$15:$B$21</c:f>
              <c:numCache>
                <c:formatCode>General</c:formatCode>
                <c:ptCount val="7"/>
                <c:pt idx="0">
                  <c:v>128</c:v>
                </c:pt>
                <c:pt idx="1">
                  <c:v>256</c:v>
                </c:pt>
                <c:pt idx="2">
                  <c:v>512</c:v>
                </c:pt>
                <c:pt idx="3">
                  <c:v>1024</c:v>
                </c:pt>
                <c:pt idx="4">
                  <c:v>2048</c:v>
                </c:pt>
                <c:pt idx="5">
                  <c:v>4096</c:v>
                </c:pt>
                <c:pt idx="6">
                  <c:v>8192</c:v>
                </c:pt>
              </c:numCache>
            </c:numRef>
          </c:cat>
          <c:val>
            <c:numRef>
              <c:f>Sheet2!$G$15:$G$21</c:f>
              <c:numCache>
                <c:formatCode>General</c:formatCode>
                <c:ptCount val="7"/>
                <c:pt idx="0">
                  <c:v>475.07900000000001</c:v>
                </c:pt>
                <c:pt idx="1">
                  <c:v>238.95</c:v>
                </c:pt>
                <c:pt idx="2">
                  <c:v>120.31</c:v>
                </c:pt>
                <c:pt idx="3">
                  <c:v>62.96</c:v>
                </c:pt>
                <c:pt idx="4">
                  <c:v>33.58</c:v>
                </c:pt>
                <c:pt idx="5">
                  <c:v>19.690000000000001</c:v>
                </c:pt>
                <c:pt idx="6">
                  <c:v>17.73</c:v>
                </c:pt>
              </c:numCache>
            </c:numRef>
          </c:val>
        </c:ser>
        <c:ser>
          <c:idx val="5"/>
          <c:order val="5"/>
          <c:tx>
            <c:strRef>
              <c:f>Sheet2!$H$14</c:f>
              <c:strCache>
                <c:ptCount val="1"/>
                <c:pt idx="0">
                  <c:v>Output</c:v>
                </c:pt>
              </c:strCache>
            </c:strRef>
          </c:tx>
          <c:invertIfNegative val="0"/>
          <c:cat>
            <c:numRef>
              <c:f>Sheet2!$B$15:$B$21</c:f>
              <c:numCache>
                <c:formatCode>General</c:formatCode>
                <c:ptCount val="7"/>
                <c:pt idx="0">
                  <c:v>128</c:v>
                </c:pt>
                <c:pt idx="1">
                  <c:v>256</c:v>
                </c:pt>
                <c:pt idx="2">
                  <c:v>512</c:v>
                </c:pt>
                <c:pt idx="3">
                  <c:v>1024</c:v>
                </c:pt>
                <c:pt idx="4">
                  <c:v>2048</c:v>
                </c:pt>
                <c:pt idx="5">
                  <c:v>4096</c:v>
                </c:pt>
                <c:pt idx="6">
                  <c:v>8192</c:v>
                </c:pt>
              </c:numCache>
            </c:numRef>
          </c:cat>
          <c:val>
            <c:numRef>
              <c:f>Sheet2!$H$15:$H$21</c:f>
              <c:numCache>
                <c:formatCode>General</c:formatCode>
                <c:ptCount val="7"/>
                <c:pt idx="0">
                  <c:v>9.26</c:v>
                </c:pt>
                <c:pt idx="1">
                  <c:v>5.26</c:v>
                </c:pt>
                <c:pt idx="2">
                  <c:v>3.31</c:v>
                </c:pt>
                <c:pt idx="3">
                  <c:v>2.58</c:v>
                </c:pt>
                <c:pt idx="4">
                  <c:v>2.88</c:v>
                </c:pt>
                <c:pt idx="5">
                  <c:v>4.1399999999999997</c:v>
                </c:pt>
                <c:pt idx="6">
                  <c:v>8.1199999999999992</c:v>
                </c:pt>
              </c:numCache>
            </c:numRef>
          </c:val>
        </c:ser>
        <c:dLbls>
          <c:showLegendKey val="0"/>
          <c:showVal val="0"/>
          <c:showCatName val="0"/>
          <c:showSerName val="0"/>
          <c:showPercent val="0"/>
          <c:showBubbleSize val="0"/>
        </c:dLbls>
        <c:gapWidth val="150"/>
        <c:overlap val="100"/>
        <c:axId val="82490880"/>
        <c:axId val="82492416"/>
      </c:barChart>
      <c:lineChart>
        <c:grouping val="standard"/>
        <c:varyColors val="0"/>
        <c:ser>
          <c:idx val="7"/>
          <c:order val="6"/>
          <c:tx>
            <c:strRef>
              <c:f>Sheet2!$J$14</c:f>
              <c:strCache>
                <c:ptCount val="1"/>
                <c:pt idx="0">
                  <c:v>Speedup </c:v>
                </c:pt>
              </c:strCache>
            </c:strRef>
          </c:tx>
          <c:cat>
            <c:numRef>
              <c:f>Sheet2!$B$15:$B$21</c:f>
              <c:numCache>
                <c:formatCode>General</c:formatCode>
                <c:ptCount val="7"/>
                <c:pt idx="0">
                  <c:v>128</c:v>
                </c:pt>
                <c:pt idx="1">
                  <c:v>256</c:v>
                </c:pt>
                <c:pt idx="2">
                  <c:v>512</c:v>
                </c:pt>
                <c:pt idx="3">
                  <c:v>1024</c:v>
                </c:pt>
                <c:pt idx="4">
                  <c:v>2048</c:v>
                </c:pt>
                <c:pt idx="5">
                  <c:v>4096</c:v>
                </c:pt>
                <c:pt idx="6">
                  <c:v>8192</c:v>
                </c:pt>
              </c:numCache>
            </c:numRef>
          </c:cat>
          <c:val>
            <c:numRef>
              <c:f>Sheet2!$J$15:$J$21</c:f>
              <c:numCache>
                <c:formatCode>General</c:formatCode>
                <c:ptCount val="7"/>
                <c:pt idx="0">
                  <c:v>1</c:v>
                </c:pt>
                <c:pt idx="1">
                  <c:v>1.8150763774383201</c:v>
                </c:pt>
                <c:pt idx="2">
                  <c:v>3.1873907342657302</c:v>
                </c:pt>
                <c:pt idx="3">
                  <c:v>4.9229600877562998</c:v>
                </c:pt>
                <c:pt idx="4">
                  <c:v>4.0144498727034996</c:v>
                </c:pt>
                <c:pt idx="5">
                  <c:v>10.5730337078651</c:v>
                </c:pt>
                <c:pt idx="6">
                  <c:v>5.1060738666199796</c:v>
                </c:pt>
              </c:numCache>
            </c:numRef>
          </c:val>
          <c:smooth val="0"/>
        </c:ser>
        <c:ser>
          <c:idx val="8"/>
          <c:order val="7"/>
          <c:tx>
            <c:strRef>
              <c:f>Sheet2!$K$14</c:f>
              <c:strCache>
                <c:ptCount val="1"/>
                <c:pt idx="0">
                  <c:v>Linear Speedup</c:v>
                </c:pt>
              </c:strCache>
            </c:strRef>
          </c:tx>
          <c:cat>
            <c:numRef>
              <c:f>Sheet2!$B$15:$B$21</c:f>
              <c:numCache>
                <c:formatCode>General</c:formatCode>
                <c:ptCount val="7"/>
                <c:pt idx="0">
                  <c:v>128</c:v>
                </c:pt>
                <c:pt idx="1">
                  <c:v>256</c:v>
                </c:pt>
                <c:pt idx="2">
                  <c:v>512</c:v>
                </c:pt>
                <c:pt idx="3">
                  <c:v>1024</c:v>
                </c:pt>
                <c:pt idx="4">
                  <c:v>2048</c:v>
                </c:pt>
                <c:pt idx="5">
                  <c:v>4096</c:v>
                </c:pt>
                <c:pt idx="6">
                  <c:v>8192</c:v>
                </c:pt>
              </c:numCache>
            </c:numRef>
          </c:cat>
          <c:val>
            <c:numRef>
              <c:f>Sheet2!$K$15:$K$21</c:f>
              <c:numCache>
                <c:formatCode>General</c:formatCode>
                <c:ptCount val="7"/>
                <c:pt idx="0">
                  <c:v>1</c:v>
                </c:pt>
                <c:pt idx="1">
                  <c:v>2</c:v>
                </c:pt>
                <c:pt idx="2">
                  <c:v>4</c:v>
                </c:pt>
                <c:pt idx="3">
                  <c:v>8</c:v>
                </c:pt>
                <c:pt idx="4">
                  <c:v>16</c:v>
                </c:pt>
                <c:pt idx="5">
                  <c:v>32</c:v>
                </c:pt>
                <c:pt idx="6">
                  <c:v>64</c:v>
                </c:pt>
              </c:numCache>
            </c:numRef>
          </c:val>
          <c:smooth val="0"/>
        </c:ser>
        <c:dLbls>
          <c:showLegendKey val="0"/>
          <c:showVal val="0"/>
          <c:showCatName val="0"/>
          <c:showSerName val="0"/>
          <c:showPercent val="0"/>
          <c:showBubbleSize val="0"/>
        </c:dLbls>
        <c:marker val="1"/>
        <c:smooth val="0"/>
        <c:axId val="82495744"/>
        <c:axId val="82494208"/>
      </c:lineChart>
      <c:catAx>
        <c:axId val="82490880"/>
        <c:scaling>
          <c:orientation val="minMax"/>
        </c:scaling>
        <c:delete val="0"/>
        <c:axPos val="b"/>
        <c:numFmt formatCode="General" sourceLinked="1"/>
        <c:majorTickMark val="out"/>
        <c:minorTickMark val="none"/>
        <c:tickLblPos val="nextTo"/>
        <c:crossAx val="82492416"/>
        <c:crosses val="autoZero"/>
        <c:auto val="1"/>
        <c:lblAlgn val="ctr"/>
        <c:lblOffset val="100"/>
        <c:noMultiLvlLbl val="0"/>
      </c:catAx>
      <c:valAx>
        <c:axId val="82492416"/>
        <c:scaling>
          <c:orientation val="minMax"/>
        </c:scaling>
        <c:delete val="0"/>
        <c:axPos val="l"/>
        <c:majorGridlines/>
        <c:numFmt formatCode="0%" sourceLinked="1"/>
        <c:majorTickMark val="out"/>
        <c:minorTickMark val="none"/>
        <c:tickLblPos val="nextTo"/>
        <c:crossAx val="82490880"/>
        <c:crosses val="autoZero"/>
        <c:crossBetween val="between"/>
      </c:valAx>
      <c:valAx>
        <c:axId val="82494208"/>
        <c:scaling>
          <c:logBase val="2"/>
          <c:orientation val="minMax"/>
          <c:max val="64"/>
        </c:scaling>
        <c:delete val="0"/>
        <c:axPos val="r"/>
        <c:numFmt formatCode="General" sourceLinked="1"/>
        <c:majorTickMark val="out"/>
        <c:minorTickMark val="none"/>
        <c:tickLblPos val="nextTo"/>
        <c:crossAx val="82495744"/>
        <c:crosses val="max"/>
        <c:crossBetween val="between"/>
      </c:valAx>
      <c:catAx>
        <c:axId val="82495744"/>
        <c:scaling>
          <c:orientation val="minMax"/>
        </c:scaling>
        <c:delete val="1"/>
        <c:axPos val="b"/>
        <c:numFmt formatCode="General" sourceLinked="1"/>
        <c:majorTickMark val="out"/>
        <c:minorTickMark val="none"/>
        <c:tickLblPos val="nextTo"/>
        <c:crossAx val="82494208"/>
        <c:crosses val="autoZero"/>
        <c:auto val="1"/>
        <c:lblAlgn val="ctr"/>
        <c:lblOffset val="100"/>
        <c:noMultiLvlLbl val="0"/>
      </c:catAx>
    </c:plotArea>
    <c:legend>
      <c:legendPos val="r"/>
      <c:layout/>
      <c:overlay val="0"/>
      <c:txPr>
        <a:bodyPr/>
        <a:lstStyle/>
        <a:p>
          <a:pPr>
            <a:defRPr sz="1400" baseline="0"/>
          </a:pPr>
          <a:endParaRPr lang="zh-CN"/>
        </a:p>
      </c:txPr>
    </c:legend>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percentStacked"/>
        <c:varyColors val="0"/>
        <c:ser>
          <c:idx val="0"/>
          <c:order val="0"/>
          <c:tx>
            <c:strRef>
              <c:f>Sheet2!$C$28</c:f>
              <c:strCache>
                <c:ptCount val="1"/>
                <c:pt idx="0">
                  <c:v>Input Parallelization</c:v>
                </c:pt>
              </c:strCache>
            </c:strRef>
          </c:tx>
          <c:invertIfNegative val="0"/>
          <c:cat>
            <c:numRef>
              <c:f>Sheet2!$B$31:$B$34</c:f>
              <c:numCache>
                <c:formatCode>General</c:formatCode>
                <c:ptCount val="4"/>
                <c:pt idx="0">
                  <c:v>1024</c:v>
                </c:pt>
                <c:pt idx="1">
                  <c:v>2048</c:v>
                </c:pt>
                <c:pt idx="2">
                  <c:v>4096</c:v>
                </c:pt>
                <c:pt idx="3">
                  <c:v>8192</c:v>
                </c:pt>
              </c:numCache>
            </c:numRef>
          </c:cat>
          <c:val>
            <c:numRef>
              <c:f>Sheet2!$C$31:$C$34</c:f>
              <c:numCache>
                <c:formatCode>General</c:formatCode>
                <c:ptCount val="4"/>
                <c:pt idx="0">
                  <c:v>200.74</c:v>
                </c:pt>
                <c:pt idx="1">
                  <c:v>240.36</c:v>
                </c:pt>
                <c:pt idx="2">
                  <c:v>403.48</c:v>
                </c:pt>
                <c:pt idx="3">
                  <c:v>192.39</c:v>
                </c:pt>
              </c:numCache>
            </c:numRef>
          </c:val>
        </c:ser>
        <c:ser>
          <c:idx val="1"/>
          <c:order val="1"/>
          <c:tx>
            <c:strRef>
              <c:f>Sheet2!$D$28</c:f>
              <c:strCache>
                <c:ptCount val="1"/>
                <c:pt idx="0">
                  <c:v>Construct k-mer Graph </c:v>
                </c:pt>
              </c:strCache>
            </c:strRef>
          </c:tx>
          <c:invertIfNegative val="0"/>
          <c:cat>
            <c:numRef>
              <c:f>Sheet2!$B$31:$B$34</c:f>
              <c:numCache>
                <c:formatCode>General</c:formatCode>
                <c:ptCount val="4"/>
                <c:pt idx="0">
                  <c:v>1024</c:v>
                </c:pt>
                <c:pt idx="1">
                  <c:v>2048</c:v>
                </c:pt>
                <c:pt idx="2">
                  <c:v>4096</c:v>
                </c:pt>
                <c:pt idx="3">
                  <c:v>8192</c:v>
                </c:pt>
              </c:numCache>
            </c:numRef>
          </c:cat>
          <c:val>
            <c:numRef>
              <c:f>Sheet2!$D$31:$D$34</c:f>
              <c:numCache>
                <c:formatCode>General</c:formatCode>
                <c:ptCount val="4"/>
                <c:pt idx="0">
                  <c:v>575.37990000000002</c:v>
                </c:pt>
                <c:pt idx="1">
                  <c:v>1163.3</c:v>
                </c:pt>
                <c:pt idx="2">
                  <c:v>385.84</c:v>
                </c:pt>
                <c:pt idx="3">
                  <c:v>613.48900000000003</c:v>
                </c:pt>
              </c:numCache>
            </c:numRef>
          </c:val>
        </c:ser>
        <c:ser>
          <c:idx val="2"/>
          <c:order val="2"/>
          <c:tx>
            <c:strRef>
              <c:f>Sheet2!$E$28</c:f>
              <c:strCache>
                <c:ptCount val="1"/>
                <c:pt idx="0">
                  <c:v>cutoffGraph</c:v>
                </c:pt>
              </c:strCache>
            </c:strRef>
          </c:tx>
          <c:invertIfNegative val="0"/>
          <c:cat>
            <c:numRef>
              <c:f>Sheet2!$B$31:$B$34</c:f>
              <c:numCache>
                <c:formatCode>General</c:formatCode>
                <c:ptCount val="4"/>
                <c:pt idx="0">
                  <c:v>1024</c:v>
                </c:pt>
                <c:pt idx="1">
                  <c:v>2048</c:v>
                </c:pt>
                <c:pt idx="2">
                  <c:v>4096</c:v>
                </c:pt>
                <c:pt idx="3">
                  <c:v>8192</c:v>
                </c:pt>
              </c:numCache>
            </c:numRef>
          </c:cat>
          <c:val>
            <c:numRef>
              <c:f>Sheet2!$E$31:$E$34</c:f>
              <c:numCache>
                <c:formatCode>General</c:formatCode>
                <c:ptCount val="4"/>
                <c:pt idx="0">
                  <c:v>18.63</c:v>
                </c:pt>
                <c:pt idx="1">
                  <c:v>9.75</c:v>
                </c:pt>
                <c:pt idx="2">
                  <c:v>7.07</c:v>
                </c:pt>
                <c:pt idx="3">
                  <c:v>4.55</c:v>
                </c:pt>
              </c:numCache>
            </c:numRef>
          </c:val>
        </c:ser>
        <c:ser>
          <c:idx val="3"/>
          <c:order val="3"/>
          <c:tx>
            <c:strRef>
              <c:f>Sheet2!$F$28</c:f>
              <c:strCache>
                <c:ptCount val="1"/>
                <c:pt idx="0">
                  <c:v>Construct MSG Graph</c:v>
                </c:pt>
              </c:strCache>
            </c:strRef>
          </c:tx>
          <c:invertIfNegative val="0"/>
          <c:cat>
            <c:numRef>
              <c:f>Sheet2!$B$31:$B$34</c:f>
              <c:numCache>
                <c:formatCode>General</c:formatCode>
                <c:ptCount val="4"/>
                <c:pt idx="0">
                  <c:v>1024</c:v>
                </c:pt>
                <c:pt idx="1">
                  <c:v>2048</c:v>
                </c:pt>
                <c:pt idx="2">
                  <c:v>4096</c:v>
                </c:pt>
                <c:pt idx="3">
                  <c:v>8192</c:v>
                </c:pt>
              </c:numCache>
            </c:numRef>
          </c:cat>
          <c:val>
            <c:numRef>
              <c:f>Sheet2!$F$31:$F$34</c:f>
              <c:numCache>
                <c:formatCode>General</c:formatCode>
                <c:ptCount val="4"/>
                <c:pt idx="0">
                  <c:v>61.86</c:v>
                </c:pt>
                <c:pt idx="1">
                  <c:v>31.53</c:v>
                </c:pt>
                <c:pt idx="2">
                  <c:v>16.420000000000002</c:v>
                </c:pt>
                <c:pt idx="3">
                  <c:v>8.43</c:v>
                </c:pt>
              </c:numCache>
            </c:numRef>
          </c:val>
        </c:ser>
        <c:ser>
          <c:idx val="4"/>
          <c:order val="4"/>
          <c:tx>
            <c:strRef>
              <c:f>Sheet2!$G$28</c:f>
              <c:strCache>
                <c:ptCount val="1"/>
                <c:pt idx="0">
                  <c:v>Graph Simplification</c:v>
                </c:pt>
              </c:strCache>
            </c:strRef>
          </c:tx>
          <c:invertIfNegative val="0"/>
          <c:cat>
            <c:numRef>
              <c:f>Sheet2!$B$31:$B$34</c:f>
              <c:numCache>
                <c:formatCode>General</c:formatCode>
                <c:ptCount val="4"/>
                <c:pt idx="0">
                  <c:v>1024</c:v>
                </c:pt>
                <c:pt idx="1">
                  <c:v>2048</c:v>
                </c:pt>
                <c:pt idx="2">
                  <c:v>4096</c:v>
                </c:pt>
                <c:pt idx="3">
                  <c:v>8192</c:v>
                </c:pt>
              </c:numCache>
            </c:numRef>
          </c:cat>
          <c:val>
            <c:numRef>
              <c:f>Sheet2!$G$31:$G$34</c:f>
              <c:numCache>
                <c:formatCode>General</c:formatCode>
                <c:ptCount val="4"/>
                <c:pt idx="0">
                  <c:v>1894.14</c:v>
                </c:pt>
                <c:pt idx="1">
                  <c:v>968.79899999999998</c:v>
                </c:pt>
                <c:pt idx="2">
                  <c:v>587</c:v>
                </c:pt>
                <c:pt idx="3">
                  <c:v>330.23</c:v>
                </c:pt>
              </c:numCache>
            </c:numRef>
          </c:val>
        </c:ser>
        <c:ser>
          <c:idx val="5"/>
          <c:order val="5"/>
          <c:tx>
            <c:strRef>
              <c:f>Sheet2!$H$28</c:f>
              <c:strCache>
                <c:ptCount val="1"/>
                <c:pt idx="0">
                  <c:v>Output</c:v>
                </c:pt>
              </c:strCache>
            </c:strRef>
          </c:tx>
          <c:invertIfNegative val="0"/>
          <c:cat>
            <c:numRef>
              <c:f>Sheet2!$B$31:$B$34</c:f>
              <c:numCache>
                <c:formatCode>General</c:formatCode>
                <c:ptCount val="4"/>
                <c:pt idx="0">
                  <c:v>1024</c:v>
                </c:pt>
                <c:pt idx="1">
                  <c:v>2048</c:v>
                </c:pt>
                <c:pt idx="2">
                  <c:v>4096</c:v>
                </c:pt>
                <c:pt idx="3">
                  <c:v>8192</c:v>
                </c:pt>
              </c:numCache>
            </c:numRef>
          </c:cat>
          <c:val>
            <c:numRef>
              <c:f>Sheet2!$H$31:$H$34</c:f>
              <c:numCache>
                <c:formatCode>General</c:formatCode>
                <c:ptCount val="4"/>
                <c:pt idx="0">
                  <c:v>62.15</c:v>
                </c:pt>
                <c:pt idx="1">
                  <c:v>45.79</c:v>
                </c:pt>
                <c:pt idx="2">
                  <c:v>40.69</c:v>
                </c:pt>
                <c:pt idx="3">
                  <c:v>39.26</c:v>
                </c:pt>
              </c:numCache>
            </c:numRef>
          </c:val>
        </c:ser>
        <c:dLbls>
          <c:showLegendKey val="0"/>
          <c:showVal val="0"/>
          <c:showCatName val="0"/>
          <c:showSerName val="0"/>
          <c:showPercent val="0"/>
          <c:showBubbleSize val="0"/>
        </c:dLbls>
        <c:gapWidth val="150"/>
        <c:overlap val="100"/>
        <c:axId val="82820480"/>
        <c:axId val="82822272"/>
      </c:barChart>
      <c:lineChart>
        <c:grouping val="standard"/>
        <c:varyColors val="0"/>
        <c:ser>
          <c:idx val="7"/>
          <c:order val="6"/>
          <c:tx>
            <c:strRef>
              <c:f>Sheet2!$J$28</c:f>
              <c:strCache>
                <c:ptCount val="1"/>
                <c:pt idx="0">
                  <c:v>Speedup</c:v>
                </c:pt>
              </c:strCache>
            </c:strRef>
          </c:tx>
          <c:cat>
            <c:numRef>
              <c:f>Sheet2!$B$31:$B$34</c:f>
              <c:numCache>
                <c:formatCode>General</c:formatCode>
                <c:ptCount val="4"/>
                <c:pt idx="0">
                  <c:v>1024</c:v>
                </c:pt>
                <c:pt idx="1">
                  <c:v>2048</c:v>
                </c:pt>
                <c:pt idx="2">
                  <c:v>4096</c:v>
                </c:pt>
                <c:pt idx="3">
                  <c:v>8192</c:v>
                </c:pt>
              </c:numCache>
            </c:numRef>
          </c:cat>
          <c:val>
            <c:numRef>
              <c:f>Sheet2!$J$31:$J$34</c:f>
              <c:numCache>
                <c:formatCode>General</c:formatCode>
                <c:ptCount val="4"/>
                <c:pt idx="0">
                  <c:v>1</c:v>
                </c:pt>
                <c:pt idx="1">
                  <c:v>1.14361561571328</c:v>
                </c:pt>
                <c:pt idx="2">
                  <c:v>1.9509404127829499</c:v>
                </c:pt>
                <c:pt idx="3">
                  <c:v>2.3661765695444399</c:v>
                </c:pt>
              </c:numCache>
            </c:numRef>
          </c:val>
          <c:smooth val="0"/>
        </c:ser>
        <c:ser>
          <c:idx val="8"/>
          <c:order val="7"/>
          <c:tx>
            <c:strRef>
              <c:f>Sheet2!$K$28</c:f>
              <c:strCache>
                <c:ptCount val="1"/>
                <c:pt idx="0">
                  <c:v>Linear Speedup</c:v>
                </c:pt>
              </c:strCache>
            </c:strRef>
          </c:tx>
          <c:cat>
            <c:numRef>
              <c:f>Sheet2!$B$31:$B$34</c:f>
              <c:numCache>
                <c:formatCode>General</c:formatCode>
                <c:ptCount val="4"/>
                <c:pt idx="0">
                  <c:v>1024</c:v>
                </c:pt>
                <c:pt idx="1">
                  <c:v>2048</c:v>
                </c:pt>
                <c:pt idx="2">
                  <c:v>4096</c:v>
                </c:pt>
                <c:pt idx="3">
                  <c:v>8192</c:v>
                </c:pt>
              </c:numCache>
            </c:numRef>
          </c:cat>
          <c:val>
            <c:numRef>
              <c:f>Sheet2!$K$31:$K$34</c:f>
              <c:numCache>
                <c:formatCode>General</c:formatCode>
                <c:ptCount val="4"/>
                <c:pt idx="0">
                  <c:v>1</c:v>
                </c:pt>
                <c:pt idx="1">
                  <c:v>2</c:v>
                </c:pt>
                <c:pt idx="2">
                  <c:v>4</c:v>
                </c:pt>
                <c:pt idx="3">
                  <c:v>8</c:v>
                </c:pt>
              </c:numCache>
            </c:numRef>
          </c:val>
          <c:smooth val="0"/>
        </c:ser>
        <c:dLbls>
          <c:showLegendKey val="0"/>
          <c:showVal val="0"/>
          <c:showCatName val="0"/>
          <c:showSerName val="0"/>
          <c:showPercent val="0"/>
          <c:showBubbleSize val="0"/>
        </c:dLbls>
        <c:marker val="1"/>
        <c:smooth val="0"/>
        <c:axId val="82829696"/>
        <c:axId val="82823808"/>
      </c:lineChart>
      <c:catAx>
        <c:axId val="82820480"/>
        <c:scaling>
          <c:orientation val="minMax"/>
        </c:scaling>
        <c:delete val="0"/>
        <c:axPos val="b"/>
        <c:numFmt formatCode="General" sourceLinked="1"/>
        <c:majorTickMark val="out"/>
        <c:minorTickMark val="none"/>
        <c:tickLblPos val="nextTo"/>
        <c:crossAx val="82822272"/>
        <c:crosses val="autoZero"/>
        <c:auto val="1"/>
        <c:lblAlgn val="ctr"/>
        <c:lblOffset val="100"/>
        <c:noMultiLvlLbl val="0"/>
      </c:catAx>
      <c:valAx>
        <c:axId val="82822272"/>
        <c:scaling>
          <c:orientation val="minMax"/>
        </c:scaling>
        <c:delete val="0"/>
        <c:axPos val="l"/>
        <c:majorGridlines/>
        <c:numFmt formatCode="0%" sourceLinked="1"/>
        <c:majorTickMark val="out"/>
        <c:minorTickMark val="none"/>
        <c:tickLblPos val="nextTo"/>
        <c:crossAx val="82820480"/>
        <c:crosses val="autoZero"/>
        <c:crossBetween val="between"/>
      </c:valAx>
      <c:valAx>
        <c:axId val="82823808"/>
        <c:scaling>
          <c:logBase val="2"/>
          <c:orientation val="minMax"/>
          <c:max val="8"/>
        </c:scaling>
        <c:delete val="0"/>
        <c:axPos val="r"/>
        <c:numFmt formatCode="General" sourceLinked="1"/>
        <c:majorTickMark val="out"/>
        <c:minorTickMark val="none"/>
        <c:tickLblPos val="nextTo"/>
        <c:crossAx val="82829696"/>
        <c:crosses val="max"/>
        <c:crossBetween val="between"/>
      </c:valAx>
      <c:catAx>
        <c:axId val="82829696"/>
        <c:scaling>
          <c:orientation val="minMax"/>
        </c:scaling>
        <c:delete val="1"/>
        <c:axPos val="b"/>
        <c:numFmt formatCode="General" sourceLinked="1"/>
        <c:majorTickMark val="out"/>
        <c:minorTickMark val="none"/>
        <c:tickLblPos val="nextTo"/>
        <c:crossAx val="82823808"/>
        <c:crosses val="autoZero"/>
        <c:auto val="1"/>
        <c:lblAlgn val="ctr"/>
        <c:lblOffset val="100"/>
        <c:noMultiLvlLbl val="0"/>
      </c:catAx>
    </c:plotArea>
    <c:legend>
      <c:legendPos val="r"/>
      <c:layout/>
      <c:overlay val="0"/>
      <c:txPr>
        <a:bodyPr/>
        <a:lstStyle/>
        <a:p>
          <a:pPr>
            <a:defRPr sz="1400" baseline="0"/>
          </a:pPr>
          <a:endParaRPr lang="zh-CN"/>
        </a:p>
      </c:txPr>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1"/>
    </c:view3D>
    <c:floor>
      <c:thickness val="0"/>
    </c:floor>
    <c:sideWall>
      <c:thickness val="0"/>
    </c:sideWall>
    <c:backWall>
      <c:thickness val="0"/>
    </c:backWall>
    <c:plotArea>
      <c:layout>
        <c:manualLayout>
          <c:layoutTarget val="inner"/>
          <c:xMode val="edge"/>
          <c:yMode val="edge"/>
          <c:x val="4.6169252799071706E-2"/>
          <c:y val="2.7597360976985463E-2"/>
          <c:w val="0.83151296881715719"/>
          <c:h val="0.83650036035882058"/>
        </c:manualLayout>
      </c:layout>
      <c:bar3DChart>
        <c:barDir val="col"/>
        <c:grouping val="clustered"/>
        <c:varyColors val="0"/>
        <c:ser>
          <c:idx val="0"/>
          <c:order val="0"/>
          <c:tx>
            <c:strRef>
              <c:f>Sheet1!$B$19</c:f>
              <c:strCache>
                <c:ptCount val="1"/>
                <c:pt idx="0">
                  <c:v>Location</c:v>
                </c:pt>
              </c:strCache>
            </c:strRef>
          </c:tx>
          <c:invertIfNegative val="0"/>
          <c:cat>
            <c:numRef>
              <c:f>Sheet1!$A$20:$A$27</c:f>
              <c:numCache>
                <c:formatCode>General</c:formatCode>
                <c:ptCount val="8"/>
                <c:pt idx="0">
                  <c:v>8</c:v>
                </c:pt>
                <c:pt idx="1">
                  <c:v>16</c:v>
                </c:pt>
                <c:pt idx="2">
                  <c:v>32</c:v>
                </c:pt>
                <c:pt idx="3">
                  <c:v>64</c:v>
                </c:pt>
                <c:pt idx="4">
                  <c:v>128</c:v>
                </c:pt>
                <c:pt idx="5">
                  <c:v>256</c:v>
                </c:pt>
                <c:pt idx="6">
                  <c:v>512</c:v>
                </c:pt>
                <c:pt idx="7">
                  <c:v>1024</c:v>
                </c:pt>
              </c:numCache>
            </c:numRef>
          </c:cat>
          <c:val>
            <c:numRef>
              <c:f>Sheet1!$B$20:$B$27</c:f>
              <c:numCache>
                <c:formatCode>General</c:formatCode>
                <c:ptCount val="8"/>
                <c:pt idx="0">
                  <c:v>0.67</c:v>
                </c:pt>
                <c:pt idx="1">
                  <c:v>0.73</c:v>
                </c:pt>
                <c:pt idx="2">
                  <c:v>0.91</c:v>
                </c:pt>
                <c:pt idx="3">
                  <c:v>1.86</c:v>
                </c:pt>
                <c:pt idx="4">
                  <c:v>3.33</c:v>
                </c:pt>
                <c:pt idx="5">
                  <c:v>2.23</c:v>
                </c:pt>
                <c:pt idx="6">
                  <c:v>6.46</c:v>
                </c:pt>
                <c:pt idx="7">
                  <c:v>2.5099999999999998</c:v>
                </c:pt>
              </c:numCache>
            </c:numRef>
          </c:val>
        </c:ser>
        <c:ser>
          <c:idx val="1"/>
          <c:order val="1"/>
          <c:tx>
            <c:strRef>
              <c:f>Sheet1!$C$19</c:f>
              <c:strCache>
                <c:ptCount val="1"/>
                <c:pt idx="0">
                  <c:v>Reading</c:v>
                </c:pt>
              </c:strCache>
            </c:strRef>
          </c:tx>
          <c:invertIfNegative val="0"/>
          <c:cat>
            <c:numRef>
              <c:f>Sheet1!$A$20:$A$27</c:f>
              <c:numCache>
                <c:formatCode>General</c:formatCode>
                <c:ptCount val="8"/>
                <c:pt idx="0">
                  <c:v>8</c:v>
                </c:pt>
                <c:pt idx="1">
                  <c:v>16</c:v>
                </c:pt>
                <c:pt idx="2">
                  <c:v>32</c:v>
                </c:pt>
                <c:pt idx="3">
                  <c:v>64</c:v>
                </c:pt>
                <c:pt idx="4">
                  <c:v>128</c:v>
                </c:pt>
                <c:pt idx="5">
                  <c:v>256</c:v>
                </c:pt>
                <c:pt idx="6">
                  <c:v>512</c:v>
                </c:pt>
                <c:pt idx="7">
                  <c:v>1024</c:v>
                </c:pt>
              </c:numCache>
            </c:numRef>
          </c:cat>
          <c:val>
            <c:numRef>
              <c:f>Sheet1!$C$20:$C$27</c:f>
              <c:numCache>
                <c:formatCode>General</c:formatCode>
                <c:ptCount val="8"/>
                <c:pt idx="0">
                  <c:v>13.63</c:v>
                </c:pt>
                <c:pt idx="1">
                  <c:v>12.73</c:v>
                </c:pt>
                <c:pt idx="2">
                  <c:v>10.23</c:v>
                </c:pt>
                <c:pt idx="3">
                  <c:v>18.440000000000001</c:v>
                </c:pt>
                <c:pt idx="4">
                  <c:v>17.97</c:v>
                </c:pt>
                <c:pt idx="5">
                  <c:v>7.64</c:v>
                </c:pt>
                <c:pt idx="6">
                  <c:v>14.62</c:v>
                </c:pt>
                <c:pt idx="7">
                  <c:v>3.17</c:v>
                </c:pt>
              </c:numCache>
            </c:numRef>
          </c:val>
        </c:ser>
        <c:dLbls>
          <c:showLegendKey val="0"/>
          <c:showVal val="0"/>
          <c:showCatName val="0"/>
          <c:showSerName val="0"/>
          <c:showPercent val="0"/>
          <c:showBubbleSize val="0"/>
        </c:dLbls>
        <c:gapWidth val="150"/>
        <c:shape val="box"/>
        <c:axId val="82870272"/>
        <c:axId val="82871808"/>
        <c:axId val="0"/>
      </c:bar3DChart>
      <c:catAx>
        <c:axId val="82870272"/>
        <c:scaling>
          <c:orientation val="minMax"/>
        </c:scaling>
        <c:delete val="0"/>
        <c:axPos val="b"/>
        <c:numFmt formatCode="General" sourceLinked="1"/>
        <c:majorTickMark val="out"/>
        <c:minorTickMark val="none"/>
        <c:tickLblPos val="nextTo"/>
        <c:crossAx val="82871808"/>
        <c:crosses val="autoZero"/>
        <c:auto val="1"/>
        <c:lblAlgn val="ctr"/>
        <c:lblOffset val="100"/>
        <c:noMultiLvlLbl val="0"/>
      </c:catAx>
      <c:valAx>
        <c:axId val="82871808"/>
        <c:scaling>
          <c:orientation val="minMax"/>
        </c:scaling>
        <c:delete val="0"/>
        <c:axPos val="l"/>
        <c:majorGridlines/>
        <c:numFmt formatCode="General" sourceLinked="1"/>
        <c:majorTickMark val="out"/>
        <c:minorTickMark val="none"/>
        <c:tickLblPos val="nextTo"/>
        <c:crossAx val="82870272"/>
        <c:crosses val="autoZero"/>
        <c:crossBetween val="between"/>
      </c:valAx>
    </c:plotArea>
    <c:legend>
      <c:legendPos val="r"/>
      <c:layout/>
      <c:overlay val="0"/>
      <c:txPr>
        <a:bodyPr/>
        <a:lstStyle/>
        <a:p>
          <a:pPr>
            <a:defRPr sz="1400" baseline="0"/>
          </a:pPr>
          <a:endParaRPr lang="zh-CN"/>
        </a:p>
      </c:txPr>
    </c:legend>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1"/>
    </c:view3D>
    <c:floor>
      <c:thickness val="0"/>
    </c:floor>
    <c:sideWall>
      <c:thickness val="0"/>
    </c:sideWall>
    <c:backWall>
      <c:thickness val="0"/>
    </c:backWall>
    <c:plotArea>
      <c:layout/>
      <c:bar3DChart>
        <c:barDir val="col"/>
        <c:grouping val="clustered"/>
        <c:varyColors val="0"/>
        <c:ser>
          <c:idx val="0"/>
          <c:order val="0"/>
          <c:tx>
            <c:strRef>
              <c:f>Sheet1!$B$3</c:f>
              <c:strCache>
                <c:ptCount val="1"/>
                <c:pt idx="0">
                  <c:v>Location</c:v>
                </c:pt>
              </c:strCache>
            </c:strRef>
          </c:tx>
          <c:invertIfNegative val="0"/>
          <c:cat>
            <c:numRef>
              <c:f>Sheet1!$A$4:$A$11</c:f>
              <c:numCache>
                <c:formatCode>General</c:formatCode>
                <c:ptCount val="8"/>
                <c:pt idx="0">
                  <c:v>8</c:v>
                </c:pt>
                <c:pt idx="1">
                  <c:v>16</c:v>
                </c:pt>
                <c:pt idx="2">
                  <c:v>32</c:v>
                </c:pt>
                <c:pt idx="3">
                  <c:v>64</c:v>
                </c:pt>
                <c:pt idx="4">
                  <c:v>128</c:v>
                </c:pt>
                <c:pt idx="5">
                  <c:v>256</c:v>
                </c:pt>
                <c:pt idx="6">
                  <c:v>512</c:v>
                </c:pt>
                <c:pt idx="7">
                  <c:v>1024</c:v>
                </c:pt>
              </c:numCache>
            </c:numRef>
          </c:cat>
          <c:val>
            <c:numRef>
              <c:f>Sheet1!$B$4:$B$11</c:f>
              <c:numCache>
                <c:formatCode>General</c:formatCode>
                <c:ptCount val="8"/>
                <c:pt idx="0">
                  <c:v>1.85</c:v>
                </c:pt>
                <c:pt idx="1">
                  <c:v>18.059999999999999</c:v>
                </c:pt>
                <c:pt idx="2">
                  <c:v>8.9700000000000006</c:v>
                </c:pt>
                <c:pt idx="3">
                  <c:v>41.4</c:v>
                </c:pt>
                <c:pt idx="4">
                  <c:v>77.069999999999993</c:v>
                </c:pt>
                <c:pt idx="5">
                  <c:v>42.98</c:v>
                </c:pt>
                <c:pt idx="6">
                  <c:v>9.73</c:v>
                </c:pt>
                <c:pt idx="7">
                  <c:v>50.34</c:v>
                </c:pt>
              </c:numCache>
            </c:numRef>
          </c:val>
        </c:ser>
        <c:ser>
          <c:idx val="1"/>
          <c:order val="1"/>
          <c:tx>
            <c:strRef>
              <c:f>Sheet1!$C$3</c:f>
              <c:strCache>
                <c:ptCount val="1"/>
                <c:pt idx="0">
                  <c:v>Reading</c:v>
                </c:pt>
              </c:strCache>
            </c:strRef>
          </c:tx>
          <c:invertIfNegative val="0"/>
          <c:cat>
            <c:numRef>
              <c:f>Sheet1!$A$4:$A$11</c:f>
              <c:numCache>
                <c:formatCode>General</c:formatCode>
                <c:ptCount val="8"/>
                <c:pt idx="0">
                  <c:v>8</c:v>
                </c:pt>
                <c:pt idx="1">
                  <c:v>16</c:v>
                </c:pt>
                <c:pt idx="2">
                  <c:v>32</c:v>
                </c:pt>
                <c:pt idx="3">
                  <c:v>64</c:v>
                </c:pt>
                <c:pt idx="4">
                  <c:v>128</c:v>
                </c:pt>
                <c:pt idx="5">
                  <c:v>256</c:v>
                </c:pt>
                <c:pt idx="6">
                  <c:v>512</c:v>
                </c:pt>
                <c:pt idx="7">
                  <c:v>1024</c:v>
                </c:pt>
              </c:numCache>
            </c:numRef>
          </c:cat>
          <c:val>
            <c:numRef>
              <c:f>Sheet1!$C$4:$C$11</c:f>
              <c:numCache>
                <c:formatCode>General</c:formatCode>
                <c:ptCount val="8"/>
                <c:pt idx="0">
                  <c:v>267.68</c:v>
                </c:pt>
                <c:pt idx="1">
                  <c:v>244</c:v>
                </c:pt>
                <c:pt idx="2">
                  <c:v>42.29</c:v>
                </c:pt>
                <c:pt idx="3">
                  <c:v>68.08</c:v>
                </c:pt>
                <c:pt idx="4">
                  <c:v>29.43</c:v>
                </c:pt>
                <c:pt idx="5">
                  <c:v>67.680000000000007</c:v>
                </c:pt>
                <c:pt idx="6">
                  <c:v>96.76</c:v>
                </c:pt>
                <c:pt idx="7">
                  <c:v>65.33</c:v>
                </c:pt>
              </c:numCache>
            </c:numRef>
          </c:val>
        </c:ser>
        <c:dLbls>
          <c:showLegendKey val="0"/>
          <c:showVal val="0"/>
          <c:showCatName val="0"/>
          <c:showSerName val="0"/>
          <c:showPercent val="0"/>
          <c:showBubbleSize val="0"/>
        </c:dLbls>
        <c:gapWidth val="150"/>
        <c:shape val="box"/>
        <c:axId val="82889344"/>
        <c:axId val="82891136"/>
        <c:axId val="0"/>
      </c:bar3DChart>
      <c:catAx>
        <c:axId val="82889344"/>
        <c:scaling>
          <c:orientation val="minMax"/>
        </c:scaling>
        <c:delete val="0"/>
        <c:axPos val="b"/>
        <c:numFmt formatCode="General" sourceLinked="1"/>
        <c:majorTickMark val="out"/>
        <c:minorTickMark val="none"/>
        <c:tickLblPos val="nextTo"/>
        <c:crossAx val="82891136"/>
        <c:crosses val="autoZero"/>
        <c:auto val="1"/>
        <c:lblAlgn val="ctr"/>
        <c:lblOffset val="100"/>
        <c:noMultiLvlLbl val="0"/>
      </c:catAx>
      <c:valAx>
        <c:axId val="82891136"/>
        <c:scaling>
          <c:orientation val="minMax"/>
        </c:scaling>
        <c:delete val="0"/>
        <c:axPos val="l"/>
        <c:majorGridlines/>
        <c:numFmt formatCode="General" sourceLinked="1"/>
        <c:majorTickMark val="out"/>
        <c:minorTickMark val="none"/>
        <c:tickLblPos val="nextTo"/>
        <c:crossAx val="82889344"/>
        <c:crosses val="autoZero"/>
        <c:crossBetween val="between"/>
      </c:valAx>
    </c:plotArea>
    <c:legend>
      <c:legendPos val="r"/>
      <c:layout/>
      <c:overlay val="0"/>
      <c:txPr>
        <a:bodyPr/>
        <a:lstStyle/>
        <a:p>
          <a:pPr>
            <a:defRPr sz="1400" baseline="0"/>
          </a:pPr>
          <a:endParaRPr lang="zh-CN"/>
        </a:p>
      </c:txPr>
    </c:legend>
    <c:plotVisOnly val="1"/>
    <c:dispBlanksAs val="gap"/>
    <c:showDLblsOverMax val="0"/>
  </c:chart>
  <c:spPr>
    <a:pattFill prst="pct5">
      <a:fgClr>
        <a:schemeClr val="accent1"/>
      </a:fgClr>
      <a:bgClr>
        <a:schemeClr val="bg1"/>
      </a:bgClr>
    </a:patt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7042074286168771E-2"/>
          <c:y val="3.9634156625219109E-2"/>
          <c:w val="0.91443900593506888"/>
          <c:h val="0.77303302124922846"/>
        </c:manualLayout>
      </c:layout>
      <c:barChart>
        <c:barDir val="col"/>
        <c:grouping val="percentStacked"/>
        <c:varyColors val="0"/>
        <c:ser>
          <c:idx val="0"/>
          <c:order val="0"/>
          <c:tx>
            <c:strRef>
              <c:f>Sheet1!$C$46</c:f>
              <c:strCache>
                <c:ptCount val="1"/>
                <c:pt idx="0">
                  <c:v>Work time</c:v>
                </c:pt>
              </c:strCache>
            </c:strRef>
          </c:tx>
          <c:invertIfNegative val="0"/>
          <c:cat>
            <c:numRef>
              <c:f>Sheet1!$B$47:$B$57</c:f>
              <c:numCache>
                <c:formatCode>General</c:formatCode>
                <c:ptCount val="11"/>
                <c:pt idx="0">
                  <c:v>2048</c:v>
                </c:pt>
                <c:pt idx="1">
                  <c:v>4096</c:v>
                </c:pt>
                <c:pt idx="2">
                  <c:v>8192</c:v>
                </c:pt>
                <c:pt idx="3">
                  <c:v>16384</c:v>
                </c:pt>
                <c:pt idx="4">
                  <c:v>32768</c:v>
                </c:pt>
                <c:pt idx="6">
                  <c:v>2048</c:v>
                </c:pt>
                <c:pt idx="7">
                  <c:v>4096</c:v>
                </c:pt>
                <c:pt idx="8">
                  <c:v>8192</c:v>
                </c:pt>
                <c:pt idx="9">
                  <c:v>16384</c:v>
                </c:pt>
                <c:pt idx="10">
                  <c:v>32768</c:v>
                </c:pt>
              </c:numCache>
            </c:numRef>
          </c:cat>
          <c:val>
            <c:numRef>
              <c:f>Sheet1!$C$47:$C$57</c:f>
              <c:numCache>
                <c:formatCode>General</c:formatCode>
                <c:ptCount val="11"/>
                <c:pt idx="0">
                  <c:v>784163.75</c:v>
                </c:pt>
                <c:pt idx="1">
                  <c:v>791399.99</c:v>
                </c:pt>
                <c:pt idx="2">
                  <c:v>792200.39</c:v>
                </c:pt>
                <c:pt idx="3">
                  <c:v>792316.3</c:v>
                </c:pt>
                <c:pt idx="4">
                  <c:v>791948.71</c:v>
                </c:pt>
                <c:pt idx="6">
                  <c:v>1776525.99</c:v>
                </c:pt>
                <c:pt idx="7">
                  <c:v>1786868.61</c:v>
                </c:pt>
                <c:pt idx="8">
                  <c:v>1786275.5</c:v>
                </c:pt>
                <c:pt idx="9">
                  <c:v>1791854.26</c:v>
                </c:pt>
                <c:pt idx="10">
                  <c:v>1790684.64</c:v>
                </c:pt>
              </c:numCache>
            </c:numRef>
          </c:val>
        </c:ser>
        <c:ser>
          <c:idx val="1"/>
          <c:order val="1"/>
          <c:tx>
            <c:strRef>
              <c:f>Sheet1!$D$46</c:f>
              <c:strCache>
                <c:ptCount val="1"/>
                <c:pt idx="0">
                  <c:v>Idle time</c:v>
                </c:pt>
              </c:strCache>
            </c:strRef>
          </c:tx>
          <c:invertIfNegative val="0"/>
          <c:cat>
            <c:numRef>
              <c:f>Sheet1!$B$47:$B$57</c:f>
              <c:numCache>
                <c:formatCode>General</c:formatCode>
                <c:ptCount val="11"/>
                <c:pt idx="0">
                  <c:v>2048</c:v>
                </c:pt>
                <c:pt idx="1">
                  <c:v>4096</c:v>
                </c:pt>
                <c:pt idx="2">
                  <c:v>8192</c:v>
                </c:pt>
                <c:pt idx="3">
                  <c:v>16384</c:v>
                </c:pt>
                <c:pt idx="4">
                  <c:v>32768</c:v>
                </c:pt>
                <c:pt idx="6">
                  <c:v>2048</c:v>
                </c:pt>
                <c:pt idx="7">
                  <c:v>4096</c:v>
                </c:pt>
                <c:pt idx="8">
                  <c:v>8192</c:v>
                </c:pt>
                <c:pt idx="9">
                  <c:v>16384</c:v>
                </c:pt>
                <c:pt idx="10">
                  <c:v>32768</c:v>
                </c:pt>
              </c:numCache>
            </c:numRef>
          </c:cat>
          <c:val>
            <c:numRef>
              <c:f>Sheet1!$D$47:$D$57</c:f>
              <c:numCache>
                <c:formatCode>General</c:formatCode>
                <c:ptCount val="11"/>
                <c:pt idx="0">
                  <c:v>862345.44</c:v>
                </c:pt>
                <c:pt idx="1">
                  <c:v>1013050</c:v>
                </c:pt>
                <c:pt idx="2">
                  <c:v>1578606.86</c:v>
                </c:pt>
                <c:pt idx="3">
                  <c:v>1915553.21</c:v>
                </c:pt>
                <c:pt idx="4">
                  <c:v>5072197.6399999997</c:v>
                </c:pt>
                <c:pt idx="6">
                  <c:v>1085813.33</c:v>
                </c:pt>
                <c:pt idx="7">
                  <c:v>1276737.81</c:v>
                </c:pt>
                <c:pt idx="8">
                  <c:v>1293522.1100000001</c:v>
                </c:pt>
                <c:pt idx="9">
                  <c:v>1195826.6599999999</c:v>
                </c:pt>
                <c:pt idx="10">
                  <c:v>1210219.1200000001</c:v>
                </c:pt>
              </c:numCache>
            </c:numRef>
          </c:val>
        </c:ser>
        <c:dLbls>
          <c:showLegendKey val="0"/>
          <c:showVal val="0"/>
          <c:showCatName val="0"/>
          <c:showSerName val="0"/>
          <c:showPercent val="0"/>
          <c:showBubbleSize val="0"/>
        </c:dLbls>
        <c:gapWidth val="150"/>
        <c:overlap val="100"/>
        <c:axId val="82983936"/>
        <c:axId val="83018496"/>
      </c:barChart>
      <c:catAx>
        <c:axId val="82983936"/>
        <c:scaling>
          <c:orientation val="minMax"/>
        </c:scaling>
        <c:delete val="0"/>
        <c:axPos val="b"/>
        <c:numFmt formatCode="General" sourceLinked="1"/>
        <c:majorTickMark val="out"/>
        <c:minorTickMark val="none"/>
        <c:tickLblPos val="nextTo"/>
        <c:txPr>
          <a:bodyPr/>
          <a:lstStyle/>
          <a:p>
            <a:pPr>
              <a:defRPr sz="1400" baseline="0"/>
            </a:pPr>
            <a:endParaRPr lang="zh-CN"/>
          </a:p>
        </c:txPr>
        <c:crossAx val="83018496"/>
        <c:crosses val="autoZero"/>
        <c:auto val="1"/>
        <c:lblAlgn val="ctr"/>
        <c:lblOffset val="100"/>
        <c:noMultiLvlLbl val="0"/>
      </c:catAx>
      <c:valAx>
        <c:axId val="83018496"/>
        <c:scaling>
          <c:orientation val="minMax"/>
        </c:scaling>
        <c:delete val="0"/>
        <c:axPos val="l"/>
        <c:majorGridlines/>
        <c:numFmt formatCode="0%" sourceLinked="1"/>
        <c:majorTickMark val="out"/>
        <c:minorTickMark val="none"/>
        <c:tickLblPos val="nextTo"/>
        <c:txPr>
          <a:bodyPr/>
          <a:lstStyle/>
          <a:p>
            <a:pPr>
              <a:defRPr sz="1400" baseline="0"/>
            </a:pPr>
            <a:endParaRPr lang="zh-CN"/>
          </a:p>
        </c:txPr>
        <c:crossAx val="82983936"/>
        <c:crosses val="autoZero"/>
        <c:crossBetween val="between"/>
      </c:valAx>
    </c:plotArea>
    <c:legend>
      <c:legendPos val="r"/>
      <c:layout>
        <c:manualLayout>
          <c:xMode val="edge"/>
          <c:yMode val="edge"/>
          <c:x val="0.46838629968551226"/>
          <c:y val="4.2765210586498494E-2"/>
          <c:w val="0.12620829490908231"/>
          <c:h val="0.16837419060329639"/>
        </c:manualLayout>
      </c:layout>
      <c:overlay val="0"/>
      <c:txPr>
        <a:bodyPr/>
        <a:lstStyle/>
        <a:p>
          <a:pPr>
            <a:defRPr sz="1400" b="1" i="0" baseline="0"/>
          </a:pPr>
          <a:endParaRPr lang="zh-CN"/>
        </a:p>
      </c:txPr>
    </c:legend>
    <c:plotVisOnly val="1"/>
    <c:dispBlanksAs val="gap"/>
    <c:showDLblsOverMax val="0"/>
  </c:chart>
  <c:externalData r:id="rId1">
    <c:autoUpdate val="0"/>
  </c:externalData>
  <c:userShapes r:id="rId2"/>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Sheet6!$M$5</c:f>
              <c:strCache>
                <c:ptCount val="1"/>
                <c:pt idx="0">
                  <c:v>Linear Speedup</c:v>
                </c:pt>
              </c:strCache>
            </c:strRef>
          </c:tx>
          <c:cat>
            <c:numRef>
              <c:f>Sheet6!$L$6:$L$11</c:f>
              <c:numCache>
                <c:formatCode>General</c:formatCode>
                <c:ptCount val="6"/>
                <c:pt idx="0">
                  <c:v>2048</c:v>
                </c:pt>
                <c:pt idx="1">
                  <c:v>4096</c:v>
                </c:pt>
                <c:pt idx="2">
                  <c:v>8192</c:v>
                </c:pt>
                <c:pt idx="3">
                  <c:v>16384</c:v>
                </c:pt>
                <c:pt idx="4">
                  <c:v>32768</c:v>
                </c:pt>
                <c:pt idx="5">
                  <c:v>65536</c:v>
                </c:pt>
              </c:numCache>
            </c:numRef>
          </c:cat>
          <c:val>
            <c:numRef>
              <c:f>Sheet6!$M$6:$M$11</c:f>
              <c:numCache>
                <c:formatCode>General</c:formatCode>
                <c:ptCount val="6"/>
                <c:pt idx="0">
                  <c:v>1</c:v>
                </c:pt>
                <c:pt idx="1">
                  <c:v>2</c:v>
                </c:pt>
                <c:pt idx="2">
                  <c:v>4</c:v>
                </c:pt>
                <c:pt idx="3">
                  <c:v>8</c:v>
                </c:pt>
                <c:pt idx="4">
                  <c:v>16</c:v>
                </c:pt>
                <c:pt idx="5">
                  <c:v>32</c:v>
                </c:pt>
              </c:numCache>
            </c:numRef>
          </c:val>
          <c:smooth val="0"/>
        </c:ser>
        <c:ser>
          <c:idx val="1"/>
          <c:order val="1"/>
          <c:tx>
            <c:strRef>
              <c:f>Sheet6!$N$5</c:f>
              <c:strCache>
                <c:ptCount val="1"/>
                <c:pt idx="0">
                  <c:v>Non optimizaiton</c:v>
                </c:pt>
              </c:strCache>
            </c:strRef>
          </c:tx>
          <c:cat>
            <c:numRef>
              <c:f>Sheet6!$L$6:$L$11</c:f>
              <c:numCache>
                <c:formatCode>General</c:formatCode>
                <c:ptCount val="6"/>
                <c:pt idx="0">
                  <c:v>2048</c:v>
                </c:pt>
                <c:pt idx="1">
                  <c:v>4096</c:v>
                </c:pt>
                <c:pt idx="2">
                  <c:v>8192</c:v>
                </c:pt>
                <c:pt idx="3">
                  <c:v>16384</c:v>
                </c:pt>
                <c:pt idx="4">
                  <c:v>32768</c:v>
                </c:pt>
                <c:pt idx="5">
                  <c:v>65536</c:v>
                </c:pt>
              </c:numCache>
            </c:numRef>
          </c:cat>
          <c:val>
            <c:numRef>
              <c:f>Sheet6!$N$6:$N$11</c:f>
              <c:numCache>
                <c:formatCode>General</c:formatCode>
                <c:ptCount val="6"/>
                <c:pt idx="0">
                  <c:v>1</c:v>
                </c:pt>
                <c:pt idx="1">
                  <c:v>1.70593975600201</c:v>
                </c:pt>
                <c:pt idx="2">
                  <c:v>2.0690310383905</c:v>
                </c:pt>
              </c:numCache>
            </c:numRef>
          </c:val>
          <c:smooth val="0"/>
        </c:ser>
        <c:ser>
          <c:idx val="3"/>
          <c:order val="2"/>
          <c:tx>
            <c:strRef>
              <c:f>Sheet6!$P$5</c:f>
              <c:strCache>
                <c:ptCount val="1"/>
                <c:pt idx="0">
                  <c:v>IO+KmerGraph</c:v>
                </c:pt>
              </c:strCache>
            </c:strRef>
          </c:tx>
          <c:dLbls>
            <c:dLbl>
              <c:idx val="4"/>
              <c:layout/>
              <c:showLegendKey val="0"/>
              <c:showVal val="1"/>
              <c:showCatName val="0"/>
              <c:showSerName val="0"/>
              <c:showPercent val="0"/>
              <c:showBubbleSize val="0"/>
            </c:dLbl>
            <c:showLegendKey val="0"/>
            <c:showVal val="0"/>
            <c:showCatName val="0"/>
            <c:showSerName val="0"/>
            <c:showPercent val="0"/>
            <c:showBubbleSize val="0"/>
          </c:dLbls>
          <c:cat>
            <c:numRef>
              <c:f>Sheet6!$L$6:$L$11</c:f>
              <c:numCache>
                <c:formatCode>General</c:formatCode>
                <c:ptCount val="6"/>
                <c:pt idx="0">
                  <c:v>2048</c:v>
                </c:pt>
                <c:pt idx="1">
                  <c:v>4096</c:v>
                </c:pt>
                <c:pt idx="2">
                  <c:v>8192</c:v>
                </c:pt>
                <c:pt idx="3">
                  <c:v>16384</c:v>
                </c:pt>
                <c:pt idx="4">
                  <c:v>32768</c:v>
                </c:pt>
                <c:pt idx="5">
                  <c:v>65536</c:v>
                </c:pt>
              </c:numCache>
            </c:numRef>
          </c:cat>
          <c:val>
            <c:numRef>
              <c:f>Sheet6!$P$6:$P$11</c:f>
              <c:numCache>
                <c:formatCode>General</c:formatCode>
                <c:ptCount val="6"/>
                <c:pt idx="0">
                  <c:v>1</c:v>
                </c:pt>
                <c:pt idx="1">
                  <c:v>1.5496397582894299</c:v>
                </c:pt>
                <c:pt idx="2">
                  <c:v>2.3896399457028901</c:v>
                </c:pt>
                <c:pt idx="3">
                  <c:v>4.3840442727596498</c:v>
                </c:pt>
                <c:pt idx="4">
                  <c:v>4.8889296299691303</c:v>
                </c:pt>
                <c:pt idx="5">
                  <c:v>3.5349994145962098</c:v>
                </c:pt>
              </c:numCache>
            </c:numRef>
          </c:val>
          <c:smooth val="0"/>
        </c:ser>
        <c:ser>
          <c:idx val="4"/>
          <c:order val="3"/>
          <c:tx>
            <c:strRef>
              <c:f>Sheet6!$Q$5</c:f>
              <c:strCache>
                <c:ptCount val="1"/>
                <c:pt idx="0">
                  <c:v>IO+KmerGraph+EdgeMerging</c:v>
                </c:pt>
              </c:strCache>
            </c:strRef>
          </c:tx>
          <c:dLbls>
            <c:dLbl>
              <c:idx val="4"/>
              <c:layout>
                <c:manualLayout>
                  <c:x val="-6.2967335694608419E-3"/>
                  <c:y val="-2.5183627865739317E-2"/>
                </c:manualLayout>
              </c:layout>
              <c:showLegendKey val="0"/>
              <c:showVal val="1"/>
              <c:showCatName val="0"/>
              <c:showSerName val="0"/>
              <c:showPercent val="0"/>
              <c:showBubbleSize val="0"/>
            </c:dLbl>
            <c:showLegendKey val="0"/>
            <c:showVal val="0"/>
            <c:showCatName val="0"/>
            <c:showSerName val="0"/>
            <c:showPercent val="0"/>
            <c:showBubbleSize val="0"/>
          </c:dLbls>
          <c:cat>
            <c:numRef>
              <c:f>Sheet6!$L$6:$L$11</c:f>
              <c:numCache>
                <c:formatCode>General</c:formatCode>
                <c:ptCount val="6"/>
                <c:pt idx="0">
                  <c:v>2048</c:v>
                </c:pt>
                <c:pt idx="1">
                  <c:v>4096</c:v>
                </c:pt>
                <c:pt idx="2">
                  <c:v>8192</c:v>
                </c:pt>
                <c:pt idx="3">
                  <c:v>16384</c:v>
                </c:pt>
                <c:pt idx="4">
                  <c:v>32768</c:v>
                </c:pt>
                <c:pt idx="5">
                  <c:v>65536</c:v>
                </c:pt>
              </c:numCache>
            </c:numRef>
          </c:cat>
          <c:val>
            <c:numRef>
              <c:f>Sheet6!$Q$6:$Q$11</c:f>
              <c:numCache>
                <c:formatCode>General</c:formatCode>
                <c:ptCount val="6"/>
                <c:pt idx="0">
                  <c:v>1</c:v>
                </c:pt>
                <c:pt idx="1">
                  <c:v>1.51671344730798</c:v>
                </c:pt>
                <c:pt idx="2">
                  <c:v>2.8088414237952901</c:v>
                </c:pt>
                <c:pt idx="3">
                  <c:v>5.6901774419638196</c:v>
                </c:pt>
                <c:pt idx="4">
                  <c:v>9.9582361036319007</c:v>
                </c:pt>
                <c:pt idx="5">
                  <c:v>9.6594312246082392</c:v>
                </c:pt>
              </c:numCache>
            </c:numRef>
          </c:val>
          <c:smooth val="0"/>
        </c:ser>
        <c:dLbls>
          <c:showLegendKey val="0"/>
          <c:showVal val="0"/>
          <c:showCatName val="0"/>
          <c:showSerName val="0"/>
          <c:showPercent val="0"/>
          <c:showBubbleSize val="0"/>
        </c:dLbls>
        <c:marker val="1"/>
        <c:smooth val="0"/>
        <c:axId val="83455360"/>
        <c:axId val="83477632"/>
      </c:lineChart>
      <c:catAx>
        <c:axId val="83455360"/>
        <c:scaling>
          <c:orientation val="minMax"/>
        </c:scaling>
        <c:delete val="0"/>
        <c:axPos val="b"/>
        <c:numFmt formatCode="General" sourceLinked="1"/>
        <c:majorTickMark val="out"/>
        <c:minorTickMark val="none"/>
        <c:tickLblPos val="nextTo"/>
        <c:crossAx val="83477632"/>
        <c:crosses val="autoZero"/>
        <c:auto val="1"/>
        <c:lblAlgn val="ctr"/>
        <c:lblOffset val="100"/>
        <c:noMultiLvlLbl val="0"/>
      </c:catAx>
      <c:valAx>
        <c:axId val="83477632"/>
        <c:scaling>
          <c:logBase val="2"/>
          <c:orientation val="minMax"/>
          <c:max val="32"/>
        </c:scaling>
        <c:delete val="0"/>
        <c:axPos val="l"/>
        <c:majorGridlines/>
        <c:numFmt formatCode="General" sourceLinked="1"/>
        <c:majorTickMark val="out"/>
        <c:minorTickMark val="none"/>
        <c:tickLblPos val="nextTo"/>
        <c:crossAx val="83455360"/>
        <c:crosses val="autoZero"/>
        <c:crossBetween val="between"/>
      </c:valAx>
    </c:plotArea>
    <c:legend>
      <c:legendPos val="r"/>
      <c:layout/>
      <c:overlay val="0"/>
      <c:txPr>
        <a:bodyPr/>
        <a:lstStyle/>
        <a:p>
          <a:pPr>
            <a:defRPr sz="1400" baseline="0"/>
          </a:pPr>
          <a:endParaRPr lang="zh-CN"/>
        </a:p>
      </c:txPr>
    </c:legend>
    <c:plotVisOnly val="1"/>
    <c:dispBlanksAs val="gap"/>
    <c:showDLblsOverMax val="0"/>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percentStacked"/>
        <c:varyColors val="0"/>
        <c:ser>
          <c:idx val="0"/>
          <c:order val="0"/>
          <c:tx>
            <c:strRef>
              <c:f>Sheet2!$C$28</c:f>
              <c:strCache>
                <c:ptCount val="1"/>
                <c:pt idx="0">
                  <c:v>Input Parallelization</c:v>
                </c:pt>
              </c:strCache>
            </c:strRef>
          </c:tx>
          <c:invertIfNegative val="0"/>
          <c:cat>
            <c:numRef>
              <c:f>Sheet2!$B$31:$B$34</c:f>
              <c:numCache>
                <c:formatCode>General</c:formatCode>
                <c:ptCount val="4"/>
                <c:pt idx="0">
                  <c:v>1024</c:v>
                </c:pt>
                <c:pt idx="1">
                  <c:v>2048</c:v>
                </c:pt>
                <c:pt idx="2">
                  <c:v>4096</c:v>
                </c:pt>
                <c:pt idx="3">
                  <c:v>8192</c:v>
                </c:pt>
              </c:numCache>
            </c:numRef>
          </c:cat>
          <c:val>
            <c:numRef>
              <c:f>Sheet2!$C$31:$C$34</c:f>
              <c:numCache>
                <c:formatCode>General</c:formatCode>
                <c:ptCount val="4"/>
                <c:pt idx="0">
                  <c:v>200.74</c:v>
                </c:pt>
                <c:pt idx="1">
                  <c:v>240.36</c:v>
                </c:pt>
                <c:pt idx="2">
                  <c:v>403.48</c:v>
                </c:pt>
                <c:pt idx="3">
                  <c:v>192.39</c:v>
                </c:pt>
              </c:numCache>
            </c:numRef>
          </c:val>
        </c:ser>
        <c:ser>
          <c:idx val="1"/>
          <c:order val="1"/>
          <c:tx>
            <c:strRef>
              <c:f>Sheet2!$D$28</c:f>
              <c:strCache>
                <c:ptCount val="1"/>
                <c:pt idx="0">
                  <c:v>Construct k-mer Graph </c:v>
                </c:pt>
              </c:strCache>
            </c:strRef>
          </c:tx>
          <c:invertIfNegative val="0"/>
          <c:cat>
            <c:numRef>
              <c:f>Sheet2!$B$31:$B$34</c:f>
              <c:numCache>
                <c:formatCode>General</c:formatCode>
                <c:ptCount val="4"/>
                <c:pt idx="0">
                  <c:v>1024</c:v>
                </c:pt>
                <c:pt idx="1">
                  <c:v>2048</c:v>
                </c:pt>
                <c:pt idx="2">
                  <c:v>4096</c:v>
                </c:pt>
                <c:pt idx="3">
                  <c:v>8192</c:v>
                </c:pt>
              </c:numCache>
            </c:numRef>
          </c:cat>
          <c:val>
            <c:numRef>
              <c:f>Sheet2!$D$31:$D$34</c:f>
              <c:numCache>
                <c:formatCode>General</c:formatCode>
                <c:ptCount val="4"/>
                <c:pt idx="0">
                  <c:v>575.37990000000002</c:v>
                </c:pt>
                <c:pt idx="1">
                  <c:v>1163.3</c:v>
                </c:pt>
                <c:pt idx="2">
                  <c:v>385.84</c:v>
                </c:pt>
                <c:pt idx="3">
                  <c:v>613.48900000000003</c:v>
                </c:pt>
              </c:numCache>
            </c:numRef>
          </c:val>
        </c:ser>
        <c:ser>
          <c:idx val="2"/>
          <c:order val="2"/>
          <c:tx>
            <c:strRef>
              <c:f>Sheet2!$E$28</c:f>
              <c:strCache>
                <c:ptCount val="1"/>
                <c:pt idx="0">
                  <c:v>cutoffGraph</c:v>
                </c:pt>
              </c:strCache>
            </c:strRef>
          </c:tx>
          <c:invertIfNegative val="0"/>
          <c:cat>
            <c:numRef>
              <c:f>Sheet2!$B$31:$B$34</c:f>
              <c:numCache>
                <c:formatCode>General</c:formatCode>
                <c:ptCount val="4"/>
                <c:pt idx="0">
                  <c:v>1024</c:v>
                </c:pt>
                <c:pt idx="1">
                  <c:v>2048</c:v>
                </c:pt>
                <c:pt idx="2">
                  <c:v>4096</c:v>
                </c:pt>
                <c:pt idx="3">
                  <c:v>8192</c:v>
                </c:pt>
              </c:numCache>
            </c:numRef>
          </c:cat>
          <c:val>
            <c:numRef>
              <c:f>Sheet2!$E$31:$E$34</c:f>
              <c:numCache>
                <c:formatCode>General</c:formatCode>
                <c:ptCount val="4"/>
                <c:pt idx="0">
                  <c:v>18.63</c:v>
                </c:pt>
                <c:pt idx="1">
                  <c:v>9.75</c:v>
                </c:pt>
                <c:pt idx="2">
                  <c:v>7.07</c:v>
                </c:pt>
                <c:pt idx="3">
                  <c:v>4.55</c:v>
                </c:pt>
              </c:numCache>
            </c:numRef>
          </c:val>
        </c:ser>
        <c:ser>
          <c:idx val="3"/>
          <c:order val="3"/>
          <c:tx>
            <c:strRef>
              <c:f>Sheet2!$F$28</c:f>
              <c:strCache>
                <c:ptCount val="1"/>
                <c:pt idx="0">
                  <c:v>Construct MSG Graph</c:v>
                </c:pt>
              </c:strCache>
            </c:strRef>
          </c:tx>
          <c:invertIfNegative val="0"/>
          <c:cat>
            <c:numRef>
              <c:f>Sheet2!$B$31:$B$34</c:f>
              <c:numCache>
                <c:formatCode>General</c:formatCode>
                <c:ptCount val="4"/>
                <c:pt idx="0">
                  <c:v>1024</c:v>
                </c:pt>
                <c:pt idx="1">
                  <c:v>2048</c:v>
                </c:pt>
                <c:pt idx="2">
                  <c:v>4096</c:v>
                </c:pt>
                <c:pt idx="3">
                  <c:v>8192</c:v>
                </c:pt>
              </c:numCache>
            </c:numRef>
          </c:cat>
          <c:val>
            <c:numRef>
              <c:f>Sheet2!$F$31:$F$34</c:f>
              <c:numCache>
                <c:formatCode>General</c:formatCode>
                <c:ptCount val="4"/>
                <c:pt idx="0">
                  <c:v>61.86</c:v>
                </c:pt>
                <c:pt idx="1">
                  <c:v>31.53</c:v>
                </c:pt>
                <c:pt idx="2">
                  <c:v>16.420000000000002</c:v>
                </c:pt>
                <c:pt idx="3">
                  <c:v>8.43</c:v>
                </c:pt>
              </c:numCache>
            </c:numRef>
          </c:val>
        </c:ser>
        <c:ser>
          <c:idx val="4"/>
          <c:order val="4"/>
          <c:tx>
            <c:strRef>
              <c:f>Sheet2!$G$28</c:f>
              <c:strCache>
                <c:ptCount val="1"/>
                <c:pt idx="0">
                  <c:v>Graph Simplification</c:v>
                </c:pt>
              </c:strCache>
            </c:strRef>
          </c:tx>
          <c:invertIfNegative val="0"/>
          <c:cat>
            <c:numRef>
              <c:f>Sheet2!$B$31:$B$34</c:f>
              <c:numCache>
                <c:formatCode>General</c:formatCode>
                <c:ptCount val="4"/>
                <c:pt idx="0">
                  <c:v>1024</c:v>
                </c:pt>
                <c:pt idx="1">
                  <c:v>2048</c:v>
                </c:pt>
                <c:pt idx="2">
                  <c:v>4096</c:v>
                </c:pt>
                <c:pt idx="3">
                  <c:v>8192</c:v>
                </c:pt>
              </c:numCache>
            </c:numRef>
          </c:cat>
          <c:val>
            <c:numRef>
              <c:f>Sheet2!$G$31:$G$34</c:f>
              <c:numCache>
                <c:formatCode>General</c:formatCode>
                <c:ptCount val="4"/>
                <c:pt idx="0">
                  <c:v>1894.14</c:v>
                </c:pt>
                <c:pt idx="1">
                  <c:v>968.79899999999998</c:v>
                </c:pt>
                <c:pt idx="2">
                  <c:v>587</c:v>
                </c:pt>
                <c:pt idx="3">
                  <c:v>330.23</c:v>
                </c:pt>
              </c:numCache>
            </c:numRef>
          </c:val>
        </c:ser>
        <c:ser>
          <c:idx val="5"/>
          <c:order val="5"/>
          <c:tx>
            <c:strRef>
              <c:f>Sheet2!$H$28</c:f>
              <c:strCache>
                <c:ptCount val="1"/>
                <c:pt idx="0">
                  <c:v>Output</c:v>
                </c:pt>
              </c:strCache>
            </c:strRef>
          </c:tx>
          <c:invertIfNegative val="0"/>
          <c:cat>
            <c:numRef>
              <c:f>Sheet2!$B$31:$B$34</c:f>
              <c:numCache>
                <c:formatCode>General</c:formatCode>
                <c:ptCount val="4"/>
                <c:pt idx="0">
                  <c:v>1024</c:v>
                </c:pt>
                <c:pt idx="1">
                  <c:v>2048</c:v>
                </c:pt>
                <c:pt idx="2">
                  <c:v>4096</c:v>
                </c:pt>
                <c:pt idx="3">
                  <c:v>8192</c:v>
                </c:pt>
              </c:numCache>
            </c:numRef>
          </c:cat>
          <c:val>
            <c:numRef>
              <c:f>Sheet2!$H$31:$H$34</c:f>
              <c:numCache>
                <c:formatCode>General</c:formatCode>
                <c:ptCount val="4"/>
                <c:pt idx="0">
                  <c:v>62.15</c:v>
                </c:pt>
                <c:pt idx="1">
                  <c:v>45.79</c:v>
                </c:pt>
                <c:pt idx="2">
                  <c:v>40.69</c:v>
                </c:pt>
                <c:pt idx="3">
                  <c:v>39.26</c:v>
                </c:pt>
              </c:numCache>
            </c:numRef>
          </c:val>
        </c:ser>
        <c:dLbls>
          <c:showLegendKey val="0"/>
          <c:showVal val="0"/>
          <c:showCatName val="0"/>
          <c:showSerName val="0"/>
          <c:showPercent val="0"/>
          <c:showBubbleSize val="0"/>
        </c:dLbls>
        <c:gapWidth val="150"/>
        <c:overlap val="100"/>
        <c:axId val="86418560"/>
        <c:axId val="86420096"/>
      </c:barChart>
      <c:lineChart>
        <c:grouping val="standard"/>
        <c:varyColors val="0"/>
        <c:ser>
          <c:idx val="7"/>
          <c:order val="6"/>
          <c:tx>
            <c:strRef>
              <c:f>Sheet2!$J$28</c:f>
              <c:strCache>
                <c:ptCount val="1"/>
                <c:pt idx="0">
                  <c:v>Speedup</c:v>
                </c:pt>
              </c:strCache>
            </c:strRef>
          </c:tx>
          <c:cat>
            <c:numRef>
              <c:f>Sheet2!$B$31:$B$34</c:f>
              <c:numCache>
                <c:formatCode>General</c:formatCode>
                <c:ptCount val="4"/>
                <c:pt idx="0">
                  <c:v>1024</c:v>
                </c:pt>
                <c:pt idx="1">
                  <c:v>2048</c:v>
                </c:pt>
                <c:pt idx="2">
                  <c:v>4096</c:v>
                </c:pt>
                <c:pt idx="3">
                  <c:v>8192</c:v>
                </c:pt>
              </c:numCache>
            </c:numRef>
          </c:cat>
          <c:val>
            <c:numRef>
              <c:f>Sheet2!$J$31:$J$34</c:f>
              <c:numCache>
                <c:formatCode>General</c:formatCode>
                <c:ptCount val="4"/>
                <c:pt idx="0">
                  <c:v>1</c:v>
                </c:pt>
                <c:pt idx="1">
                  <c:v>1.14361561571328</c:v>
                </c:pt>
                <c:pt idx="2">
                  <c:v>1.9509404127829499</c:v>
                </c:pt>
                <c:pt idx="3">
                  <c:v>2.3661765695444399</c:v>
                </c:pt>
              </c:numCache>
            </c:numRef>
          </c:val>
          <c:smooth val="0"/>
        </c:ser>
        <c:ser>
          <c:idx val="8"/>
          <c:order val="7"/>
          <c:tx>
            <c:strRef>
              <c:f>Sheet2!$K$28</c:f>
              <c:strCache>
                <c:ptCount val="1"/>
                <c:pt idx="0">
                  <c:v>Linear Speedup</c:v>
                </c:pt>
              </c:strCache>
            </c:strRef>
          </c:tx>
          <c:cat>
            <c:numRef>
              <c:f>Sheet2!$B$31:$B$34</c:f>
              <c:numCache>
                <c:formatCode>General</c:formatCode>
                <c:ptCount val="4"/>
                <c:pt idx="0">
                  <c:v>1024</c:v>
                </c:pt>
                <c:pt idx="1">
                  <c:v>2048</c:v>
                </c:pt>
                <c:pt idx="2">
                  <c:v>4096</c:v>
                </c:pt>
                <c:pt idx="3">
                  <c:v>8192</c:v>
                </c:pt>
              </c:numCache>
            </c:numRef>
          </c:cat>
          <c:val>
            <c:numRef>
              <c:f>Sheet2!$K$31:$K$34</c:f>
              <c:numCache>
                <c:formatCode>General</c:formatCode>
                <c:ptCount val="4"/>
                <c:pt idx="0">
                  <c:v>1</c:v>
                </c:pt>
                <c:pt idx="1">
                  <c:v>2</c:v>
                </c:pt>
                <c:pt idx="2">
                  <c:v>4</c:v>
                </c:pt>
                <c:pt idx="3">
                  <c:v>8</c:v>
                </c:pt>
              </c:numCache>
            </c:numRef>
          </c:val>
          <c:smooth val="0"/>
        </c:ser>
        <c:dLbls>
          <c:showLegendKey val="0"/>
          <c:showVal val="0"/>
          <c:showCatName val="0"/>
          <c:showSerName val="0"/>
          <c:showPercent val="0"/>
          <c:showBubbleSize val="0"/>
        </c:dLbls>
        <c:marker val="1"/>
        <c:smooth val="0"/>
        <c:axId val="86431616"/>
        <c:axId val="86430080"/>
      </c:lineChart>
      <c:catAx>
        <c:axId val="86418560"/>
        <c:scaling>
          <c:orientation val="minMax"/>
        </c:scaling>
        <c:delete val="0"/>
        <c:axPos val="b"/>
        <c:numFmt formatCode="General" sourceLinked="1"/>
        <c:majorTickMark val="out"/>
        <c:minorTickMark val="none"/>
        <c:tickLblPos val="nextTo"/>
        <c:crossAx val="86420096"/>
        <c:crosses val="autoZero"/>
        <c:auto val="1"/>
        <c:lblAlgn val="ctr"/>
        <c:lblOffset val="100"/>
        <c:noMultiLvlLbl val="0"/>
      </c:catAx>
      <c:valAx>
        <c:axId val="86420096"/>
        <c:scaling>
          <c:orientation val="minMax"/>
        </c:scaling>
        <c:delete val="0"/>
        <c:axPos val="l"/>
        <c:majorGridlines/>
        <c:numFmt formatCode="0%" sourceLinked="1"/>
        <c:majorTickMark val="out"/>
        <c:minorTickMark val="none"/>
        <c:tickLblPos val="nextTo"/>
        <c:crossAx val="86418560"/>
        <c:crosses val="autoZero"/>
        <c:crossBetween val="between"/>
      </c:valAx>
      <c:valAx>
        <c:axId val="86430080"/>
        <c:scaling>
          <c:logBase val="2"/>
          <c:orientation val="minMax"/>
          <c:max val="8"/>
        </c:scaling>
        <c:delete val="0"/>
        <c:axPos val="r"/>
        <c:numFmt formatCode="General" sourceLinked="1"/>
        <c:majorTickMark val="out"/>
        <c:minorTickMark val="none"/>
        <c:tickLblPos val="nextTo"/>
        <c:crossAx val="86431616"/>
        <c:crosses val="max"/>
        <c:crossBetween val="between"/>
      </c:valAx>
      <c:catAx>
        <c:axId val="86431616"/>
        <c:scaling>
          <c:orientation val="minMax"/>
        </c:scaling>
        <c:delete val="1"/>
        <c:axPos val="b"/>
        <c:numFmt formatCode="General" sourceLinked="1"/>
        <c:majorTickMark val="out"/>
        <c:minorTickMark val="none"/>
        <c:tickLblPos val="nextTo"/>
        <c:crossAx val="86430080"/>
        <c:crosses val="autoZero"/>
        <c:auto val="1"/>
        <c:lblAlgn val="ctr"/>
        <c:lblOffset val="100"/>
        <c:noMultiLvlLbl val="0"/>
      </c:catAx>
      <c:spPr>
        <a:noFill/>
        <a:ln w="25400">
          <a:noFill/>
        </a:ln>
      </c:spPr>
    </c:plotArea>
    <c:legend>
      <c:legendPos val="r"/>
      <c:layout/>
      <c:overlay val="0"/>
    </c:legend>
    <c:plotVisOnly val="1"/>
    <c:dispBlanksAs val="gap"/>
    <c:showDLblsOverMax val="0"/>
  </c:chart>
  <c:txPr>
    <a:bodyPr/>
    <a:lstStyle/>
    <a:p>
      <a:pPr>
        <a:defRPr sz="1400" baseline="0"/>
      </a:pPr>
      <a:endParaRPr lang="zh-CN"/>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percentStacked"/>
        <c:varyColors val="0"/>
        <c:ser>
          <c:idx val="0"/>
          <c:order val="0"/>
          <c:tx>
            <c:strRef>
              <c:f>Sheet1!$D$2</c:f>
              <c:strCache>
                <c:ptCount val="1"/>
                <c:pt idx="0">
                  <c:v>Input Parallelization</c:v>
                </c:pt>
              </c:strCache>
            </c:strRef>
          </c:tx>
          <c:invertIfNegative val="0"/>
          <c:cat>
            <c:numRef>
              <c:f>Sheet1!$C$3:$C$8</c:f>
              <c:numCache>
                <c:formatCode>General</c:formatCode>
                <c:ptCount val="6"/>
                <c:pt idx="0">
                  <c:v>2048</c:v>
                </c:pt>
                <c:pt idx="1">
                  <c:v>4096</c:v>
                </c:pt>
                <c:pt idx="2">
                  <c:v>8192</c:v>
                </c:pt>
                <c:pt idx="3">
                  <c:v>16384</c:v>
                </c:pt>
                <c:pt idx="4">
                  <c:v>32768</c:v>
                </c:pt>
                <c:pt idx="5">
                  <c:v>65536</c:v>
                </c:pt>
              </c:numCache>
            </c:numRef>
          </c:cat>
          <c:val>
            <c:numRef>
              <c:f>Sheet1!$D$3:$D$8</c:f>
              <c:numCache>
                <c:formatCode>General</c:formatCode>
                <c:ptCount val="6"/>
                <c:pt idx="0">
                  <c:v>265.66000000000003</c:v>
                </c:pt>
                <c:pt idx="1">
                  <c:v>301.92998999999998</c:v>
                </c:pt>
                <c:pt idx="2">
                  <c:v>214.07</c:v>
                </c:pt>
                <c:pt idx="3">
                  <c:v>104.43</c:v>
                </c:pt>
                <c:pt idx="4">
                  <c:v>65.3</c:v>
                </c:pt>
                <c:pt idx="5">
                  <c:v>79.92</c:v>
                </c:pt>
              </c:numCache>
            </c:numRef>
          </c:val>
        </c:ser>
        <c:ser>
          <c:idx val="1"/>
          <c:order val="1"/>
          <c:tx>
            <c:strRef>
              <c:f>Sheet1!$E$2</c:f>
              <c:strCache>
                <c:ptCount val="1"/>
                <c:pt idx="0">
                  <c:v>Construct k-mer Graph </c:v>
                </c:pt>
              </c:strCache>
            </c:strRef>
          </c:tx>
          <c:invertIfNegative val="0"/>
          <c:cat>
            <c:numRef>
              <c:f>Sheet1!$C$3:$C$8</c:f>
              <c:numCache>
                <c:formatCode>General</c:formatCode>
                <c:ptCount val="6"/>
                <c:pt idx="0">
                  <c:v>2048</c:v>
                </c:pt>
                <c:pt idx="1">
                  <c:v>4096</c:v>
                </c:pt>
                <c:pt idx="2">
                  <c:v>8192</c:v>
                </c:pt>
                <c:pt idx="3">
                  <c:v>16384</c:v>
                </c:pt>
                <c:pt idx="4">
                  <c:v>32768</c:v>
                </c:pt>
                <c:pt idx="5">
                  <c:v>65536</c:v>
                </c:pt>
              </c:numCache>
            </c:numRef>
          </c:cat>
          <c:val>
            <c:numRef>
              <c:f>Sheet1!$E$3:$E$8</c:f>
              <c:numCache>
                <c:formatCode>General</c:formatCode>
                <c:ptCount val="6"/>
                <c:pt idx="0">
                  <c:v>251.36</c:v>
                </c:pt>
                <c:pt idx="1">
                  <c:v>112.05</c:v>
                </c:pt>
                <c:pt idx="2">
                  <c:v>60.12</c:v>
                </c:pt>
                <c:pt idx="3">
                  <c:v>35.97</c:v>
                </c:pt>
                <c:pt idx="4">
                  <c:v>23.59</c:v>
                </c:pt>
                <c:pt idx="5">
                  <c:v>19.21</c:v>
                </c:pt>
              </c:numCache>
            </c:numRef>
          </c:val>
        </c:ser>
        <c:ser>
          <c:idx val="2"/>
          <c:order val="2"/>
          <c:tx>
            <c:strRef>
              <c:f>Sheet1!$F$2</c:f>
              <c:strCache>
                <c:ptCount val="1"/>
                <c:pt idx="0">
                  <c:v>cutoffGraph</c:v>
                </c:pt>
              </c:strCache>
            </c:strRef>
          </c:tx>
          <c:invertIfNegative val="0"/>
          <c:cat>
            <c:numRef>
              <c:f>Sheet1!$C$3:$C$8</c:f>
              <c:numCache>
                <c:formatCode>General</c:formatCode>
                <c:ptCount val="6"/>
                <c:pt idx="0">
                  <c:v>2048</c:v>
                </c:pt>
                <c:pt idx="1">
                  <c:v>4096</c:v>
                </c:pt>
                <c:pt idx="2">
                  <c:v>8192</c:v>
                </c:pt>
                <c:pt idx="3">
                  <c:v>16384</c:v>
                </c:pt>
                <c:pt idx="4">
                  <c:v>32768</c:v>
                </c:pt>
                <c:pt idx="5">
                  <c:v>65536</c:v>
                </c:pt>
              </c:numCache>
            </c:numRef>
          </c:cat>
          <c:val>
            <c:numRef>
              <c:f>Sheet1!$F$3:$F$8</c:f>
              <c:numCache>
                <c:formatCode>General</c:formatCode>
                <c:ptCount val="6"/>
                <c:pt idx="0">
                  <c:v>9.75</c:v>
                </c:pt>
                <c:pt idx="1">
                  <c:v>7.07</c:v>
                </c:pt>
                <c:pt idx="2">
                  <c:v>4.54</c:v>
                </c:pt>
                <c:pt idx="3">
                  <c:v>2.72</c:v>
                </c:pt>
                <c:pt idx="4">
                  <c:v>1.89</c:v>
                </c:pt>
                <c:pt idx="5">
                  <c:v>2.84</c:v>
                </c:pt>
              </c:numCache>
            </c:numRef>
          </c:val>
        </c:ser>
        <c:ser>
          <c:idx val="3"/>
          <c:order val="3"/>
          <c:tx>
            <c:strRef>
              <c:f>Sheet1!$G$2</c:f>
              <c:strCache>
                <c:ptCount val="1"/>
                <c:pt idx="0">
                  <c:v>Construct MSG Graph</c:v>
                </c:pt>
              </c:strCache>
            </c:strRef>
          </c:tx>
          <c:invertIfNegative val="0"/>
          <c:cat>
            <c:numRef>
              <c:f>Sheet1!$C$3:$C$8</c:f>
              <c:numCache>
                <c:formatCode>General</c:formatCode>
                <c:ptCount val="6"/>
                <c:pt idx="0">
                  <c:v>2048</c:v>
                </c:pt>
                <c:pt idx="1">
                  <c:v>4096</c:v>
                </c:pt>
                <c:pt idx="2">
                  <c:v>8192</c:v>
                </c:pt>
                <c:pt idx="3">
                  <c:v>16384</c:v>
                </c:pt>
                <c:pt idx="4">
                  <c:v>32768</c:v>
                </c:pt>
                <c:pt idx="5">
                  <c:v>65536</c:v>
                </c:pt>
              </c:numCache>
            </c:numRef>
          </c:cat>
          <c:val>
            <c:numRef>
              <c:f>Sheet1!$G$3:$G$8</c:f>
              <c:numCache>
                <c:formatCode>General</c:formatCode>
                <c:ptCount val="6"/>
                <c:pt idx="0">
                  <c:v>122.28</c:v>
                </c:pt>
                <c:pt idx="1">
                  <c:v>61.79</c:v>
                </c:pt>
                <c:pt idx="2">
                  <c:v>30.94</c:v>
                </c:pt>
                <c:pt idx="3">
                  <c:v>15.55</c:v>
                </c:pt>
                <c:pt idx="4">
                  <c:v>8.09</c:v>
                </c:pt>
                <c:pt idx="5">
                  <c:v>5.56</c:v>
                </c:pt>
              </c:numCache>
            </c:numRef>
          </c:val>
        </c:ser>
        <c:ser>
          <c:idx val="4"/>
          <c:order val="4"/>
          <c:tx>
            <c:strRef>
              <c:f>Sheet1!$H$2</c:f>
              <c:strCache>
                <c:ptCount val="1"/>
                <c:pt idx="0">
                  <c:v>Graph Simplification</c:v>
                </c:pt>
              </c:strCache>
            </c:strRef>
          </c:tx>
          <c:invertIfNegative val="0"/>
          <c:cat>
            <c:numRef>
              <c:f>Sheet1!$C$3:$C$8</c:f>
              <c:numCache>
                <c:formatCode>General</c:formatCode>
                <c:ptCount val="6"/>
                <c:pt idx="0">
                  <c:v>2048</c:v>
                </c:pt>
                <c:pt idx="1">
                  <c:v>4096</c:v>
                </c:pt>
                <c:pt idx="2">
                  <c:v>8192</c:v>
                </c:pt>
                <c:pt idx="3">
                  <c:v>16384</c:v>
                </c:pt>
                <c:pt idx="4">
                  <c:v>32768</c:v>
                </c:pt>
                <c:pt idx="5">
                  <c:v>65536</c:v>
                </c:pt>
              </c:numCache>
            </c:numRef>
          </c:cat>
          <c:val>
            <c:numRef>
              <c:f>Sheet1!$H$3:$H$8</c:f>
              <c:numCache>
                <c:formatCode>General</c:formatCode>
                <c:ptCount val="6"/>
                <c:pt idx="0">
                  <c:v>926.51</c:v>
                </c:pt>
                <c:pt idx="1">
                  <c:v>523.15989999999999</c:v>
                </c:pt>
                <c:pt idx="2">
                  <c:v>334.72</c:v>
                </c:pt>
                <c:pt idx="3">
                  <c:v>183.45</c:v>
                </c:pt>
                <c:pt idx="4">
                  <c:v>211.81</c:v>
                </c:pt>
                <c:pt idx="5">
                  <c:v>319.67</c:v>
                </c:pt>
              </c:numCache>
            </c:numRef>
          </c:val>
        </c:ser>
        <c:ser>
          <c:idx val="5"/>
          <c:order val="5"/>
          <c:tx>
            <c:strRef>
              <c:f>Sheet1!$I$2</c:f>
              <c:strCache>
                <c:ptCount val="1"/>
                <c:pt idx="0">
                  <c:v>Output</c:v>
                </c:pt>
              </c:strCache>
            </c:strRef>
          </c:tx>
          <c:invertIfNegative val="0"/>
          <c:cat>
            <c:numRef>
              <c:f>Sheet1!$C$3:$C$8</c:f>
              <c:numCache>
                <c:formatCode>General</c:formatCode>
                <c:ptCount val="6"/>
                <c:pt idx="0">
                  <c:v>2048</c:v>
                </c:pt>
                <c:pt idx="1">
                  <c:v>4096</c:v>
                </c:pt>
                <c:pt idx="2">
                  <c:v>8192</c:v>
                </c:pt>
                <c:pt idx="3">
                  <c:v>16384</c:v>
                </c:pt>
                <c:pt idx="4">
                  <c:v>32768</c:v>
                </c:pt>
                <c:pt idx="5">
                  <c:v>65536</c:v>
                </c:pt>
              </c:numCache>
            </c:numRef>
          </c:cat>
          <c:val>
            <c:numRef>
              <c:f>Sheet1!$I$3:$I$8</c:f>
              <c:numCache>
                <c:formatCode>General</c:formatCode>
                <c:ptCount val="6"/>
                <c:pt idx="0">
                  <c:v>24.35</c:v>
                </c:pt>
                <c:pt idx="1">
                  <c:v>16.260000000000002</c:v>
                </c:pt>
                <c:pt idx="2">
                  <c:v>17.72</c:v>
                </c:pt>
                <c:pt idx="3">
                  <c:v>18.25</c:v>
                </c:pt>
                <c:pt idx="4">
                  <c:v>15.45</c:v>
                </c:pt>
                <c:pt idx="5">
                  <c:v>24.01</c:v>
                </c:pt>
              </c:numCache>
            </c:numRef>
          </c:val>
        </c:ser>
        <c:dLbls>
          <c:showLegendKey val="0"/>
          <c:showVal val="0"/>
          <c:showCatName val="0"/>
          <c:showSerName val="0"/>
          <c:showPercent val="0"/>
          <c:showBubbleSize val="0"/>
        </c:dLbls>
        <c:gapWidth val="150"/>
        <c:overlap val="100"/>
        <c:axId val="86744448"/>
        <c:axId val="86758528"/>
      </c:barChart>
      <c:lineChart>
        <c:grouping val="standard"/>
        <c:varyColors val="0"/>
        <c:ser>
          <c:idx val="7"/>
          <c:order val="6"/>
          <c:tx>
            <c:strRef>
              <c:f>Sheet1!$K$2</c:f>
              <c:strCache>
                <c:ptCount val="1"/>
                <c:pt idx="0">
                  <c:v>SWAP 0.3</c:v>
                </c:pt>
              </c:strCache>
            </c:strRef>
          </c:tx>
          <c:cat>
            <c:numRef>
              <c:f>Sheet1!$C$3:$C$8</c:f>
              <c:numCache>
                <c:formatCode>General</c:formatCode>
                <c:ptCount val="6"/>
                <c:pt idx="0">
                  <c:v>2048</c:v>
                </c:pt>
                <c:pt idx="1">
                  <c:v>4096</c:v>
                </c:pt>
                <c:pt idx="2">
                  <c:v>8192</c:v>
                </c:pt>
                <c:pt idx="3">
                  <c:v>16384</c:v>
                </c:pt>
                <c:pt idx="4">
                  <c:v>32768</c:v>
                </c:pt>
                <c:pt idx="5">
                  <c:v>65536</c:v>
                </c:pt>
              </c:numCache>
            </c:numRef>
          </c:cat>
          <c:val>
            <c:numRef>
              <c:f>Sheet1!$K$3:$K$8</c:f>
              <c:numCache>
                <c:formatCode>General</c:formatCode>
                <c:ptCount val="6"/>
                <c:pt idx="0">
                  <c:v>1</c:v>
                </c:pt>
                <c:pt idx="1">
                  <c:v>1.70593975600201</c:v>
                </c:pt>
                <c:pt idx="2">
                  <c:v>2.0690310383905</c:v>
                </c:pt>
              </c:numCache>
            </c:numRef>
          </c:val>
          <c:smooth val="0"/>
        </c:ser>
        <c:ser>
          <c:idx val="8"/>
          <c:order val="7"/>
          <c:tx>
            <c:strRef>
              <c:f>Sheet1!$L$2</c:f>
              <c:strCache>
                <c:ptCount val="1"/>
                <c:pt idx="0">
                  <c:v>IO+KmerGraph</c:v>
                </c:pt>
              </c:strCache>
            </c:strRef>
          </c:tx>
          <c:cat>
            <c:numRef>
              <c:f>Sheet1!$C$3:$C$8</c:f>
              <c:numCache>
                <c:formatCode>General</c:formatCode>
                <c:ptCount val="6"/>
                <c:pt idx="0">
                  <c:v>2048</c:v>
                </c:pt>
                <c:pt idx="1">
                  <c:v>4096</c:v>
                </c:pt>
                <c:pt idx="2">
                  <c:v>8192</c:v>
                </c:pt>
                <c:pt idx="3">
                  <c:v>16384</c:v>
                </c:pt>
                <c:pt idx="4">
                  <c:v>32768</c:v>
                </c:pt>
                <c:pt idx="5">
                  <c:v>65536</c:v>
                </c:pt>
              </c:numCache>
            </c:numRef>
          </c:cat>
          <c:val>
            <c:numRef>
              <c:f>Sheet1!$L$3:$L$8</c:f>
              <c:numCache>
                <c:formatCode>General</c:formatCode>
                <c:ptCount val="6"/>
                <c:pt idx="0">
                  <c:v>1</c:v>
                </c:pt>
                <c:pt idx="1">
                  <c:v>1.5496397582894299</c:v>
                </c:pt>
                <c:pt idx="2">
                  <c:v>2.3896399457028901</c:v>
                </c:pt>
                <c:pt idx="3">
                  <c:v>4.3840442727596498</c:v>
                </c:pt>
                <c:pt idx="4">
                  <c:v>4.8889296299691303</c:v>
                </c:pt>
                <c:pt idx="5">
                  <c:v>3.5349994145962098</c:v>
                </c:pt>
              </c:numCache>
            </c:numRef>
          </c:val>
          <c:smooth val="0"/>
        </c:ser>
        <c:ser>
          <c:idx val="9"/>
          <c:order val="8"/>
          <c:tx>
            <c:strRef>
              <c:f>Sheet1!$M$2</c:f>
              <c:strCache>
                <c:ptCount val="1"/>
                <c:pt idx="0">
                  <c:v>Linear Speedup</c:v>
                </c:pt>
              </c:strCache>
            </c:strRef>
          </c:tx>
          <c:cat>
            <c:numRef>
              <c:f>Sheet1!$C$3:$C$8</c:f>
              <c:numCache>
                <c:formatCode>General</c:formatCode>
                <c:ptCount val="6"/>
                <c:pt idx="0">
                  <c:v>2048</c:v>
                </c:pt>
                <c:pt idx="1">
                  <c:v>4096</c:v>
                </c:pt>
                <c:pt idx="2">
                  <c:v>8192</c:v>
                </c:pt>
                <c:pt idx="3">
                  <c:v>16384</c:v>
                </c:pt>
                <c:pt idx="4">
                  <c:v>32768</c:v>
                </c:pt>
                <c:pt idx="5">
                  <c:v>65536</c:v>
                </c:pt>
              </c:numCache>
            </c:numRef>
          </c:cat>
          <c:val>
            <c:numRef>
              <c:f>Sheet1!$M$3:$M$8</c:f>
              <c:numCache>
                <c:formatCode>General</c:formatCode>
                <c:ptCount val="6"/>
                <c:pt idx="0">
                  <c:v>1</c:v>
                </c:pt>
                <c:pt idx="1">
                  <c:v>2</c:v>
                </c:pt>
                <c:pt idx="2">
                  <c:v>4</c:v>
                </c:pt>
                <c:pt idx="3">
                  <c:v>8</c:v>
                </c:pt>
                <c:pt idx="4">
                  <c:v>16</c:v>
                </c:pt>
                <c:pt idx="5">
                  <c:v>32</c:v>
                </c:pt>
              </c:numCache>
            </c:numRef>
          </c:val>
          <c:smooth val="0"/>
        </c:ser>
        <c:dLbls>
          <c:showLegendKey val="0"/>
          <c:showVal val="0"/>
          <c:showCatName val="0"/>
          <c:showSerName val="0"/>
          <c:showPercent val="0"/>
          <c:showBubbleSize val="0"/>
        </c:dLbls>
        <c:marker val="1"/>
        <c:smooth val="0"/>
        <c:axId val="86761856"/>
        <c:axId val="86760064"/>
      </c:lineChart>
      <c:catAx>
        <c:axId val="86744448"/>
        <c:scaling>
          <c:orientation val="minMax"/>
        </c:scaling>
        <c:delete val="0"/>
        <c:axPos val="b"/>
        <c:numFmt formatCode="General" sourceLinked="1"/>
        <c:majorTickMark val="out"/>
        <c:minorTickMark val="none"/>
        <c:tickLblPos val="nextTo"/>
        <c:txPr>
          <a:bodyPr/>
          <a:lstStyle/>
          <a:p>
            <a:pPr>
              <a:defRPr sz="1400" baseline="0"/>
            </a:pPr>
            <a:endParaRPr lang="zh-CN"/>
          </a:p>
        </c:txPr>
        <c:crossAx val="86758528"/>
        <c:crosses val="autoZero"/>
        <c:auto val="1"/>
        <c:lblAlgn val="ctr"/>
        <c:lblOffset val="100"/>
        <c:noMultiLvlLbl val="0"/>
      </c:catAx>
      <c:valAx>
        <c:axId val="86758528"/>
        <c:scaling>
          <c:orientation val="minMax"/>
        </c:scaling>
        <c:delete val="0"/>
        <c:axPos val="l"/>
        <c:majorGridlines/>
        <c:numFmt formatCode="0%" sourceLinked="1"/>
        <c:majorTickMark val="out"/>
        <c:minorTickMark val="none"/>
        <c:tickLblPos val="nextTo"/>
        <c:txPr>
          <a:bodyPr/>
          <a:lstStyle/>
          <a:p>
            <a:pPr>
              <a:defRPr sz="1400" baseline="0"/>
            </a:pPr>
            <a:endParaRPr lang="zh-CN"/>
          </a:p>
        </c:txPr>
        <c:crossAx val="86744448"/>
        <c:crosses val="autoZero"/>
        <c:crossBetween val="between"/>
      </c:valAx>
      <c:valAx>
        <c:axId val="86760064"/>
        <c:scaling>
          <c:logBase val="2"/>
          <c:orientation val="minMax"/>
          <c:max val="32"/>
        </c:scaling>
        <c:delete val="0"/>
        <c:axPos val="r"/>
        <c:numFmt formatCode="General" sourceLinked="1"/>
        <c:majorTickMark val="out"/>
        <c:minorTickMark val="none"/>
        <c:tickLblPos val="nextTo"/>
        <c:txPr>
          <a:bodyPr/>
          <a:lstStyle/>
          <a:p>
            <a:pPr>
              <a:defRPr sz="1400" baseline="0"/>
            </a:pPr>
            <a:endParaRPr lang="zh-CN"/>
          </a:p>
        </c:txPr>
        <c:crossAx val="86761856"/>
        <c:crosses val="max"/>
        <c:crossBetween val="between"/>
      </c:valAx>
      <c:catAx>
        <c:axId val="86761856"/>
        <c:scaling>
          <c:orientation val="minMax"/>
        </c:scaling>
        <c:delete val="1"/>
        <c:axPos val="b"/>
        <c:numFmt formatCode="General" sourceLinked="1"/>
        <c:majorTickMark val="out"/>
        <c:minorTickMark val="none"/>
        <c:tickLblPos val="nextTo"/>
        <c:crossAx val="86760064"/>
        <c:crosses val="autoZero"/>
        <c:auto val="1"/>
        <c:lblAlgn val="ctr"/>
        <c:lblOffset val="100"/>
        <c:noMultiLvlLbl val="0"/>
      </c:catAx>
    </c:plotArea>
    <c:legend>
      <c:legendPos val="r"/>
      <c:layout/>
      <c:overlay val="0"/>
      <c:txPr>
        <a:bodyPr/>
        <a:lstStyle/>
        <a:p>
          <a:pPr>
            <a:defRPr sz="1400" baseline="0"/>
          </a:pPr>
          <a:endParaRPr lang="zh-CN"/>
        </a:p>
      </c:txPr>
    </c:legend>
    <c:plotVisOnly val="1"/>
    <c:dispBlanksAs val="gap"/>
    <c:showDLblsOverMax val="0"/>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percentStacked"/>
        <c:varyColors val="0"/>
        <c:ser>
          <c:idx val="0"/>
          <c:order val="0"/>
          <c:tx>
            <c:strRef>
              <c:f>Sheet1!$D$13</c:f>
              <c:strCache>
                <c:ptCount val="1"/>
                <c:pt idx="0">
                  <c:v>Input Parallelization</c:v>
                </c:pt>
              </c:strCache>
            </c:strRef>
          </c:tx>
          <c:invertIfNegative val="0"/>
          <c:cat>
            <c:numRef>
              <c:f>Sheet1!$C$14:$C$19</c:f>
              <c:numCache>
                <c:formatCode>General</c:formatCode>
                <c:ptCount val="6"/>
                <c:pt idx="0">
                  <c:v>2048</c:v>
                </c:pt>
                <c:pt idx="1">
                  <c:v>4096</c:v>
                </c:pt>
                <c:pt idx="2">
                  <c:v>8192</c:v>
                </c:pt>
                <c:pt idx="3">
                  <c:v>16384</c:v>
                </c:pt>
                <c:pt idx="4">
                  <c:v>32768</c:v>
                </c:pt>
                <c:pt idx="5">
                  <c:v>65536</c:v>
                </c:pt>
              </c:numCache>
            </c:numRef>
          </c:cat>
          <c:val>
            <c:numRef>
              <c:f>Sheet1!$D$14:$D$19</c:f>
              <c:numCache>
                <c:formatCode>General</c:formatCode>
                <c:ptCount val="6"/>
                <c:pt idx="0">
                  <c:v>394.67899999999997</c:v>
                </c:pt>
                <c:pt idx="1">
                  <c:v>417.56990000000002</c:v>
                </c:pt>
                <c:pt idx="2">
                  <c:v>220.36</c:v>
                </c:pt>
                <c:pt idx="3">
                  <c:v>100.85</c:v>
                </c:pt>
                <c:pt idx="4">
                  <c:v>66.84</c:v>
                </c:pt>
                <c:pt idx="5">
                  <c:v>25.23</c:v>
                </c:pt>
              </c:numCache>
            </c:numRef>
          </c:val>
        </c:ser>
        <c:ser>
          <c:idx val="1"/>
          <c:order val="1"/>
          <c:tx>
            <c:strRef>
              <c:f>Sheet1!$E$13</c:f>
              <c:strCache>
                <c:ptCount val="1"/>
                <c:pt idx="0">
                  <c:v>Construct k-mer Graph </c:v>
                </c:pt>
              </c:strCache>
            </c:strRef>
          </c:tx>
          <c:invertIfNegative val="0"/>
          <c:cat>
            <c:numRef>
              <c:f>Sheet1!$C$14:$C$19</c:f>
              <c:numCache>
                <c:formatCode>General</c:formatCode>
                <c:ptCount val="6"/>
                <c:pt idx="0">
                  <c:v>2048</c:v>
                </c:pt>
                <c:pt idx="1">
                  <c:v>4096</c:v>
                </c:pt>
                <c:pt idx="2">
                  <c:v>8192</c:v>
                </c:pt>
                <c:pt idx="3">
                  <c:v>16384</c:v>
                </c:pt>
                <c:pt idx="4">
                  <c:v>32768</c:v>
                </c:pt>
                <c:pt idx="5">
                  <c:v>65536</c:v>
                </c:pt>
              </c:numCache>
            </c:numRef>
          </c:cat>
          <c:val>
            <c:numRef>
              <c:f>Sheet1!$E$14:$E$19</c:f>
              <c:numCache>
                <c:formatCode>General</c:formatCode>
                <c:ptCount val="6"/>
                <c:pt idx="0">
                  <c:v>303.58999999999997</c:v>
                </c:pt>
                <c:pt idx="1">
                  <c:v>151.179</c:v>
                </c:pt>
                <c:pt idx="2">
                  <c:v>86.06</c:v>
                </c:pt>
                <c:pt idx="3">
                  <c:v>51.89</c:v>
                </c:pt>
                <c:pt idx="4">
                  <c:v>30.39</c:v>
                </c:pt>
                <c:pt idx="5">
                  <c:v>81.64</c:v>
                </c:pt>
              </c:numCache>
            </c:numRef>
          </c:val>
        </c:ser>
        <c:ser>
          <c:idx val="2"/>
          <c:order val="2"/>
          <c:tx>
            <c:strRef>
              <c:f>Sheet1!$F$13</c:f>
              <c:strCache>
                <c:ptCount val="1"/>
                <c:pt idx="0">
                  <c:v>CutoffGraph</c:v>
                </c:pt>
              </c:strCache>
            </c:strRef>
          </c:tx>
          <c:invertIfNegative val="0"/>
          <c:cat>
            <c:numRef>
              <c:f>Sheet1!$C$14:$C$19</c:f>
              <c:numCache>
                <c:formatCode>General</c:formatCode>
                <c:ptCount val="6"/>
                <c:pt idx="0">
                  <c:v>2048</c:v>
                </c:pt>
                <c:pt idx="1">
                  <c:v>4096</c:v>
                </c:pt>
                <c:pt idx="2">
                  <c:v>8192</c:v>
                </c:pt>
                <c:pt idx="3">
                  <c:v>16384</c:v>
                </c:pt>
                <c:pt idx="4">
                  <c:v>32768</c:v>
                </c:pt>
                <c:pt idx="5">
                  <c:v>65536</c:v>
                </c:pt>
              </c:numCache>
            </c:numRef>
          </c:cat>
          <c:val>
            <c:numRef>
              <c:f>Sheet1!$F$14:$F$19</c:f>
              <c:numCache>
                <c:formatCode>General</c:formatCode>
                <c:ptCount val="6"/>
                <c:pt idx="0">
                  <c:v>9.83</c:v>
                </c:pt>
                <c:pt idx="1">
                  <c:v>7.15</c:v>
                </c:pt>
                <c:pt idx="2">
                  <c:v>4.51</c:v>
                </c:pt>
                <c:pt idx="3">
                  <c:v>2.7</c:v>
                </c:pt>
                <c:pt idx="4">
                  <c:v>1.89</c:v>
                </c:pt>
                <c:pt idx="5">
                  <c:v>1.44</c:v>
                </c:pt>
              </c:numCache>
            </c:numRef>
          </c:val>
        </c:ser>
        <c:ser>
          <c:idx val="3"/>
          <c:order val="3"/>
          <c:tx>
            <c:strRef>
              <c:f>Sheet1!$G$13</c:f>
              <c:strCache>
                <c:ptCount val="1"/>
                <c:pt idx="0">
                  <c:v>Construct MSG Graph</c:v>
                </c:pt>
              </c:strCache>
            </c:strRef>
          </c:tx>
          <c:invertIfNegative val="0"/>
          <c:cat>
            <c:numRef>
              <c:f>Sheet1!$C$14:$C$19</c:f>
              <c:numCache>
                <c:formatCode>General</c:formatCode>
                <c:ptCount val="6"/>
                <c:pt idx="0">
                  <c:v>2048</c:v>
                </c:pt>
                <c:pt idx="1">
                  <c:v>4096</c:v>
                </c:pt>
                <c:pt idx="2">
                  <c:v>8192</c:v>
                </c:pt>
                <c:pt idx="3">
                  <c:v>16384</c:v>
                </c:pt>
                <c:pt idx="4">
                  <c:v>32768</c:v>
                </c:pt>
                <c:pt idx="5">
                  <c:v>65536</c:v>
                </c:pt>
              </c:numCache>
            </c:numRef>
          </c:cat>
          <c:val>
            <c:numRef>
              <c:f>Sheet1!$G$14:$G$19</c:f>
              <c:numCache>
                <c:formatCode>General</c:formatCode>
                <c:ptCount val="6"/>
                <c:pt idx="0">
                  <c:v>94.32</c:v>
                </c:pt>
                <c:pt idx="1">
                  <c:v>47.68</c:v>
                </c:pt>
                <c:pt idx="2">
                  <c:v>23.61</c:v>
                </c:pt>
                <c:pt idx="3">
                  <c:v>12.06</c:v>
                </c:pt>
                <c:pt idx="4">
                  <c:v>6.32</c:v>
                </c:pt>
                <c:pt idx="5">
                  <c:v>6.47</c:v>
                </c:pt>
              </c:numCache>
            </c:numRef>
          </c:val>
        </c:ser>
        <c:ser>
          <c:idx val="4"/>
          <c:order val="4"/>
          <c:tx>
            <c:strRef>
              <c:f>Sheet1!$H$13</c:f>
              <c:strCache>
                <c:ptCount val="1"/>
                <c:pt idx="0">
                  <c:v>Graph Simplification</c:v>
                </c:pt>
              </c:strCache>
            </c:strRef>
          </c:tx>
          <c:invertIfNegative val="0"/>
          <c:cat>
            <c:numRef>
              <c:f>Sheet1!$C$14:$C$19</c:f>
              <c:numCache>
                <c:formatCode>General</c:formatCode>
                <c:ptCount val="6"/>
                <c:pt idx="0">
                  <c:v>2048</c:v>
                </c:pt>
                <c:pt idx="1">
                  <c:v>4096</c:v>
                </c:pt>
                <c:pt idx="2">
                  <c:v>8192</c:v>
                </c:pt>
                <c:pt idx="3">
                  <c:v>16384</c:v>
                </c:pt>
                <c:pt idx="4">
                  <c:v>32768</c:v>
                </c:pt>
                <c:pt idx="5">
                  <c:v>65536</c:v>
                </c:pt>
              </c:numCache>
            </c:numRef>
          </c:cat>
          <c:val>
            <c:numRef>
              <c:f>Sheet1!$H$14:$H$19</c:f>
              <c:numCache>
                <c:formatCode>General</c:formatCode>
                <c:ptCount val="6"/>
                <c:pt idx="0">
                  <c:v>841.01</c:v>
                </c:pt>
                <c:pt idx="1">
                  <c:v>460.95</c:v>
                </c:pt>
                <c:pt idx="2">
                  <c:v>247.02</c:v>
                </c:pt>
                <c:pt idx="3">
                  <c:v>118.67</c:v>
                </c:pt>
                <c:pt idx="4">
                  <c:v>57.81</c:v>
                </c:pt>
                <c:pt idx="5">
                  <c:v>50.32</c:v>
                </c:pt>
              </c:numCache>
            </c:numRef>
          </c:val>
        </c:ser>
        <c:ser>
          <c:idx val="5"/>
          <c:order val="5"/>
          <c:tx>
            <c:strRef>
              <c:f>Sheet1!$I$13</c:f>
              <c:strCache>
                <c:ptCount val="1"/>
                <c:pt idx="0">
                  <c:v>Output</c:v>
                </c:pt>
              </c:strCache>
            </c:strRef>
          </c:tx>
          <c:invertIfNegative val="0"/>
          <c:cat>
            <c:numRef>
              <c:f>Sheet1!$C$14:$C$19</c:f>
              <c:numCache>
                <c:formatCode>General</c:formatCode>
                <c:ptCount val="6"/>
                <c:pt idx="0">
                  <c:v>2048</c:v>
                </c:pt>
                <c:pt idx="1">
                  <c:v>4096</c:v>
                </c:pt>
                <c:pt idx="2">
                  <c:v>8192</c:v>
                </c:pt>
                <c:pt idx="3">
                  <c:v>16384</c:v>
                </c:pt>
                <c:pt idx="4">
                  <c:v>32768</c:v>
                </c:pt>
                <c:pt idx="5">
                  <c:v>65536</c:v>
                </c:pt>
              </c:numCache>
            </c:numRef>
          </c:cat>
          <c:val>
            <c:numRef>
              <c:f>Sheet1!$I$14:$I$19</c:f>
              <c:numCache>
                <c:formatCode>General</c:formatCode>
                <c:ptCount val="6"/>
                <c:pt idx="0">
                  <c:v>20.89</c:v>
                </c:pt>
                <c:pt idx="1">
                  <c:v>12.77</c:v>
                </c:pt>
                <c:pt idx="2">
                  <c:v>10.96</c:v>
                </c:pt>
                <c:pt idx="3">
                  <c:v>6.29</c:v>
                </c:pt>
                <c:pt idx="4">
                  <c:v>3.82</c:v>
                </c:pt>
                <c:pt idx="5">
                  <c:v>7.08</c:v>
                </c:pt>
              </c:numCache>
            </c:numRef>
          </c:val>
        </c:ser>
        <c:dLbls>
          <c:showLegendKey val="0"/>
          <c:showVal val="0"/>
          <c:showCatName val="0"/>
          <c:showSerName val="0"/>
          <c:showPercent val="0"/>
          <c:showBubbleSize val="0"/>
        </c:dLbls>
        <c:gapWidth val="150"/>
        <c:overlap val="100"/>
        <c:axId val="86558976"/>
        <c:axId val="86568960"/>
      </c:barChart>
      <c:lineChart>
        <c:grouping val="standard"/>
        <c:varyColors val="0"/>
        <c:ser>
          <c:idx val="7"/>
          <c:order val="6"/>
          <c:tx>
            <c:strRef>
              <c:f>Sheet1!$K$13</c:f>
              <c:strCache>
                <c:ptCount val="1"/>
                <c:pt idx="0">
                  <c:v>SWAP 0.3</c:v>
                </c:pt>
              </c:strCache>
            </c:strRef>
          </c:tx>
          <c:cat>
            <c:numRef>
              <c:f>Sheet1!$C$14:$C$19</c:f>
              <c:numCache>
                <c:formatCode>General</c:formatCode>
                <c:ptCount val="6"/>
                <c:pt idx="0">
                  <c:v>2048</c:v>
                </c:pt>
                <c:pt idx="1">
                  <c:v>4096</c:v>
                </c:pt>
                <c:pt idx="2">
                  <c:v>8192</c:v>
                </c:pt>
                <c:pt idx="3">
                  <c:v>16384</c:v>
                </c:pt>
                <c:pt idx="4">
                  <c:v>32768</c:v>
                </c:pt>
                <c:pt idx="5">
                  <c:v>65536</c:v>
                </c:pt>
              </c:numCache>
            </c:numRef>
          </c:cat>
          <c:val>
            <c:numRef>
              <c:f>Sheet1!$K$14:$K$19</c:f>
              <c:numCache>
                <c:formatCode>General</c:formatCode>
                <c:ptCount val="6"/>
                <c:pt idx="0">
                  <c:v>1</c:v>
                </c:pt>
                <c:pt idx="1">
                  <c:v>1.70593975600201</c:v>
                </c:pt>
                <c:pt idx="2">
                  <c:v>2.0690310383905</c:v>
                </c:pt>
              </c:numCache>
            </c:numRef>
          </c:val>
          <c:smooth val="0"/>
        </c:ser>
        <c:ser>
          <c:idx val="8"/>
          <c:order val="7"/>
          <c:tx>
            <c:strRef>
              <c:f>Sheet1!$L$13</c:f>
              <c:strCache>
                <c:ptCount val="1"/>
                <c:pt idx="0">
                  <c:v>IO+KmerGraph</c:v>
                </c:pt>
              </c:strCache>
            </c:strRef>
          </c:tx>
          <c:cat>
            <c:numRef>
              <c:f>Sheet1!$C$14:$C$19</c:f>
              <c:numCache>
                <c:formatCode>General</c:formatCode>
                <c:ptCount val="6"/>
                <c:pt idx="0">
                  <c:v>2048</c:v>
                </c:pt>
                <c:pt idx="1">
                  <c:v>4096</c:v>
                </c:pt>
                <c:pt idx="2">
                  <c:v>8192</c:v>
                </c:pt>
                <c:pt idx="3">
                  <c:v>16384</c:v>
                </c:pt>
                <c:pt idx="4">
                  <c:v>32768</c:v>
                </c:pt>
                <c:pt idx="5">
                  <c:v>65536</c:v>
                </c:pt>
              </c:numCache>
            </c:numRef>
          </c:cat>
          <c:val>
            <c:numRef>
              <c:f>Sheet1!$L$14:$L$19</c:f>
              <c:numCache>
                <c:formatCode>General</c:formatCode>
                <c:ptCount val="6"/>
                <c:pt idx="0">
                  <c:v>1</c:v>
                </c:pt>
                <c:pt idx="1">
                  <c:v>1.5496397582894299</c:v>
                </c:pt>
                <c:pt idx="2">
                  <c:v>2.3896399457028901</c:v>
                </c:pt>
                <c:pt idx="3">
                  <c:v>4.3840442727596498</c:v>
                </c:pt>
                <c:pt idx="4">
                  <c:v>4.8889296299691303</c:v>
                </c:pt>
                <c:pt idx="5">
                  <c:v>3.5349994145962098</c:v>
                </c:pt>
              </c:numCache>
            </c:numRef>
          </c:val>
          <c:smooth val="0"/>
        </c:ser>
        <c:ser>
          <c:idx val="9"/>
          <c:order val="8"/>
          <c:tx>
            <c:strRef>
              <c:f>Sheet1!$M$13</c:f>
              <c:strCache>
                <c:ptCount val="1"/>
                <c:pt idx="0">
                  <c:v>IO+KmerGraph+EdgeMerging</c:v>
                </c:pt>
              </c:strCache>
            </c:strRef>
          </c:tx>
          <c:cat>
            <c:numRef>
              <c:f>Sheet1!$C$14:$C$19</c:f>
              <c:numCache>
                <c:formatCode>General</c:formatCode>
                <c:ptCount val="6"/>
                <c:pt idx="0">
                  <c:v>2048</c:v>
                </c:pt>
                <c:pt idx="1">
                  <c:v>4096</c:v>
                </c:pt>
                <c:pt idx="2">
                  <c:v>8192</c:v>
                </c:pt>
                <c:pt idx="3">
                  <c:v>16384</c:v>
                </c:pt>
                <c:pt idx="4">
                  <c:v>32768</c:v>
                </c:pt>
                <c:pt idx="5">
                  <c:v>65536</c:v>
                </c:pt>
              </c:numCache>
            </c:numRef>
          </c:cat>
          <c:val>
            <c:numRef>
              <c:f>Sheet1!$M$14:$M$19</c:f>
              <c:numCache>
                <c:formatCode>General</c:formatCode>
                <c:ptCount val="6"/>
                <c:pt idx="0">
                  <c:v>1</c:v>
                </c:pt>
                <c:pt idx="1">
                  <c:v>1.51671344730798</c:v>
                </c:pt>
                <c:pt idx="2">
                  <c:v>2.8088414237952901</c:v>
                </c:pt>
                <c:pt idx="3">
                  <c:v>5.6901774419638196</c:v>
                </c:pt>
                <c:pt idx="4">
                  <c:v>9.9582361036319007</c:v>
                </c:pt>
                <c:pt idx="5">
                  <c:v>9.6594312246082392</c:v>
                </c:pt>
              </c:numCache>
            </c:numRef>
          </c:val>
          <c:smooth val="0"/>
        </c:ser>
        <c:ser>
          <c:idx val="10"/>
          <c:order val="9"/>
          <c:tx>
            <c:strRef>
              <c:f>Sheet1!$N$13</c:f>
              <c:strCache>
                <c:ptCount val="1"/>
                <c:pt idx="0">
                  <c:v>Linear Speedup</c:v>
                </c:pt>
              </c:strCache>
            </c:strRef>
          </c:tx>
          <c:cat>
            <c:numRef>
              <c:f>Sheet1!$C$14:$C$19</c:f>
              <c:numCache>
                <c:formatCode>General</c:formatCode>
                <c:ptCount val="6"/>
                <c:pt idx="0">
                  <c:v>2048</c:v>
                </c:pt>
                <c:pt idx="1">
                  <c:v>4096</c:v>
                </c:pt>
                <c:pt idx="2">
                  <c:v>8192</c:v>
                </c:pt>
                <c:pt idx="3">
                  <c:v>16384</c:v>
                </c:pt>
                <c:pt idx="4">
                  <c:v>32768</c:v>
                </c:pt>
                <c:pt idx="5">
                  <c:v>65536</c:v>
                </c:pt>
              </c:numCache>
            </c:numRef>
          </c:cat>
          <c:val>
            <c:numRef>
              <c:f>Sheet1!$N$14:$N$19</c:f>
              <c:numCache>
                <c:formatCode>General</c:formatCode>
                <c:ptCount val="6"/>
                <c:pt idx="0">
                  <c:v>1</c:v>
                </c:pt>
                <c:pt idx="1">
                  <c:v>2</c:v>
                </c:pt>
                <c:pt idx="2">
                  <c:v>4</c:v>
                </c:pt>
                <c:pt idx="3">
                  <c:v>8</c:v>
                </c:pt>
                <c:pt idx="4">
                  <c:v>16</c:v>
                </c:pt>
                <c:pt idx="5">
                  <c:v>32</c:v>
                </c:pt>
              </c:numCache>
            </c:numRef>
          </c:val>
          <c:smooth val="0"/>
        </c:ser>
        <c:dLbls>
          <c:showLegendKey val="0"/>
          <c:showVal val="0"/>
          <c:showCatName val="0"/>
          <c:showSerName val="0"/>
          <c:showPercent val="0"/>
          <c:showBubbleSize val="0"/>
        </c:dLbls>
        <c:marker val="1"/>
        <c:smooth val="0"/>
        <c:axId val="86572032"/>
        <c:axId val="86570496"/>
      </c:lineChart>
      <c:catAx>
        <c:axId val="86558976"/>
        <c:scaling>
          <c:orientation val="minMax"/>
        </c:scaling>
        <c:delete val="0"/>
        <c:axPos val="b"/>
        <c:numFmt formatCode="General" sourceLinked="1"/>
        <c:majorTickMark val="out"/>
        <c:minorTickMark val="none"/>
        <c:tickLblPos val="nextTo"/>
        <c:txPr>
          <a:bodyPr/>
          <a:lstStyle/>
          <a:p>
            <a:pPr>
              <a:defRPr sz="1400" baseline="0"/>
            </a:pPr>
            <a:endParaRPr lang="zh-CN"/>
          </a:p>
        </c:txPr>
        <c:crossAx val="86568960"/>
        <c:crosses val="autoZero"/>
        <c:auto val="1"/>
        <c:lblAlgn val="ctr"/>
        <c:lblOffset val="100"/>
        <c:noMultiLvlLbl val="0"/>
      </c:catAx>
      <c:valAx>
        <c:axId val="86568960"/>
        <c:scaling>
          <c:orientation val="minMax"/>
        </c:scaling>
        <c:delete val="0"/>
        <c:axPos val="l"/>
        <c:majorGridlines/>
        <c:numFmt formatCode="0%" sourceLinked="1"/>
        <c:majorTickMark val="out"/>
        <c:minorTickMark val="none"/>
        <c:tickLblPos val="nextTo"/>
        <c:txPr>
          <a:bodyPr/>
          <a:lstStyle/>
          <a:p>
            <a:pPr>
              <a:defRPr sz="1400" baseline="0"/>
            </a:pPr>
            <a:endParaRPr lang="zh-CN"/>
          </a:p>
        </c:txPr>
        <c:crossAx val="86558976"/>
        <c:crosses val="autoZero"/>
        <c:crossBetween val="between"/>
      </c:valAx>
      <c:valAx>
        <c:axId val="86570496"/>
        <c:scaling>
          <c:logBase val="2"/>
          <c:orientation val="minMax"/>
          <c:max val="32"/>
        </c:scaling>
        <c:delete val="0"/>
        <c:axPos val="r"/>
        <c:numFmt formatCode="General" sourceLinked="1"/>
        <c:majorTickMark val="out"/>
        <c:minorTickMark val="none"/>
        <c:tickLblPos val="nextTo"/>
        <c:txPr>
          <a:bodyPr/>
          <a:lstStyle/>
          <a:p>
            <a:pPr>
              <a:defRPr sz="1400" baseline="0"/>
            </a:pPr>
            <a:endParaRPr lang="zh-CN"/>
          </a:p>
        </c:txPr>
        <c:crossAx val="86572032"/>
        <c:crosses val="max"/>
        <c:crossBetween val="between"/>
      </c:valAx>
      <c:catAx>
        <c:axId val="86572032"/>
        <c:scaling>
          <c:orientation val="minMax"/>
        </c:scaling>
        <c:delete val="1"/>
        <c:axPos val="b"/>
        <c:numFmt formatCode="General" sourceLinked="1"/>
        <c:majorTickMark val="out"/>
        <c:minorTickMark val="none"/>
        <c:tickLblPos val="nextTo"/>
        <c:crossAx val="86570496"/>
        <c:crosses val="autoZero"/>
        <c:auto val="1"/>
        <c:lblAlgn val="ctr"/>
        <c:lblOffset val="100"/>
        <c:noMultiLvlLbl val="0"/>
      </c:catAx>
    </c:plotArea>
    <c:legend>
      <c:legendPos val="r"/>
      <c:layout/>
      <c:overlay val="0"/>
      <c:txPr>
        <a:bodyPr/>
        <a:lstStyle/>
        <a:p>
          <a:pPr>
            <a:defRPr sz="1400" baseline="0"/>
          </a:pPr>
          <a:endParaRPr lang="zh-CN"/>
        </a:p>
      </c:txPr>
    </c:legend>
    <c:plotVisOnly val="1"/>
    <c:dispBlanksAs val="gap"/>
    <c:showDLblsOverMax val="0"/>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percentStacked"/>
        <c:varyColors val="0"/>
        <c:ser>
          <c:idx val="0"/>
          <c:order val="0"/>
          <c:tx>
            <c:strRef>
              <c:f>Sheet1!$B$2</c:f>
              <c:strCache>
                <c:ptCount val="1"/>
                <c:pt idx="0">
                  <c:v>Input Parallelization</c:v>
                </c:pt>
              </c:strCache>
            </c:strRef>
          </c:tx>
          <c:invertIfNegative val="0"/>
          <c:cat>
            <c:strRef>
              <c:f>Sheet1!$A$3:$A$8</c:f>
              <c:strCache>
                <c:ptCount val="6"/>
                <c:pt idx="0">
                  <c:v>8k</c:v>
                </c:pt>
                <c:pt idx="1">
                  <c:v>16k</c:v>
                </c:pt>
                <c:pt idx="2">
                  <c:v>32k</c:v>
                </c:pt>
                <c:pt idx="3">
                  <c:v>64k</c:v>
                </c:pt>
                <c:pt idx="4">
                  <c:v>128k</c:v>
                </c:pt>
                <c:pt idx="5">
                  <c:v>256k</c:v>
                </c:pt>
              </c:strCache>
            </c:strRef>
          </c:cat>
          <c:val>
            <c:numRef>
              <c:f>Sheet1!$B$3:$B$8</c:f>
              <c:numCache>
                <c:formatCode>General</c:formatCode>
                <c:ptCount val="6"/>
                <c:pt idx="0">
                  <c:v>546.32000000000005</c:v>
                </c:pt>
                <c:pt idx="1">
                  <c:v>251.75899999999999</c:v>
                </c:pt>
                <c:pt idx="2">
                  <c:v>120.08</c:v>
                </c:pt>
                <c:pt idx="3">
                  <c:v>48.89</c:v>
                </c:pt>
                <c:pt idx="5">
                  <c:v>89.39</c:v>
                </c:pt>
              </c:numCache>
            </c:numRef>
          </c:val>
        </c:ser>
        <c:ser>
          <c:idx val="1"/>
          <c:order val="1"/>
          <c:tx>
            <c:strRef>
              <c:f>Sheet1!$C$2</c:f>
              <c:strCache>
                <c:ptCount val="1"/>
                <c:pt idx="0">
                  <c:v>Construct k-mer Graph </c:v>
                </c:pt>
              </c:strCache>
            </c:strRef>
          </c:tx>
          <c:invertIfNegative val="0"/>
          <c:cat>
            <c:strRef>
              <c:f>Sheet1!$A$3:$A$8</c:f>
              <c:strCache>
                <c:ptCount val="6"/>
                <c:pt idx="0">
                  <c:v>8k</c:v>
                </c:pt>
                <c:pt idx="1">
                  <c:v>16k</c:v>
                </c:pt>
                <c:pt idx="2">
                  <c:v>32k</c:v>
                </c:pt>
                <c:pt idx="3">
                  <c:v>64k</c:v>
                </c:pt>
                <c:pt idx="4">
                  <c:v>128k</c:v>
                </c:pt>
                <c:pt idx="5">
                  <c:v>256k</c:v>
                </c:pt>
              </c:strCache>
            </c:strRef>
          </c:cat>
          <c:val>
            <c:numRef>
              <c:f>Sheet1!$C$3:$C$8</c:f>
              <c:numCache>
                <c:formatCode>General</c:formatCode>
                <c:ptCount val="6"/>
                <c:pt idx="0">
                  <c:v>870.95</c:v>
                </c:pt>
                <c:pt idx="1">
                  <c:v>531.48990000000003</c:v>
                </c:pt>
                <c:pt idx="2">
                  <c:v>353.76900000000001</c:v>
                </c:pt>
                <c:pt idx="3">
                  <c:v>246.42</c:v>
                </c:pt>
                <c:pt idx="5">
                  <c:v>82.56</c:v>
                </c:pt>
              </c:numCache>
            </c:numRef>
          </c:val>
        </c:ser>
        <c:ser>
          <c:idx val="2"/>
          <c:order val="2"/>
          <c:tx>
            <c:strRef>
              <c:f>Sheet1!$D$2</c:f>
              <c:strCache>
                <c:ptCount val="1"/>
                <c:pt idx="0">
                  <c:v>CutoffGraph</c:v>
                </c:pt>
              </c:strCache>
            </c:strRef>
          </c:tx>
          <c:invertIfNegative val="0"/>
          <c:cat>
            <c:strRef>
              <c:f>Sheet1!$A$3:$A$8</c:f>
              <c:strCache>
                <c:ptCount val="6"/>
                <c:pt idx="0">
                  <c:v>8k</c:v>
                </c:pt>
                <c:pt idx="1">
                  <c:v>16k</c:v>
                </c:pt>
                <c:pt idx="2">
                  <c:v>32k</c:v>
                </c:pt>
                <c:pt idx="3">
                  <c:v>64k</c:v>
                </c:pt>
                <c:pt idx="4">
                  <c:v>128k</c:v>
                </c:pt>
                <c:pt idx="5">
                  <c:v>256k</c:v>
                </c:pt>
              </c:strCache>
            </c:strRef>
          </c:cat>
          <c:val>
            <c:numRef>
              <c:f>Sheet1!$D$3:$D$8</c:f>
              <c:numCache>
                <c:formatCode>General</c:formatCode>
                <c:ptCount val="6"/>
                <c:pt idx="0">
                  <c:v>27.04</c:v>
                </c:pt>
                <c:pt idx="1">
                  <c:v>14.15</c:v>
                </c:pt>
                <c:pt idx="2">
                  <c:v>7.53</c:v>
                </c:pt>
                <c:pt idx="3">
                  <c:v>3.55</c:v>
                </c:pt>
                <c:pt idx="5">
                  <c:v>1.46</c:v>
                </c:pt>
              </c:numCache>
            </c:numRef>
          </c:val>
        </c:ser>
        <c:ser>
          <c:idx val="3"/>
          <c:order val="3"/>
          <c:tx>
            <c:strRef>
              <c:f>Sheet1!$E$2</c:f>
              <c:strCache>
                <c:ptCount val="1"/>
                <c:pt idx="0">
                  <c:v>Construct MSG Graph</c:v>
                </c:pt>
              </c:strCache>
            </c:strRef>
          </c:tx>
          <c:invertIfNegative val="0"/>
          <c:cat>
            <c:strRef>
              <c:f>Sheet1!$A$3:$A$8</c:f>
              <c:strCache>
                <c:ptCount val="6"/>
                <c:pt idx="0">
                  <c:v>8k</c:v>
                </c:pt>
                <c:pt idx="1">
                  <c:v>16k</c:v>
                </c:pt>
                <c:pt idx="2">
                  <c:v>32k</c:v>
                </c:pt>
                <c:pt idx="3">
                  <c:v>64k</c:v>
                </c:pt>
                <c:pt idx="4">
                  <c:v>128k</c:v>
                </c:pt>
                <c:pt idx="5">
                  <c:v>256k</c:v>
                </c:pt>
              </c:strCache>
            </c:strRef>
          </c:cat>
          <c:val>
            <c:numRef>
              <c:f>Sheet1!$E$3:$E$8</c:f>
              <c:numCache>
                <c:formatCode>General</c:formatCode>
                <c:ptCount val="6"/>
                <c:pt idx="0">
                  <c:v>74.44</c:v>
                </c:pt>
                <c:pt idx="1">
                  <c:v>35.729999999999997</c:v>
                </c:pt>
                <c:pt idx="2">
                  <c:v>18.850000000000001</c:v>
                </c:pt>
                <c:pt idx="3">
                  <c:v>9.06</c:v>
                </c:pt>
                <c:pt idx="5">
                  <c:v>1.64</c:v>
                </c:pt>
              </c:numCache>
            </c:numRef>
          </c:val>
        </c:ser>
        <c:ser>
          <c:idx val="4"/>
          <c:order val="4"/>
          <c:tx>
            <c:strRef>
              <c:f>Sheet1!$F$2</c:f>
              <c:strCache>
                <c:ptCount val="1"/>
                <c:pt idx="0">
                  <c:v>Graph Simplification</c:v>
                </c:pt>
              </c:strCache>
            </c:strRef>
          </c:tx>
          <c:invertIfNegative val="0"/>
          <c:cat>
            <c:strRef>
              <c:f>Sheet1!$A$3:$A$8</c:f>
              <c:strCache>
                <c:ptCount val="6"/>
                <c:pt idx="0">
                  <c:v>8k</c:v>
                </c:pt>
                <c:pt idx="1">
                  <c:v>16k</c:v>
                </c:pt>
                <c:pt idx="2">
                  <c:v>32k</c:v>
                </c:pt>
                <c:pt idx="3">
                  <c:v>64k</c:v>
                </c:pt>
                <c:pt idx="4">
                  <c:v>128k</c:v>
                </c:pt>
                <c:pt idx="5">
                  <c:v>256k</c:v>
                </c:pt>
              </c:strCache>
            </c:strRef>
          </c:cat>
          <c:val>
            <c:numRef>
              <c:f>Sheet1!$F$3:$F$8</c:f>
              <c:numCache>
                <c:formatCode>General</c:formatCode>
                <c:ptCount val="6"/>
                <c:pt idx="0">
                  <c:v>580.14</c:v>
                </c:pt>
                <c:pt idx="1">
                  <c:v>272.92000999999999</c:v>
                </c:pt>
                <c:pt idx="2">
                  <c:v>137.69999999999999</c:v>
                </c:pt>
                <c:pt idx="3">
                  <c:v>260.51900000000001</c:v>
                </c:pt>
                <c:pt idx="5">
                  <c:v>79.98</c:v>
                </c:pt>
              </c:numCache>
            </c:numRef>
          </c:val>
        </c:ser>
        <c:ser>
          <c:idx val="5"/>
          <c:order val="5"/>
          <c:tx>
            <c:strRef>
              <c:f>Sheet1!$G$2</c:f>
              <c:strCache>
                <c:ptCount val="1"/>
                <c:pt idx="0">
                  <c:v>Output</c:v>
                </c:pt>
              </c:strCache>
            </c:strRef>
          </c:tx>
          <c:invertIfNegative val="0"/>
          <c:cat>
            <c:strRef>
              <c:f>Sheet1!$A$3:$A$8</c:f>
              <c:strCache>
                <c:ptCount val="6"/>
                <c:pt idx="0">
                  <c:v>8k</c:v>
                </c:pt>
                <c:pt idx="1">
                  <c:v>16k</c:v>
                </c:pt>
                <c:pt idx="2">
                  <c:v>32k</c:v>
                </c:pt>
                <c:pt idx="3">
                  <c:v>64k</c:v>
                </c:pt>
                <c:pt idx="4">
                  <c:v>128k</c:v>
                </c:pt>
                <c:pt idx="5">
                  <c:v>256k</c:v>
                </c:pt>
              </c:strCache>
            </c:strRef>
          </c:cat>
          <c:val>
            <c:numRef>
              <c:f>Sheet1!$G$3:$G$8</c:f>
              <c:numCache>
                <c:formatCode>General</c:formatCode>
                <c:ptCount val="6"/>
                <c:pt idx="0">
                  <c:v>14.73</c:v>
                </c:pt>
                <c:pt idx="1">
                  <c:v>8.7100000000000009</c:v>
                </c:pt>
                <c:pt idx="2">
                  <c:v>4.87</c:v>
                </c:pt>
                <c:pt idx="3">
                  <c:v>7.55</c:v>
                </c:pt>
                <c:pt idx="5">
                  <c:v>17.61</c:v>
                </c:pt>
              </c:numCache>
            </c:numRef>
          </c:val>
        </c:ser>
        <c:ser>
          <c:idx val="7"/>
          <c:order val="6"/>
          <c:tx>
            <c:strRef>
              <c:f>Sheet1!$I$2</c:f>
              <c:strCache>
                <c:ptCount val="1"/>
              </c:strCache>
            </c:strRef>
          </c:tx>
          <c:invertIfNegative val="0"/>
          <c:cat>
            <c:strRef>
              <c:f>Sheet1!$A$3:$A$8</c:f>
              <c:strCache>
                <c:ptCount val="6"/>
                <c:pt idx="0">
                  <c:v>8k</c:v>
                </c:pt>
                <c:pt idx="1">
                  <c:v>16k</c:v>
                </c:pt>
                <c:pt idx="2">
                  <c:v>32k</c:v>
                </c:pt>
                <c:pt idx="3">
                  <c:v>64k</c:v>
                </c:pt>
                <c:pt idx="4">
                  <c:v>128k</c:v>
                </c:pt>
                <c:pt idx="5">
                  <c:v>256k</c:v>
                </c:pt>
              </c:strCache>
            </c:strRef>
          </c:cat>
          <c:val>
            <c:numRef>
              <c:f>Sheet1!$I$3:$I$8</c:f>
              <c:numCache>
                <c:formatCode>General</c:formatCode>
                <c:ptCount val="6"/>
              </c:numCache>
            </c:numRef>
          </c:val>
        </c:ser>
        <c:dLbls>
          <c:showLegendKey val="0"/>
          <c:showVal val="0"/>
          <c:showCatName val="0"/>
          <c:showSerName val="0"/>
          <c:showPercent val="0"/>
          <c:showBubbleSize val="0"/>
        </c:dLbls>
        <c:gapWidth val="150"/>
        <c:overlap val="100"/>
        <c:axId val="86639744"/>
        <c:axId val="86641280"/>
      </c:barChart>
      <c:lineChart>
        <c:grouping val="standard"/>
        <c:varyColors val="0"/>
        <c:ser>
          <c:idx val="8"/>
          <c:order val="7"/>
          <c:tx>
            <c:strRef>
              <c:f>Sheet1!$J$2</c:f>
              <c:strCache>
                <c:ptCount val="1"/>
                <c:pt idx="0">
                  <c:v>Speedup</c:v>
                </c:pt>
              </c:strCache>
            </c:strRef>
          </c:tx>
          <c:dLbls>
            <c:dLbl>
              <c:idx val="5"/>
              <c:layout>
                <c:manualLayout>
                  <c:x val="-0.15902140672782869"/>
                  <c:y val="-8.6810768636607097E-2"/>
                </c:manualLayout>
              </c:layout>
              <c:showLegendKey val="0"/>
              <c:showVal val="1"/>
              <c:showCatName val="0"/>
              <c:showSerName val="0"/>
              <c:showPercent val="0"/>
              <c:showBubbleSize val="0"/>
            </c:dLbl>
            <c:txPr>
              <a:bodyPr/>
              <a:lstStyle/>
              <a:p>
                <a:pPr>
                  <a:defRPr sz="1400" baseline="0"/>
                </a:pPr>
                <a:endParaRPr lang="zh-CN"/>
              </a:p>
            </c:txPr>
            <c:showLegendKey val="0"/>
            <c:showVal val="0"/>
            <c:showCatName val="0"/>
            <c:showSerName val="0"/>
            <c:showPercent val="0"/>
            <c:showBubbleSize val="0"/>
          </c:dLbls>
          <c:cat>
            <c:strRef>
              <c:f>Sheet1!$A$3:$A$8</c:f>
              <c:strCache>
                <c:ptCount val="6"/>
                <c:pt idx="0">
                  <c:v>8k</c:v>
                </c:pt>
                <c:pt idx="1">
                  <c:v>16k</c:v>
                </c:pt>
                <c:pt idx="2">
                  <c:v>32k</c:v>
                </c:pt>
                <c:pt idx="3">
                  <c:v>64k</c:v>
                </c:pt>
                <c:pt idx="4">
                  <c:v>128k</c:v>
                </c:pt>
                <c:pt idx="5">
                  <c:v>256k</c:v>
                </c:pt>
              </c:strCache>
            </c:strRef>
          </c:cat>
          <c:val>
            <c:numRef>
              <c:f>Sheet1!$J$3:$J$8</c:f>
              <c:numCache>
                <c:formatCode>General</c:formatCode>
                <c:ptCount val="6"/>
                <c:pt idx="0">
                  <c:v>1</c:v>
                </c:pt>
                <c:pt idx="1">
                  <c:v>1.89599834946492</c:v>
                </c:pt>
                <c:pt idx="2">
                  <c:v>3.2878698316896302</c:v>
                </c:pt>
                <c:pt idx="3">
                  <c:v>3.66862220987954</c:v>
                </c:pt>
                <c:pt idx="5">
                  <c:v>7.7380194032582796</c:v>
                </c:pt>
              </c:numCache>
            </c:numRef>
          </c:val>
          <c:smooth val="0"/>
        </c:ser>
        <c:ser>
          <c:idx val="9"/>
          <c:order val="8"/>
          <c:tx>
            <c:strRef>
              <c:f>Sheet1!$K$2</c:f>
              <c:strCache>
                <c:ptCount val="1"/>
                <c:pt idx="0">
                  <c:v>Linear Speedup</c:v>
                </c:pt>
              </c:strCache>
            </c:strRef>
          </c:tx>
          <c:cat>
            <c:strRef>
              <c:f>Sheet1!$A$3:$A$8</c:f>
              <c:strCache>
                <c:ptCount val="6"/>
                <c:pt idx="0">
                  <c:v>8k</c:v>
                </c:pt>
                <c:pt idx="1">
                  <c:v>16k</c:v>
                </c:pt>
                <c:pt idx="2">
                  <c:v>32k</c:v>
                </c:pt>
                <c:pt idx="3">
                  <c:v>64k</c:v>
                </c:pt>
                <c:pt idx="4">
                  <c:v>128k</c:v>
                </c:pt>
                <c:pt idx="5">
                  <c:v>256k</c:v>
                </c:pt>
              </c:strCache>
            </c:strRef>
          </c:cat>
          <c:val>
            <c:numRef>
              <c:f>Sheet1!$K$3:$K$8</c:f>
              <c:numCache>
                <c:formatCode>General</c:formatCode>
                <c:ptCount val="6"/>
                <c:pt idx="0">
                  <c:v>1</c:v>
                </c:pt>
                <c:pt idx="1">
                  <c:v>2</c:v>
                </c:pt>
                <c:pt idx="2">
                  <c:v>4</c:v>
                </c:pt>
                <c:pt idx="3">
                  <c:v>8</c:v>
                </c:pt>
                <c:pt idx="4">
                  <c:v>16</c:v>
                </c:pt>
                <c:pt idx="5">
                  <c:v>32</c:v>
                </c:pt>
              </c:numCache>
            </c:numRef>
          </c:val>
          <c:smooth val="0"/>
        </c:ser>
        <c:dLbls>
          <c:showLegendKey val="0"/>
          <c:showVal val="0"/>
          <c:showCatName val="0"/>
          <c:showSerName val="0"/>
          <c:showPercent val="0"/>
          <c:showBubbleSize val="0"/>
        </c:dLbls>
        <c:marker val="1"/>
        <c:smooth val="0"/>
        <c:axId val="86652800"/>
        <c:axId val="86651264"/>
      </c:lineChart>
      <c:catAx>
        <c:axId val="86639744"/>
        <c:scaling>
          <c:orientation val="minMax"/>
        </c:scaling>
        <c:delete val="0"/>
        <c:axPos val="b"/>
        <c:majorTickMark val="out"/>
        <c:minorTickMark val="none"/>
        <c:tickLblPos val="nextTo"/>
        <c:txPr>
          <a:bodyPr/>
          <a:lstStyle/>
          <a:p>
            <a:pPr>
              <a:defRPr sz="1400" baseline="0"/>
            </a:pPr>
            <a:endParaRPr lang="zh-CN"/>
          </a:p>
        </c:txPr>
        <c:crossAx val="86641280"/>
        <c:crosses val="autoZero"/>
        <c:auto val="1"/>
        <c:lblAlgn val="ctr"/>
        <c:lblOffset val="100"/>
        <c:noMultiLvlLbl val="0"/>
      </c:catAx>
      <c:valAx>
        <c:axId val="86641280"/>
        <c:scaling>
          <c:orientation val="minMax"/>
        </c:scaling>
        <c:delete val="0"/>
        <c:axPos val="l"/>
        <c:majorGridlines/>
        <c:numFmt formatCode="0%" sourceLinked="1"/>
        <c:majorTickMark val="out"/>
        <c:minorTickMark val="none"/>
        <c:tickLblPos val="nextTo"/>
        <c:txPr>
          <a:bodyPr/>
          <a:lstStyle/>
          <a:p>
            <a:pPr>
              <a:defRPr sz="1400" baseline="0"/>
            </a:pPr>
            <a:endParaRPr lang="zh-CN"/>
          </a:p>
        </c:txPr>
        <c:crossAx val="86639744"/>
        <c:crosses val="autoZero"/>
        <c:crossBetween val="between"/>
      </c:valAx>
      <c:valAx>
        <c:axId val="86651264"/>
        <c:scaling>
          <c:logBase val="2"/>
          <c:orientation val="minMax"/>
          <c:max val="32"/>
        </c:scaling>
        <c:delete val="0"/>
        <c:axPos val="r"/>
        <c:numFmt formatCode="General" sourceLinked="1"/>
        <c:majorTickMark val="out"/>
        <c:minorTickMark val="none"/>
        <c:tickLblPos val="nextTo"/>
        <c:txPr>
          <a:bodyPr/>
          <a:lstStyle/>
          <a:p>
            <a:pPr>
              <a:defRPr sz="1400" baseline="0"/>
            </a:pPr>
            <a:endParaRPr lang="zh-CN"/>
          </a:p>
        </c:txPr>
        <c:crossAx val="86652800"/>
        <c:crosses val="max"/>
        <c:crossBetween val="between"/>
      </c:valAx>
      <c:catAx>
        <c:axId val="86652800"/>
        <c:scaling>
          <c:orientation val="minMax"/>
        </c:scaling>
        <c:delete val="1"/>
        <c:axPos val="b"/>
        <c:majorTickMark val="out"/>
        <c:minorTickMark val="none"/>
        <c:tickLblPos val="nextTo"/>
        <c:crossAx val="86651264"/>
        <c:crosses val="autoZero"/>
        <c:auto val="1"/>
        <c:lblAlgn val="ctr"/>
        <c:lblOffset val="100"/>
        <c:noMultiLvlLbl val="0"/>
      </c:catAx>
    </c:plotArea>
    <c:legend>
      <c:legendPos val="r"/>
      <c:layout/>
      <c:overlay val="0"/>
      <c:txPr>
        <a:bodyPr/>
        <a:lstStyle/>
        <a:p>
          <a:pPr>
            <a:defRPr sz="1400" baseline="0"/>
          </a:pPr>
          <a:endParaRPr lang="zh-CN"/>
        </a:p>
      </c:txPr>
    </c:legend>
    <c:plotVisOnly val="1"/>
    <c:dispBlanksAs val="gap"/>
    <c:showDLblsOverMax val="0"/>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percentStacked"/>
        <c:varyColors val="0"/>
        <c:ser>
          <c:idx val="0"/>
          <c:order val="0"/>
          <c:tx>
            <c:strRef>
              <c:f>Sheet1!$D$3</c:f>
              <c:strCache>
                <c:ptCount val="1"/>
                <c:pt idx="0">
                  <c:v>Input Parallelization</c:v>
                </c:pt>
              </c:strCache>
            </c:strRef>
          </c:tx>
          <c:invertIfNegative val="0"/>
          <c:cat>
            <c:strRef>
              <c:f>Sheet1!$C$4:$C$9</c:f>
              <c:strCache>
                <c:ptCount val="6"/>
                <c:pt idx="0">
                  <c:v>8k</c:v>
                </c:pt>
                <c:pt idx="1">
                  <c:v>16k</c:v>
                </c:pt>
                <c:pt idx="2">
                  <c:v>32k</c:v>
                </c:pt>
                <c:pt idx="3">
                  <c:v>64k</c:v>
                </c:pt>
                <c:pt idx="4">
                  <c:v>128k</c:v>
                </c:pt>
                <c:pt idx="5">
                  <c:v>256k</c:v>
                </c:pt>
              </c:strCache>
            </c:strRef>
          </c:cat>
          <c:val>
            <c:numRef>
              <c:f>Sheet1!$D$4:$D$9</c:f>
              <c:numCache>
                <c:formatCode>General</c:formatCode>
                <c:ptCount val="6"/>
                <c:pt idx="0">
                  <c:v>5754.9599600000001</c:v>
                </c:pt>
                <c:pt idx="1">
                  <c:v>3276.2299800000001</c:v>
                </c:pt>
                <c:pt idx="2">
                  <c:v>1817.829</c:v>
                </c:pt>
                <c:pt idx="3">
                  <c:v>1574.17993</c:v>
                </c:pt>
                <c:pt idx="4">
                  <c:v>700.19</c:v>
                </c:pt>
                <c:pt idx="5">
                  <c:v>440.11002000000002</c:v>
                </c:pt>
              </c:numCache>
            </c:numRef>
          </c:val>
        </c:ser>
        <c:ser>
          <c:idx val="1"/>
          <c:order val="1"/>
          <c:tx>
            <c:strRef>
              <c:f>Sheet1!$E$3</c:f>
              <c:strCache>
                <c:ptCount val="1"/>
                <c:pt idx="0">
                  <c:v>Construct k-mer Graph </c:v>
                </c:pt>
              </c:strCache>
            </c:strRef>
          </c:tx>
          <c:invertIfNegative val="0"/>
          <c:cat>
            <c:strRef>
              <c:f>Sheet1!$C$4:$C$9</c:f>
              <c:strCache>
                <c:ptCount val="6"/>
                <c:pt idx="0">
                  <c:v>8k</c:v>
                </c:pt>
                <c:pt idx="1">
                  <c:v>16k</c:v>
                </c:pt>
                <c:pt idx="2">
                  <c:v>32k</c:v>
                </c:pt>
                <c:pt idx="3">
                  <c:v>64k</c:v>
                </c:pt>
                <c:pt idx="4">
                  <c:v>128k</c:v>
                </c:pt>
                <c:pt idx="5">
                  <c:v>256k</c:v>
                </c:pt>
              </c:strCache>
            </c:strRef>
          </c:cat>
          <c:val>
            <c:numRef>
              <c:f>Sheet1!$E$4:$E$9</c:f>
              <c:numCache>
                <c:formatCode>General</c:formatCode>
                <c:ptCount val="6"/>
                <c:pt idx="0">
                  <c:v>2394.2600000000002</c:v>
                </c:pt>
                <c:pt idx="1">
                  <c:v>1410.73999</c:v>
                </c:pt>
                <c:pt idx="2">
                  <c:v>888.97990000000004</c:v>
                </c:pt>
                <c:pt idx="3">
                  <c:v>586.65989999999999</c:v>
                </c:pt>
                <c:pt idx="4">
                  <c:v>456.17899999999997</c:v>
                </c:pt>
                <c:pt idx="5">
                  <c:v>421</c:v>
                </c:pt>
              </c:numCache>
            </c:numRef>
          </c:val>
        </c:ser>
        <c:ser>
          <c:idx val="2"/>
          <c:order val="2"/>
          <c:tx>
            <c:strRef>
              <c:f>Sheet1!$F$3</c:f>
              <c:strCache>
                <c:ptCount val="1"/>
                <c:pt idx="0">
                  <c:v>CutoffGraph</c:v>
                </c:pt>
              </c:strCache>
            </c:strRef>
          </c:tx>
          <c:invertIfNegative val="0"/>
          <c:cat>
            <c:strRef>
              <c:f>Sheet1!$C$4:$C$9</c:f>
              <c:strCache>
                <c:ptCount val="6"/>
                <c:pt idx="0">
                  <c:v>8k</c:v>
                </c:pt>
                <c:pt idx="1">
                  <c:v>16k</c:v>
                </c:pt>
                <c:pt idx="2">
                  <c:v>32k</c:v>
                </c:pt>
                <c:pt idx="3">
                  <c:v>64k</c:v>
                </c:pt>
                <c:pt idx="4">
                  <c:v>128k</c:v>
                </c:pt>
                <c:pt idx="5">
                  <c:v>256k</c:v>
                </c:pt>
              </c:strCache>
            </c:strRef>
          </c:cat>
          <c:val>
            <c:numRef>
              <c:f>Sheet1!$F$4:$F$9</c:f>
              <c:numCache>
                <c:formatCode>General</c:formatCode>
                <c:ptCount val="6"/>
                <c:pt idx="0">
                  <c:v>30.04</c:v>
                </c:pt>
                <c:pt idx="1">
                  <c:v>15.71</c:v>
                </c:pt>
                <c:pt idx="2">
                  <c:v>8.31</c:v>
                </c:pt>
                <c:pt idx="3">
                  <c:v>4.59</c:v>
                </c:pt>
                <c:pt idx="4">
                  <c:v>2.77</c:v>
                </c:pt>
                <c:pt idx="5">
                  <c:v>1.82</c:v>
                </c:pt>
              </c:numCache>
            </c:numRef>
          </c:val>
        </c:ser>
        <c:ser>
          <c:idx val="3"/>
          <c:order val="3"/>
          <c:tx>
            <c:strRef>
              <c:f>Sheet1!$G$3</c:f>
              <c:strCache>
                <c:ptCount val="1"/>
                <c:pt idx="0">
                  <c:v>Construct MSG Graph</c:v>
                </c:pt>
              </c:strCache>
            </c:strRef>
          </c:tx>
          <c:invertIfNegative val="0"/>
          <c:cat>
            <c:strRef>
              <c:f>Sheet1!$C$4:$C$9</c:f>
              <c:strCache>
                <c:ptCount val="6"/>
                <c:pt idx="0">
                  <c:v>8k</c:v>
                </c:pt>
                <c:pt idx="1">
                  <c:v>16k</c:v>
                </c:pt>
                <c:pt idx="2">
                  <c:v>32k</c:v>
                </c:pt>
                <c:pt idx="3">
                  <c:v>64k</c:v>
                </c:pt>
                <c:pt idx="4">
                  <c:v>128k</c:v>
                </c:pt>
                <c:pt idx="5">
                  <c:v>256k</c:v>
                </c:pt>
              </c:strCache>
            </c:strRef>
          </c:cat>
          <c:val>
            <c:numRef>
              <c:f>Sheet1!$G$4:$G$9</c:f>
              <c:numCache>
                <c:formatCode>General</c:formatCode>
                <c:ptCount val="6"/>
                <c:pt idx="0">
                  <c:v>45.01</c:v>
                </c:pt>
                <c:pt idx="1">
                  <c:v>21.48</c:v>
                </c:pt>
                <c:pt idx="2">
                  <c:v>11.17</c:v>
                </c:pt>
                <c:pt idx="3">
                  <c:v>3.89</c:v>
                </c:pt>
                <c:pt idx="4">
                  <c:v>2.25</c:v>
                </c:pt>
                <c:pt idx="5">
                  <c:v>1.44</c:v>
                </c:pt>
              </c:numCache>
            </c:numRef>
          </c:val>
        </c:ser>
        <c:ser>
          <c:idx val="4"/>
          <c:order val="4"/>
          <c:tx>
            <c:strRef>
              <c:f>Sheet1!$H$3</c:f>
              <c:strCache>
                <c:ptCount val="1"/>
                <c:pt idx="0">
                  <c:v>Graph Simplification</c:v>
                </c:pt>
              </c:strCache>
            </c:strRef>
          </c:tx>
          <c:invertIfNegative val="0"/>
          <c:cat>
            <c:strRef>
              <c:f>Sheet1!$C$4:$C$9</c:f>
              <c:strCache>
                <c:ptCount val="6"/>
                <c:pt idx="0">
                  <c:v>8k</c:v>
                </c:pt>
                <c:pt idx="1">
                  <c:v>16k</c:v>
                </c:pt>
                <c:pt idx="2">
                  <c:v>32k</c:v>
                </c:pt>
                <c:pt idx="3">
                  <c:v>64k</c:v>
                </c:pt>
                <c:pt idx="4">
                  <c:v>128k</c:v>
                </c:pt>
                <c:pt idx="5">
                  <c:v>256k</c:v>
                </c:pt>
              </c:strCache>
            </c:strRef>
          </c:cat>
          <c:val>
            <c:numRef>
              <c:f>Sheet1!$H$4:$H$9</c:f>
              <c:numCache>
                <c:formatCode>General</c:formatCode>
                <c:ptCount val="6"/>
                <c:pt idx="0">
                  <c:v>251.99</c:v>
                </c:pt>
                <c:pt idx="1">
                  <c:v>132.33000000000001</c:v>
                </c:pt>
                <c:pt idx="2">
                  <c:v>66.36</c:v>
                </c:pt>
                <c:pt idx="3">
                  <c:v>32.28</c:v>
                </c:pt>
                <c:pt idx="4">
                  <c:v>113.12</c:v>
                </c:pt>
                <c:pt idx="5">
                  <c:v>92.34</c:v>
                </c:pt>
              </c:numCache>
            </c:numRef>
          </c:val>
        </c:ser>
        <c:ser>
          <c:idx val="5"/>
          <c:order val="5"/>
          <c:tx>
            <c:strRef>
              <c:f>Sheet1!$I$3</c:f>
              <c:strCache>
                <c:ptCount val="1"/>
                <c:pt idx="0">
                  <c:v>Output</c:v>
                </c:pt>
              </c:strCache>
            </c:strRef>
          </c:tx>
          <c:invertIfNegative val="0"/>
          <c:cat>
            <c:strRef>
              <c:f>Sheet1!$C$4:$C$9</c:f>
              <c:strCache>
                <c:ptCount val="6"/>
                <c:pt idx="0">
                  <c:v>8k</c:v>
                </c:pt>
                <c:pt idx="1">
                  <c:v>16k</c:v>
                </c:pt>
                <c:pt idx="2">
                  <c:v>32k</c:v>
                </c:pt>
                <c:pt idx="3">
                  <c:v>64k</c:v>
                </c:pt>
                <c:pt idx="4">
                  <c:v>128k</c:v>
                </c:pt>
                <c:pt idx="5">
                  <c:v>256k</c:v>
                </c:pt>
              </c:strCache>
            </c:strRef>
          </c:cat>
          <c:val>
            <c:numRef>
              <c:f>Sheet1!$I$4:$I$9</c:f>
              <c:numCache>
                <c:formatCode>General</c:formatCode>
                <c:ptCount val="6"/>
                <c:pt idx="0">
                  <c:v>7.59</c:v>
                </c:pt>
                <c:pt idx="1">
                  <c:v>4.6399999999999997</c:v>
                </c:pt>
                <c:pt idx="2">
                  <c:v>3.26</c:v>
                </c:pt>
                <c:pt idx="3">
                  <c:v>3.37</c:v>
                </c:pt>
                <c:pt idx="4">
                  <c:v>4.42</c:v>
                </c:pt>
                <c:pt idx="5">
                  <c:v>6.89</c:v>
                </c:pt>
              </c:numCache>
            </c:numRef>
          </c:val>
        </c:ser>
        <c:ser>
          <c:idx val="7"/>
          <c:order val="6"/>
          <c:tx>
            <c:strRef>
              <c:f>Sheet1!$K$3</c:f>
              <c:strCache>
                <c:ptCount val="1"/>
              </c:strCache>
            </c:strRef>
          </c:tx>
          <c:invertIfNegative val="0"/>
          <c:cat>
            <c:strRef>
              <c:f>Sheet1!$C$4:$C$9</c:f>
              <c:strCache>
                <c:ptCount val="6"/>
                <c:pt idx="0">
                  <c:v>8k</c:v>
                </c:pt>
                <c:pt idx="1">
                  <c:v>16k</c:v>
                </c:pt>
                <c:pt idx="2">
                  <c:v>32k</c:v>
                </c:pt>
                <c:pt idx="3">
                  <c:v>64k</c:v>
                </c:pt>
                <c:pt idx="4">
                  <c:v>128k</c:v>
                </c:pt>
                <c:pt idx="5">
                  <c:v>256k</c:v>
                </c:pt>
              </c:strCache>
            </c:strRef>
          </c:cat>
          <c:val>
            <c:numRef>
              <c:f>Sheet1!$K$4:$K$9</c:f>
              <c:numCache>
                <c:formatCode>General</c:formatCode>
                <c:ptCount val="6"/>
              </c:numCache>
            </c:numRef>
          </c:val>
        </c:ser>
        <c:dLbls>
          <c:showLegendKey val="0"/>
          <c:showVal val="0"/>
          <c:showCatName val="0"/>
          <c:showSerName val="0"/>
          <c:showPercent val="0"/>
          <c:showBubbleSize val="0"/>
        </c:dLbls>
        <c:gapWidth val="150"/>
        <c:overlap val="100"/>
        <c:axId val="86773760"/>
        <c:axId val="86775296"/>
      </c:barChart>
      <c:lineChart>
        <c:grouping val="standard"/>
        <c:varyColors val="0"/>
        <c:ser>
          <c:idx val="8"/>
          <c:order val="7"/>
          <c:tx>
            <c:strRef>
              <c:f>Sheet1!$L$3</c:f>
              <c:strCache>
                <c:ptCount val="1"/>
                <c:pt idx="0">
                  <c:v>Speedup</c:v>
                </c:pt>
              </c:strCache>
            </c:strRef>
          </c:tx>
          <c:cat>
            <c:strRef>
              <c:f>Sheet1!$C$4:$C$8</c:f>
              <c:strCache>
                <c:ptCount val="5"/>
                <c:pt idx="0">
                  <c:v>8k</c:v>
                </c:pt>
                <c:pt idx="1">
                  <c:v>16k</c:v>
                </c:pt>
                <c:pt idx="2">
                  <c:v>32k</c:v>
                </c:pt>
                <c:pt idx="3">
                  <c:v>64k</c:v>
                </c:pt>
                <c:pt idx="4">
                  <c:v>128k</c:v>
                </c:pt>
              </c:strCache>
            </c:strRef>
          </c:cat>
          <c:val>
            <c:numRef>
              <c:f>Sheet1!$L$4:$L$9</c:f>
              <c:numCache>
                <c:formatCode>General</c:formatCode>
                <c:ptCount val="6"/>
                <c:pt idx="0">
                  <c:v>1</c:v>
                </c:pt>
                <c:pt idx="1">
                  <c:v>1.7452885099906399</c:v>
                </c:pt>
                <c:pt idx="2">
                  <c:v>3.0345047203547399</c:v>
                </c:pt>
                <c:pt idx="3">
                  <c:v>3.8479313096868299</c:v>
                </c:pt>
                <c:pt idx="4">
                  <c:v>6.63333124877858</c:v>
                </c:pt>
                <c:pt idx="5">
                  <c:v>8.8013950400879502</c:v>
                </c:pt>
              </c:numCache>
            </c:numRef>
          </c:val>
          <c:smooth val="0"/>
        </c:ser>
        <c:ser>
          <c:idx val="9"/>
          <c:order val="8"/>
          <c:tx>
            <c:strRef>
              <c:f>Sheet1!$M$3</c:f>
              <c:strCache>
                <c:ptCount val="1"/>
                <c:pt idx="0">
                  <c:v>Linear Speedup</c:v>
                </c:pt>
              </c:strCache>
            </c:strRef>
          </c:tx>
          <c:cat>
            <c:strRef>
              <c:f>Sheet1!$C$4:$C$8</c:f>
              <c:strCache>
                <c:ptCount val="5"/>
                <c:pt idx="0">
                  <c:v>8k</c:v>
                </c:pt>
                <c:pt idx="1">
                  <c:v>16k</c:v>
                </c:pt>
                <c:pt idx="2">
                  <c:v>32k</c:v>
                </c:pt>
                <c:pt idx="3">
                  <c:v>64k</c:v>
                </c:pt>
                <c:pt idx="4">
                  <c:v>128k</c:v>
                </c:pt>
              </c:strCache>
            </c:strRef>
          </c:cat>
          <c:val>
            <c:numRef>
              <c:f>Sheet1!$M$4:$M$9</c:f>
              <c:numCache>
                <c:formatCode>General</c:formatCode>
                <c:ptCount val="6"/>
                <c:pt idx="0">
                  <c:v>1</c:v>
                </c:pt>
                <c:pt idx="1">
                  <c:v>2</c:v>
                </c:pt>
                <c:pt idx="2">
                  <c:v>4</c:v>
                </c:pt>
                <c:pt idx="3">
                  <c:v>8</c:v>
                </c:pt>
                <c:pt idx="4">
                  <c:v>16</c:v>
                </c:pt>
                <c:pt idx="5">
                  <c:v>32</c:v>
                </c:pt>
              </c:numCache>
            </c:numRef>
          </c:val>
          <c:smooth val="0"/>
        </c:ser>
        <c:dLbls>
          <c:showLegendKey val="0"/>
          <c:showVal val="0"/>
          <c:showCatName val="0"/>
          <c:showSerName val="0"/>
          <c:showPercent val="0"/>
          <c:showBubbleSize val="0"/>
        </c:dLbls>
        <c:marker val="1"/>
        <c:smooth val="0"/>
        <c:axId val="86795008"/>
        <c:axId val="86776832"/>
      </c:lineChart>
      <c:catAx>
        <c:axId val="86773760"/>
        <c:scaling>
          <c:orientation val="minMax"/>
        </c:scaling>
        <c:delete val="0"/>
        <c:axPos val="b"/>
        <c:majorTickMark val="out"/>
        <c:minorTickMark val="none"/>
        <c:tickLblPos val="nextTo"/>
        <c:crossAx val="86775296"/>
        <c:crosses val="autoZero"/>
        <c:auto val="1"/>
        <c:lblAlgn val="ctr"/>
        <c:lblOffset val="100"/>
        <c:noMultiLvlLbl val="0"/>
      </c:catAx>
      <c:valAx>
        <c:axId val="86775296"/>
        <c:scaling>
          <c:orientation val="minMax"/>
        </c:scaling>
        <c:delete val="0"/>
        <c:axPos val="l"/>
        <c:majorGridlines/>
        <c:numFmt formatCode="0%" sourceLinked="1"/>
        <c:majorTickMark val="out"/>
        <c:minorTickMark val="none"/>
        <c:tickLblPos val="nextTo"/>
        <c:crossAx val="86773760"/>
        <c:crosses val="autoZero"/>
        <c:crossBetween val="between"/>
      </c:valAx>
      <c:valAx>
        <c:axId val="86776832"/>
        <c:scaling>
          <c:logBase val="2"/>
          <c:orientation val="minMax"/>
          <c:max val="32"/>
        </c:scaling>
        <c:delete val="0"/>
        <c:axPos val="r"/>
        <c:numFmt formatCode="General" sourceLinked="1"/>
        <c:majorTickMark val="out"/>
        <c:minorTickMark val="none"/>
        <c:tickLblPos val="nextTo"/>
        <c:crossAx val="86795008"/>
        <c:crosses val="max"/>
        <c:crossBetween val="between"/>
      </c:valAx>
      <c:catAx>
        <c:axId val="86795008"/>
        <c:scaling>
          <c:orientation val="minMax"/>
        </c:scaling>
        <c:delete val="1"/>
        <c:axPos val="b"/>
        <c:majorTickMark val="out"/>
        <c:minorTickMark val="none"/>
        <c:tickLblPos val="nextTo"/>
        <c:crossAx val="86776832"/>
        <c:crosses val="autoZero"/>
        <c:auto val="1"/>
        <c:lblAlgn val="ctr"/>
        <c:lblOffset val="100"/>
        <c:noMultiLvlLbl val="0"/>
      </c:catAx>
    </c:plotArea>
    <c:legend>
      <c:legendPos val="r"/>
      <c:layout/>
      <c:overlay val="0"/>
    </c:legend>
    <c:plotVisOnly val="1"/>
    <c:dispBlanksAs val="gap"/>
    <c:showDLblsOverMax val="0"/>
  </c:chart>
  <c:txPr>
    <a:bodyPr/>
    <a:lstStyle/>
    <a:p>
      <a:pPr>
        <a:defRPr sz="1400" baseline="0"/>
      </a:pPr>
      <a:endParaRPr lang="zh-CN"/>
    </a:p>
  </c:tx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0.07207</cdr:x>
      <cdr:y>0.8996</cdr:y>
    </cdr:from>
    <cdr:to>
      <cdr:x>0.4955</cdr:x>
      <cdr:y>1</cdr:y>
    </cdr:to>
    <cdr:sp macro="" textlink="">
      <cdr:nvSpPr>
        <cdr:cNvPr id="2" name="TextBox 1"/>
        <cdr:cNvSpPr txBox="1"/>
      </cdr:nvSpPr>
      <cdr:spPr>
        <a:xfrm xmlns:a="http://schemas.openxmlformats.org/drawingml/2006/main">
          <a:off x="609600" y="3200400"/>
          <a:ext cx="3581400" cy="357188"/>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altLang="zh-CN" sz="1400" dirty="0" smtClean="0"/>
            <a:t>Before Combining Messages in One Loop</a:t>
          </a:r>
          <a:endParaRPr lang="zh-CN" altLang="en-US" sz="1400" dirty="0"/>
        </a:p>
      </cdr:txBody>
    </cdr:sp>
  </cdr:relSizeAnchor>
  <cdr:relSizeAnchor xmlns:cdr="http://schemas.openxmlformats.org/drawingml/2006/chartDrawing">
    <cdr:from>
      <cdr:x>0.6036</cdr:x>
      <cdr:y>0.8996</cdr:y>
    </cdr:from>
    <cdr:to>
      <cdr:x>0.96396</cdr:x>
      <cdr:y>1</cdr:y>
    </cdr:to>
    <cdr:sp macro="" textlink="">
      <cdr:nvSpPr>
        <cdr:cNvPr id="3" name="TextBox 1"/>
        <cdr:cNvSpPr txBox="1"/>
      </cdr:nvSpPr>
      <cdr:spPr>
        <a:xfrm xmlns:a="http://schemas.openxmlformats.org/drawingml/2006/main">
          <a:off x="5105400" y="3200400"/>
          <a:ext cx="3048000" cy="35718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altLang="zh-CN" sz="1400" dirty="0"/>
            <a:t>After </a:t>
          </a:r>
          <a:r>
            <a:rPr lang="en-US" altLang="zh-CN" sz="1400" dirty="0" smtClean="0"/>
            <a:t>Combining Messages in One Loop</a:t>
          </a:r>
          <a:endParaRPr lang="zh-CN" altLang="en-US" sz="1400" dirty="0"/>
        </a:p>
      </cdr:txBody>
    </cdr:sp>
  </cdr:relSizeAnchor>
</c:userShapes>
</file>

<file path=ppt/handoutMasters/_rels/handoutMaster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5" descr="slide footer_blue_646.jpg"/>
          <p:cNvPicPr>
            <a:picLocks noChangeAspect="1"/>
          </p:cNvPicPr>
          <p:nvPr/>
        </p:nvPicPr>
        <p:blipFill>
          <a:blip r:embed="rId2" cstate="print"/>
          <a:srcRect/>
          <a:stretch>
            <a:fillRect/>
          </a:stretch>
        </p:blipFill>
        <p:spPr bwMode="auto">
          <a:xfrm>
            <a:off x="0" y="8613775"/>
            <a:ext cx="9144000" cy="530225"/>
          </a:xfrm>
          <a:prstGeom prst="rect">
            <a:avLst/>
          </a:prstGeom>
          <a:noFill/>
          <a:ln w="9525">
            <a:noFill/>
            <a:miter lim="800000"/>
            <a:headEnd/>
            <a:tailEnd/>
          </a:ln>
        </p:spPr>
      </p:pic>
      <p:pic>
        <p:nvPicPr>
          <p:cNvPr id="6" name="Picture 7" descr="slide header_646.jpg"/>
          <p:cNvPicPr>
            <a:picLocks noChangeAspect="1"/>
          </p:cNvPicPr>
          <p:nvPr/>
        </p:nvPicPr>
        <p:blipFill>
          <a:blip r:embed="rId3" cstate="print"/>
          <a:srcRect/>
          <a:stretch>
            <a:fillRect/>
          </a:stretch>
        </p:blipFill>
        <p:spPr bwMode="auto">
          <a:xfrm>
            <a:off x="-2286000" y="0"/>
            <a:ext cx="9144000" cy="155575"/>
          </a:xfrm>
          <a:prstGeom prst="rect">
            <a:avLst/>
          </a:prstGeom>
          <a:noFill/>
          <a:ln w="9525">
            <a:noFill/>
            <a:miter lim="800000"/>
            <a:headEnd/>
            <a:tailEnd/>
          </a:ln>
        </p:spPr>
      </p:pic>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952999" y="152400"/>
            <a:ext cx="1903413" cy="304800"/>
          </a:xfrm>
          <a:prstGeom prst="rect">
            <a:avLst/>
          </a:prstGeom>
        </p:spPr>
        <p:txBody>
          <a:bodyPr vert="horz" lIns="91440" tIns="45720" rIns="91440" bIns="45720" rtlCol="0"/>
          <a:lstStyle>
            <a:lvl1pPr algn="r">
              <a:defRPr sz="1200"/>
            </a:lvl1pPr>
          </a:lstStyle>
          <a:p>
            <a:fld id="{80B18B65-4CBA-DB46-9D73-AD0C58E7BE22}" type="datetime1">
              <a:rPr lang="en-US" smtClean="0"/>
              <a:pPr/>
              <a:t>10/28/2014</a:t>
            </a:fld>
            <a:endParaRPr lang="en-US"/>
          </a:p>
        </p:txBody>
      </p:sp>
      <p:sp>
        <p:nvSpPr>
          <p:cNvPr id="4" name="Footer Placeholder 3"/>
          <p:cNvSpPr>
            <a:spLocks noGrp="1"/>
          </p:cNvSpPr>
          <p:nvPr>
            <p:ph type="ftr" sz="quarter" idx="2"/>
          </p:nvPr>
        </p:nvSpPr>
        <p:spPr>
          <a:xfrm>
            <a:off x="762000" y="8610601"/>
            <a:ext cx="5486400" cy="228600"/>
          </a:xfrm>
          <a:prstGeom prst="rect">
            <a:avLst/>
          </a:prstGeom>
        </p:spPr>
        <p:txBody>
          <a:bodyPr vert="horz" lIns="91440" tIns="45720" rIns="91440" bIns="45720" rtlCol="0" anchor="b"/>
          <a:lstStyle>
            <a:lvl1pPr algn="l">
              <a:defRPr sz="1200"/>
            </a:lvl1pPr>
          </a:lstStyle>
          <a:p>
            <a:r>
              <a:rPr lang="en-US" smtClean="0"/>
              <a:t>Go to ”Insert (View) | Header and Footer" to add your organization, sponsor, meeting name here; then, click "Apply to All"</a:t>
            </a:r>
            <a:endParaRPr lang="en-US" dirty="0"/>
          </a:p>
        </p:txBody>
      </p:sp>
      <p:sp>
        <p:nvSpPr>
          <p:cNvPr id="5" name="Slide Number Placeholder 4"/>
          <p:cNvSpPr>
            <a:spLocks noGrp="1"/>
          </p:cNvSpPr>
          <p:nvPr>
            <p:ph type="sldNum" sz="quarter" idx="3"/>
          </p:nvPr>
        </p:nvSpPr>
        <p:spPr>
          <a:xfrm>
            <a:off x="6324599" y="8685213"/>
            <a:ext cx="531813" cy="457200"/>
          </a:xfrm>
          <a:prstGeom prst="rect">
            <a:avLst/>
          </a:prstGeom>
        </p:spPr>
        <p:txBody>
          <a:bodyPr vert="horz" lIns="91440" tIns="45720" rIns="91440" bIns="45720" rtlCol="0" anchor="b"/>
          <a:lstStyle>
            <a:lvl1pPr algn="r">
              <a:defRPr sz="1200"/>
            </a:lvl1pPr>
          </a:lstStyle>
          <a:p>
            <a:fld id="{9CA05E24-A365-DF40-BF27-0C4D1E380F5C}" type="slidenum">
              <a:rPr lang="en-US" smtClean="0"/>
              <a:pPr/>
              <a:t>‹#›</a:t>
            </a:fld>
            <a:endParaRPr lang="en-US" dirty="0"/>
          </a:p>
        </p:txBody>
      </p:sp>
    </p:spTree>
    <p:extLst>
      <p:ext uri="{BB962C8B-B14F-4D97-AF65-F5344CB8AC3E}">
        <p14:creationId xmlns:p14="http://schemas.microsoft.com/office/powerpoint/2010/main" val="139277417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C269693-4B73-3F4B-BE08-27CE2957F7EB}" type="datetime1">
              <a:rPr lang="en-US" smtClean="0"/>
              <a:pPr/>
              <a:t>10/28/2014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Go to ”Insert (View) | Header and Footer" to add your organization, sponsor, meeting name here; then, click "Apply to All"</a:t>
            </a: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1A7F71-A600-874B-8C52-75C3F91F2DFD}" type="slidenum">
              <a:rPr lang="en-US" smtClean="0"/>
              <a:pPr/>
              <a:t>‹#›</a:t>
            </a:fld>
            <a:endParaRPr lang="en-US"/>
          </a:p>
        </p:txBody>
      </p:sp>
    </p:spTree>
    <p:extLst>
      <p:ext uri="{BB962C8B-B14F-4D97-AF65-F5344CB8AC3E}">
        <p14:creationId xmlns:p14="http://schemas.microsoft.com/office/powerpoint/2010/main" val="3642784825"/>
      </p:ext>
    </p:extLst>
  </p:cSld>
  <p:clrMap bg1="lt1" tx1="dk1" bg2="lt2" tx2="dk2" accent1="accent1" accent2="accent2" accent3="accent3" accent4="accent4" accent5="accent5" accent6="accent6" hlink="hlink" folHlink="folHlink"/>
  <p:hf hd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Huge</a:t>
            </a:r>
            <a:r>
              <a:rPr lang="en-US" altLang="zh-CN" baseline="0" dirty="0" smtClean="0"/>
              <a:t> data has been generated in biology. For example, Million plant animal genome project, million human genome project, and million </a:t>
            </a:r>
            <a:r>
              <a:rPr lang="en-US" altLang="zh-CN" baseline="0" dirty="0" err="1" smtClean="0"/>
              <a:t>microecosystem</a:t>
            </a:r>
            <a:r>
              <a:rPr lang="en-US" altLang="zh-CN" baseline="0" dirty="0" smtClean="0"/>
              <a:t> project, each of them will have more than 1000 PB.</a:t>
            </a:r>
          </a:p>
          <a:p>
            <a:endParaRPr lang="en-US" altLang="zh-CN" baseline="0" dirty="0" smtClean="0"/>
          </a:p>
          <a:p>
            <a:r>
              <a:rPr lang="en-US" altLang="zh-CN" baseline="0" dirty="0" smtClean="0"/>
              <a:t>With these huge data, Storage, processing and analysis is very challenge. </a:t>
            </a:r>
          </a:p>
          <a:p>
            <a:endParaRPr lang="en-US" altLang="zh-CN" baseline="0" dirty="0" smtClean="0"/>
          </a:p>
          <a:p>
            <a:r>
              <a:rPr lang="en-US" altLang="zh-CN" baseline="0" dirty="0" smtClean="0"/>
              <a:t>A scalable system is needed to handle these huge data. So the first thing is to have scalable storage. and then we need scalable </a:t>
            </a:r>
            <a:r>
              <a:rPr lang="en-US" altLang="zh-CN" baseline="0" dirty="0" err="1" smtClean="0"/>
              <a:t>softwares</a:t>
            </a:r>
            <a:r>
              <a:rPr lang="en-US" altLang="zh-CN" baseline="0" dirty="0" smtClean="0"/>
              <a:t> or pipelines. The fundamental tools in data analysis in biology is genome assembly and sequence alignment. Currently, there are plenty of scalable alignment tools, but no genome assembler can scale beyond 1024 cores. </a:t>
            </a:r>
          </a:p>
          <a:p>
            <a:endParaRPr lang="en-US" altLang="zh-CN" baseline="0" dirty="0" smtClean="0"/>
          </a:p>
          <a:p>
            <a:r>
              <a:rPr lang="en-US" altLang="zh-CN" baseline="0" dirty="0" smtClean="0"/>
              <a:t>The work here is to cove this gap with Mira. </a:t>
            </a:r>
          </a:p>
        </p:txBody>
      </p:sp>
      <p:sp>
        <p:nvSpPr>
          <p:cNvPr id="4" name="页脚占位符 3"/>
          <p:cNvSpPr>
            <a:spLocks noGrp="1"/>
          </p:cNvSpPr>
          <p:nvPr>
            <p:ph type="ftr" sz="quarter" idx="10"/>
          </p:nvPr>
        </p:nvSpPr>
        <p:spPr/>
        <p:txBody>
          <a:bodyPr/>
          <a:lstStyle/>
          <a:p>
            <a:r>
              <a:rPr lang="en-US" smtClean="0"/>
              <a:t>Go to ”Insert (View) | Header and Footer" to add your organization, sponsor, meeting name here; then, click "Apply to All"</a:t>
            </a:r>
            <a:endParaRPr lang="en-US"/>
          </a:p>
        </p:txBody>
      </p:sp>
      <p:sp>
        <p:nvSpPr>
          <p:cNvPr id="5" name="灯片编号占位符 4"/>
          <p:cNvSpPr>
            <a:spLocks noGrp="1"/>
          </p:cNvSpPr>
          <p:nvPr>
            <p:ph type="sldNum" sz="quarter" idx="11"/>
          </p:nvPr>
        </p:nvSpPr>
        <p:spPr/>
        <p:txBody>
          <a:bodyPr/>
          <a:lstStyle/>
          <a:p>
            <a:fld id="{BB1A7F71-A600-874B-8C52-75C3F91F2DFD}" type="slidenum">
              <a:rPr lang="en-US" smtClean="0"/>
              <a:pPr/>
              <a:t>3</a:t>
            </a:fld>
            <a:endParaRPr lang="en-US"/>
          </a:p>
        </p:txBody>
      </p:sp>
    </p:spTree>
    <p:extLst>
      <p:ext uri="{BB962C8B-B14F-4D97-AF65-F5344CB8AC3E}">
        <p14:creationId xmlns:p14="http://schemas.microsoft.com/office/powerpoint/2010/main" val="27350498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985838" y="1671638"/>
            <a:ext cx="7696200" cy="1069975"/>
          </a:xfrm>
        </p:spPr>
        <p:txBody>
          <a:bodyPr/>
          <a:lstStyle>
            <a:lvl1pPr>
              <a:defRPr sz="3000"/>
            </a:lvl1pPr>
          </a:lstStyle>
          <a:p>
            <a:r>
              <a:rPr lang="en-US" dirty="0" smtClean="0"/>
              <a:t>Click to edit Master title style</a:t>
            </a:r>
            <a:endParaRPr lang="en-US" dirty="0"/>
          </a:p>
        </p:txBody>
      </p:sp>
      <p:sp>
        <p:nvSpPr>
          <p:cNvPr id="3075" name="Rectangle 3"/>
          <p:cNvSpPr>
            <a:spLocks noGrp="1" noChangeArrowheads="1"/>
          </p:cNvSpPr>
          <p:nvPr>
            <p:ph type="subTitle" idx="1"/>
          </p:nvPr>
        </p:nvSpPr>
        <p:spPr>
          <a:xfrm>
            <a:off x="985838" y="3125788"/>
            <a:ext cx="6400800" cy="1752600"/>
          </a:xfrm>
        </p:spPr>
        <p:txBody>
          <a:bodyPr/>
          <a:lstStyle>
            <a:lvl1pPr marL="0" indent="0">
              <a:buFont typeface="Wingdings" pitchFamily="2" charset="2"/>
              <a:buNone/>
              <a:defRPr/>
            </a:lvl1pPr>
          </a:lstStyle>
          <a:p>
            <a:r>
              <a:rPr lang="en-US" dirty="0" smtClean="0"/>
              <a:t>Click to edit Master subtitle style</a:t>
            </a:r>
            <a:endParaRPr lang="en-US" dirty="0"/>
          </a:p>
        </p:txBody>
      </p:sp>
      <p:pic>
        <p:nvPicPr>
          <p:cNvPr id="3079" name="Picture 7" descr="title header_Blue_646.jpg"/>
          <p:cNvPicPr>
            <a:picLocks noChangeAspect="1"/>
          </p:cNvPicPr>
          <p:nvPr/>
        </p:nvPicPr>
        <p:blipFill>
          <a:blip r:embed="rId2" cstate="print"/>
          <a:srcRect/>
          <a:stretch>
            <a:fillRect/>
          </a:stretch>
        </p:blipFill>
        <p:spPr bwMode="auto">
          <a:xfrm>
            <a:off x="0" y="0"/>
            <a:ext cx="9144000" cy="1106488"/>
          </a:xfrm>
          <a:prstGeom prst="rect">
            <a:avLst/>
          </a:prstGeom>
          <a:noFill/>
          <a:ln w="9525">
            <a:noFill/>
            <a:miter lim="800000"/>
            <a:headEnd/>
            <a:tailEnd/>
          </a:ln>
        </p:spPr>
      </p:pic>
      <p:pic>
        <p:nvPicPr>
          <p:cNvPr id="3080" name="Picture 7" descr="doe_black.jpg"/>
          <p:cNvPicPr>
            <a:picLocks noChangeAspect="1"/>
          </p:cNvPicPr>
          <p:nvPr/>
        </p:nvPicPr>
        <p:blipFill>
          <a:blip r:embed="rId3" cstate="print"/>
          <a:srcRect/>
          <a:stretch>
            <a:fillRect/>
          </a:stretch>
        </p:blipFill>
        <p:spPr bwMode="auto">
          <a:xfrm>
            <a:off x="7954963" y="6456363"/>
            <a:ext cx="960437" cy="231775"/>
          </a:xfrm>
          <a:prstGeom prst="rect">
            <a:avLst/>
          </a:prstGeom>
          <a:noFill/>
          <a:ln w="9525">
            <a:noFill/>
            <a:miter lim="800000"/>
            <a:headEnd/>
            <a:tailEnd/>
          </a:ln>
        </p:spPr>
      </p:pic>
      <p:pic>
        <p:nvPicPr>
          <p:cNvPr id="3081" name="Picture 8" descr="title footer_Blue_646.jpg"/>
          <p:cNvPicPr>
            <a:picLocks noChangeAspect="1"/>
          </p:cNvPicPr>
          <p:nvPr/>
        </p:nvPicPr>
        <p:blipFill>
          <a:blip r:embed="rId4" cstate="print"/>
          <a:srcRect/>
          <a:stretch>
            <a:fillRect/>
          </a:stretch>
        </p:blipFill>
        <p:spPr bwMode="auto">
          <a:xfrm>
            <a:off x="0" y="6794500"/>
            <a:ext cx="9144000" cy="6350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600"/>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800"/>
            </a:lvl1pPr>
            <a:lvl2pPr>
              <a:defRPr sz="1600"/>
            </a:lvl2pPr>
            <a:lvl3pPr>
              <a:defRPr sz="14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lvl1pPr>
              <a:defRPr/>
            </a:lvl1pPr>
          </a:lstStyle>
          <a:p>
            <a:fld id="{6E5E9A38-5852-47EE-A3D1-D1DD50AEC6F2}" type="datetime1">
              <a:rPr lang="en-US" smtClean="0"/>
              <a:t>10/28/2014</a:t>
            </a:fld>
            <a:endParaRPr lang="en-US"/>
          </a:p>
        </p:txBody>
      </p:sp>
      <p:sp>
        <p:nvSpPr>
          <p:cNvPr id="5" name="Footer Placeholder 4"/>
          <p:cNvSpPr>
            <a:spLocks noGrp="1"/>
          </p:cNvSpPr>
          <p:nvPr>
            <p:ph type="ftr" sz="quarter" idx="11"/>
          </p:nvPr>
        </p:nvSpPr>
        <p:spPr/>
        <p:txBody>
          <a:bodyPr/>
          <a:lstStyle>
            <a:lvl1pPr>
              <a:defRPr/>
            </a:lvl1pPr>
          </a:lstStyle>
          <a:p>
            <a:r>
              <a:rPr lang="en-US" smtClean="0"/>
              <a:t>Go to ”Insert (View) | Header and Footer" to add your organization, sponsor, meeting name here; then, click "Apply to All"</a:t>
            </a:r>
            <a:endParaRPr lang="en-US"/>
          </a:p>
        </p:txBody>
      </p:sp>
      <p:sp>
        <p:nvSpPr>
          <p:cNvPr id="6" name="Slide Number Placeholder 5"/>
          <p:cNvSpPr>
            <a:spLocks noGrp="1"/>
          </p:cNvSpPr>
          <p:nvPr>
            <p:ph type="sldNum" sz="quarter" idx="12"/>
          </p:nvPr>
        </p:nvSpPr>
        <p:spPr/>
        <p:txBody>
          <a:bodyPr/>
          <a:lstStyle>
            <a:lvl1pPr>
              <a:defRPr/>
            </a:lvl1pPr>
          </a:lstStyle>
          <a:p>
            <a:fld id="{87034D8C-3CB4-402A-BC46-2AB14C0FE90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4406900"/>
            <a:ext cx="7772400" cy="1362075"/>
          </a:xfrm>
        </p:spPr>
        <p:txBody>
          <a:bodyPr/>
          <a:lstStyle>
            <a:lvl1pPr algn="l">
              <a:defRPr sz="3000" b="1" cap="none" baseline="0"/>
            </a:lvl1pPr>
          </a:lstStyle>
          <a:p>
            <a:r>
              <a:rPr lang="en-US" dirty="0" smtClean="0"/>
              <a:t>Click to Edit Master Text Styles</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Click to edit Master text styles</a:t>
            </a:r>
          </a:p>
        </p:txBody>
      </p:sp>
      <p:sp>
        <p:nvSpPr>
          <p:cNvPr id="4" name="Date Placeholder 3"/>
          <p:cNvSpPr>
            <a:spLocks noGrp="1"/>
          </p:cNvSpPr>
          <p:nvPr>
            <p:ph type="dt" sz="half" idx="10"/>
          </p:nvPr>
        </p:nvSpPr>
        <p:spPr/>
        <p:txBody>
          <a:bodyPr/>
          <a:lstStyle>
            <a:lvl1pPr>
              <a:defRPr/>
            </a:lvl1pPr>
          </a:lstStyle>
          <a:p>
            <a:fld id="{7A3EC1F0-C9B7-400C-8EE2-3C32BE00DD41}" type="datetime1">
              <a:rPr lang="en-US" smtClean="0"/>
              <a:t>10/28/2014</a:t>
            </a:fld>
            <a:endParaRPr lang="en-US"/>
          </a:p>
        </p:txBody>
      </p:sp>
      <p:sp>
        <p:nvSpPr>
          <p:cNvPr id="5" name="Footer Placeholder 4"/>
          <p:cNvSpPr>
            <a:spLocks noGrp="1"/>
          </p:cNvSpPr>
          <p:nvPr>
            <p:ph type="ftr" sz="quarter" idx="11"/>
          </p:nvPr>
        </p:nvSpPr>
        <p:spPr/>
        <p:txBody>
          <a:bodyPr/>
          <a:lstStyle>
            <a:lvl1pPr>
              <a:defRPr/>
            </a:lvl1pPr>
          </a:lstStyle>
          <a:p>
            <a:r>
              <a:rPr lang="en-US" smtClean="0"/>
              <a:t>Go to ”Insert (View) | Header and Footer" to add your organization, sponsor, meeting name here; then, click "Apply to All"</a:t>
            </a:r>
            <a:endParaRPr lang="en-US"/>
          </a:p>
        </p:txBody>
      </p:sp>
      <p:sp>
        <p:nvSpPr>
          <p:cNvPr id="6" name="Slide Number Placeholder 5"/>
          <p:cNvSpPr>
            <a:spLocks noGrp="1"/>
          </p:cNvSpPr>
          <p:nvPr>
            <p:ph type="sldNum" sz="quarter" idx="12"/>
          </p:nvPr>
        </p:nvSpPr>
        <p:spPr/>
        <p:txBody>
          <a:bodyPr/>
          <a:lstStyle>
            <a:lvl1pPr>
              <a:defRPr/>
            </a:lvl1pPr>
          </a:lstStyle>
          <a:p>
            <a:fld id="{87034D8C-3CB4-402A-BC46-2AB14C0FE90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600"/>
            </a:lvl1p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defRPr sz="1800"/>
            </a:lvl1pPr>
            <a:lvl2pPr>
              <a:defRPr sz="1600"/>
            </a:lvl2pPr>
            <a:lvl3pPr>
              <a:defRPr sz="1400"/>
            </a:lvl3pPr>
            <a:lvl4pPr>
              <a:defRPr sz="1400"/>
            </a:lvl4pPr>
            <a:lvl5pPr>
              <a:defRPr sz="14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1800"/>
            </a:lvl1pPr>
            <a:lvl2pPr>
              <a:defRPr sz="1600"/>
            </a:lvl2pPr>
            <a:lvl3pPr>
              <a:defRPr sz="1400"/>
            </a:lvl3pPr>
            <a:lvl4pPr>
              <a:defRPr sz="1400"/>
            </a:lvl4pPr>
            <a:lvl5pPr>
              <a:defRPr sz="1400" u="none"/>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p:txBody>
          <a:bodyPr/>
          <a:lstStyle>
            <a:lvl1pPr>
              <a:defRPr/>
            </a:lvl1pPr>
          </a:lstStyle>
          <a:p>
            <a:fld id="{8E2C72FA-3B2C-4101-A208-A2A1F1241491}" type="datetime1">
              <a:rPr lang="en-US" smtClean="0"/>
              <a:t>10/28/2014</a:t>
            </a:fld>
            <a:endParaRPr lang="en-US"/>
          </a:p>
        </p:txBody>
      </p:sp>
      <p:sp>
        <p:nvSpPr>
          <p:cNvPr id="6" name="Footer Placeholder 5"/>
          <p:cNvSpPr>
            <a:spLocks noGrp="1"/>
          </p:cNvSpPr>
          <p:nvPr>
            <p:ph type="ftr" sz="quarter" idx="11"/>
          </p:nvPr>
        </p:nvSpPr>
        <p:spPr/>
        <p:txBody>
          <a:bodyPr/>
          <a:lstStyle>
            <a:lvl1pPr>
              <a:defRPr/>
            </a:lvl1pPr>
          </a:lstStyle>
          <a:p>
            <a:r>
              <a:rPr lang="en-US" smtClean="0"/>
              <a:t>Go to ”Insert (View) | Header and Footer" to add your organization, sponsor, meeting name here; then, click "Apply to All"</a:t>
            </a:r>
            <a:endParaRPr lang="en-US"/>
          </a:p>
        </p:txBody>
      </p:sp>
      <p:sp>
        <p:nvSpPr>
          <p:cNvPr id="7" name="Slide Number Placeholder 6"/>
          <p:cNvSpPr>
            <a:spLocks noGrp="1"/>
          </p:cNvSpPr>
          <p:nvPr>
            <p:ph type="sldNum" sz="quarter" idx="12"/>
          </p:nvPr>
        </p:nvSpPr>
        <p:spPr/>
        <p:txBody>
          <a:bodyPr/>
          <a:lstStyle>
            <a:lvl1pPr>
              <a:defRPr/>
            </a:lvl1pPr>
          </a:lstStyle>
          <a:p>
            <a:fld id="{87034D8C-3CB4-402A-BC46-2AB14C0FE90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600"/>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600"/>
            </a:lvl2pPr>
            <a:lvl3pPr>
              <a:defRPr sz="1400"/>
            </a:lvl3pPr>
            <a:lvl4pPr>
              <a:defRPr sz="1400"/>
            </a:lvl4pPr>
            <a:lvl5pPr>
              <a:defRPr sz="14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800"/>
            </a:lvl1pPr>
            <a:lvl2pPr>
              <a:defRPr sz="1600"/>
            </a:lvl2pPr>
            <a:lvl3pPr>
              <a:defRPr sz="1400"/>
            </a:lvl3pPr>
            <a:lvl4pPr>
              <a:defRPr sz="1400"/>
            </a:lvl4pPr>
            <a:lvl5pPr>
              <a:defRPr sz="14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lvl1pPr>
              <a:defRPr/>
            </a:lvl1pPr>
          </a:lstStyle>
          <a:p>
            <a:fld id="{D76597D3-892F-4372-A24E-7090A358BD7B}" type="datetime1">
              <a:rPr lang="en-US" smtClean="0"/>
              <a:t>10/28/2014</a:t>
            </a:fld>
            <a:endParaRPr lang="en-US"/>
          </a:p>
        </p:txBody>
      </p:sp>
      <p:sp>
        <p:nvSpPr>
          <p:cNvPr id="8" name="Footer Placeholder 7"/>
          <p:cNvSpPr>
            <a:spLocks noGrp="1"/>
          </p:cNvSpPr>
          <p:nvPr>
            <p:ph type="ftr" sz="quarter" idx="11"/>
          </p:nvPr>
        </p:nvSpPr>
        <p:spPr/>
        <p:txBody>
          <a:bodyPr/>
          <a:lstStyle>
            <a:lvl1pPr>
              <a:defRPr/>
            </a:lvl1pPr>
          </a:lstStyle>
          <a:p>
            <a:r>
              <a:rPr lang="en-US" smtClean="0"/>
              <a:t>Go to ”Insert (View) | Header and Footer" to add your organization, sponsor, meeting name here; then, click "Apply to All"</a:t>
            </a:r>
            <a:endParaRPr lang="en-US"/>
          </a:p>
        </p:txBody>
      </p:sp>
      <p:sp>
        <p:nvSpPr>
          <p:cNvPr id="9" name="Slide Number Placeholder 8"/>
          <p:cNvSpPr>
            <a:spLocks noGrp="1"/>
          </p:cNvSpPr>
          <p:nvPr>
            <p:ph type="sldNum" sz="quarter" idx="12"/>
          </p:nvPr>
        </p:nvSpPr>
        <p:spPr/>
        <p:txBody>
          <a:bodyPr/>
          <a:lstStyle>
            <a:lvl1pPr>
              <a:defRPr/>
            </a:lvl1pPr>
          </a:lstStyle>
          <a:p>
            <a:fld id="{87034D8C-3CB4-402A-BC46-2AB14C0FE90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600"/>
            </a:lvl1p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lvl1pPr>
              <a:defRPr/>
            </a:lvl1pPr>
          </a:lstStyle>
          <a:p>
            <a:fld id="{22C944E8-709D-43EF-985E-FDF9148D6A59}" type="datetime1">
              <a:rPr lang="en-US" smtClean="0"/>
              <a:t>10/28/2014</a:t>
            </a:fld>
            <a:endParaRPr lang="en-US"/>
          </a:p>
        </p:txBody>
      </p:sp>
      <p:sp>
        <p:nvSpPr>
          <p:cNvPr id="4" name="Footer Placeholder 3"/>
          <p:cNvSpPr>
            <a:spLocks noGrp="1"/>
          </p:cNvSpPr>
          <p:nvPr>
            <p:ph type="ftr" sz="quarter" idx="11"/>
          </p:nvPr>
        </p:nvSpPr>
        <p:spPr/>
        <p:txBody>
          <a:bodyPr/>
          <a:lstStyle>
            <a:lvl1pPr>
              <a:defRPr/>
            </a:lvl1pPr>
          </a:lstStyle>
          <a:p>
            <a:r>
              <a:rPr lang="en-US" smtClean="0"/>
              <a:t>Go to ”Insert (View) | Header and Footer" to add your organization, sponsor, meeting name here; then, click "Apply to All"</a:t>
            </a:r>
            <a:endParaRPr lang="en-US"/>
          </a:p>
        </p:txBody>
      </p:sp>
      <p:sp>
        <p:nvSpPr>
          <p:cNvPr id="5" name="Slide Number Placeholder 4"/>
          <p:cNvSpPr>
            <a:spLocks noGrp="1"/>
          </p:cNvSpPr>
          <p:nvPr>
            <p:ph type="sldNum" sz="quarter" idx="12"/>
          </p:nvPr>
        </p:nvSpPr>
        <p:spPr/>
        <p:txBody>
          <a:bodyPr/>
          <a:lstStyle>
            <a:lvl1pPr>
              <a:defRPr/>
            </a:lvl1pPr>
          </a:lstStyle>
          <a:p>
            <a:fld id="{87034D8C-3CB4-402A-BC46-2AB14C0FE90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D3974C83-2101-4ED6-8A25-28FBDFEBF44B}" type="datetime1">
              <a:rPr lang="en-US" smtClean="0"/>
              <a:t>10/28/2014</a:t>
            </a:fld>
            <a:endParaRPr lang="en-US"/>
          </a:p>
        </p:txBody>
      </p:sp>
      <p:sp>
        <p:nvSpPr>
          <p:cNvPr id="3" name="Footer Placeholder 2"/>
          <p:cNvSpPr>
            <a:spLocks noGrp="1"/>
          </p:cNvSpPr>
          <p:nvPr>
            <p:ph type="ftr" sz="quarter" idx="11"/>
          </p:nvPr>
        </p:nvSpPr>
        <p:spPr/>
        <p:txBody>
          <a:bodyPr/>
          <a:lstStyle>
            <a:lvl1pPr>
              <a:defRPr/>
            </a:lvl1pPr>
          </a:lstStyle>
          <a:p>
            <a:r>
              <a:rPr lang="en-US" smtClean="0"/>
              <a:t>Go to ”Insert (View) | Header and Footer" to add your organization, sponsor, meeting name here; then, click "Apply to All"</a:t>
            </a:r>
            <a:endParaRPr lang="en-US"/>
          </a:p>
        </p:txBody>
      </p:sp>
      <p:sp>
        <p:nvSpPr>
          <p:cNvPr id="4" name="Slide Number Placeholder 3"/>
          <p:cNvSpPr>
            <a:spLocks noGrp="1"/>
          </p:cNvSpPr>
          <p:nvPr>
            <p:ph type="sldNum" sz="quarter" idx="12"/>
          </p:nvPr>
        </p:nvSpPr>
        <p:spPr/>
        <p:txBody>
          <a:bodyPr/>
          <a:lstStyle>
            <a:lvl1pPr>
              <a:defRPr/>
            </a:lvl1pPr>
          </a:lstStyle>
          <a:p>
            <a:fld id="{87034D8C-3CB4-402A-BC46-2AB14C0FE90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479550"/>
          </a:xfrm>
        </p:spPr>
        <p:txBody>
          <a:bodyPr anchor="t"/>
          <a:lstStyle>
            <a:lvl1pPr algn="l">
              <a:defRPr sz="26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1800"/>
            </a:lvl1pPr>
            <a:lvl2pPr>
              <a:defRPr sz="16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457200" y="1752601"/>
            <a:ext cx="3008313" cy="4419600"/>
          </a:xfrm>
        </p:spPr>
        <p:txBody>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p:cNvSpPr>
          <p:nvPr>
            <p:ph type="dt" sz="half" idx="10"/>
          </p:nvPr>
        </p:nvSpPr>
        <p:spPr/>
        <p:txBody>
          <a:bodyPr/>
          <a:lstStyle>
            <a:lvl1pPr>
              <a:defRPr/>
            </a:lvl1pPr>
          </a:lstStyle>
          <a:p>
            <a:fld id="{3E771BF9-52B3-4226-9790-9500FA4384AF}" type="datetime1">
              <a:rPr lang="en-US" smtClean="0"/>
              <a:t>10/28/2014</a:t>
            </a:fld>
            <a:endParaRPr lang="en-US"/>
          </a:p>
        </p:txBody>
      </p:sp>
      <p:sp>
        <p:nvSpPr>
          <p:cNvPr id="6" name="Footer Placeholder 5"/>
          <p:cNvSpPr>
            <a:spLocks noGrp="1"/>
          </p:cNvSpPr>
          <p:nvPr>
            <p:ph type="ftr" sz="quarter" idx="11"/>
          </p:nvPr>
        </p:nvSpPr>
        <p:spPr/>
        <p:txBody>
          <a:bodyPr/>
          <a:lstStyle>
            <a:lvl1pPr>
              <a:defRPr/>
            </a:lvl1pPr>
          </a:lstStyle>
          <a:p>
            <a:r>
              <a:rPr lang="en-US" smtClean="0"/>
              <a:t>Go to ”Insert (View) | Header and Footer" to add your organization, sponsor, meeting name here; then, click "Apply to All"</a:t>
            </a:r>
            <a:endParaRPr lang="en-US"/>
          </a:p>
        </p:txBody>
      </p:sp>
      <p:sp>
        <p:nvSpPr>
          <p:cNvPr id="7" name="Slide Number Placeholder 6"/>
          <p:cNvSpPr>
            <a:spLocks noGrp="1"/>
          </p:cNvSpPr>
          <p:nvPr>
            <p:ph type="sldNum" sz="quarter" idx="12"/>
          </p:nvPr>
        </p:nvSpPr>
        <p:spPr/>
        <p:txBody>
          <a:bodyPr/>
          <a:lstStyle>
            <a:lvl1pPr>
              <a:defRPr/>
            </a:lvl1pPr>
          </a:lstStyle>
          <a:p>
            <a:fld id="{87034D8C-3CB4-402A-BC46-2AB14C0FE90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6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p:cNvSpPr>
          <p:nvPr>
            <p:ph type="dt" sz="half" idx="10"/>
          </p:nvPr>
        </p:nvSpPr>
        <p:spPr/>
        <p:txBody>
          <a:bodyPr/>
          <a:lstStyle>
            <a:lvl1pPr>
              <a:defRPr/>
            </a:lvl1pPr>
          </a:lstStyle>
          <a:p>
            <a:fld id="{7C9CDB54-AE65-43F0-A687-7FD607A1732D}" type="datetime1">
              <a:rPr lang="en-US" smtClean="0"/>
              <a:t>10/28/2014</a:t>
            </a:fld>
            <a:endParaRPr lang="en-US"/>
          </a:p>
        </p:txBody>
      </p:sp>
      <p:sp>
        <p:nvSpPr>
          <p:cNvPr id="6" name="Footer Placeholder 5"/>
          <p:cNvSpPr>
            <a:spLocks noGrp="1"/>
          </p:cNvSpPr>
          <p:nvPr>
            <p:ph type="ftr" sz="quarter" idx="11"/>
          </p:nvPr>
        </p:nvSpPr>
        <p:spPr/>
        <p:txBody>
          <a:bodyPr/>
          <a:lstStyle>
            <a:lvl1pPr>
              <a:defRPr/>
            </a:lvl1pPr>
          </a:lstStyle>
          <a:p>
            <a:r>
              <a:rPr lang="en-US" smtClean="0"/>
              <a:t>Go to ”Insert (View) | Header and Footer" to add your organization, sponsor, meeting name here; then, click "Apply to All"</a:t>
            </a:r>
            <a:endParaRPr lang="en-US"/>
          </a:p>
        </p:txBody>
      </p:sp>
      <p:sp>
        <p:nvSpPr>
          <p:cNvPr id="7" name="Slide Number Placeholder 6"/>
          <p:cNvSpPr>
            <a:spLocks noGrp="1"/>
          </p:cNvSpPr>
          <p:nvPr>
            <p:ph type="sldNum" sz="quarter" idx="12"/>
          </p:nvPr>
        </p:nvSpPr>
        <p:spPr/>
        <p:txBody>
          <a:bodyPr/>
          <a:lstStyle>
            <a:lvl1pPr>
              <a:defRPr/>
            </a:lvl1pPr>
          </a:lstStyle>
          <a:p>
            <a:fld id="{87034D8C-3CB4-402A-BC46-2AB14C0FE90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6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defRPr sz="1800"/>
            </a:lvl1pPr>
            <a:lvl2pPr>
              <a:defRPr sz="1600"/>
            </a:lvl2pPr>
            <a:lvl3pPr>
              <a:defRPr sz="14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lvl1pPr>
              <a:defRPr/>
            </a:lvl1pPr>
          </a:lstStyle>
          <a:p>
            <a:fld id="{81DDD8F7-8E43-430F-8747-5ABB1A6B6D88}" type="datetime1">
              <a:rPr lang="en-US" smtClean="0"/>
              <a:t>10/28/2014</a:t>
            </a:fld>
            <a:endParaRPr lang="en-US"/>
          </a:p>
        </p:txBody>
      </p:sp>
      <p:sp>
        <p:nvSpPr>
          <p:cNvPr id="5" name="Footer Placeholder 4"/>
          <p:cNvSpPr>
            <a:spLocks noGrp="1"/>
          </p:cNvSpPr>
          <p:nvPr>
            <p:ph type="ftr" sz="quarter" idx="11"/>
          </p:nvPr>
        </p:nvSpPr>
        <p:spPr/>
        <p:txBody>
          <a:bodyPr/>
          <a:lstStyle>
            <a:lvl1pPr>
              <a:defRPr/>
            </a:lvl1pPr>
          </a:lstStyle>
          <a:p>
            <a:r>
              <a:rPr lang="en-US" smtClean="0"/>
              <a:t>Go to ”Insert (View) | Header and Footer" to add your organization, sponsor, meeting name here; then, click "Apply to All"</a:t>
            </a:r>
            <a:endParaRPr lang="en-US"/>
          </a:p>
        </p:txBody>
      </p:sp>
      <p:sp>
        <p:nvSpPr>
          <p:cNvPr id="6" name="Slide Number Placeholder 5"/>
          <p:cNvSpPr>
            <a:spLocks noGrp="1"/>
          </p:cNvSpPr>
          <p:nvPr>
            <p:ph type="sldNum" sz="quarter" idx="12"/>
          </p:nvPr>
        </p:nvSpPr>
        <p:spPr/>
        <p:txBody>
          <a:bodyPr/>
          <a:lstStyle>
            <a:lvl1pPr>
              <a:defRPr/>
            </a:lvl1pPr>
          </a:lstStyle>
          <a:p>
            <a:fld id="{87034D8C-3CB4-402A-BC46-2AB14C0FE90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lvl1pPr>
              <a:defRPr sz="26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lvl1pPr>
              <a:defRPr sz="1800"/>
            </a:lvl1pPr>
            <a:lvl2pPr>
              <a:defRPr sz="1600"/>
            </a:lvl2pPr>
            <a:lvl3pPr>
              <a:defRPr sz="14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lvl1pPr>
              <a:defRPr/>
            </a:lvl1pPr>
          </a:lstStyle>
          <a:p>
            <a:fld id="{3BE5E815-7492-41CC-AA4D-BA21E8AE5E9C}" type="datetime1">
              <a:rPr lang="en-US" smtClean="0"/>
              <a:t>10/28/2014</a:t>
            </a:fld>
            <a:endParaRPr lang="en-US"/>
          </a:p>
        </p:txBody>
      </p:sp>
      <p:sp>
        <p:nvSpPr>
          <p:cNvPr id="5" name="Footer Placeholder 4"/>
          <p:cNvSpPr>
            <a:spLocks noGrp="1"/>
          </p:cNvSpPr>
          <p:nvPr>
            <p:ph type="ftr" sz="quarter" idx="11"/>
          </p:nvPr>
        </p:nvSpPr>
        <p:spPr/>
        <p:txBody>
          <a:bodyPr/>
          <a:lstStyle>
            <a:lvl1pPr>
              <a:defRPr/>
            </a:lvl1pPr>
          </a:lstStyle>
          <a:p>
            <a:r>
              <a:rPr lang="en-US" smtClean="0"/>
              <a:t>Go to ”Insert (View) | Header and Footer" to add your organization, sponsor, meeting name here; then, click "Apply to All"</a:t>
            </a:r>
            <a:endParaRPr lang="en-US"/>
          </a:p>
        </p:txBody>
      </p:sp>
      <p:sp>
        <p:nvSpPr>
          <p:cNvPr id="6" name="Slide Number Placeholder 5"/>
          <p:cNvSpPr>
            <a:spLocks noGrp="1"/>
          </p:cNvSpPr>
          <p:nvPr>
            <p:ph type="sldNum" sz="quarter" idx="12"/>
          </p:nvPr>
        </p:nvSpPr>
        <p:spPr/>
        <p:txBody>
          <a:bodyPr/>
          <a:lstStyle>
            <a:lvl1pPr>
              <a:defRPr/>
            </a:lvl1pPr>
          </a:lstStyle>
          <a:p>
            <a:fld id="{87034D8C-3CB4-402A-BC46-2AB14C0FE90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2" name="Picture 5" descr="slide footer_blue_646.jpg"/>
          <p:cNvPicPr>
            <a:picLocks noChangeAspect="1"/>
          </p:cNvPicPr>
          <p:nvPr/>
        </p:nvPicPr>
        <p:blipFill>
          <a:blip r:embed="rId13" cstate="print"/>
          <a:srcRect/>
          <a:stretch>
            <a:fillRect/>
          </a:stretch>
        </p:blipFill>
        <p:spPr bwMode="auto">
          <a:xfrm>
            <a:off x="0" y="6324600"/>
            <a:ext cx="9144000" cy="530225"/>
          </a:xfrm>
          <a:prstGeom prst="rect">
            <a:avLst/>
          </a:prstGeom>
          <a:noFill/>
          <a:ln w="9525">
            <a:noFill/>
            <a:miter lim="800000"/>
            <a:headEnd/>
            <a:tailEnd/>
          </a:ln>
        </p:spPr>
      </p:pic>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028" name="Rectangle 4"/>
          <p:cNvSpPr>
            <a:spLocks noGrp="1" noChangeArrowheads="1"/>
          </p:cNvSpPr>
          <p:nvPr>
            <p:ph type="dt" sz="half" idx="2"/>
          </p:nvPr>
        </p:nvSpPr>
        <p:spPr bwMode="auto">
          <a:xfrm>
            <a:off x="7010400" y="6572250"/>
            <a:ext cx="1371600" cy="209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vl1pPr>
          </a:lstStyle>
          <a:p>
            <a:fld id="{1D6E9A62-F363-4883-A0C0-DF2D58ABE726}" type="datetime1">
              <a:rPr lang="en-US" smtClean="0"/>
              <a:t>10/28/2014</a:t>
            </a:fld>
            <a:endParaRPr lang="en-US"/>
          </a:p>
        </p:txBody>
      </p:sp>
      <p:sp>
        <p:nvSpPr>
          <p:cNvPr id="1029" name="Rectangle 5"/>
          <p:cNvSpPr>
            <a:spLocks noGrp="1" noChangeArrowheads="1"/>
          </p:cNvSpPr>
          <p:nvPr>
            <p:ph type="ftr" sz="quarter" idx="3"/>
          </p:nvPr>
        </p:nvSpPr>
        <p:spPr bwMode="auto">
          <a:xfrm>
            <a:off x="657225" y="6307138"/>
            <a:ext cx="5942013"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900"/>
            </a:lvl1pPr>
          </a:lstStyle>
          <a:p>
            <a:r>
              <a:rPr lang="en-US" smtClean="0"/>
              <a:t>Go to ”Insert (View) | Header and Footer" to add your organization, sponsor, meeting name here; then, click "Apply to All"</a:t>
            </a:r>
            <a:endParaRPr lang="en-US" dirty="0"/>
          </a:p>
        </p:txBody>
      </p:sp>
      <p:sp>
        <p:nvSpPr>
          <p:cNvPr id="1030" name="Rectangle 6"/>
          <p:cNvSpPr>
            <a:spLocks noGrp="1" noChangeArrowheads="1"/>
          </p:cNvSpPr>
          <p:nvPr>
            <p:ph type="sldNum" sz="quarter" idx="4"/>
          </p:nvPr>
        </p:nvSpPr>
        <p:spPr bwMode="auto">
          <a:xfrm>
            <a:off x="8610600" y="6489700"/>
            <a:ext cx="384175" cy="3651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lvl1pPr>
          </a:lstStyle>
          <a:p>
            <a:fld id="{87034D8C-3CB4-402A-BC46-2AB14C0FE90A}" type="slidenum">
              <a:rPr lang="en-US" smtClean="0"/>
              <a:pPr/>
              <a:t>‹#›</a:t>
            </a:fld>
            <a:endParaRPr lang="en-US"/>
          </a:p>
        </p:txBody>
      </p:sp>
      <p:pic>
        <p:nvPicPr>
          <p:cNvPr id="1031" name="Picture 7" descr="slide header_646.jpg"/>
          <p:cNvPicPr>
            <a:picLocks noChangeAspect="1"/>
          </p:cNvPicPr>
          <p:nvPr/>
        </p:nvPicPr>
        <p:blipFill>
          <a:blip r:embed="rId14" cstate="print"/>
          <a:srcRect/>
          <a:stretch>
            <a:fillRect/>
          </a:stretch>
        </p:blipFill>
        <p:spPr bwMode="auto">
          <a:xfrm>
            <a:off x="0" y="0"/>
            <a:ext cx="9144000" cy="1555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fontAlgn="base" hangingPunct="1">
        <a:spcBef>
          <a:spcPct val="0"/>
        </a:spcBef>
        <a:spcAft>
          <a:spcPct val="0"/>
        </a:spcAft>
        <a:defRPr sz="2600" b="1">
          <a:solidFill>
            <a:schemeClr val="tx2"/>
          </a:solidFill>
          <a:latin typeface="+mj-lt"/>
          <a:ea typeface="+mj-ea"/>
          <a:cs typeface="+mj-cs"/>
        </a:defRPr>
      </a:lvl1pPr>
      <a:lvl2pPr algn="l" rtl="0" eaLnBrk="1" fontAlgn="base" hangingPunct="1">
        <a:spcBef>
          <a:spcPct val="0"/>
        </a:spcBef>
        <a:spcAft>
          <a:spcPct val="0"/>
        </a:spcAft>
        <a:defRPr sz="2600" b="1">
          <a:solidFill>
            <a:schemeClr val="tx2"/>
          </a:solidFill>
          <a:latin typeface="Trebuchet MS" pitchFamily="34" charset="0"/>
        </a:defRPr>
      </a:lvl2pPr>
      <a:lvl3pPr algn="l" rtl="0" eaLnBrk="1" fontAlgn="base" hangingPunct="1">
        <a:spcBef>
          <a:spcPct val="0"/>
        </a:spcBef>
        <a:spcAft>
          <a:spcPct val="0"/>
        </a:spcAft>
        <a:defRPr sz="2600" b="1">
          <a:solidFill>
            <a:schemeClr val="tx2"/>
          </a:solidFill>
          <a:latin typeface="Trebuchet MS" pitchFamily="34" charset="0"/>
        </a:defRPr>
      </a:lvl3pPr>
      <a:lvl4pPr algn="l" rtl="0" eaLnBrk="1" fontAlgn="base" hangingPunct="1">
        <a:spcBef>
          <a:spcPct val="0"/>
        </a:spcBef>
        <a:spcAft>
          <a:spcPct val="0"/>
        </a:spcAft>
        <a:defRPr sz="2600" b="1">
          <a:solidFill>
            <a:schemeClr val="tx2"/>
          </a:solidFill>
          <a:latin typeface="Trebuchet MS" pitchFamily="34" charset="0"/>
        </a:defRPr>
      </a:lvl4pPr>
      <a:lvl5pPr algn="l" rtl="0" eaLnBrk="1" fontAlgn="base" hangingPunct="1">
        <a:spcBef>
          <a:spcPct val="0"/>
        </a:spcBef>
        <a:spcAft>
          <a:spcPct val="0"/>
        </a:spcAft>
        <a:defRPr sz="2600" b="1">
          <a:solidFill>
            <a:schemeClr val="tx2"/>
          </a:solidFill>
          <a:latin typeface="Trebuchet MS" pitchFamily="34" charset="0"/>
        </a:defRPr>
      </a:lvl5pPr>
      <a:lvl6pPr marL="457200" algn="l" rtl="0" eaLnBrk="1" fontAlgn="base" hangingPunct="1">
        <a:spcBef>
          <a:spcPct val="0"/>
        </a:spcBef>
        <a:spcAft>
          <a:spcPct val="0"/>
        </a:spcAft>
        <a:defRPr sz="2600" b="1">
          <a:solidFill>
            <a:schemeClr val="tx2"/>
          </a:solidFill>
          <a:latin typeface="Trebuchet MS" pitchFamily="34" charset="0"/>
        </a:defRPr>
      </a:lvl6pPr>
      <a:lvl7pPr marL="914400" algn="l" rtl="0" eaLnBrk="1" fontAlgn="base" hangingPunct="1">
        <a:spcBef>
          <a:spcPct val="0"/>
        </a:spcBef>
        <a:spcAft>
          <a:spcPct val="0"/>
        </a:spcAft>
        <a:defRPr sz="2600" b="1">
          <a:solidFill>
            <a:schemeClr val="tx2"/>
          </a:solidFill>
          <a:latin typeface="Trebuchet MS" pitchFamily="34" charset="0"/>
        </a:defRPr>
      </a:lvl7pPr>
      <a:lvl8pPr marL="1371600" algn="l" rtl="0" eaLnBrk="1" fontAlgn="base" hangingPunct="1">
        <a:spcBef>
          <a:spcPct val="0"/>
        </a:spcBef>
        <a:spcAft>
          <a:spcPct val="0"/>
        </a:spcAft>
        <a:defRPr sz="2600" b="1">
          <a:solidFill>
            <a:schemeClr val="tx2"/>
          </a:solidFill>
          <a:latin typeface="Trebuchet MS" pitchFamily="34" charset="0"/>
        </a:defRPr>
      </a:lvl8pPr>
      <a:lvl9pPr marL="1828800" algn="l" rtl="0" eaLnBrk="1" fontAlgn="base" hangingPunct="1">
        <a:spcBef>
          <a:spcPct val="0"/>
        </a:spcBef>
        <a:spcAft>
          <a:spcPct val="0"/>
        </a:spcAft>
        <a:defRPr sz="2600" b="1">
          <a:solidFill>
            <a:schemeClr val="tx2"/>
          </a:solidFill>
          <a:latin typeface="Trebuchet MS" pitchFamily="34" charset="0"/>
        </a:defRPr>
      </a:lvl9pPr>
    </p:titleStyle>
    <p:bodyStyle>
      <a:lvl1pPr marL="342900" indent="-342900" algn="l" rtl="0" eaLnBrk="1" fontAlgn="base" hangingPunct="1">
        <a:spcBef>
          <a:spcPct val="20000"/>
        </a:spcBef>
        <a:spcAft>
          <a:spcPct val="0"/>
        </a:spcAft>
        <a:buClr>
          <a:srgbClr val="1F497D"/>
        </a:buClr>
        <a:buFont typeface="Wingdings" pitchFamily="2" charset="2"/>
        <a:buChar char="§"/>
        <a:defRPr>
          <a:solidFill>
            <a:schemeClr val="tx1"/>
          </a:solidFill>
          <a:latin typeface="+mn-lt"/>
          <a:ea typeface="+mn-ea"/>
          <a:cs typeface="+mn-cs"/>
        </a:defRPr>
      </a:lvl1pPr>
      <a:lvl2pPr marL="742950" indent="-285750" algn="l" rtl="0" eaLnBrk="1" fontAlgn="base" hangingPunct="1">
        <a:spcBef>
          <a:spcPct val="20000"/>
        </a:spcBef>
        <a:spcAft>
          <a:spcPct val="0"/>
        </a:spcAft>
        <a:buClr>
          <a:srgbClr val="1F497D"/>
        </a:buClr>
        <a:buChar char="–"/>
        <a:defRPr sz="1600">
          <a:solidFill>
            <a:schemeClr val="tx1"/>
          </a:solidFill>
          <a:latin typeface="+mn-lt"/>
        </a:defRPr>
      </a:lvl2pPr>
      <a:lvl3pPr marL="1143000" indent="-228600" algn="l" rtl="0" eaLnBrk="1" fontAlgn="base" hangingPunct="1">
        <a:spcBef>
          <a:spcPct val="20000"/>
        </a:spcBef>
        <a:spcAft>
          <a:spcPct val="0"/>
        </a:spcAft>
        <a:buClr>
          <a:srgbClr val="1F497D"/>
        </a:buClr>
        <a:buChar char="•"/>
        <a:defRPr sz="1400">
          <a:solidFill>
            <a:schemeClr val="tx1"/>
          </a:solidFill>
          <a:latin typeface="+mn-lt"/>
        </a:defRPr>
      </a:lvl3pPr>
      <a:lvl4pPr marL="1600200" indent="-228600" algn="l" rtl="0" eaLnBrk="1" fontAlgn="base" hangingPunct="1">
        <a:spcBef>
          <a:spcPct val="20000"/>
        </a:spcBef>
        <a:spcAft>
          <a:spcPct val="0"/>
        </a:spcAft>
        <a:buClr>
          <a:srgbClr val="1F497D"/>
        </a:buClr>
        <a:buChar char="–"/>
        <a:defRPr sz="1400">
          <a:solidFill>
            <a:schemeClr val="tx1"/>
          </a:solidFill>
          <a:latin typeface="+mn-lt"/>
        </a:defRPr>
      </a:lvl4pPr>
      <a:lvl5pPr marL="2057400" indent="-228600" algn="l" rtl="0" eaLnBrk="1" fontAlgn="base" hangingPunct="1">
        <a:spcBef>
          <a:spcPct val="20000"/>
        </a:spcBef>
        <a:spcAft>
          <a:spcPct val="0"/>
        </a:spcAft>
        <a:buClr>
          <a:srgbClr val="1F497D"/>
        </a:buClr>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Clr>
          <a:srgbClr val="1F497D"/>
        </a:buClr>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Clr>
          <a:srgbClr val="1F497D"/>
        </a:buClr>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Clr>
          <a:srgbClr val="1F497D"/>
        </a:buClr>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Clr>
          <a:srgbClr val="1F497D"/>
        </a:buClr>
        <a:buFont typeface="Arial"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985838" y="1670050"/>
            <a:ext cx="7696200" cy="1069975"/>
          </a:xfrm>
        </p:spPr>
        <p:txBody>
          <a:bodyPr/>
          <a:lstStyle/>
          <a:p>
            <a:r>
              <a:rPr lang="en-US" altLang="zh-CN" dirty="0" smtClean="0"/>
              <a:t>SWAP-Assembler: </a:t>
            </a:r>
            <a:r>
              <a:rPr lang="en-US" altLang="zh-CN" dirty="0"/>
              <a:t>Scalable Genome Assembler towards Millions of Cores – Practice and Experience</a:t>
            </a:r>
            <a:endParaRPr lang="en-US" dirty="0"/>
          </a:p>
        </p:txBody>
      </p:sp>
      <p:sp>
        <p:nvSpPr>
          <p:cNvPr id="8" name="Subtitle 7"/>
          <p:cNvSpPr>
            <a:spLocks noGrp="1"/>
          </p:cNvSpPr>
          <p:nvPr>
            <p:ph type="subTitle" idx="1"/>
          </p:nvPr>
        </p:nvSpPr>
        <p:spPr>
          <a:xfrm>
            <a:off x="985838" y="3124200"/>
            <a:ext cx="7396162" cy="1752600"/>
          </a:xfrm>
        </p:spPr>
        <p:txBody>
          <a:bodyPr/>
          <a:lstStyle/>
          <a:p>
            <a:r>
              <a:rPr lang="en-US" altLang="zh-CN" b="1" dirty="0"/>
              <a:t>Jintao </a:t>
            </a:r>
            <a:r>
              <a:rPr lang="en-US" altLang="zh-CN" b="1" dirty="0" err="1"/>
              <a:t>Meng</a:t>
            </a:r>
            <a:endParaRPr lang="en-US" altLang="zh-CN" b="1" dirty="0"/>
          </a:p>
          <a:p>
            <a:r>
              <a:rPr lang="en-US" altLang="zh-CN" b="1" dirty="0">
                <a:solidFill>
                  <a:srgbClr val="FF0000"/>
                </a:solidFill>
              </a:rPr>
              <a:t>PhD Candidate</a:t>
            </a:r>
          </a:p>
          <a:p>
            <a:r>
              <a:rPr lang="en-US" altLang="zh-CN" b="1" dirty="0">
                <a:solidFill>
                  <a:srgbClr val="FF0000"/>
                </a:solidFill>
              </a:rPr>
              <a:t>Shenzhen Institutes of Advanced Technology, CAS </a:t>
            </a:r>
          </a:p>
          <a:p>
            <a:r>
              <a:rPr lang="en-US" altLang="zh-CN" b="1" dirty="0">
                <a:solidFill>
                  <a:srgbClr val="FF0000"/>
                </a:solidFill>
              </a:rPr>
              <a:t>Institute of Computing Technology, CAS</a:t>
            </a:r>
          </a:p>
          <a:p>
            <a:r>
              <a:rPr lang="en-US" altLang="zh-CN" b="1" dirty="0"/>
              <a:t>Advisor: </a:t>
            </a:r>
            <a:r>
              <a:rPr lang="en-US" altLang="zh-CN" b="1" dirty="0" err="1"/>
              <a:t>Shengzhong</a:t>
            </a:r>
            <a:r>
              <a:rPr lang="en-US" altLang="zh-CN" b="1" dirty="0"/>
              <a:t> </a:t>
            </a:r>
            <a:r>
              <a:rPr lang="en-US" altLang="zh-CN" b="1" dirty="0" err="1"/>
              <a:t>Feng</a:t>
            </a:r>
            <a:r>
              <a:rPr lang="en-US" altLang="zh-CN" b="1" dirty="0"/>
              <a:t>, </a:t>
            </a:r>
            <a:r>
              <a:rPr lang="en-US" altLang="zh-CN" b="1" dirty="0" err="1"/>
              <a:t>Yanjie</a:t>
            </a:r>
            <a:r>
              <a:rPr lang="en-US" altLang="zh-CN" b="1" dirty="0"/>
              <a:t> Wei</a:t>
            </a:r>
          </a:p>
          <a:p>
            <a:r>
              <a:rPr lang="en-US" altLang="zh-CN" b="1" dirty="0"/>
              <a:t>Collaboration with </a:t>
            </a:r>
            <a:r>
              <a:rPr lang="en-US" altLang="zh-CN" b="1" dirty="0" err="1"/>
              <a:t>BingQiang</a:t>
            </a:r>
            <a:r>
              <a:rPr lang="en-US" altLang="zh-CN" b="1" dirty="0"/>
              <a:t> Wang</a:t>
            </a:r>
          </a:p>
          <a:p>
            <a:endParaRPr lang="en-US" altLang="zh-CN" b="1" dirty="0"/>
          </a:p>
          <a:p>
            <a:r>
              <a:rPr lang="en-US" altLang="zh-CN" b="1" dirty="0"/>
              <a:t>Supervisor: </a:t>
            </a:r>
            <a:r>
              <a:rPr lang="en-US" altLang="zh-CN" b="1" dirty="0" err="1"/>
              <a:t>Pavan</a:t>
            </a:r>
            <a:r>
              <a:rPr lang="en-US" altLang="zh-CN" b="1" dirty="0"/>
              <a:t> </a:t>
            </a:r>
            <a:r>
              <a:rPr lang="en-US" altLang="zh-CN" b="1" dirty="0" err="1"/>
              <a:t>Balaji</a:t>
            </a:r>
            <a:endParaRPr lang="en-US" altLang="zh-CN" b="1" dirty="0"/>
          </a:p>
          <a:p>
            <a:r>
              <a:rPr lang="en-US" altLang="zh-CN" b="1" dirty="0"/>
              <a:t>Mentors: </a:t>
            </a:r>
            <a:r>
              <a:rPr lang="en-US" altLang="zh-CN" b="1" dirty="0" err="1"/>
              <a:t>Sangmin</a:t>
            </a:r>
            <a:r>
              <a:rPr lang="en-US" altLang="zh-CN" b="1" dirty="0"/>
              <a:t> </a:t>
            </a:r>
            <a:r>
              <a:rPr lang="en-US" altLang="zh-CN" b="1" dirty="0" err="1"/>
              <a:t>Seo</a:t>
            </a:r>
            <a:endParaRPr lang="en-US" altLang="zh-CN" b="1" dirty="0"/>
          </a:p>
          <a:p>
            <a:endParaRPr lang="en-US" altLang="zh-CN" b="1" dirty="0"/>
          </a:p>
          <a:p>
            <a:r>
              <a:rPr lang="en-US" altLang="zh-CN" b="1" dirty="0"/>
              <a:t>Oct 29, 2014</a:t>
            </a:r>
            <a:endParaRPr lang="en-US" altLang="zh-CN"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 of the Talk</a:t>
            </a:r>
            <a:endParaRPr lang="en-US" dirty="0"/>
          </a:p>
        </p:txBody>
      </p:sp>
      <p:sp>
        <p:nvSpPr>
          <p:cNvPr id="3" name="Content Placeholder 2"/>
          <p:cNvSpPr>
            <a:spLocks noGrp="1"/>
          </p:cNvSpPr>
          <p:nvPr>
            <p:ph idx="1"/>
          </p:nvPr>
        </p:nvSpPr>
        <p:spPr>
          <a:xfrm>
            <a:off x="457200" y="1143000"/>
            <a:ext cx="8229600" cy="4983163"/>
          </a:xfrm>
        </p:spPr>
        <p:txBody>
          <a:bodyPr/>
          <a:lstStyle/>
          <a:p>
            <a:r>
              <a:rPr lang="en-US" b="1" dirty="0" smtClean="0"/>
              <a:t>Overview of Genome Assembly problem</a:t>
            </a:r>
          </a:p>
          <a:p>
            <a:pPr lvl="1"/>
            <a:r>
              <a:rPr lang="en-US" b="1" dirty="0" smtClean="0"/>
              <a:t>Importance, Challenges, and strategies</a:t>
            </a:r>
          </a:p>
          <a:p>
            <a:r>
              <a:rPr lang="en-US" altLang="zh-CN" b="1" dirty="0">
                <a:solidFill>
                  <a:srgbClr val="FF0000"/>
                </a:solidFill>
              </a:rPr>
              <a:t>Parallel Genome Assembly</a:t>
            </a:r>
          </a:p>
          <a:p>
            <a:pPr lvl="1"/>
            <a:r>
              <a:rPr lang="en-US" b="1" dirty="0" smtClean="0"/>
              <a:t>Previous </a:t>
            </a:r>
            <a:r>
              <a:rPr lang="en-US" b="1" dirty="0" smtClean="0"/>
              <a:t>works</a:t>
            </a:r>
          </a:p>
          <a:p>
            <a:pPr lvl="1"/>
            <a:r>
              <a:rPr lang="en-US" b="1" dirty="0" smtClean="0"/>
              <a:t>Contributions of SWAP-Assembler</a:t>
            </a:r>
          </a:p>
          <a:p>
            <a:r>
              <a:rPr lang="en-US" b="1" dirty="0" smtClean="0"/>
              <a:t>Optimization work </a:t>
            </a:r>
            <a:r>
              <a:rPr lang="en-US" b="1" dirty="0" smtClean="0"/>
              <a:t>on Mira for </a:t>
            </a:r>
            <a:r>
              <a:rPr lang="en-US" b="1" dirty="0" smtClean="0"/>
              <a:t>SWAP-Assembler</a:t>
            </a:r>
          </a:p>
          <a:p>
            <a:pPr lvl="1"/>
            <a:r>
              <a:rPr lang="en-US" b="1" dirty="0" smtClean="0"/>
              <a:t>Optimization strategy</a:t>
            </a:r>
          </a:p>
          <a:p>
            <a:pPr lvl="1"/>
            <a:r>
              <a:rPr lang="en-US" b="1" dirty="0" smtClean="0"/>
              <a:t>Input &amp; Output optimization</a:t>
            </a:r>
          </a:p>
          <a:p>
            <a:pPr lvl="1"/>
            <a:r>
              <a:rPr lang="en-US" b="1" dirty="0" err="1" smtClean="0"/>
              <a:t>Kmer</a:t>
            </a:r>
            <a:r>
              <a:rPr lang="en-US" b="1" dirty="0" smtClean="0"/>
              <a:t> Graph Construction</a:t>
            </a:r>
          </a:p>
          <a:p>
            <a:pPr lvl="1"/>
            <a:r>
              <a:rPr lang="en-US" b="1" dirty="0" smtClean="0"/>
              <a:t>Edge Merging </a:t>
            </a:r>
          </a:p>
          <a:p>
            <a:r>
              <a:rPr lang="en-US" b="1" dirty="0" smtClean="0"/>
              <a:t>Performance </a:t>
            </a:r>
            <a:r>
              <a:rPr lang="en-US" b="1" dirty="0"/>
              <a:t>comparison &amp; </a:t>
            </a:r>
            <a:r>
              <a:rPr lang="en-US" b="1" dirty="0" smtClean="0"/>
              <a:t>Evaluation </a:t>
            </a:r>
          </a:p>
          <a:p>
            <a:pPr lvl="1"/>
            <a:r>
              <a:rPr lang="en-US" b="1" dirty="0" smtClean="0"/>
              <a:t>Human data results </a:t>
            </a:r>
          </a:p>
          <a:p>
            <a:pPr lvl="1"/>
            <a:r>
              <a:rPr lang="en-US" b="1" dirty="0" smtClean="0"/>
              <a:t>Experimental Results</a:t>
            </a:r>
          </a:p>
          <a:p>
            <a:r>
              <a:rPr lang="en-US" b="1" dirty="0" smtClean="0"/>
              <a:t>Summary</a:t>
            </a:r>
          </a:p>
          <a:p>
            <a:r>
              <a:rPr lang="en-US" b="1" dirty="0" smtClean="0"/>
              <a:t>Future Work</a:t>
            </a:r>
          </a:p>
          <a:p>
            <a:r>
              <a:rPr lang="en-US" b="1" dirty="0" smtClean="0"/>
              <a:t>Acknowledgements</a:t>
            </a:r>
          </a:p>
          <a:p>
            <a:endParaRPr lang="en-US" b="1" dirty="0"/>
          </a:p>
        </p:txBody>
      </p:sp>
      <p:sp>
        <p:nvSpPr>
          <p:cNvPr id="5" name="Slide Number Placeholder 4"/>
          <p:cNvSpPr>
            <a:spLocks noGrp="1"/>
          </p:cNvSpPr>
          <p:nvPr>
            <p:ph type="sldNum" sz="quarter" idx="12"/>
          </p:nvPr>
        </p:nvSpPr>
        <p:spPr/>
        <p:txBody>
          <a:bodyPr/>
          <a:lstStyle/>
          <a:p>
            <a:fld id="{87034D8C-3CB4-402A-BC46-2AB14C0FE90A}"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87034D8C-3CB4-402A-BC46-2AB14C0FE90A}" type="slidenum">
              <a:rPr lang="en-US" smtClean="0"/>
              <a:pPr/>
              <a:t>3</a:t>
            </a:fld>
            <a:endParaRPr lang="en-US"/>
          </a:p>
        </p:txBody>
      </p:sp>
      <p:sp>
        <p:nvSpPr>
          <p:cNvPr id="5" name="标题 1"/>
          <p:cNvSpPr>
            <a:spLocks noGrp="1"/>
          </p:cNvSpPr>
          <p:nvPr>
            <p:ph type="title"/>
          </p:nvPr>
        </p:nvSpPr>
        <p:spPr>
          <a:xfrm>
            <a:off x="457200" y="274638"/>
            <a:ext cx="8229600" cy="1143000"/>
          </a:xfrm>
        </p:spPr>
        <p:txBody>
          <a:bodyPr/>
          <a:lstStyle/>
          <a:p>
            <a:r>
              <a:rPr lang="en-US" altLang="zh-CN" dirty="0" smtClean="0"/>
              <a:t>Importance of Parallel Assembly</a:t>
            </a:r>
            <a:endParaRPr lang="zh-CN" altLang="en-US" dirty="0"/>
          </a:p>
        </p:txBody>
      </p:sp>
      <p:sp>
        <p:nvSpPr>
          <p:cNvPr id="6" name="Content Placeholder 2"/>
          <p:cNvSpPr>
            <a:spLocks/>
          </p:cNvSpPr>
          <p:nvPr/>
        </p:nvSpPr>
        <p:spPr bwMode="auto">
          <a:xfrm>
            <a:off x="296863" y="1268413"/>
            <a:ext cx="8550611" cy="353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buFont typeface="Arial" charset="0"/>
              <a:buChar char="•"/>
            </a:pPr>
            <a:r>
              <a:rPr lang="en-US" altLang="zh-CN" sz="2400" dirty="0" smtClean="0"/>
              <a:t>Big data in Biology</a:t>
            </a:r>
            <a:r>
              <a:rPr lang="zh-CN" altLang="en-US" sz="2400" dirty="0" smtClean="0"/>
              <a:t>：                    </a:t>
            </a:r>
            <a:r>
              <a:rPr lang="en-US" altLang="zh-CN" sz="2400" dirty="0" smtClean="0">
                <a:solidFill>
                  <a:srgbClr val="FF0000"/>
                </a:solidFill>
              </a:rPr>
              <a:t>Supporting Big Science</a:t>
            </a:r>
          </a:p>
          <a:p>
            <a:pPr marL="742950" lvl="1" indent="-285750">
              <a:buFont typeface="Arial" charset="0"/>
              <a:buChar char="•"/>
            </a:pPr>
            <a:r>
              <a:rPr lang="en-US" altLang="zh-CN" dirty="0" smtClean="0"/>
              <a:t>Million Plant &amp; Animal Genome Project</a:t>
            </a:r>
          </a:p>
          <a:p>
            <a:pPr marL="742950" lvl="1" indent="-285750">
              <a:buFont typeface="Arial" charset="0"/>
              <a:buChar char="•"/>
            </a:pPr>
            <a:r>
              <a:rPr lang="en-US" altLang="zh-CN" dirty="0" smtClean="0"/>
              <a:t>Million Human Genomes Project</a:t>
            </a:r>
          </a:p>
          <a:p>
            <a:pPr marL="742950" lvl="1" indent="-285750">
              <a:buFont typeface="Arial" charset="0"/>
              <a:buChar char="•"/>
            </a:pPr>
            <a:r>
              <a:rPr lang="en-US" altLang="zh-CN" dirty="0" smtClean="0"/>
              <a:t>Million </a:t>
            </a:r>
            <a:r>
              <a:rPr lang="en-US" altLang="zh-CN" dirty="0" err="1" smtClean="0"/>
              <a:t>Microecosystem</a:t>
            </a:r>
            <a:r>
              <a:rPr lang="en-US" altLang="zh-CN" dirty="0" smtClean="0"/>
              <a:t> Genome Project</a:t>
            </a:r>
            <a:r>
              <a:rPr lang="zh-CN" altLang="en-US" dirty="0" smtClean="0"/>
              <a:t> </a:t>
            </a:r>
            <a:endParaRPr lang="en-US" altLang="zh-CN" sz="2000" dirty="0" smtClean="0"/>
          </a:p>
          <a:p>
            <a:pPr marL="285750" indent="-285750">
              <a:buFont typeface="Arial" charset="0"/>
              <a:buChar char="•"/>
            </a:pPr>
            <a:r>
              <a:rPr lang="en-US" altLang="zh-CN" sz="2400" dirty="0" smtClean="0"/>
              <a:t>Money &amp; Time Cost:                     </a:t>
            </a:r>
            <a:r>
              <a:rPr lang="en-US" altLang="zh-CN" sz="2400" dirty="0">
                <a:solidFill>
                  <a:srgbClr val="FF0000"/>
                </a:solidFill>
              </a:rPr>
              <a:t>Saving Money &amp;Time</a:t>
            </a:r>
          </a:p>
          <a:p>
            <a:pPr marL="742950" lvl="1" indent="-285750">
              <a:buFont typeface="Arial" charset="0"/>
              <a:buChar char="•"/>
            </a:pPr>
            <a:r>
              <a:rPr lang="en-US" altLang="zh-CN" dirty="0" smtClean="0"/>
              <a:t>For 1 million Human dataset, assembling on one server needs </a:t>
            </a:r>
            <a:r>
              <a:rPr lang="en-US" altLang="zh-CN" b="1" dirty="0">
                <a:solidFill>
                  <a:srgbClr val="FF0000"/>
                </a:solidFill>
              </a:rPr>
              <a:t>5479 </a:t>
            </a:r>
            <a:r>
              <a:rPr lang="en-US" altLang="zh-CN" b="1" dirty="0" smtClean="0">
                <a:solidFill>
                  <a:srgbClr val="FF0000"/>
                </a:solidFill>
              </a:rPr>
              <a:t>years</a:t>
            </a:r>
          </a:p>
          <a:p>
            <a:pPr marL="742950" lvl="1" indent="-285750">
              <a:buFont typeface="Arial" charset="0"/>
              <a:buChar char="•"/>
            </a:pPr>
            <a:r>
              <a:rPr lang="en-US" altLang="zh-CN" dirty="0" smtClean="0"/>
              <a:t>Building large memory cluster</a:t>
            </a:r>
            <a:r>
              <a:rPr lang="zh-CN" altLang="en-US" dirty="0" smtClean="0"/>
              <a:t> </a:t>
            </a:r>
            <a:r>
              <a:rPr lang="en-US" altLang="zh-CN" dirty="0"/>
              <a:t>w</a:t>
            </a:r>
            <a:r>
              <a:rPr lang="en-US" altLang="zh-CN" dirty="0" smtClean="0"/>
              <a:t>ith 5 billion Dollars – reduce to </a:t>
            </a:r>
            <a:r>
              <a:rPr lang="en-US" altLang="zh-CN" b="1" dirty="0" smtClean="0">
                <a:solidFill>
                  <a:srgbClr val="FF0000"/>
                </a:solidFill>
              </a:rPr>
              <a:t>1 month</a:t>
            </a:r>
            <a:r>
              <a:rPr lang="zh-CN" altLang="en-US" b="1" dirty="0" smtClean="0">
                <a:solidFill>
                  <a:srgbClr val="FF0000"/>
                </a:solidFill>
              </a:rPr>
              <a:t> </a:t>
            </a:r>
            <a:endParaRPr lang="en-US" altLang="zh-CN" b="1" dirty="0">
              <a:solidFill>
                <a:srgbClr val="FF0000"/>
              </a:solidFill>
            </a:endParaRPr>
          </a:p>
          <a:p>
            <a:pPr marL="742950" lvl="1" indent="-285750">
              <a:buFont typeface="Arial" charset="0"/>
              <a:buChar char="•"/>
            </a:pPr>
            <a:r>
              <a:rPr lang="en-US" altLang="zh-CN" dirty="0" smtClean="0"/>
              <a:t>Or use Mira + SWAP:    </a:t>
            </a:r>
            <a:r>
              <a:rPr lang="en-US" altLang="zh-CN" b="1" dirty="0">
                <a:solidFill>
                  <a:srgbClr val="FF0000"/>
                </a:solidFill>
              </a:rPr>
              <a:t>1 </a:t>
            </a:r>
            <a:r>
              <a:rPr lang="en-US" altLang="zh-CN" b="1" dirty="0" smtClean="0">
                <a:solidFill>
                  <a:srgbClr val="FF0000"/>
                </a:solidFill>
              </a:rPr>
              <a:t>month</a:t>
            </a:r>
            <a:endParaRPr lang="en-US" altLang="zh-CN" sz="2000" b="1" dirty="0" smtClean="0"/>
          </a:p>
          <a:p>
            <a:pPr marL="285750" indent="-285750">
              <a:buFont typeface="Arial" charset="0"/>
              <a:buChar char="•"/>
            </a:pPr>
            <a:r>
              <a:rPr lang="en-US" altLang="zh-CN" sz="2400" dirty="0" smtClean="0"/>
              <a:t>System Scalability</a:t>
            </a:r>
            <a:r>
              <a:rPr lang="zh-CN" altLang="en-US" sz="2400" dirty="0" smtClean="0"/>
              <a:t>：                      </a:t>
            </a:r>
            <a:r>
              <a:rPr lang="en-US" altLang="zh-CN" sz="2400" dirty="0" smtClean="0">
                <a:solidFill>
                  <a:srgbClr val="FF0000"/>
                </a:solidFill>
              </a:rPr>
              <a:t>Analysis</a:t>
            </a:r>
            <a:r>
              <a:rPr lang="zh-CN" altLang="en-US" sz="2400" dirty="0" smtClean="0">
                <a:solidFill>
                  <a:srgbClr val="FF0000"/>
                </a:solidFill>
              </a:rPr>
              <a:t> </a:t>
            </a:r>
            <a:r>
              <a:rPr lang="en-US" altLang="zh-CN" sz="2400" dirty="0" smtClean="0">
                <a:solidFill>
                  <a:srgbClr val="FF0000"/>
                </a:solidFill>
              </a:rPr>
              <a:t>Automatically</a:t>
            </a:r>
          </a:p>
          <a:p>
            <a:pPr marL="742950" lvl="1" indent="-285750">
              <a:buFont typeface="Arial" charset="0"/>
              <a:buChar char="•"/>
            </a:pPr>
            <a:r>
              <a:rPr lang="en-US" altLang="zh-CN" sz="2000" dirty="0" smtClean="0"/>
              <a:t>Scalable data storage</a:t>
            </a:r>
          </a:p>
          <a:p>
            <a:pPr marL="742950" lvl="1" indent="-285750">
              <a:buFont typeface="Arial" charset="0"/>
              <a:buChar char="•"/>
            </a:pPr>
            <a:r>
              <a:rPr lang="en-US" altLang="zh-CN" sz="2000" dirty="0" smtClean="0"/>
              <a:t>Scalable software and analysis pipeline</a:t>
            </a:r>
            <a:endParaRPr lang="en-US" altLang="zh-CN" sz="2400" dirty="0" smtClean="0"/>
          </a:p>
          <a:p>
            <a:pPr marL="285750" indent="-285750">
              <a:buFont typeface="Arial" charset="0"/>
              <a:buChar char="•"/>
            </a:pPr>
            <a:endParaRPr lang="en-US" altLang="zh-CN" sz="2400" dirty="0"/>
          </a:p>
          <a:p>
            <a:pPr marL="285750" indent="-285750">
              <a:buFont typeface="Arial" charset="0"/>
              <a:buChar char="•"/>
            </a:pPr>
            <a:endParaRPr lang="en-US" altLang="zh-CN" sz="2400" dirty="0" smtClean="0"/>
          </a:p>
          <a:p>
            <a:pPr marL="285750" indent="-285750">
              <a:buFont typeface="Arial" charset="0"/>
              <a:buChar char="•"/>
            </a:pPr>
            <a:endParaRPr lang="en-US" altLang="zh-CN" sz="2400" dirty="0" smtClean="0"/>
          </a:p>
          <a:p>
            <a:pPr marL="285750" indent="-285750">
              <a:buFont typeface="Arial" charset="0"/>
              <a:buChar char="•"/>
            </a:pPr>
            <a:endParaRPr lang="en-US" altLang="zh-CN" sz="2400" dirty="0" smtClean="0"/>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5166437"/>
            <a:ext cx="9004130" cy="169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4545" y="4437112"/>
            <a:ext cx="2610591" cy="947473"/>
          </a:xfrm>
          <a:prstGeom prst="rect">
            <a:avLst/>
          </a:prstGeom>
          <a:noFill/>
          <a:ln>
            <a:noFill/>
          </a:ln>
          <a:effectLst>
            <a:prstShdw prst="shdw17" dist="17961" dir="2700000">
              <a:srgbClr val="FFFFFF">
                <a:gamma/>
                <a:shade val="60000"/>
                <a:invGamma/>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Lst>
        </p:spPr>
      </p:pic>
      <p:pic>
        <p:nvPicPr>
          <p:cNvPr id="9"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3757" y="4441675"/>
            <a:ext cx="2623630" cy="942910"/>
          </a:xfrm>
          <a:prstGeom prst="rect">
            <a:avLst/>
          </a:prstGeom>
          <a:noFill/>
          <a:ln>
            <a:noFill/>
          </a:ln>
          <a:effectLst>
            <a:prstShdw prst="shdw17" dist="17961" dir="2700000">
              <a:srgbClr val="FFFFFF">
                <a:gamma/>
                <a:shade val="60000"/>
                <a:invGamma/>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Lst>
        </p:spPr>
      </p:pic>
      <p:sp>
        <p:nvSpPr>
          <p:cNvPr id="10" name="TextBox 9"/>
          <p:cNvSpPr txBox="1"/>
          <p:nvPr/>
        </p:nvSpPr>
        <p:spPr>
          <a:xfrm>
            <a:off x="840012" y="5166437"/>
            <a:ext cx="7372977" cy="175432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CN" b="1" dirty="0" smtClean="0"/>
              <a:t>Genome Assembly </a:t>
            </a:r>
            <a:r>
              <a:rPr lang="en-US" altLang="zh-CN" dirty="0" smtClean="0"/>
              <a:t>and </a:t>
            </a:r>
            <a:r>
              <a:rPr lang="en-US" altLang="zh-CN" b="1" dirty="0" smtClean="0"/>
              <a:t>Sequence Alignment </a:t>
            </a:r>
            <a:r>
              <a:rPr lang="en-US" altLang="zh-CN" dirty="0" smtClean="0"/>
              <a:t>are two fundamental tools in data analysis pipeline.</a:t>
            </a:r>
          </a:p>
          <a:p>
            <a:r>
              <a:rPr lang="en-US" altLang="zh-CN" dirty="0" smtClean="0"/>
              <a:t>There are plenty of scalable alignment tools, such as </a:t>
            </a:r>
            <a:r>
              <a:rPr lang="en-US" altLang="zh-CN" dirty="0" err="1" smtClean="0"/>
              <a:t>mpiBLAST</a:t>
            </a:r>
            <a:r>
              <a:rPr lang="en-US" altLang="zh-CN" dirty="0" smtClean="0"/>
              <a:t>, SOAP2, etc.  </a:t>
            </a:r>
          </a:p>
          <a:p>
            <a:r>
              <a:rPr lang="en-US" altLang="zh-CN" dirty="0" smtClean="0"/>
              <a:t>But No Genome Assembler can scale beyond 1024 cores.</a:t>
            </a:r>
          </a:p>
          <a:p>
            <a:endParaRPr lang="en-US" altLang="zh-CN" dirty="0" smtClean="0"/>
          </a:p>
          <a:p>
            <a:r>
              <a:rPr lang="en-US" altLang="zh-CN" dirty="0" smtClean="0"/>
              <a:t>This work here is to cover the gap with Mira (768k cores).</a:t>
            </a:r>
            <a:endParaRPr lang="zh-CN" altLang="en-US" dirty="0"/>
          </a:p>
        </p:txBody>
      </p:sp>
    </p:spTree>
    <p:extLst>
      <p:ext uri="{BB962C8B-B14F-4D97-AF65-F5344CB8AC3E}">
        <p14:creationId xmlns:p14="http://schemas.microsoft.com/office/powerpoint/2010/main" val="933669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Effect transition="in" filter="fade">
                                      <p:cBhvr>
                                        <p:cTn id="7" dur="500"/>
                                        <p:tgtEl>
                                          <p:spTgt spid="6">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5" end="5"/>
                                            </p:txEl>
                                          </p:spTgt>
                                        </p:tgtEl>
                                        <p:attrNameLst>
                                          <p:attrName>style.visibility</p:attrName>
                                        </p:attrNameLst>
                                      </p:cBhvr>
                                      <p:to>
                                        <p:strVal val="visible"/>
                                      </p:to>
                                    </p:set>
                                    <p:animEffect transition="in" filter="fade">
                                      <p:cBhvr>
                                        <p:cTn id="10" dur="500"/>
                                        <p:tgtEl>
                                          <p:spTgt spid="6">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animEffect transition="in" filter="fade">
                                      <p:cBhvr>
                                        <p:cTn id="13" dur="500"/>
                                        <p:tgtEl>
                                          <p:spTgt spid="6">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
                                            <p:txEl>
                                              <p:pRg st="7" end="7"/>
                                            </p:txEl>
                                          </p:spTgt>
                                        </p:tgtEl>
                                        <p:attrNameLst>
                                          <p:attrName>style.visibility</p:attrName>
                                        </p:attrNameLst>
                                      </p:cBhvr>
                                      <p:to>
                                        <p:strVal val="visible"/>
                                      </p:to>
                                    </p:set>
                                    <p:animEffect transition="in" filter="fade">
                                      <p:cBhvr>
                                        <p:cTn id="16" dur="500"/>
                                        <p:tgtEl>
                                          <p:spTgt spid="6">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animEffect transition="in" filter="fade">
                                      <p:cBhvr>
                                        <p:cTn id="21" dur="500"/>
                                        <p:tgtEl>
                                          <p:spTgt spid="6">
                                            <p:txEl>
                                              <p:pRg st="8" end="8"/>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6">
                                            <p:txEl>
                                              <p:pRg st="9" end="9"/>
                                            </p:txEl>
                                          </p:spTgt>
                                        </p:tgtEl>
                                        <p:attrNameLst>
                                          <p:attrName>style.visibility</p:attrName>
                                        </p:attrNameLst>
                                      </p:cBhvr>
                                      <p:to>
                                        <p:strVal val="visible"/>
                                      </p:to>
                                    </p:set>
                                    <p:animEffect transition="in" filter="fade">
                                      <p:cBhvr>
                                        <p:cTn id="24" dur="500"/>
                                        <p:tgtEl>
                                          <p:spTgt spid="6">
                                            <p:txEl>
                                              <p:pRg st="9" end="9"/>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10" end="10"/>
                                            </p:txEl>
                                          </p:spTgt>
                                        </p:tgtEl>
                                        <p:attrNameLst>
                                          <p:attrName>style.visibility</p:attrName>
                                        </p:attrNameLst>
                                      </p:cBhvr>
                                      <p:to>
                                        <p:strVal val="visible"/>
                                      </p:to>
                                    </p:set>
                                    <p:animEffect transition="in" filter="fade">
                                      <p:cBhvr>
                                        <p:cTn id="42" dur="500"/>
                                        <p:tgtEl>
                                          <p:spTgt spid="6">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Genome assembly and major steps </a:t>
            </a:r>
            <a:r>
              <a:rPr lang="en-US" altLang="zh-CN" dirty="0"/>
              <a:t>of DBG based </a:t>
            </a:r>
            <a:r>
              <a:rPr lang="en-US" altLang="zh-CN" dirty="0" smtClean="0"/>
              <a:t>strategy</a:t>
            </a:r>
            <a:endParaRPr lang="en-US" dirty="0"/>
          </a:p>
        </p:txBody>
      </p:sp>
      <p:sp>
        <p:nvSpPr>
          <p:cNvPr id="3" name="Content Placeholder 2"/>
          <p:cNvSpPr>
            <a:spLocks noGrp="1"/>
          </p:cNvSpPr>
          <p:nvPr>
            <p:ph idx="1"/>
          </p:nvPr>
        </p:nvSpPr>
        <p:spPr>
          <a:xfrm>
            <a:off x="457200" y="1600200"/>
            <a:ext cx="3810000" cy="4953000"/>
          </a:xfrm>
        </p:spPr>
        <p:txBody>
          <a:bodyPr/>
          <a:lstStyle/>
          <a:p>
            <a:r>
              <a:rPr lang="en-US" sz="2000" b="1" dirty="0" smtClean="0"/>
              <a:t>Fundamental Idea</a:t>
            </a:r>
          </a:p>
          <a:p>
            <a:pPr lvl="1"/>
            <a:r>
              <a:rPr lang="en-US" b="1" dirty="0" smtClean="0"/>
              <a:t>Reconstruct the reference (</a:t>
            </a:r>
            <a:r>
              <a:rPr lang="en-US" b="1" dirty="0" err="1" smtClean="0"/>
              <a:t>contigs</a:t>
            </a:r>
            <a:r>
              <a:rPr lang="en-US" b="1" dirty="0" smtClean="0"/>
              <a:t>) by extending overlapped sequences generated by sequencing </a:t>
            </a:r>
            <a:r>
              <a:rPr lang="en-US" b="1" dirty="0" err="1" smtClean="0"/>
              <a:t>equipments</a:t>
            </a:r>
            <a:r>
              <a:rPr lang="en-US" b="1" dirty="0" smtClean="0"/>
              <a:t>. </a:t>
            </a:r>
            <a:endParaRPr lang="en-US" b="1" dirty="0" smtClean="0"/>
          </a:p>
          <a:p>
            <a:pPr marL="0" indent="0">
              <a:buNone/>
            </a:pPr>
            <a:endParaRPr lang="en-US" sz="2000" b="1" dirty="0" smtClean="0"/>
          </a:p>
          <a:p>
            <a:r>
              <a:rPr lang="en-US" sz="2000" b="1" dirty="0" smtClean="0"/>
              <a:t>Three dominated strategies</a:t>
            </a:r>
          </a:p>
          <a:p>
            <a:pPr lvl="1"/>
            <a:r>
              <a:rPr lang="en-US" altLang="zh-CN" sz="1800" b="1" dirty="0">
                <a:solidFill>
                  <a:srgbClr val="3333CC"/>
                </a:solidFill>
              </a:rPr>
              <a:t>O</a:t>
            </a:r>
            <a:r>
              <a:rPr lang="en-US" altLang="zh-CN" sz="1800" dirty="0"/>
              <a:t>verlap-</a:t>
            </a:r>
            <a:r>
              <a:rPr lang="en-US" altLang="zh-CN" sz="1800" b="1" dirty="0">
                <a:solidFill>
                  <a:srgbClr val="3333CC"/>
                </a:solidFill>
              </a:rPr>
              <a:t>L</a:t>
            </a:r>
            <a:r>
              <a:rPr lang="en-US" altLang="zh-CN" sz="1800" dirty="0"/>
              <a:t>ayout-</a:t>
            </a:r>
            <a:r>
              <a:rPr lang="en-US" altLang="zh-CN" sz="1800" b="1" dirty="0">
                <a:solidFill>
                  <a:srgbClr val="3333CC"/>
                </a:solidFill>
              </a:rPr>
              <a:t>C</a:t>
            </a:r>
            <a:r>
              <a:rPr lang="en-US" altLang="zh-CN" sz="1800" dirty="0"/>
              <a:t>onsensus</a:t>
            </a:r>
          </a:p>
          <a:p>
            <a:pPr lvl="1"/>
            <a:r>
              <a:rPr lang="en-US" altLang="zh-CN" sz="1800" b="1" dirty="0">
                <a:solidFill>
                  <a:srgbClr val="723AF0"/>
                </a:solidFill>
              </a:rPr>
              <a:t>D</a:t>
            </a:r>
            <a:r>
              <a:rPr lang="en-US" altLang="zh-CN" sz="1800" b="1" dirty="0"/>
              <a:t>e </a:t>
            </a:r>
            <a:r>
              <a:rPr lang="en-US" altLang="zh-CN" sz="1800" b="1" dirty="0" err="1">
                <a:solidFill>
                  <a:srgbClr val="723AF0"/>
                </a:solidFill>
              </a:rPr>
              <a:t>B</a:t>
            </a:r>
            <a:r>
              <a:rPr lang="en-US" altLang="zh-CN" sz="1800" b="1" dirty="0" err="1"/>
              <a:t>ruijn</a:t>
            </a:r>
            <a:r>
              <a:rPr lang="zh-CN" altLang="en-US" sz="1800" b="1" dirty="0"/>
              <a:t> </a:t>
            </a:r>
            <a:r>
              <a:rPr lang="en-US" altLang="zh-CN" sz="1800" b="1" dirty="0">
                <a:solidFill>
                  <a:srgbClr val="723AF0"/>
                </a:solidFill>
              </a:rPr>
              <a:t>G</a:t>
            </a:r>
            <a:r>
              <a:rPr lang="en-US" altLang="zh-CN" sz="1800" b="1" dirty="0"/>
              <a:t>raph</a:t>
            </a:r>
          </a:p>
          <a:p>
            <a:pPr lvl="1"/>
            <a:r>
              <a:rPr lang="en-US" altLang="zh-CN" sz="1800" b="1" dirty="0" smtClean="0">
                <a:solidFill>
                  <a:srgbClr val="723AF0"/>
                </a:solidFill>
              </a:rPr>
              <a:t>S</a:t>
            </a:r>
            <a:r>
              <a:rPr lang="en-US" altLang="zh-CN" sz="1800" dirty="0" smtClean="0"/>
              <a:t>tring </a:t>
            </a:r>
            <a:r>
              <a:rPr lang="en-US" altLang="zh-CN" sz="1800" b="1" dirty="0">
                <a:solidFill>
                  <a:srgbClr val="723AF0"/>
                </a:solidFill>
              </a:rPr>
              <a:t>G</a:t>
            </a:r>
            <a:r>
              <a:rPr lang="en-US" altLang="zh-CN" sz="1800" dirty="0"/>
              <a:t>raph</a:t>
            </a:r>
            <a:endParaRPr lang="en-US" altLang="zh-CN" dirty="0"/>
          </a:p>
          <a:p>
            <a:endParaRPr lang="en-US" sz="2000" b="1" dirty="0" smtClean="0"/>
          </a:p>
          <a:p>
            <a:r>
              <a:rPr lang="en-US" sz="2000" b="1" dirty="0" smtClean="0"/>
              <a:t>Major steps in DBG </a:t>
            </a:r>
          </a:p>
          <a:p>
            <a:pPr lvl="1"/>
            <a:r>
              <a:rPr lang="en-US" b="1" dirty="0" err="1" smtClean="0">
                <a:solidFill>
                  <a:srgbClr val="C00000"/>
                </a:solidFill>
              </a:rPr>
              <a:t>Kmer</a:t>
            </a:r>
            <a:r>
              <a:rPr lang="en-US" b="1" dirty="0" smtClean="0">
                <a:solidFill>
                  <a:srgbClr val="C00000"/>
                </a:solidFill>
              </a:rPr>
              <a:t> graph construction</a:t>
            </a:r>
          </a:p>
          <a:p>
            <a:pPr lvl="1"/>
            <a:r>
              <a:rPr lang="en-US" b="1" dirty="0" smtClean="0">
                <a:solidFill>
                  <a:srgbClr val="C00000"/>
                </a:solidFill>
              </a:rPr>
              <a:t>Edge merging / Node merging</a:t>
            </a:r>
          </a:p>
          <a:p>
            <a:pPr lvl="1"/>
            <a:r>
              <a:rPr lang="en-US" b="1" dirty="0" smtClean="0"/>
              <a:t>Generate </a:t>
            </a:r>
            <a:r>
              <a:rPr lang="en-US" b="1" dirty="0" err="1" smtClean="0"/>
              <a:t>Contigs</a:t>
            </a:r>
            <a:endParaRPr lang="en-US" b="1" dirty="0" smtClean="0"/>
          </a:p>
          <a:p>
            <a:pPr lvl="1"/>
            <a:r>
              <a:rPr lang="en-US" b="1" dirty="0" smtClean="0"/>
              <a:t>Scaffolding </a:t>
            </a:r>
            <a:endParaRPr lang="en-US" b="1" dirty="0"/>
          </a:p>
          <a:p>
            <a:endParaRPr lang="en-US" sz="2000" b="1" dirty="0" smtClean="0"/>
          </a:p>
          <a:p>
            <a:endParaRPr lang="en-US" sz="2000" b="1" dirty="0" smtClean="0"/>
          </a:p>
        </p:txBody>
      </p:sp>
      <p:sp>
        <p:nvSpPr>
          <p:cNvPr id="5" name="Slide Number Placeholder 4"/>
          <p:cNvSpPr>
            <a:spLocks noGrp="1"/>
          </p:cNvSpPr>
          <p:nvPr>
            <p:ph type="sldNum" sz="quarter" idx="12"/>
          </p:nvPr>
        </p:nvSpPr>
        <p:spPr/>
        <p:txBody>
          <a:bodyPr/>
          <a:lstStyle/>
          <a:p>
            <a:fld id="{87034D8C-3CB4-402A-BC46-2AB14C0FE90A}" type="slidenum">
              <a:rPr lang="en-US" smtClean="0"/>
              <a:pPr/>
              <a:t>4</a:t>
            </a:fld>
            <a:endParaRPr lang="en-US"/>
          </a:p>
        </p:txBody>
      </p:sp>
      <p:pic>
        <p:nvPicPr>
          <p:cNvPr id="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1524000"/>
            <a:ext cx="4876800" cy="462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TextBox 3"/>
          <p:cNvSpPr txBox="1"/>
          <p:nvPr/>
        </p:nvSpPr>
        <p:spPr>
          <a:xfrm>
            <a:off x="5715000" y="6153150"/>
            <a:ext cx="243840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altLang="zh-CN" b="1" dirty="0"/>
              <a:t>Major steps in DBG </a:t>
            </a:r>
          </a:p>
        </p:txBody>
      </p:sp>
    </p:spTree>
    <p:extLst>
      <p:ext uri="{BB962C8B-B14F-4D97-AF65-F5344CB8AC3E}">
        <p14:creationId xmlns:p14="http://schemas.microsoft.com/office/powerpoint/2010/main" val="17125617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Challenge issues </a:t>
            </a:r>
            <a:r>
              <a:rPr lang="en-US" altLang="zh-CN" dirty="0" smtClean="0"/>
              <a:t>in </a:t>
            </a:r>
            <a:r>
              <a:rPr lang="en-US" altLang="zh-CN" dirty="0"/>
              <a:t>Parallel </a:t>
            </a:r>
            <a:r>
              <a:rPr lang="en-US" altLang="zh-CN" dirty="0" smtClean="0"/>
              <a:t>Genome A</a:t>
            </a:r>
            <a:r>
              <a:rPr lang="en-US" altLang="zh-CN" dirty="0" smtClean="0"/>
              <a:t>ssembly</a:t>
            </a:r>
            <a:endParaRPr lang="zh-CN" altLang="en-US" dirty="0"/>
          </a:p>
        </p:txBody>
      </p:sp>
      <p:sp>
        <p:nvSpPr>
          <p:cNvPr id="4" name="灯片编号占位符 3"/>
          <p:cNvSpPr>
            <a:spLocks noGrp="1"/>
          </p:cNvSpPr>
          <p:nvPr>
            <p:ph type="sldNum" sz="quarter" idx="12"/>
          </p:nvPr>
        </p:nvSpPr>
        <p:spPr/>
        <p:txBody>
          <a:bodyPr/>
          <a:lstStyle/>
          <a:p>
            <a:fld id="{87034D8C-3CB4-402A-BC46-2AB14C0FE90A}" type="slidenum">
              <a:rPr lang="en-US" smtClean="0"/>
              <a:pPr/>
              <a:t>5</a:t>
            </a:fld>
            <a:endParaRPr lang="en-US"/>
          </a:p>
        </p:txBody>
      </p:sp>
      <p:sp>
        <p:nvSpPr>
          <p:cNvPr id="36" name="Content Placeholder 2"/>
          <p:cNvSpPr>
            <a:spLocks/>
          </p:cNvSpPr>
          <p:nvPr/>
        </p:nvSpPr>
        <p:spPr bwMode="auto">
          <a:xfrm>
            <a:off x="296863" y="1143000"/>
            <a:ext cx="3960103" cy="5445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buFont typeface="Arial" charset="0"/>
              <a:buChar char="•"/>
            </a:pPr>
            <a:r>
              <a:rPr lang="en-US" altLang="zh-CN" sz="2400" dirty="0" smtClean="0"/>
              <a:t>I/O Intensive</a:t>
            </a:r>
          </a:p>
          <a:p>
            <a:pPr marL="742950" lvl="1" indent="-285750">
              <a:buFont typeface="Arial" charset="0"/>
              <a:buChar char="•"/>
            </a:pPr>
            <a:r>
              <a:rPr lang="en-US" altLang="zh-CN" sz="2000" dirty="0" smtClean="0"/>
              <a:t>Parallel I/O for TB data</a:t>
            </a:r>
          </a:p>
          <a:p>
            <a:pPr marL="742950" lvl="1" indent="-285750">
              <a:buFont typeface="Arial" charset="0"/>
              <a:buChar char="•"/>
            </a:pPr>
            <a:endParaRPr lang="en-US" altLang="zh-CN" sz="2000" dirty="0"/>
          </a:p>
          <a:p>
            <a:pPr marL="285750" indent="-285750">
              <a:buFont typeface="Arial" charset="0"/>
              <a:buChar char="•"/>
            </a:pPr>
            <a:r>
              <a:rPr lang="en-US" altLang="zh-CN" sz="2400" dirty="0" smtClean="0"/>
              <a:t>Memory Intensive</a:t>
            </a:r>
          </a:p>
          <a:p>
            <a:pPr marL="742950" lvl="1" indent="-285750">
              <a:buFont typeface="Arial" charset="0"/>
              <a:buChar char="•"/>
            </a:pPr>
            <a:r>
              <a:rPr lang="en-US" altLang="zh-CN" sz="2000" dirty="0" smtClean="0"/>
              <a:t>Memory usage is 50X </a:t>
            </a:r>
            <a:r>
              <a:rPr lang="en-US" altLang="zh-CN" sz="2000" dirty="0" smtClean="0"/>
              <a:t>input data (~PB)</a:t>
            </a:r>
          </a:p>
          <a:p>
            <a:pPr marL="742950" lvl="1" indent="-285750">
              <a:buFont typeface="Arial" charset="0"/>
              <a:buChar char="•"/>
            </a:pPr>
            <a:r>
              <a:rPr lang="en-US" altLang="zh-CN" sz="2000" dirty="0" smtClean="0"/>
              <a:t>Data </a:t>
            </a:r>
            <a:r>
              <a:rPr lang="en-US" altLang="zh-CN" sz="2000" dirty="0" smtClean="0"/>
              <a:t>compression (&gt;10) </a:t>
            </a:r>
            <a:endParaRPr lang="en-US" altLang="zh-CN" sz="2000" dirty="0" smtClean="0"/>
          </a:p>
          <a:p>
            <a:pPr marL="742950" lvl="1" indent="-285750">
              <a:buFont typeface="Arial" charset="0"/>
              <a:buChar char="•"/>
            </a:pPr>
            <a:endParaRPr lang="en-US" altLang="zh-CN" sz="2000" dirty="0" smtClean="0"/>
          </a:p>
          <a:p>
            <a:pPr marL="285750" indent="-285750">
              <a:buFont typeface="Arial" charset="0"/>
              <a:buChar char="•"/>
            </a:pPr>
            <a:r>
              <a:rPr lang="en-US" altLang="zh-CN" sz="2400" dirty="0" smtClean="0"/>
              <a:t>Communication Intensive</a:t>
            </a:r>
          </a:p>
          <a:p>
            <a:pPr marL="742950" lvl="1" indent="-285750">
              <a:buFont typeface="Arial" charset="0"/>
              <a:buChar char="•"/>
            </a:pPr>
            <a:r>
              <a:rPr lang="en-US" altLang="zh-CN" sz="2000" dirty="0" smtClean="0"/>
              <a:t>Data distribution </a:t>
            </a:r>
            <a:r>
              <a:rPr lang="en-US" altLang="zh-CN" sz="2000" dirty="0"/>
              <a:t>&amp;</a:t>
            </a:r>
            <a:r>
              <a:rPr lang="en-US" altLang="zh-CN" sz="2000" dirty="0" smtClean="0"/>
              <a:t>exchange</a:t>
            </a:r>
          </a:p>
          <a:p>
            <a:pPr marL="742950" lvl="1" indent="-285750">
              <a:buFont typeface="Arial" charset="0"/>
              <a:buChar char="•"/>
            </a:pPr>
            <a:r>
              <a:rPr lang="en-US" altLang="zh-CN" sz="2000" dirty="0" err="1" smtClean="0"/>
              <a:t>Kmer</a:t>
            </a:r>
            <a:r>
              <a:rPr lang="zh-CN" altLang="en-US" sz="2000" dirty="0" smtClean="0"/>
              <a:t> </a:t>
            </a:r>
            <a:r>
              <a:rPr lang="en-US" altLang="zh-CN" sz="2000" dirty="0" smtClean="0"/>
              <a:t>spectrum analysis</a:t>
            </a:r>
          </a:p>
          <a:p>
            <a:pPr marL="742950" lvl="1" indent="-285750">
              <a:buFont typeface="Arial" charset="0"/>
              <a:buChar char="•"/>
            </a:pPr>
            <a:endParaRPr lang="en-US" altLang="zh-CN" sz="2000" dirty="0" smtClean="0"/>
          </a:p>
          <a:p>
            <a:pPr marL="285750" indent="-285750">
              <a:buFont typeface="Arial" charset="0"/>
              <a:buChar char="•"/>
            </a:pPr>
            <a:r>
              <a:rPr lang="en-US" altLang="zh-CN" sz="2400" dirty="0" smtClean="0"/>
              <a:t>Non-embarrassingly </a:t>
            </a:r>
            <a:r>
              <a:rPr lang="en-US" altLang="zh-CN" sz="2400" dirty="0"/>
              <a:t>parallel</a:t>
            </a:r>
            <a:endParaRPr lang="en-US" altLang="zh-CN" sz="2400" dirty="0" smtClean="0"/>
          </a:p>
          <a:p>
            <a:pPr marL="742950" lvl="1" indent="-285750">
              <a:buFont typeface="Arial" charset="0"/>
              <a:buChar char="•"/>
            </a:pPr>
            <a:r>
              <a:rPr lang="en-US" altLang="zh-CN" sz="2000" dirty="0" smtClean="0"/>
              <a:t>inter-communication between graph vertices</a:t>
            </a:r>
          </a:p>
          <a:p>
            <a:pPr marL="742950" lvl="1" indent="-285750">
              <a:buFont typeface="Arial" charset="0"/>
              <a:buChar char="•"/>
            </a:pPr>
            <a:r>
              <a:rPr lang="en-US" altLang="zh-CN" sz="2000" dirty="0" smtClean="0"/>
              <a:t>Dynamic graph topology</a:t>
            </a:r>
          </a:p>
          <a:p>
            <a:pPr marL="742950" lvl="1" indent="-285750">
              <a:buFont typeface="Arial" charset="0"/>
              <a:buChar char="•"/>
            </a:pPr>
            <a:r>
              <a:rPr lang="en-US" altLang="zh-CN" sz="2000" dirty="0" smtClean="0"/>
              <a:t>Access collision avoidance</a:t>
            </a:r>
          </a:p>
        </p:txBody>
      </p:sp>
      <p:pic>
        <p:nvPicPr>
          <p:cNvPr id="3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7225" y="1295400"/>
            <a:ext cx="2546775" cy="720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9007" y="1944183"/>
            <a:ext cx="2584994" cy="1243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9006" y="3969060"/>
            <a:ext cx="2584993"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9007" y="5931210"/>
            <a:ext cx="2584993" cy="899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9691" y="5064435"/>
            <a:ext cx="2634308"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2" name="直接箭头连接符 41"/>
          <p:cNvCxnSpPr>
            <a:stCxn id="55" idx="1"/>
            <a:endCxn id="49" idx="3"/>
          </p:cNvCxnSpPr>
          <p:nvPr/>
        </p:nvCxnSpPr>
        <p:spPr>
          <a:xfrm flipH="1" flipV="1">
            <a:off x="3785695" y="1375717"/>
            <a:ext cx="638460" cy="514018"/>
          </a:xfrm>
          <a:prstGeom prst="straightConnector1">
            <a:avLst/>
          </a:prstGeom>
          <a:ln w="38100" cmpd="sng">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56" idx="1"/>
            <a:endCxn id="50" idx="3"/>
          </p:cNvCxnSpPr>
          <p:nvPr/>
        </p:nvCxnSpPr>
        <p:spPr>
          <a:xfrm flipH="1" flipV="1">
            <a:off x="3810000" y="2335279"/>
            <a:ext cx="614154" cy="392569"/>
          </a:xfrm>
          <a:prstGeom prst="straightConnector1">
            <a:avLst/>
          </a:prstGeom>
          <a:ln w="38100" cmpd="sng">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56" idx="1"/>
            <a:endCxn id="51" idx="3"/>
          </p:cNvCxnSpPr>
          <p:nvPr/>
        </p:nvCxnSpPr>
        <p:spPr>
          <a:xfrm flipH="1">
            <a:off x="3785695" y="2727848"/>
            <a:ext cx="638459" cy="1148176"/>
          </a:xfrm>
          <a:prstGeom prst="straightConnector1">
            <a:avLst/>
          </a:prstGeom>
          <a:ln w="38100" cmpd="sng">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57" idx="1"/>
            <a:endCxn id="50" idx="3"/>
          </p:cNvCxnSpPr>
          <p:nvPr/>
        </p:nvCxnSpPr>
        <p:spPr>
          <a:xfrm flipH="1" flipV="1">
            <a:off x="3810000" y="2335279"/>
            <a:ext cx="614155" cy="1363752"/>
          </a:xfrm>
          <a:prstGeom prst="straightConnector1">
            <a:avLst/>
          </a:prstGeom>
          <a:ln w="38100" cmpd="sng">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57" idx="1"/>
            <a:endCxn id="51" idx="3"/>
          </p:cNvCxnSpPr>
          <p:nvPr/>
        </p:nvCxnSpPr>
        <p:spPr>
          <a:xfrm flipH="1">
            <a:off x="3785695" y="3699031"/>
            <a:ext cx="638460" cy="176993"/>
          </a:xfrm>
          <a:prstGeom prst="straightConnector1">
            <a:avLst/>
          </a:prstGeom>
          <a:ln w="38100" cmpd="sng">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58" idx="1"/>
            <a:endCxn id="52" idx="3"/>
          </p:cNvCxnSpPr>
          <p:nvPr/>
        </p:nvCxnSpPr>
        <p:spPr>
          <a:xfrm flipH="1">
            <a:off x="4086715" y="4597343"/>
            <a:ext cx="337440" cy="598837"/>
          </a:xfrm>
          <a:prstGeom prst="straightConnector1">
            <a:avLst/>
          </a:prstGeom>
          <a:ln w="38100" cmpd="sng">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58" idx="1"/>
            <a:endCxn id="51" idx="3"/>
          </p:cNvCxnSpPr>
          <p:nvPr/>
        </p:nvCxnSpPr>
        <p:spPr>
          <a:xfrm flipH="1" flipV="1">
            <a:off x="3785695" y="3876024"/>
            <a:ext cx="638460" cy="721319"/>
          </a:xfrm>
          <a:prstGeom prst="straightConnector1">
            <a:avLst/>
          </a:prstGeom>
          <a:ln w="38100" cmpd="sng">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296862" y="1167438"/>
            <a:ext cx="3488833" cy="416557"/>
          </a:xfrm>
          <a:prstGeom prst="rect">
            <a:avLst/>
          </a:prstGeom>
          <a:solidFill>
            <a:schemeClr val="bg2">
              <a:lumMod val="75000"/>
              <a:alpha val="13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50" name="矩形 49"/>
          <p:cNvSpPr/>
          <p:nvPr/>
        </p:nvSpPr>
        <p:spPr>
          <a:xfrm>
            <a:off x="296862" y="2128969"/>
            <a:ext cx="3513138" cy="412619"/>
          </a:xfrm>
          <a:prstGeom prst="rect">
            <a:avLst/>
          </a:prstGeom>
          <a:solidFill>
            <a:schemeClr val="bg2">
              <a:lumMod val="75000"/>
              <a:alpha val="13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51" name="矩形 50"/>
          <p:cNvSpPr/>
          <p:nvPr/>
        </p:nvSpPr>
        <p:spPr>
          <a:xfrm>
            <a:off x="272558" y="3646222"/>
            <a:ext cx="3513137" cy="459603"/>
          </a:xfrm>
          <a:prstGeom prst="rect">
            <a:avLst/>
          </a:prstGeom>
          <a:solidFill>
            <a:schemeClr val="bg2">
              <a:lumMod val="75000"/>
              <a:alpha val="13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52" name="矩形 51"/>
          <p:cNvSpPr/>
          <p:nvPr/>
        </p:nvSpPr>
        <p:spPr>
          <a:xfrm>
            <a:off x="272558" y="4967580"/>
            <a:ext cx="3814157" cy="457200"/>
          </a:xfrm>
          <a:prstGeom prst="rect">
            <a:avLst/>
          </a:prstGeom>
          <a:solidFill>
            <a:schemeClr val="bg2">
              <a:lumMod val="75000"/>
              <a:alpha val="13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53" name="直接箭头连接符 52"/>
          <p:cNvCxnSpPr>
            <a:stCxn id="60" idx="1"/>
            <a:endCxn id="52" idx="3"/>
          </p:cNvCxnSpPr>
          <p:nvPr/>
        </p:nvCxnSpPr>
        <p:spPr>
          <a:xfrm flipH="1" flipV="1">
            <a:off x="4086715" y="5196180"/>
            <a:ext cx="337440" cy="1270658"/>
          </a:xfrm>
          <a:prstGeom prst="straightConnector1">
            <a:avLst/>
          </a:prstGeom>
          <a:ln w="38100" cmpd="sng">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stCxn id="59" idx="1"/>
            <a:endCxn id="52" idx="3"/>
          </p:cNvCxnSpPr>
          <p:nvPr/>
        </p:nvCxnSpPr>
        <p:spPr>
          <a:xfrm flipH="1" flipV="1">
            <a:off x="4086715" y="5196180"/>
            <a:ext cx="337440" cy="354012"/>
          </a:xfrm>
          <a:prstGeom prst="straightConnector1">
            <a:avLst/>
          </a:prstGeom>
          <a:ln w="38100" cmpd="sng">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55" name="圆角矩形 54"/>
          <p:cNvSpPr/>
          <p:nvPr/>
        </p:nvSpPr>
        <p:spPr>
          <a:xfrm>
            <a:off x="4424155" y="1655614"/>
            <a:ext cx="2205245" cy="468241"/>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1800" dirty="0" smtClean="0"/>
              <a:t>Input Parallelization</a:t>
            </a:r>
            <a:endParaRPr lang="zh-CN" altLang="en-US" sz="1800" dirty="0"/>
          </a:p>
        </p:txBody>
      </p:sp>
      <p:sp>
        <p:nvSpPr>
          <p:cNvPr id="56" name="圆角矩形 55"/>
          <p:cNvSpPr/>
          <p:nvPr/>
        </p:nvSpPr>
        <p:spPr>
          <a:xfrm>
            <a:off x="4424154" y="2483895"/>
            <a:ext cx="2205245" cy="48790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1800" dirty="0" err="1" smtClean="0"/>
              <a:t>Kmer</a:t>
            </a:r>
            <a:r>
              <a:rPr lang="en-US" altLang="zh-CN" sz="1800" dirty="0" smtClean="0"/>
              <a:t> Graph Analysis</a:t>
            </a:r>
            <a:endParaRPr lang="zh-CN" altLang="en-US" sz="1800" dirty="0"/>
          </a:p>
        </p:txBody>
      </p:sp>
      <p:sp>
        <p:nvSpPr>
          <p:cNvPr id="57" name="圆角矩形 56"/>
          <p:cNvSpPr/>
          <p:nvPr/>
        </p:nvSpPr>
        <p:spPr>
          <a:xfrm>
            <a:off x="4424155" y="3429001"/>
            <a:ext cx="2205245" cy="540059"/>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1800" dirty="0" smtClean="0"/>
              <a:t>Graph Construction</a:t>
            </a:r>
            <a:endParaRPr lang="zh-CN" altLang="en-US" sz="1800" dirty="0"/>
          </a:p>
        </p:txBody>
      </p:sp>
      <p:sp>
        <p:nvSpPr>
          <p:cNvPr id="58" name="圆角矩形 57"/>
          <p:cNvSpPr/>
          <p:nvPr/>
        </p:nvSpPr>
        <p:spPr>
          <a:xfrm>
            <a:off x="4424155" y="4374106"/>
            <a:ext cx="2205245" cy="44647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1800" dirty="0" smtClean="0"/>
              <a:t>Edge Merging</a:t>
            </a:r>
            <a:endParaRPr lang="zh-CN" altLang="en-US" sz="1800" dirty="0"/>
          </a:p>
        </p:txBody>
      </p:sp>
      <p:sp>
        <p:nvSpPr>
          <p:cNvPr id="59" name="圆角矩形 58"/>
          <p:cNvSpPr/>
          <p:nvPr/>
        </p:nvSpPr>
        <p:spPr>
          <a:xfrm>
            <a:off x="4424155" y="5309184"/>
            <a:ext cx="2205245" cy="48201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1800" dirty="0" err="1" smtClean="0"/>
              <a:t>Contig</a:t>
            </a:r>
            <a:r>
              <a:rPr lang="en-US" altLang="zh-CN" sz="1800" dirty="0" smtClean="0"/>
              <a:t> Generation</a:t>
            </a:r>
            <a:endParaRPr lang="zh-CN" altLang="en-US" sz="1800" dirty="0"/>
          </a:p>
        </p:txBody>
      </p:sp>
      <p:sp>
        <p:nvSpPr>
          <p:cNvPr id="60" name="圆角矩形 59"/>
          <p:cNvSpPr/>
          <p:nvPr/>
        </p:nvSpPr>
        <p:spPr>
          <a:xfrm>
            <a:off x="4424155" y="6219310"/>
            <a:ext cx="2205245" cy="49505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1800" dirty="0" smtClean="0"/>
              <a:t>Scaffolding</a:t>
            </a:r>
            <a:endParaRPr lang="zh-CN" altLang="en-US" sz="1800" dirty="0"/>
          </a:p>
        </p:txBody>
      </p:sp>
      <p:cxnSp>
        <p:nvCxnSpPr>
          <p:cNvPr id="61" name="直接箭头连接符 60"/>
          <p:cNvCxnSpPr>
            <a:stCxn id="55" idx="2"/>
            <a:endCxn id="56" idx="0"/>
          </p:cNvCxnSpPr>
          <p:nvPr/>
        </p:nvCxnSpPr>
        <p:spPr>
          <a:xfrm flipH="1">
            <a:off x="5526777" y="2123855"/>
            <a:ext cx="1" cy="360040"/>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stCxn id="56" idx="2"/>
            <a:endCxn id="57" idx="0"/>
          </p:cNvCxnSpPr>
          <p:nvPr/>
        </p:nvCxnSpPr>
        <p:spPr>
          <a:xfrm>
            <a:off x="5526777" y="2971800"/>
            <a:ext cx="1" cy="457201"/>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stCxn id="57" idx="2"/>
            <a:endCxn id="58" idx="0"/>
          </p:cNvCxnSpPr>
          <p:nvPr/>
        </p:nvCxnSpPr>
        <p:spPr>
          <a:xfrm>
            <a:off x="5526778" y="3969060"/>
            <a:ext cx="0" cy="405046"/>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stCxn id="58" idx="2"/>
            <a:endCxn id="59" idx="0"/>
          </p:cNvCxnSpPr>
          <p:nvPr/>
        </p:nvCxnSpPr>
        <p:spPr>
          <a:xfrm>
            <a:off x="5526778" y="4820580"/>
            <a:ext cx="0" cy="488604"/>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a:stCxn id="59" idx="2"/>
            <a:endCxn id="60" idx="0"/>
          </p:cNvCxnSpPr>
          <p:nvPr/>
        </p:nvCxnSpPr>
        <p:spPr>
          <a:xfrm>
            <a:off x="5526778" y="5791200"/>
            <a:ext cx="0" cy="428110"/>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sp>
        <p:nvSpPr>
          <p:cNvPr id="66" name="矩形 65"/>
          <p:cNvSpPr/>
          <p:nvPr/>
        </p:nvSpPr>
        <p:spPr>
          <a:xfrm>
            <a:off x="4267200" y="1130442"/>
            <a:ext cx="2475274" cy="5741988"/>
          </a:xfrm>
          <a:prstGeom prst="rect">
            <a:avLst/>
          </a:prstGeom>
          <a:solidFill>
            <a:schemeClr val="accent1">
              <a:alpha val="14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chemeClr val="tx1"/>
                </a:solidFill>
              </a:rPr>
              <a:t>Genome Assembly</a:t>
            </a:r>
          </a:p>
          <a:p>
            <a:pPr algn="ctr"/>
            <a:endParaRPr lang="en-US" altLang="zh-CN" sz="2400" dirty="0">
              <a:solidFill>
                <a:schemeClr val="tx1"/>
              </a:solidFill>
            </a:endParaRPr>
          </a:p>
          <a:p>
            <a:pPr algn="ctr"/>
            <a:endParaRPr lang="en-US" altLang="zh-CN" sz="2400" dirty="0" smtClean="0">
              <a:solidFill>
                <a:schemeClr val="tx1"/>
              </a:solidFill>
            </a:endParaRPr>
          </a:p>
          <a:p>
            <a:pPr algn="ctr"/>
            <a:endParaRPr lang="en-US" altLang="zh-CN" sz="2400" dirty="0">
              <a:solidFill>
                <a:schemeClr val="tx1"/>
              </a:solidFill>
            </a:endParaRPr>
          </a:p>
          <a:p>
            <a:pPr algn="ctr"/>
            <a:endParaRPr lang="en-US" altLang="zh-CN" sz="2400" dirty="0" smtClean="0">
              <a:solidFill>
                <a:schemeClr val="tx1"/>
              </a:solidFill>
            </a:endParaRPr>
          </a:p>
          <a:p>
            <a:pPr algn="ctr"/>
            <a:endParaRPr lang="en-US" altLang="zh-CN" sz="2400" dirty="0">
              <a:solidFill>
                <a:schemeClr val="tx1"/>
              </a:solidFill>
            </a:endParaRPr>
          </a:p>
          <a:p>
            <a:pPr algn="ctr"/>
            <a:endParaRPr lang="en-US" altLang="zh-CN" sz="2400" dirty="0" smtClean="0">
              <a:solidFill>
                <a:schemeClr val="tx1"/>
              </a:solidFill>
            </a:endParaRPr>
          </a:p>
          <a:p>
            <a:pPr algn="ctr"/>
            <a:endParaRPr lang="en-US" altLang="zh-CN" sz="2400" dirty="0">
              <a:solidFill>
                <a:schemeClr val="tx1"/>
              </a:solidFill>
            </a:endParaRPr>
          </a:p>
          <a:p>
            <a:pPr algn="ctr"/>
            <a:endParaRPr lang="en-US" altLang="zh-CN" sz="2400" dirty="0" smtClean="0">
              <a:solidFill>
                <a:schemeClr val="tx1"/>
              </a:solidFill>
            </a:endParaRPr>
          </a:p>
          <a:p>
            <a:pPr algn="ctr"/>
            <a:endParaRPr lang="en-US" altLang="zh-CN" dirty="0"/>
          </a:p>
          <a:p>
            <a:pPr algn="ctr"/>
            <a:endParaRPr lang="en-US" altLang="zh-CN" dirty="0" smtClean="0"/>
          </a:p>
          <a:p>
            <a:pPr algn="ctr"/>
            <a:endParaRPr lang="en-US" altLang="zh-CN" dirty="0"/>
          </a:p>
          <a:p>
            <a:pPr algn="ctr"/>
            <a:endParaRPr lang="en-US" altLang="zh-CN" dirty="0" smtClean="0"/>
          </a:p>
          <a:p>
            <a:pPr algn="ctr"/>
            <a:endParaRPr lang="en-US" altLang="zh-CN" dirty="0"/>
          </a:p>
          <a:p>
            <a:pPr algn="ctr"/>
            <a:endParaRPr lang="en-US" altLang="zh-CN" dirty="0" smtClean="0"/>
          </a:p>
          <a:p>
            <a:pPr algn="ctr"/>
            <a:endParaRPr lang="en-US" altLang="zh-CN" dirty="0"/>
          </a:p>
          <a:p>
            <a:pPr algn="ctr"/>
            <a:endParaRPr lang="en-US" altLang="zh-CN" dirty="0" smtClean="0"/>
          </a:p>
          <a:p>
            <a:pPr algn="ctr"/>
            <a:endParaRPr lang="zh-CN" altLang="en-US" dirty="0"/>
          </a:p>
        </p:txBody>
      </p:sp>
    </p:spTree>
    <p:extLst>
      <p:ext uri="{BB962C8B-B14F-4D97-AF65-F5344CB8AC3E}">
        <p14:creationId xmlns:p14="http://schemas.microsoft.com/office/powerpoint/2010/main" val="26653450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Previous </a:t>
            </a:r>
            <a:r>
              <a:rPr lang="en-US" altLang="zh-CN" dirty="0" smtClean="0"/>
              <a:t>published parallel </a:t>
            </a:r>
            <a:r>
              <a:rPr lang="en-US" altLang="zh-CN" dirty="0"/>
              <a:t>a</a:t>
            </a:r>
            <a:r>
              <a:rPr lang="en-US" altLang="zh-CN" dirty="0" smtClean="0"/>
              <a:t>ssemblers</a:t>
            </a:r>
            <a:endParaRPr lang="zh-CN" altLang="en-US" dirty="0"/>
          </a:p>
        </p:txBody>
      </p:sp>
      <p:sp>
        <p:nvSpPr>
          <p:cNvPr id="3" name="内容占位符 2"/>
          <p:cNvSpPr>
            <a:spLocks noGrp="1"/>
          </p:cNvSpPr>
          <p:nvPr>
            <p:ph idx="1"/>
          </p:nvPr>
        </p:nvSpPr>
        <p:spPr>
          <a:xfrm>
            <a:off x="457200" y="1295400"/>
            <a:ext cx="8229600" cy="5257800"/>
          </a:xfrm>
        </p:spPr>
        <p:txBody>
          <a:bodyPr/>
          <a:lstStyle/>
          <a:p>
            <a:pPr marL="285750" indent="-285750">
              <a:buFont typeface="Arial" charset="0"/>
              <a:buChar char="•"/>
            </a:pPr>
            <a:r>
              <a:rPr lang="en-US" altLang="zh-CN" sz="2000" dirty="0" err="1" smtClean="0"/>
              <a:t>ABySS</a:t>
            </a:r>
            <a:r>
              <a:rPr lang="en-US" altLang="zh-CN" sz="2000" dirty="0" smtClean="0"/>
              <a:t>   </a:t>
            </a:r>
            <a:r>
              <a:rPr lang="en-US" altLang="zh-CN" sz="1600" b="1" dirty="0" smtClean="0">
                <a:solidFill>
                  <a:srgbClr val="FF0000"/>
                </a:solidFill>
              </a:rPr>
              <a:t>JT. Simpson</a:t>
            </a:r>
            <a:r>
              <a:rPr lang="en-US" altLang="zh-CN" sz="1600" dirty="0" smtClean="0"/>
              <a:t>, Genome Research/Nature Methods, 2009</a:t>
            </a:r>
            <a:endParaRPr lang="en-US" altLang="zh-CN" sz="2000" dirty="0" smtClean="0"/>
          </a:p>
          <a:p>
            <a:pPr lvl="1">
              <a:buFont typeface="Arial" charset="0"/>
              <a:buChar char="•"/>
            </a:pPr>
            <a:r>
              <a:rPr lang="en-US" altLang="zh-CN" sz="1800" dirty="0" smtClean="0"/>
              <a:t>Contributions</a:t>
            </a:r>
            <a:r>
              <a:rPr lang="zh-CN" altLang="en-US" sz="1800" dirty="0" smtClean="0"/>
              <a:t>： </a:t>
            </a:r>
            <a:r>
              <a:rPr lang="en-US" altLang="zh-CN" sz="1800" dirty="0" smtClean="0"/>
              <a:t>Implement the traditional DBG strategy over MPI</a:t>
            </a:r>
          </a:p>
          <a:p>
            <a:pPr lvl="1">
              <a:buFont typeface="Arial" charset="0"/>
              <a:buChar char="•"/>
            </a:pPr>
            <a:endParaRPr lang="en-US" altLang="zh-CN" sz="1800" dirty="0" smtClean="0"/>
          </a:p>
          <a:p>
            <a:pPr marL="285750" indent="-285750">
              <a:buFont typeface="Arial" charset="0"/>
              <a:buChar char="•"/>
            </a:pPr>
            <a:r>
              <a:rPr lang="en-US" altLang="zh-CN" sz="2000" dirty="0" smtClean="0"/>
              <a:t>Ray/Ray-meta </a:t>
            </a:r>
            <a:r>
              <a:rPr lang="en-US" altLang="zh-CN" sz="1600" b="1" dirty="0" err="1" smtClean="0">
                <a:solidFill>
                  <a:srgbClr val="FF0000"/>
                </a:solidFill>
              </a:rPr>
              <a:t>Sebastien</a:t>
            </a:r>
            <a:r>
              <a:rPr lang="en-US" altLang="zh-CN" sz="1600" dirty="0" smtClean="0"/>
              <a:t>, JCB/Genome Biology, 2012</a:t>
            </a:r>
          </a:p>
          <a:p>
            <a:pPr lvl="1">
              <a:buFont typeface="Arial" charset="0"/>
              <a:buChar char="•"/>
            </a:pPr>
            <a:r>
              <a:rPr lang="en-US" altLang="zh-CN" sz="1800" dirty="0" smtClean="0"/>
              <a:t>Contributions </a:t>
            </a:r>
            <a:r>
              <a:rPr lang="zh-CN" altLang="en-US" sz="1800" dirty="0" smtClean="0"/>
              <a:t>： </a:t>
            </a:r>
            <a:r>
              <a:rPr lang="en-US" altLang="zh-CN" sz="1800" dirty="0" smtClean="0"/>
              <a:t>Develop a general distributed engineer for traditional DBG strategy with MPI</a:t>
            </a:r>
          </a:p>
          <a:p>
            <a:pPr marL="457200" lvl="1" indent="0">
              <a:buNone/>
            </a:pPr>
            <a:endParaRPr lang="en-US" altLang="zh-CN" sz="1800" dirty="0" smtClean="0"/>
          </a:p>
          <a:p>
            <a:pPr marL="285750" indent="-285750">
              <a:buFont typeface="Arial" charset="0"/>
              <a:buChar char="•"/>
            </a:pPr>
            <a:r>
              <a:rPr lang="en-US" altLang="zh-CN" sz="2000" dirty="0" smtClean="0"/>
              <a:t>YAGA  </a:t>
            </a:r>
            <a:r>
              <a:rPr lang="en-US" altLang="zh-CN" sz="1600" b="1" dirty="0" smtClean="0">
                <a:solidFill>
                  <a:srgbClr val="FF0000"/>
                </a:solidFill>
              </a:rPr>
              <a:t>BG. Jackson, </a:t>
            </a:r>
            <a:r>
              <a:rPr lang="en-US" altLang="zh-CN" sz="1600" b="1" dirty="0" err="1" smtClean="0">
                <a:solidFill>
                  <a:srgbClr val="FF0000"/>
                </a:solidFill>
              </a:rPr>
              <a:t>S.aluru</a:t>
            </a:r>
            <a:r>
              <a:rPr lang="en-US" altLang="zh-CN" sz="1600" dirty="0" smtClean="0"/>
              <a:t>, ICPP /IPDPS /BMC Bioinformatics 2009</a:t>
            </a:r>
          </a:p>
          <a:p>
            <a:pPr lvl="1">
              <a:buFont typeface="Arial" charset="0"/>
              <a:buChar char="•"/>
            </a:pPr>
            <a:r>
              <a:rPr lang="en-US" altLang="zh-CN" sz="1800" dirty="0" smtClean="0"/>
              <a:t>Innovation points </a:t>
            </a:r>
            <a:r>
              <a:rPr lang="zh-CN" altLang="en-US" sz="1800" dirty="0" smtClean="0"/>
              <a:t>： </a:t>
            </a:r>
            <a:r>
              <a:rPr lang="en-US" altLang="zh-CN" sz="1800" dirty="0" smtClean="0"/>
              <a:t>Bi-directed DBG graph, and </a:t>
            </a:r>
            <a:r>
              <a:rPr lang="en-US" altLang="zh-CN" sz="1800" b="1" dirty="0" smtClean="0">
                <a:solidFill>
                  <a:srgbClr val="FF0000"/>
                </a:solidFill>
              </a:rPr>
              <a:t>list ranking algorithm </a:t>
            </a:r>
            <a:r>
              <a:rPr lang="en-US" altLang="zh-CN" sz="1800" dirty="0" smtClean="0"/>
              <a:t>for unanimous path merging</a:t>
            </a:r>
          </a:p>
          <a:p>
            <a:pPr lvl="1">
              <a:buFont typeface="Arial" charset="0"/>
              <a:buChar char="•"/>
            </a:pPr>
            <a:r>
              <a:rPr lang="en-US" altLang="zh-CN" sz="1800" dirty="0" smtClean="0"/>
              <a:t>BGI Hecate Project,  Contrail Project  (Assembly on the Cloud) </a:t>
            </a:r>
          </a:p>
          <a:p>
            <a:pPr lvl="1">
              <a:buFont typeface="Arial" charset="0"/>
              <a:buChar char="•"/>
            </a:pPr>
            <a:endParaRPr lang="en-US" altLang="zh-CN" sz="1800" dirty="0" smtClean="0"/>
          </a:p>
          <a:p>
            <a:pPr marL="285750" indent="-285750">
              <a:buFont typeface="Arial" charset="0"/>
              <a:buChar char="•"/>
            </a:pPr>
            <a:r>
              <a:rPr lang="en-US" altLang="zh-CN" sz="2000" dirty="0" smtClean="0"/>
              <a:t>PASHA </a:t>
            </a:r>
            <a:r>
              <a:rPr lang="en-US" altLang="zh-CN" sz="1600" b="1" dirty="0" err="1" smtClean="0">
                <a:solidFill>
                  <a:srgbClr val="FF0000"/>
                </a:solidFill>
              </a:rPr>
              <a:t>Yongchao</a:t>
            </a:r>
            <a:r>
              <a:rPr lang="en-US" altLang="zh-CN" sz="1600" b="1" dirty="0" smtClean="0">
                <a:solidFill>
                  <a:srgbClr val="FF0000"/>
                </a:solidFill>
              </a:rPr>
              <a:t> Liu</a:t>
            </a:r>
            <a:r>
              <a:rPr lang="en-US" altLang="zh-CN" sz="1600" dirty="0" smtClean="0"/>
              <a:t>, BMC Bioinformatics, 2011</a:t>
            </a:r>
          </a:p>
          <a:p>
            <a:pPr lvl="1">
              <a:buFont typeface="Arial" charset="0"/>
              <a:buChar char="•"/>
            </a:pPr>
            <a:r>
              <a:rPr lang="en-US" altLang="zh-CN" sz="1800" dirty="0" smtClean="0"/>
              <a:t>Contributions </a:t>
            </a:r>
            <a:r>
              <a:rPr lang="zh-CN" altLang="en-US" sz="1800" dirty="0" smtClean="0"/>
              <a:t>：</a:t>
            </a:r>
            <a:r>
              <a:rPr lang="en-US" altLang="zh-CN" sz="1800" dirty="0" smtClean="0"/>
              <a:t>Multi-thread  in </a:t>
            </a:r>
            <a:r>
              <a:rPr lang="en-US" altLang="zh-CN" sz="1800" dirty="0" err="1" smtClean="0"/>
              <a:t>kmer</a:t>
            </a:r>
            <a:r>
              <a:rPr lang="en-US" altLang="zh-CN" sz="1800" dirty="0" smtClean="0"/>
              <a:t> statistics &amp; path concatenation (one thread for one path, no intra-path parallelism). </a:t>
            </a:r>
          </a:p>
          <a:p>
            <a:pPr lvl="1">
              <a:buFont typeface="Arial" charset="0"/>
              <a:buChar char="•"/>
            </a:pPr>
            <a:r>
              <a:rPr lang="en-US" altLang="zh-CN" sz="1800" dirty="0" smtClean="0"/>
              <a:t>Limitation: Share Memory Architecture, intra-path parallelism.</a:t>
            </a:r>
            <a:endParaRPr lang="en-US" altLang="zh-CN" sz="1800" dirty="0" smtClean="0"/>
          </a:p>
          <a:p>
            <a:pPr lvl="1">
              <a:buFont typeface="Arial" charset="0"/>
              <a:buChar char="•"/>
            </a:pPr>
            <a:r>
              <a:rPr lang="zh-CN" altLang="en-US" sz="1800" dirty="0" smtClean="0"/>
              <a:t> </a:t>
            </a:r>
            <a:endParaRPr lang="zh-CN" altLang="en-US" sz="1600" dirty="0"/>
          </a:p>
        </p:txBody>
      </p:sp>
      <p:sp>
        <p:nvSpPr>
          <p:cNvPr id="4" name="灯片编号占位符 3"/>
          <p:cNvSpPr>
            <a:spLocks noGrp="1"/>
          </p:cNvSpPr>
          <p:nvPr>
            <p:ph type="sldNum" sz="quarter" idx="12"/>
          </p:nvPr>
        </p:nvSpPr>
        <p:spPr/>
        <p:txBody>
          <a:bodyPr/>
          <a:lstStyle/>
          <a:p>
            <a:fld id="{87034D8C-3CB4-402A-BC46-2AB14C0FE90A}" type="slidenum">
              <a:rPr lang="en-US" smtClean="0"/>
              <a:pPr/>
              <a:t>6</a:t>
            </a:fld>
            <a:endParaRPr lang="en-US"/>
          </a:p>
        </p:txBody>
      </p:sp>
    </p:spTree>
    <p:extLst>
      <p:ext uri="{BB962C8B-B14F-4D97-AF65-F5344CB8AC3E}">
        <p14:creationId xmlns:p14="http://schemas.microsoft.com/office/powerpoint/2010/main" val="1566500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Contributions in SWAP-Assembler</a:t>
            </a:r>
            <a:endParaRPr lang="zh-CN" altLang="en-US" dirty="0"/>
          </a:p>
        </p:txBody>
      </p:sp>
      <p:sp>
        <p:nvSpPr>
          <p:cNvPr id="3" name="内容占位符 2"/>
          <p:cNvSpPr>
            <a:spLocks noGrp="1"/>
          </p:cNvSpPr>
          <p:nvPr>
            <p:ph idx="1"/>
          </p:nvPr>
        </p:nvSpPr>
        <p:spPr>
          <a:xfrm>
            <a:off x="457200" y="1600200"/>
            <a:ext cx="3962400" cy="4525963"/>
          </a:xfrm>
        </p:spPr>
        <p:txBody>
          <a:bodyPr/>
          <a:lstStyle/>
          <a:p>
            <a:r>
              <a:rPr lang="en-US" altLang="zh-CN" dirty="0" smtClean="0"/>
              <a:t>GA strategy </a:t>
            </a:r>
            <a:endParaRPr lang="en-US" altLang="zh-CN" dirty="0" smtClean="0"/>
          </a:p>
          <a:p>
            <a:pPr lvl="1"/>
            <a:r>
              <a:rPr lang="en-US" altLang="zh-CN" dirty="0" smtClean="0"/>
              <a:t>Multi-step </a:t>
            </a:r>
            <a:r>
              <a:rPr lang="en-US" altLang="zh-CN" dirty="0" smtClean="0"/>
              <a:t>Bi-directed DBG strategy</a:t>
            </a:r>
          </a:p>
          <a:p>
            <a:pPr lvl="1"/>
            <a:r>
              <a:rPr lang="en-US" altLang="zh-CN" dirty="0" smtClean="0"/>
              <a:t>Release parallelisms with Semi-group</a:t>
            </a:r>
          </a:p>
          <a:p>
            <a:endParaRPr lang="en-US" altLang="zh-CN" dirty="0"/>
          </a:p>
          <a:p>
            <a:r>
              <a:rPr lang="en-US" altLang="zh-CN" dirty="0" smtClean="0"/>
              <a:t>Computing </a:t>
            </a:r>
            <a:r>
              <a:rPr lang="en-US" altLang="zh-CN" dirty="0" smtClean="0"/>
              <a:t>Model</a:t>
            </a:r>
            <a:endParaRPr lang="en-US" altLang="zh-CN" dirty="0" smtClean="0"/>
          </a:p>
          <a:p>
            <a:pPr lvl="1"/>
            <a:r>
              <a:rPr lang="en-US" altLang="zh-CN" dirty="0" smtClean="0"/>
              <a:t>SWAP computing model</a:t>
            </a:r>
          </a:p>
          <a:p>
            <a:pPr marL="0" indent="0">
              <a:buNone/>
            </a:pPr>
            <a:endParaRPr lang="en-US" altLang="zh-CN" dirty="0" smtClean="0"/>
          </a:p>
          <a:p>
            <a:r>
              <a:rPr lang="en-US" altLang="zh-CN" dirty="0" smtClean="0"/>
              <a:t>Fully parallelized assembler</a:t>
            </a:r>
            <a:endParaRPr lang="zh-CN" altLang="en-US" dirty="0"/>
          </a:p>
        </p:txBody>
      </p:sp>
      <p:sp>
        <p:nvSpPr>
          <p:cNvPr id="4" name="灯片编号占位符 3"/>
          <p:cNvSpPr>
            <a:spLocks noGrp="1"/>
          </p:cNvSpPr>
          <p:nvPr>
            <p:ph type="sldNum" sz="quarter" idx="12"/>
          </p:nvPr>
        </p:nvSpPr>
        <p:spPr/>
        <p:txBody>
          <a:bodyPr/>
          <a:lstStyle/>
          <a:p>
            <a:fld id="{87034D8C-3CB4-402A-BC46-2AB14C0FE90A}" type="slidenum">
              <a:rPr lang="en-US" smtClean="0"/>
              <a:pPr/>
              <a:t>7</a:t>
            </a:fld>
            <a:endParaRPr lang="en-US"/>
          </a:p>
        </p:txBody>
      </p:sp>
      <p:pic>
        <p:nvPicPr>
          <p:cNvPr id="5" name="Picture 2" descr="E:\360云盘\U盘\APBC2014\AssemblerComparision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9419" y="1367632"/>
            <a:ext cx="4829968" cy="461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94186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Complexity of SWAP-Assembler</a:t>
            </a:r>
            <a:endParaRPr lang="zh-CN" altLang="en-US" dirty="0"/>
          </a:p>
        </p:txBody>
      </p:sp>
      <p:sp>
        <p:nvSpPr>
          <p:cNvPr id="3" name="内容占位符 2"/>
          <p:cNvSpPr>
            <a:spLocks noGrp="1"/>
          </p:cNvSpPr>
          <p:nvPr>
            <p:ph idx="1"/>
          </p:nvPr>
        </p:nvSpPr>
        <p:spPr>
          <a:xfrm>
            <a:off x="457200" y="1600200"/>
            <a:ext cx="8229600" cy="4724400"/>
          </a:xfrm>
        </p:spPr>
        <p:txBody>
          <a:bodyPr/>
          <a:lstStyle/>
          <a:p>
            <a:r>
              <a:rPr lang="en-US" altLang="zh-CN" sz="2000" b="1" dirty="0" smtClean="0"/>
              <a:t>SWAP in Edge Merging Part:                                  Lowest </a:t>
            </a:r>
            <a:r>
              <a:rPr lang="en-US" altLang="zh-CN" sz="2000" b="1" dirty="0"/>
              <a:t>l</a:t>
            </a:r>
            <a:r>
              <a:rPr lang="en-US" altLang="zh-CN" sz="2000" b="1" dirty="0" smtClean="0"/>
              <a:t>imit of other work:</a:t>
            </a:r>
          </a:p>
          <a:p>
            <a:r>
              <a:rPr lang="en-US" altLang="zh-CN" dirty="0" smtClean="0"/>
              <a:t>Computing Complexity                                                                                  </a:t>
            </a:r>
            <a:r>
              <a:rPr lang="en-US" altLang="zh-CN" dirty="0" err="1" smtClean="0"/>
              <a:t>ABySS</a:t>
            </a:r>
            <a:r>
              <a:rPr lang="en-US" altLang="zh-CN" dirty="0" smtClean="0"/>
              <a:t>, Pasha</a:t>
            </a:r>
          </a:p>
          <a:p>
            <a:endParaRPr lang="en-US" altLang="zh-CN" dirty="0"/>
          </a:p>
          <a:p>
            <a:r>
              <a:rPr lang="en-US" altLang="zh-CN" dirty="0" smtClean="0"/>
              <a:t>Communication volume                                                                                 </a:t>
            </a:r>
            <a:r>
              <a:rPr lang="en-US" altLang="zh-CN" dirty="0" err="1" smtClean="0"/>
              <a:t>ABySS</a:t>
            </a:r>
            <a:r>
              <a:rPr lang="en-US" altLang="zh-CN" dirty="0" smtClean="0"/>
              <a:t>, Pasha</a:t>
            </a:r>
          </a:p>
          <a:p>
            <a:endParaRPr lang="en-US" altLang="zh-CN" dirty="0"/>
          </a:p>
          <a:p>
            <a:r>
              <a:rPr lang="en-US" altLang="zh-CN" dirty="0" smtClean="0"/>
              <a:t>(Implicit)  Communication </a:t>
            </a:r>
            <a:r>
              <a:rPr lang="en-US" altLang="zh-CN" dirty="0" smtClean="0"/>
              <a:t>round                                                                   </a:t>
            </a:r>
            <a:r>
              <a:rPr lang="en-US" altLang="zh-CN" dirty="0" smtClean="0"/>
              <a:t>YAGA</a:t>
            </a:r>
            <a:endParaRPr lang="en-US" altLang="zh-CN" dirty="0"/>
          </a:p>
          <a:p>
            <a:endParaRPr lang="en-US" altLang="zh-CN" dirty="0" smtClean="0"/>
          </a:p>
          <a:p>
            <a:endParaRPr lang="en-US" altLang="zh-CN" dirty="0" smtClean="0"/>
          </a:p>
          <a:p>
            <a:r>
              <a:rPr lang="en-US" altLang="zh-CN" sz="2000" b="1" dirty="0" smtClean="0"/>
              <a:t>Speedup:</a:t>
            </a:r>
            <a:r>
              <a:rPr lang="en-US" altLang="zh-CN" dirty="0" smtClean="0"/>
              <a:t> </a:t>
            </a:r>
          </a:p>
          <a:p>
            <a:endParaRPr lang="en-US" altLang="zh-CN" dirty="0" smtClean="0"/>
          </a:p>
          <a:p>
            <a:pPr marL="0" indent="0">
              <a:buNone/>
            </a:pPr>
            <a:endParaRPr lang="en-US" altLang="zh-CN" dirty="0"/>
          </a:p>
          <a:p>
            <a:pPr marL="0" indent="0">
              <a:buNone/>
            </a:pPr>
            <a:r>
              <a:rPr lang="en-US" altLang="zh-CN" dirty="0" smtClean="0"/>
              <a:t>Here,  </a:t>
            </a:r>
            <a:r>
              <a:rPr lang="en-US" altLang="zh-CN" b="1" dirty="0" smtClean="0">
                <a:solidFill>
                  <a:srgbClr val="723AF0"/>
                </a:solidFill>
              </a:rPr>
              <a:t>g</a:t>
            </a:r>
            <a:r>
              <a:rPr lang="en-US" altLang="zh-CN" dirty="0" smtClean="0"/>
              <a:t> is the length genome size, </a:t>
            </a:r>
            <a:r>
              <a:rPr lang="en-US" altLang="zh-CN" b="1" dirty="0" smtClean="0">
                <a:solidFill>
                  <a:srgbClr val="723AF0"/>
                </a:solidFill>
              </a:rPr>
              <a:t>n</a:t>
            </a:r>
            <a:r>
              <a:rPr lang="en-US" altLang="zh-CN" dirty="0" smtClean="0"/>
              <a:t> the sequence data size.</a:t>
            </a:r>
          </a:p>
          <a:p>
            <a:pPr marL="0" indent="0">
              <a:buNone/>
            </a:pPr>
            <a:r>
              <a:rPr lang="en-US" altLang="zh-CN" dirty="0"/>
              <a:t> </a:t>
            </a:r>
            <a:r>
              <a:rPr lang="en-US" altLang="zh-CN" dirty="0" smtClean="0"/>
              <a:t>           </a:t>
            </a:r>
            <a:r>
              <a:rPr lang="en-US" altLang="zh-CN" b="1" dirty="0" smtClean="0">
                <a:solidFill>
                  <a:srgbClr val="723AF0"/>
                </a:solidFill>
              </a:rPr>
              <a:t>b</a:t>
            </a:r>
            <a:r>
              <a:rPr lang="en-US" altLang="zh-CN" dirty="0" smtClean="0"/>
              <a:t>, </a:t>
            </a:r>
            <a:r>
              <a:rPr lang="en-US" altLang="zh-CN" b="1" dirty="0" smtClean="0">
                <a:solidFill>
                  <a:srgbClr val="723AF0"/>
                </a:solidFill>
              </a:rPr>
              <a:t>c</a:t>
            </a:r>
            <a:r>
              <a:rPr lang="en-US" altLang="zh-CN" dirty="0" smtClean="0"/>
              <a:t> and </a:t>
            </a:r>
            <a:r>
              <a:rPr lang="en-US" altLang="zh-CN" b="1" dirty="0" smtClean="0">
                <a:solidFill>
                  <a:srgbClr val="723AF0"/>
                </a:solidFill>
              </a:rPr>
              <a:t>r</a:t>
            </a:r>
            <a:r>
              <a:rPr lang="en-US" altLang="zh-CN" dirty="0" smtClean="0"/>
              <a:t> is constant numbers, </a:t>
            </a:r>
            <a:r>
              <a:rPr lang="en-US" altLang="zh-CN" b="1" dirty="0">
                <a:solidFill>
                  <a:srgbClr val="723AF0"/>
                </a:solidFill>
              </a:rPr>
              <a:t>q</a:t>
            </a:r>
            <a:r>
              <a:rPr lang="en-US" altLang="zh-CN" dirty="0"/>
              <a:t> is the proportion of </a:t>
            </a:r>
            <a:r>
              <a:rPr lang="en-US" altLang="zh-CN" dirty="0" smtClean="0"/>
              <a:t>the repeats </a:t>
            </a:r>
            <a:r>
              <a:rPr lang="en-US" altLang="zh-CN" dirty="0"/>
              <a:t>in the genome.</a:t>
            </a:r>
            <a:r>
              <a:rPr lang="en-US" altLang="zh-CN" dirty="0" smtClean="0"/>
              <a:t> </a:t>
            </a:r>
          </a:p>
          <a:p>
            <a:pPr marL="0" indent="0">
              <a:buNone/>
            </a:pPr>
            <a:r>
              <a:rPr lang="en-US" altLang="zh-CN" dirty="0" smtClean="0"/>
              <a:t>            </a:t>
            </a:r>
            <a:r>
              <a:rPr lang="en-US" altLang="zh-CN" b="1" dirty="0" smtClean="0">
                <a:solidFill>
                  <a:srgbClr val="723AF0"/>
                </a:solidFill>
              </a:rPr>
              <a:t>L</a:t>
            </a:r>
            <a:r>
              <a:rPr lang="en-US" altLang="zh-CN" dirty="0" smtClean="0"/>
              <a:t> is the communication latency , </a:t>
            </a:r>
            <a:r>
              <a:rPr lang="en-US" altLang="zh-CN" b="1" dirty="0" smtClean="0">
                <a:solidFill>
                  <a:srgbClr val="723AF0"/>
                </a:solidFill>
              </a:rPr>
              <a:t>S</a:t>
            </a:r>
            <a:r>
              <a:rPr lang="en-US" altLang="zh-CN" dirty="0" smtClean="0"/>
              <a:t> is the startup time for each message.</a:t>
            </a:r>
          </a:p>
        </p:txBody>
      </p:sp>
      <p:sp>
        <p:nvSpPr>
          <p:cNvPr id="4" name="灯片编号占位符 3"/>
          <p:cNvSpPr>
            <a:spLocks noGrp="1"/>
          </p:cNvSpPr>
          <p:nvPr>
            <p:ph type="sldNum" sz="quarter" idx="12"/>
          </p:nvPr>
        </p:nvSpPr>
        <p:spPr/>
        <p:txBody>
          <a:bodyPr/>
          <a:lstStyle/>
          <a:p>
            <a:fld id="{87034D8C-3CB4-402A-BC46-2AB14C0FE90A}" type="slidenum">
              <a:rPr lang="en-US" smtClean="0"/>
              <a:pPr/>
              <a:t>8</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5599" y="2514600"/>
            <a:ext cx="178117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3699" y="1929049"/>
            <a:ext cx="6572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0922" y="3188569"/>
            <a:ext cx="1819275"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4141304"/>
            <a:ext cx="6705600" cy="11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2002312"/>
            <a:ext cx="6572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599" y="2589214"/>
            <a:ext cx="6572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圆角矩形 4"/>
          <p:cNvSpPr/>
          <p:nvPr/>
        </p:nvSpPr>
        <p:spPr bwMode="auto">
          <a:xfrm>
            <a:off x="762000" y="1981200"/>
            <a:ext cx="6705600" cy="1752600"/>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pic>
        <p:nvPicPr>
          <p:cNvPr id="1032"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6299" y="3295650"/>
            <a:ext cx="1371600"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91248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Performance results of SWAP-Assembler 0.3</a:t>
            </a:r>
            <a:endParaRPr lang="zh-CN" altLang="en-US" dirty="0"/>
          </a:p>
        </p:txBody>
      </p:sp>
      <p:sp>
        <p:nvSpPr>
          <p:cNvPr id="3" name="内容占位符 2"/>
          <p:cNvSpPr>
            <a:spLocks noGrp="1"/>
          </p:cNvSpPr>
          <p:nvPr>
            <p:ph idx="1"/>
          </p:nvPr>
        </p:nvSpPr>
        <p:spPr>
          <a:xfrm>
            <a:off x="228600" y="1066800"/>
            <a:ext cx="8915400" cy="1676400"/>
          </a:xfrm>
        </p:spPr>
        <p:txBody>
          <a:bodyPr/>
          <a:lstStyle/>
          <a:p>
            <a:r>
              <a:rPr lang="en-US" altLang="zh-CN" sz="2000" b="1" dirty="0" smtClean="0"/>
              <a:t>Performance results </a:t>
            </a:r>
            <a:r>
              <a:rPr lang="en-US" altLang="zh-CN" dirty="0" smtClean="0"/>
              <a:t>on Hg 14 (3.2GB) with  SWAP-Assembler version </a:t>
            </a:r>
            <a:r>
              <a:rPr lang="en-US" altLang="zh-CN" dirty="0"/>
              <a:t> </a:t>
            </a:r>
            <a:r>
              <a:rPr lang="en-US" altLang="zh-CN" dirty="0" smtClean="0"/>
              <a:t>0.3 on </a:t>
            </a:r>
            <a:r>
              <a:rPr lang="en-US" altLang="zh-CN" dirty="0" err="1" smtClean="0"/>
              <a:t>Cetus</a:t>
            </a:r>
            <a:r>
              <a:rPr lang="en-US" altLang="zh-CN" dirty="0" smtClean="0"/>
              <a:t>. </a:t>
            </a:r>
          </a:p>
          <a:p>
            <a:endParaRPr lang="en-US" altLang="zh-CN" dirty="0"/>
          </a:p>
          <a:p>
            <a:r>
              <a:rPr lang="en-US" altLang="zh-CN" sz="2000" b="1" dirty="0" smtClean="0"/>
              <a:t>5 steps in SWAP-Assembler</a:t>
            </a:r>
          </a:p>
          <a:p>
            <a:pPr lvl="1"/>
            <a:r>
              <a:rPr lang="en-US" altLang="zh-CN" sz="1800" dirty="0">
                <a:solidFill>
                  <a:srgbClr val="FF0000"/>
                </a:solidFill>
              </a:rPr>
              <a:t>Time breakdown for each step varies a lot under different number of cores</a:t>
            </a:r>
          </a:p>
          <a:p>
            <a:pPr lvl="1"/>
            <a:r>
              <a:rPr lang="en-US" altLang="zh-CN" sz="1800" dirty="0" smtClean="0"/>
              <a:t>The </a:t>
            </a:r>
            <a:r>
              <a:rPr lang="en-US" altLang="zh-CN" sz="1800" dirty="0" smtClean="0"/>
              <a:t>time consuming </a:t>
            </a:r>
            <a:r>
              <a:rPr lang="en-US" altLang="zh-CN" sz="1800" dirty="0" smtClean="0"/>
              <a:t>steps </a:t>
            </a:r>
            <a:r>
              <a:rPr lang="en-US" altLang="zh-CN" sz="1800" dirty="0" smtClean="0"/>
              <a:t>are </a:t>
            </a:r>
            <a:r>
              <a:rPr lang="en-US" altLang="zh-CN" sz="1800" dirty="0" err="1" smtClean="0"/>
              <a:t>input&amp;output</a:t>
            </a:r>
            <a:r>
              <a:rPr lang="en-US" altLang="zh-CN" sz="1800" dirty="0" smtClean="0"/>
              <a:t>, graph construction, graph simplification</a:t>
            </a:r>
            <a:endParaRPr lang="en-US" altLang="zh-CN" sz="1800" dirty="0"/>
          </a:p>
          <a:p>
            <a:endParaRPr lang="zh-CN" altLang="en-US" dirty="0"/>
          </a:p>
        </p:txBody>
      </p:sp>
      <p:sp>
        <p:nvSpPr>
          <p:cNvPr id="4" name="灯片编号占位符 3"/>
          <p:cNvSpPr>
            <a:spLocks noGrp="1"/>
          </p:cNvSpPr>
          <p:nvPr>
            <p:ph type="sldNum" sz="quarter" idx="12"/>
          </p:nvPr>
        </p:nvSpPr>
        <p:spPr/>
        <p:txBody>
          <a:bodyPr/>
          <a:lstStyle/>
          <a:p>
            <a:fld id="{87034D8C-3CB4-402A-BC46-2AB14C0FE90A}" type="slidenum">
              <a:rPr lang="en-US" smtClean="0"/>
              <a:pPr/>
              <a:t>9</a:t>
            </a:fld>
            <a:endParaRPr lang="en-US"/>
          </a:p>
        </p:txBody>
      </p:sp>
      <p:graphicFrame>
        <p:nvGraphicFramePr>
          <p:cNvPr id="5" name="图表 4"/>
          <p:cNvGraphicFramePr>
            <a:graphicFrameLocks/>
          </p:cNvGraphicFramePr>
          <p:nvPr>
            <p:extLst>
              <p:ext uri="{D42A27DB-BD31-4B8C-83A1-F6EECF244321}">
                <p14:modId xmlns:p14="http://schemas.microsoft.com/office/powerpoint/2010/main" val="363375846"/>
              </p:ext>
            </p:extLst>
          </p:nvPr>
        </p:nvGraphicFramePr>
        <p:xfrm>
          <a:off x="304800" y="3080266"/>
          <a:ext cx="8610600" cy="3688834"/>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5334000" y="6526768"/>
            <a:ext cx="2691955" cy="369332"/>
          </a:xfrm>
          <a:prstGeom prst="rect">
            <a:avLst/>
          </a:prstGeom>
          <a:noFill/>
        </p:spPr>
        <p:txBody>
          <a:bodyPr wrap="none" rtlCol="0">
            <a:spAutoFit/>
          </a:bodyPr>
          <a:lstStyle/>
          <a:p>
            <a:r>
              <a:rPr lang="en-US" altLang="zh-CN" dirty="0" smtClean="0"/>
              <a:t>Number of Cores (</a:t>
            </a:r>
            <a:r>
              <a:rPr lang="en-US" altLang="zh-CN" dirty="0" err="1" smtClean="0"/>
              <a:t>ppn</a:t>
            </a:r>
            <a:r>
              <a:rPr lang="en-US" altLang="zh-CN" dirty="0" smtClean="0"/>
              <a:t>=16)</a:t>
            </a:r>
            <a:endParaRPr lang="zh-CN" altLang="en-US" dirty="0"/>
          </a:p>
        </p:txBody>
      </p:sp>
      <p:sp>
        <p:nvSpPr>
          <p:cNvPr id="7" name="TextBox 6"/>
          <p:cNvSpPr txBox="1"/>
          <p:nvPr/>
        </p:nvSpPr>
        <p:spPr>
          <a:xfrm>
            <a:off x="6629400" y="3080266"/>
            <a:ext cx="1061509" cy="369332"/>
          </a:xfrm>
          <a:prstGeom prst="rect">
            <a:avLst/>
          </a:prstGeom>
          <a:noFill/>
        </p:spPr>
        <p:txBody>
          <a:bodyPr wrap="none" rtlCol="0">
            <a:spAutoFit/>
          </a:bodyPr>
          <a:lstStyle/>
          <a:p>
            <a:r>
              <a:rPr lang="en-US" altLang="zh-CN" dirty="0" smtClean="0"/>
              <a:t>Speedup </a:t>
            </a:r>
            <a:endParaRPr lang="zh-CN" altLang="en-US" dirty="0"/>
          </a:p>
        </p:txBody>
      </p:sp>
      <p:sp>
        <p:nvSpPr>
          <p:cNvPr id="9" name="TextBox 8"/>
          <p:cNvSpPr txBox="1"/>
          <p:nvPr/>
        </p:nvSpPr>
        <p:spPr>
          <a:xfrm>
            <a:off x="0" y="2921000"/>
            <a:ext cx="3734292" cy="369332"/>
          </a:xfrm>
          <a:prstGeom prst="rect">
            <a:avLst/>
          </a:prstGeom>
          <a:noFill/>
        </p:spPr>
        <p:txBody>
          <a:bodyPr wrap="none" rtlCol="0">
            <a:spAutoFit/>
          </a:bodyPr>
          <a:lstStyle/>
          <a:p>
            <a:r>
              <a:rPr lang="en-US" altLang="zh-CN" dirty="0" smtClean="0"/>
              <a:t>Percentage of time usage in each step</a:t>
            </a:r>
            <a:endParaRPr lang="zh-CN" altLang="en-US" dirty="0"/>
          </a:p>
        </p:txBody>
      </p:sp>
    </p:spTree>
    <p:extLst>
      <p:ext uri="{BB962C8B-B14F-4D97-AF65-F5344CB8AC3E}">
        <p14:creationId xmlns:p14="http://schemas.microsoft.com/office/powerpoint/2010/main" val="24119364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87034D8C-3CB4-402A-BC46-2AB14C0FE90A}" type="slidenum">
              <a:rPr lang="en-US" smtClean="0"/>
              <a:pPr/>
              <a:t>10</a:t>
            </a:fld>
            <a:endParaRPr lang="en-US"/>
          </a:p>
        </p:txBody>
      </p:sp>
      <p:sp>
        <p:nvSpPr>
          <p:cNvPr id="6" name="内容占位符 2"/>
          <p:cNvSpPr>
            <a:spLocks noGrp="1"/>
          </p:cNvSpPr>
          <p:nvPr>
            <p:ph idx="1"/>
          </p:nvPr>
        </p:nvSpPr>
        <p:spPr>
          <a:xfrm>
            <a:off x="228600" y="1066800"/>
            <a:ext cx="8915400" cy="1676400"/>
          </a:xfrm>
        </p:spPr>
        <p:txBody>
          <a:bodyPr/>
          <a:lstStyle/>
          <a:p>
            <a:r>
              <a:rPr lang="en-US" altLang="zh-CN" sz="2000" b="1" dirty="0" smtClean="0"/>
              <a:t>Performance results </a:t>
            </a:r>
            <a:r>
              <a:rPr lang="en-US" altLang="zh-CN" dirty="0" smtClean="0"/>
              <a:t>on Human data (250GB) with  SWAP-Assembler version </a:t>
            </a:r>
            <a:r>
              <a:rPr lang="en-US" altLang="zh-CN" dirty="0"/>
              <a:t> </a:t>
            </a:r>
            <a:r>
              <a:rPr lang="en-US" altLang="zh-CN" dirty="0" smtClean="0"/>
              <a:t>0.3. </a:t>
            </a:r>
          </a:p>
          <a:p>
            <a:endParaRPr lang="en-US" altLang="zh-CN" dirty="0"/>
          </a:p>
          <a:p>
            <a:r>
              <a:rPr lang="en-US" altLang="zh-CN" sz="2000" b="1" dirty="0" smtClean="0"/>
              <a:t>Major steps of SWAP-Assembler</a:t>
            </a:r>
          </a:p>
          <a:p>
            <a:pPr lvl="1"/>
            <a:r>
              <a:rPr lang="en-US" altLang="zh-CN" sz="1800" dirty="0"/>
              <a:t>The </a:t>
            </a:r>
            <a:r>
              <a:rPr lang="en-US" altLang="zh-CN" sz="1800" dirty="0" smtClean="0"/>
              <a:t>proportion of time usage for each step is  </a:t>
            </a:r>
            <a:r>
              <a:rPr lang="en-US" altLang="zh-CN" sz="1800" dirty="0"/>
              <a:t>irregular</a:t>
            </a:r>
            <a:r>
              <a:rPr lang="en-US" altLang="zh-CN" sz="1800" dirty="0" smtClean="0"/>
              <a:t>.</a:t>
            </a:r>
          </a:p>
          <a:p>
            <a:pPr lvl="1"/>
            <a:r>
              <a:rPr lang="en-US" altLang="zh-CN" sz="1800" dirty="0" smtClean="0"/>
              <a:t>The time consuming step are </a:t>
            </a:r>
            <a:r>
              <a:rPr lang="en-US" altLang="zh-CN" sz="1800" dirty="0" err="1" smtClean="0"/>
              <a:t>input&amp;output</a:t>
            </a:r>
            <a:r>
              <a:rPr lang="en-US" altLang="zh-CN" sz="1800" dirty="0" smtClean="0"/>
              <a:t>, graph construction, graph simplification</a:t>
            </a:r>
            <a:endParaRPr lang="en-US" altLang="zh-CN" sz="1800" dirty="0"/>
          </a:p>
          <a:p>
            <a:endParaRPr lang="zh-CN" altLang="en-US" dirty="0"/>
          </a:p>
        </p:txBody>
      </p:sp>
      <p:sp>
        <p:nvSpPr>
          <p:cNvPr id="7" name="标题 1"/>
          <p:cNvSpPr>
            <a:spLocks noGrp="1"/>
          </p:cNvSpPr>
          <p:nvPr>
            <p:ph type="title"/>
          </p:nvPr>
        </p:nvSpPr>
        <p:spPr>
          <a:xfrm>
            <a:off x="457200" y="274638"/>
            <a:ext cx="8229600" cy="868362"/>
          </a:xfrm>
        </p:spPr>
        <p:txBody>
          <a:bodyPr/>
          <a:lstStyle/>
          <a:p>
            <a:r>
              <a:rPr lang="en-US" altLang="zh-CN" dirty="0" smtClean="0"/>
              <a:t>Performance results of SWAP-Assembler</a:t>
            </a:r>
            <a:endParaRPr lang="zh-CN" altLang="en-US" dirty="0"/>
          </a:p>
        </p:txBody>
      </p:sp>
      <p:graphicFrame>
        <p:nvGraphicFramePr>
          <p:cNvPr id="8" name="图表 7"/>
          <p:cNvGraphicFramePr>
            <a:graphicFrameLocks/>
          </p:cNvGraphicFramePr>
          <p:nvPr>
            <p:extLst>
              <p:ext uri="{D42A27DB-BD31-4B8C-83A1-F6EECF244321}">
                <p14:modId xmlns:p14="http://schemas.microsoft.com/office/powerpoint/2010/main" val="1913748293"/>
              </p:ext>
            </p:extLst>
          </p:nvPr>
        </p:nvGraphicFramePr>
        <p:xfrm>
          <a:off x="304800" y="3105666"/>
          <a:ext cx="8229600" cy="3616603"/>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5334000" y="6526768"/>
            <a:ext cx="2691955" cy="369332"/>
          </a:xfrm>
          <a:prstGeom prst="rect">
            <a:avLst/>
          </a:prstGeom>
          <a:noFill/>
        </p:spPr>
        <p:txBody>
          <a:bodyPr wrap="none" rtlCol="0">
            <a:spAutoFit/>
          </a:bodyPr>
          <a:lstStyle/>
          <a:p>
            <a:r>
              <a:rPr lang="en-US" altLang="zh-CN" dirty="0" smtClean="0"/>
              <a:t>Number of Cores (</a:t>
            </a:r>
            <a:r>
              <a:rPr lang="en-US" altLang="zh-CN" dirty="0" err="1" smtClean="0"/>
              <a:t>ppn</a:t>
            </a:r>
            <a:r>
              <a:rPr lang="en-US" altLang="zh-CN" dirty="0" smtClean="0"/>
              <a:t>=16)</a:t>
            </a:r>
            <a:endParaRPr lang="zh-CN" altLang="en-US" dirty="0"/>
          </a:p>
        </p:txBody>
      </p:sp>
      <p:sp>
        <p:nvSpPr>
          <p:cNvPr id="10" name="TextBox 9"/>
          <p:cNvSpPr txBox="1"/>
          <p:nvPr/>
        </p:nvSpPr>
        <p:spPr>
          <a:xfrm>
            <a:off x="6629400" y="3080266"/>
            <a:ext cx="1061509" cy="369332"/>
          </a:xfrm>
          <a:prstGeom prst="rect">
            <a:avLst/>
          </a:prstGeom>
          <a:noFill/>
        </p:spPr>
        <p:txBody>
          <a:bodyPr wrap="none" rtlCol="0">
            <a:spAutoFit/>
          </a:bodyPr>
          <a:lstStyle/>
          <a:p>
            <a:r>
              <a:rPr lang="en-US" altLang="zh-CN" dirty="0" smtClean="0"/>
              <a:t>Speedup </a:t>
            </a:r>
            <a:endParaRPr lang="zh-CN" altLang="en-US" dirty="0"/>
          </a:p>
        </p:txBody>
      </p:sp>
      <p:sp>
        <p:nvSpPr>
          <p:cNvPr id="11" name="TextBox 10"/>
          <p:cNvSpPr txBox="1"/>
          <p:nvPr/>
        </p:nvSpPr>
        <p:spPr>
          <a:xfrm>
            <a:off x="0" y="2831068"/>
            <a:ext cx="3734292" cy="369332"/>
          </a:xfrm>
          <a:prstGeom prst="rect">
            <a:avLst/>
          </a:prstGeom>
          <a:noFill/>
        </p:spPr>
        <p:txBody>
          <a:bodyPr wrap="none" rtlCol="0">
            <a:spAutoFit/>
          </a:bodyPr>
          <a:lstStyle/>
          <a:p>
            <a:r>
              <a:rPr lang="en-US" altLang="zh-CN" dirty="0" smtClean="0"/>
              <a:t>Percentage of time usage in each step</a:t>
            </a:r>
            <a:endParaRPr lang="zh-CN" altLang="en-US" dirty="0"/>
          </a:p>
        </p:txBody>
      </p:sp>
    </p:spTree>
    <p:extLst>
      <p:ext uri="{BB962C8B-B14F-4D97-AF65-F5344CB8AC3E}">
        <p14:creationId xmlns:p14="http://schemas.microsoft.com/office/powerpoint/2010/main" val="21173505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Optimization </a:t>
            </a:r>
            <a:r>
              <a:rPr lang="en-US" altLang="zh-CN" dirty="0" smtClean="0"/>
              <a:t>strategy on Mira </a:t>
            </a:r>
            <a:r>
              <a:rPr lang="en-US" altLang="zh-CN" dirty="0" smtClean="0"/>
              <a:t>for SWAP-Assembler</a:t>
            </a:r>
            <a:endParaRPr lang="zh-CN" altLang="en-US" dirty="0"/>
          </a:p>
        </p:txBody>
      </p:sp>
      <p:sp>
        <p:nvSpPr>
          <p:cNvPr id="3" name="内容占位符 2"/>
          <p:cNvSpPr>
            <a:spLocks noGrp="1"/>
          </p:cNvSpPr>
          <p:nvPr>
            <p:ph idx="1"/>
          </p:nvPr>
        </p:nvSpPr>
        <p:spPr>
          <a:xfrm>
            <a:off x="457200" y="1600200"/>
            <a:ext cx="4648200" cy="5029200"/>
          </a:xfrm>
        </p:spPr>
        <p:txBody>
          <a:bodyPr/>
          <a:lstStyle/>
          <a:p>
            <a:r>
              <a:rPr lang="en-US" altLang="zh-CN" sz="2000" b="1" dirty="0" smtClean="0"/>
              <a:t>Optimize</a:t>
            </a:r>
            <a:r>
              <a:rPr lang="en-US" altLang="zh-CN" sz="2000" dirty="0" smtClean="0"/>
              <a:t> dominated time consuming steps:</a:t>
            </a:r>
          </a:p>
          <a:p>
            <a:pPr lvl="1"/>
            <a:r>
              <a:rPr lang="en-US" altLang="zh-CN" sz="1800" dirty="0" smtClean="0"/>
              <a:t>input </a:t>
            </a:r>
            <a:r>
              <a:rPr lang="en-US" altLang="zh-CN" sz="1800" dirty="0"/>
              <a:t>&amp; output</a:t>
            </a:r>
          </a:p>
          <a:p>
            <a:pPr lvl="1"/>
            <a:r>
              <a:rPr lang="en-US" altLang="zh-CN" sz="1800" dirty="0" err="1" smtClean="0"/>
              <a:t>kmer</a:t>
            </a:r>
            <a:r>
              <a:rPr lang="en-US" altLang="zh-CN" sz="1800" dirty="0" smtClean="0"/>
              <a:t> </a:t>
            </a:r>
            <a:r>
              <a:rPr lang="en-US" altLang="zh-CN" sz="1800" dirty="0"/>
              <a:t>graph construction</a:t>
            </a:r>
          </a:p>
          <a:p>
            <a:pPr lvl="1"/>
            <a:r>
              <a:rPr lang="en-US" altLang="zh-CN" sz="1800" dirty="0"/>
              <a:t>graph simplification (edge merging)</a:t>
            </a:r>
          </a:p>
          <a:p>
            <a:endParaRPr lang="en-US" altLang="zh-CN" sz="2000" dirty="0" smtClean="0"/>
          </a:p>
          <a:p>
            <a:r>
              <a:rPr lang="en-US" altLang="zh-CN" sz="2000" b="1" dirty="0">
                <a:solidFill>
                  <a:srgbClr val="FF0000"/>
                </a:solidFill>
              </a:rPr>
              <a:t>Objective</a:t>
            </a:r>
          </a:p>
          <a:p>
            <a:pPr lvl="1"/>
            <a:r>
              <a:rPr lang="en-US" altLang="zh-CN" sz="1800" dirty="0" smtClean="0"/>
              <a:t>keep </a:t>
            </a:r>
            <a:r>
              <a:rPr lang="en-US" altLang="zh-CN" sz="1800" dirty="0"/>
              <a:t>the percentage of time usage in each step </a:t>
            </a:r>
            <a:r>
              <a:rPr lang="en-US" altLang="zh-CN" sz="1800" dirty="0" smtClean="0"/>
              <a:t>constant </a:t>
            </a:r>
            <a:r>
              <a:rPr lang="en-US" altLang="zh-CN" sz="1800" dirty="0"/>
              <a:t>when the number of cores increases</a:t>
            </a:r>
            <a:endParaRPr lang="en-US" altLang="zh-CN" sz="1800" dirty="0" smtClean="0"/>
          </a:p>
          <a:p>
            <a:pPr lvl="1"/>
            <a:r>
              <a:rPr lang="en-US" altLang="zh-CN" sz="1800" dirty="0" smtClean="0"/>
              <a:t>Minimize the communication &amp; memory usage</a:t>
            </a:r>
          </a:p>
          <a:p>
            <a:pPr lvl="1"/>
            <a:r>
              <a:rPr lang="en-US" altLang="zh-CN" sz="1800" dirty="0" smtClean="0"/>
              <a:t>Scale to as many cores &amp; as larger dataset as we can</a:t>
            </a:r>
            <a:endParaRPr lang="en-US" altLang="zh-CN" sz="1800" dirty="0"/>
          </a:p>
          <a:p>
            <a:endParaRPr lang="en-US" altLang="zh-CN" sz="2000" dirty="0" smtClean="0"/>
          </a:p>
          <a:p>
            <a:endParaRPr lang="en-US" altLang="zh-CN" sz="2000" dirty="0" smtClean="0"/>
          </a:p>
          <a:p>
            <a:endParaRPr lang="en-US" altLang="zh-CN" sz="2000" dirty="0"/>
          </a:p>
          <a:p>
            <a:endParaRPr lang="en-US" altLang="zh-CN" sz="2000" dirty="0" smtClean="0"/>
          </a:p>
          <a:p>
            <a:endParaRPr lang="zh-CN" altLang="en-US" sz="2000" dirty="0"/>
          </a:p>
        </p:txBody>
      </p:sp>
      <p:sp>
        <p:nvSpPr>
          <p:cNvPr id="4" name="灯片编号占位符 3"/>
          <p:cNvSpPr>
            <a:spLocks noGrp="1"/>
          </p:cNvSpPr>
          <p:nvPr>
            <p:ph type="sldNum" sz="quarter" idx="12"/>
          </p:nvPr>
        </p:nvSpPr>
        <p:spPr/>
        <p:txBody>
          <a:bodyPr/>
          <a:lstStyle/>
          <a:p>
            <a:fld id="{87034D8C-3CB4-402A-BC46-2AB14C0FE90A}" type="slidenum">
              <a:rPr lang="en-US" smtClean="0"/>
              <a:pPr/>
              <a:t>11</a:t>
            </a:fld>
            <a:endParaRPr lang="en-US"/>
          </a:p>
        </p:txBody>
      </p:sp>
      <p:sp>
        <p:nvSpPr>
          <p:cNvPr id="6" name="AutoShape 6" descr="https://computing.llnl.gov/tutorials/bgq/images/bgqScalingArch900pix.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26" name="Picture 2" descr="https://computing.llnl.gov/tutorials/bgq/images/bgqScalingArch900pix.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1447800"/>
            <a:ext cx="4381500" cy="47958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679643" y="6135172"/>
            <a:ext cx="2616807" cy="369332"/>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US" altLang="zh-CN" dirty="0"/>
              <a:t>BG/Q Scaling Architecture</a:t>
            </a:r>
            <a:endParaRPr lang="zh-CN" altLang="en-US" dirty="0"/>
          </a:p>
        </p:txBody>
      </p:sp>
      <p:sp>
        <p:nvSpPr>
          <p:cNvPr id="5" name="TextBox 4"/>
          <p:cNvSpPr txBox="1"/>
          <p:nvPr/>
        </p:nvSpPr>
        <p:spPr>
          <a:xfrm>
            <a:off x="4941423" y="1792069"/>
            <a:ext cx="1141659" cy="646331"/>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ltLang="zh-CN" dirty="0" smtClean="0"/>
              <a:t>5D torus </a:t>
            </a:r>
          </a:p>
          <a:p>
            <a:r>
              <a:rPr lang="en-US" altLang="zh-CN" dirty="0" smtClean="0"/>
              <a:t>(4,4,4,4,2)</a:t>
            </a:r>
            <a:endParaRPr lang="zh-CN" altLang="en-US" dirty="0"/>
          </a:p>
        </p:txBody>
      </p:sp>
      <p:sp>
        <p:nvSpPr>
          <p:cNvPr id="9" name="TextBox 8"/>
          <p:cNvSpPr txBox="1"/>
          <p:nvPr/>
        </p:nvSpPr>
        <p:spPr>
          <a:xfrm>
            <a:off x="6344320" y="990600"/>
            <a:ext cx="1141659" cy="646331"/>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ltLang="zh-CN" dirty="0" smtClean="0"/>
              <a:t>5D torus</a:t>
            </a:r>
          </a:p>
          <a:p>
            <a:r>
              <a:rPr lang="en-US" altLang="zh-CN" dirty="0" smtClean="0"/>
              <a:t>(4,4,4,8,2)</a:t>
            </a:r>
            <a:endParaRPr lang="zh-CN" altLang="en-US" dirty="0"/>
          </a:p>
        </p:txBody>
      </p:sp>
      <p:sp>
        <p:nvSpPr>
          <p:cNvPr id="10" name="TextBox 9"/>
          <p:cNvSpPr txBox="1"/>
          <p:nvPr/>
        </p:nvSpPr>
        <p:spPr>
          <a:xfrm>
            <a:off x="7651284" y="1003300"/>
            <a:ext cx="1492716" cy="646331"/>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ltLang="zh-CN" dirty="0" smtClean="0"/>
              <a:t>5D torus</a:t>
            </a:r>
          </a:p>
          <a:p>
            <a:r>
              <a:rPr lang="en-US" altLang="zh-CN" dirty="0" smtClean="0"/>
              <a:t>(8,16,16,16,2)</a:t>
            </a:r>
            <a:endParaRPr lang="zh-CN" altLang="en-US" dirty="0"/>
          </a:p>
        </p:txBody>
      </p:sp>
      <p:sp>
        <p:nvSpPr>
          <p:cNvPr id="11" name="TextBox 10"/>
          <p:cNvSpPr txBox="1"/>
          <p:nvPr/>
        </p:nvSpPr>
        <p:spPr>
          <a:xfrm>
            <a:off x="7826811" y="3429000"/>
            <a:ext cx="1141659" cy="646331"/>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ltLang="zh-CN" dirty="0" smtClean="0"/>
              <a:t>5D torus </a:t>
            </a:r>
          </a:p>
          <a:p>
            <a:r>
              <a:rPr lang="en-US" altLang="zh-CN" dirty="0" smtClean="0"/>
              <a:t>(2,2,2,2,2)</a:t>
            </a:r>
            <a:endParaRPr lang="zh-CN" altLang="en-US" dirty="0"/>
          </a:p>
        </p:txBody>
      </p:sp>
    </p:spTree>
    <p:extLst>
      <p:ext uri="{BB962C8B-B14F-4D97-AF65-F5344CB8AC3E}">
        <p14:creationId xmlns:p14="http://schemas.microsoft.com/office/powerpoint/2010/main" val="21361415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input &amp; output </a:t>
            </a:r>
            <a:endParaRPr lang="zh-CN" altLang="en-US" dirty="0"/>
          </a:p>
        </p:txBody>
      </p:sp>
      <p:sp>
        <p:nvSpPr>
          <p:cNvPr id="4" name="灯片编号占位符 3"/>
          <p:cNvSpPr>
            <a:spLocks noGrp="1"/>
          </p:cNvSpPr>
          <p:nvPr>
            <p:ph type="sldNum" sz="quarter" idx="12"/>
          </p:nvPr>
        </p:nvSpPr>
        <p:spPr/>
        <p:txBody>
          <a:bodyPr/>
          <a:lstStyle/>
          <a:p>
            <a:fld id="{87034D8C-3CB4-402A-BC46-2AB14C0FE90A}" type="slidenum">
              <a:rPr lang="en-US" smtClean="0"/>
              <a:pPr/>
              <a:t>12</a:t>
            </a:fld>
            <a:endParaRPr lang="en-US"/>
          </a:p>
        </p:txBody>
      </p:sp>
      <p:sp>
        <p:nvSpPr>
          <p:cNvPr id="21" name="矩形 20"/>
          <p:cNvSpPr/>
          <p:nvPr/>
        </p:nvSpPr>
        <p:spPr bwMode="auto">
          <a:xfrm>
            <a:off x="0" y="3962400"/>
            <a:ext cx="762000" cy="304800"/>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dirty="0" smtClean="0">
                <a:solidFill>
                  <a:schemeClr val="tx1"/>
                </a:solidFill>
                <a:latin typeface="Calibri" pitchFamily="34" charset="0"/>
              </a:rPr>
              <a:t>A0</a:t>
            </a:r>
            <a:endParaRPr lang="zh-CN" altLang="en-US" dirty="0">
              <a:solidFill>
                <a:schemeClr val="tx1"/>
              </a:solidFill>
              <a:latin typeface="Calibri" pitchFamily="34" charset="0"/>
            </a:endParaRPr>
          </a:p>
        </p:txBody>
      </p:sp>
      <p:sp>
        <p:nvSpPr>
          <p:cNvPr id="23" name="矩形 22"/>
          <p:cNvSpPr/>
          <p:nvPr/>
        </p:nvSpPr>
        <p:spPr bwMode="auto">
          <a:xfrm>
            <a:off x="762000" y="3962400"/>
            <a:ext cx="762000" cy="304800"/>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A1</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24" name="矩形 23"/>
          <p:cNvSpPr/>
          <p:nvPr/>
        </p:nvSpPr>
        <p:spPr bwMode="auto">
          <a:xfrm>
            <a:off x="1524000" y="3962400"/>
            <a:ext cx="762000" cy="304800"/>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A2</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25" name="矩形 24"/>
          <p:cNvSpPr/>
          <p:nvPr/>
        </p:nvSpPr>
        <p:spPr bwMode="auto">
          <a:xfrm>
            <a:off x="3048000" y="3962400"/>
            <a:ext cx="762000" cy="304800"/>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B0</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26" name="矩形 25"/>
          <p:cNvSpPr/>
          <p:nvPr/>
        </p:nvSpPr>
        <p:spPr bwMode="auto">
          <a:xfrm>
            <a:off x="3810000" y="3962400"/>
            <a:ext cx="762000" cy="304800"/>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dirty="0" smtClean="0">
                <a:solidFill>
                  <a:schemeClr val="tx1"/>
                </a:solidFill>
                <a:latin typeface="Calibri" pitchFamily="34" charset="0"/>
              </a:rPr>
              <a:t>B1</a:t>
            </a:r>
            <a:endParaRPr lang="zh-CN" altLang="en-US" dirty="0">
              <a:solidFill>
                <a:schemeClr val="tx1"/>
              </a:solidFill>
              <a:latin typeface="Calibri" pitchFamily="34" charset="0"/>
            </a:endParaRPr>
          </a:p>
        </p:txBody>
      </p:sp>
      <p:sp>
        <p:nvSpPr>
          <p:cNvPr id="27" name="矩形 26"/>
          <p:cNvSpPr/>
          <p:nvPr/>
        </p:nvSpPr>
        <p:spPr bwMode="auto">
          <a:xfrm>
            <a:off x="4572000" y="3962400"/>
            <a:ext cx="762000" cy="304800"/>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B2</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28" name="矩形 27"/>
          <p:cNvSpPr/>
          <p:nvPr/>
        </p:nvSpPr>
        <p:spPr bwMode="auto">
          <a:xfrm>
            <a:off x="6096000" y="3962400"/>
            <a:ext cx="7620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C0</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29" name="矩形 28"/>
          <p:cNvSpPr/>
          <p:nvPr/>
        </p:nvSpPr>
        <p:spPr bwMode="auto">
          <a:xfrm>
            <a:off x="6858000" y="3962400"/>
            <a:ext cx="7620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C1</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30" name="矩形 29"/>
          <p:cNvSpPr/>
          <p:nvPr/>
        </p:nvSpPr>
        <p:spPr bwMode="auto">
          <a:xfrm>
            <a:off x="7620000" y="3962400"/>
            <a:ext cx="7620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C2</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32" name="椭圆 31"/>
          <p:cNvSpPr/>
          <p:nvPr/>
        </p:nvSpPr>
        <p:spPr bwMode="auto">
          <a:xfrm>
            <a:off x="2019300" y="4953000"/>
            <a:ext cx="533400" cy="53340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P0</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33" name="椭圆 32"/>
          <p:cNvSpPr/>
          <p:nvPr/>
        </p:nvSpPr>
        <p:spPr bwMode="auto">
          <a:xfrm>
            <a:off x="4305300" y="4953000"/>
            <a:ext cx="533400" cy="53340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P1</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34" name="椭圆 33"/>
          <p:cNvSpPr/>
          <p:nvPr/>
        </p:nvSpPr>
        <p:spPr bwMode="auto">
          <a:xfrm>
            <a:off x="6591300" y="4953000"/>
            <a:ext cx="533400" cy="53340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P2</a:t>
            </a:r>
            <a:endParaRPr kumimoji="0" lang="zh-CN" altLang="en-US" sz="1800" b="0" i="0" u="none" strike="noStrike" cap="none" normalizeH="0" baseline="0" dirty="0" smtClean="0">
              <a:ln>
                <a:noFill/>
              </a:ln>
              <a:solidFill>
                <a:schemeClr val="tx1"/>
              </a:solidFill>
              <a:effectLst/>
              <a:latin typeface="Calibri" pitchFamily="34" charset="0"/>
            </a:endParaRPr>
          </a:p>
        </p:txBody>
      </p:sp>
      <p:cxnSp>
        <p:nvCxnSpPr>
          <p:cNvPr id="36" name="直接箭头连接符 35"/>
          <p:cNvCxnSpPr>
            <a:stCxn id="21" idx="2"/>
            <a:endCxn id="32" idx="1"/>
          </p:cNvCxnSpPr>
          <p:nvPr/>
        </p:nvCxnSpPr>
        <p:spPr bwMode="auto">
          <a:xfrm>
            <a:off x="381000" y="4267200"/>
            <a:ext cx="1716415" cy="763915"/>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37" name="直接箭头连接符 36"/>
          <p:cNvCxnSpPr>
            <a:stCxn id="25" idx="2"/>
            <a:endCxn id="33" idx="1"/>
          </p:cNvCxnSpPr>
          <p:nvPr/>
        </p:nvCxnSpPr>
        <p:spPr bwMode="auto">
          <a:xfrm>
            <a:off x="3429000" y="4267200"/>
            <a:ext cx="954415" cy="763915"/>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40" name="直接箭头连接符 39"/>
          <p:cNvCxnSpPr>
            <a:stCxn id="28" idx="2"/>
            <a:endCxn id="34" idx="1"/>
          </p:cNvCxnSpPr>
          <p:nvPr/>
        </p:nvCxnSpPr>
        <p:spPr bwMode="auto">
          <a:xfrm>
            <a:off x="6477000" y="4267200"/>
            <a:ext cx="192415" cy="763915"/>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44" name="直接箭头连接符 43"/>
          <p:cNvCxnSpPr>
            <a:stCxn id="23" idx="2"/>
            <a:endCxn id="32" idx="0"/>
          </p:cNvCxnSpPr>
          <p:nvPr/>
        </p:nvCxnSpPr>
        <p:spPr bwMode="auto">
          <a:xfrm>
            <a:off x="1143000" y="4267200"/>
            <a:ext cx="1143000" cy="685800"/>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45" name="直接箭头连接符 44"/>
          <p:cNvCxnSpPr>
            <a:stCxn id="26" idx="2"/>
            <a:endCxn id="33" idx="0"/>
          </p:cNvCxnSpPr>
          <p:nvPr/>
        </p:nvCxnSpPr>
        <p:spPr bwMode="auto">
          <a:xfrm>
            <a:off x="4191000" y="4267200"/>
            <a:ext cx="381000" cy="685800"/>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48" name="直接箭头连接符 47"/>
          <p:cNvCxnSpPr>
            <a:stCxn id="29" idx="2"/>
            <a:endCxn id="34" idx="0"/>
          </p:cNvCxnSpPr>
          <p:nvPr/>
        </p:nvCxnSpPr>
        <p:spPr bwMode="auto">
          <a:xfrm flipH="1">
            <a:off x="6858000" y="4267200"/>
            <a:ext cx="381000" cy="685800"/>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51" name="直接箭头连接符 50"/>
          <p:cNvCxnSpPr>
            <a:stCxn id="24" idx="2"/>
            <a:endCxn id="32" idx="0"/>
          </p:cNvCxnSpPr>
          <p:nvPr/>
        </p:nvCxnSpPr>
        <p:spPr bwMode="auto">
          <a:xfrm>
            <a:off x="1905000" y="4267200"/>
            <a:ext cx="381000" cy="685800"/>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54" name="直接箭头连接符 53"/>
          <p:cNvCxnSpPr>
            <a:stCxn id="27" idx="2"/>
            <a:endCxn id="33" idx="0"/>
          </p:cNvCxnSpPr>
          <p:nvPr/>
        </p:nvCxnSpPr>
        <p:spPr bwMode="auto">
          <a:xfrm flipH="1">
            <a:off x="4572000" y="4267200"/>
            <a:ext cx="381000" cy="685800"/>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57" name="直接箭头连接符 56"/>
          <p:cNvCxnSpPr>
            <a:stCxn id="30" idx="2"/>
            <a:endCxn id="34" idx="0"/>
          </p:cNvCxnSpPr>
          <p:nvPr/>
        </p:nvCxnSpPr>
        <p:spPr bwMode="auto">
          <a:xfrm flipH="1">
            <a:off x="6858000" y="4267200"/>
            <a:ext cx="1143000" cy="685800"/>
          </a:xfrm>
          <a:prstGeom prst="straightConnector1">
            <a:avLst/>
          </a:prstGeom>
          <a:noFill/>
          <a:ln w="9525" cap="flat" cmpd="sng" algn="ctr">
            <a:solidFill>
              <a:schemeClr val="bg2">
                <a:lumMod val="10000"/>
              </a:schemeClr>
            </a:solidFill>
            <a:prstDash val="solid"/>
            <a:round/>
            <a:headEnd type="none" w="med" len="med"/>
            <a:tailEnd type="arrow"/>
          </a:ln>
          <a:effectLst/>
        </p:spPr>
      </p:cxnSp>
      <p:sp>
        <p:nvSpPr>
          <p:cNvPr id="60" name="圆角矩形 59"/>
          <p:cNvSpPr/>
          <p:nvPr/>
        </p:nvSpPr>
        <p:spPr bwMode="auto">
          <a:xfrm>
            <a:off x="1962150" y="6248400"/>
            <a:ext cx="647700" cy="457200"/>
          </a:xfrm>
          <a:prstGeom prst="roundRect">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200" dirty="0" err="1" smtClean="0">
                <a:solidFill>
                  <a:schemeClr val="tx1">
                    <a:lumMod val="50000"/>
                  </a:schemeClr>
                </a:solidFill>
                <a:latin typeface="Calibri" pitchFamily="34" charset="0"/>
              </a:rPr>
              <a:t>Kmer</a:t>
            </a:r>
            <a:endParaRPr lang="en-US" altLang="zh-CN" sz="1200" dirty="0" smtClean="0">
              <a:solidFill>
                <a:schemeClr val="tx1">
                  <a:lumMod val="50000"/>
                </a:schemeClr>
              </a:solidFill>
              <a:latin typeface="Calibri" pitchFamily="34" charset="0"/>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zh-CN" sz="1200" dirty="0" smtClean="0">
                <a:solidFill>
                  <a:schemeClr val="tx1">
                    <a:lumMod val="50000"/>
                  </a:schemeClr>
                </a:solidFill>
                <a:latin typeface="Calibri" pitchFamily="34" charset="0"/>
              </a:rPr>
              <a:t>Graph</a:t>
            </a:r>
            <a:endParaRPr kumimoji="0" lang="zh-CN" altLang="en-US" sz="1200" b="0" i="0" u="none" strike="noStrike" cap="none" normalizeH="0" baseline="0" dirty="0" smtClean="0">
              <a:ln>
                <a:noFill/>
              </a:ln>
              <a:solidFill>
                <a:schemeClr val="tx1">
                  <a:lumMod val="50000"/>
                </a:schemeClr>
              </a:solidFill>
              <a:effectLst/>
              <a:latin typeface="Calibri" pitchFamily="34" charset="0"/>
            </a:endParaRPr>
          </a:p>
        </p:txBody>
      </p:sp>
      <p:sp>
        <p:nvSpPr>
          <p:cNvPr id="61" name="圆角矩形 60"/>
          <p:cNvSpPr/>
          <p:nvPr/>
        </p:nvSpPr>
        <p:spPr bwMode="auto">
          <a:xfrm>
            <a:off x="4248150" y="6248400"/>
            <a:ext cx="647700" cy="457200"/>
          </a:xfrm>
          <a:prstGeom prst="roundRect">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US" altLang="zh-CN" sz="1200" dirty="0" err="1">
                <a:solidFill>
                  <a:schemeClr val="tx1">
                    <a:lumMod val="50000"/>
                  </a:schemeClr>
                </a:solidFill>
                <a:latin typeface="Calibri" pitchFamily="34" charset="0"/>
              </a:rPr>
              <a:t>Kmer</a:t>
            </a:r>
            <a:endParaRPr lang="en-US" altLang="zh-CN" sz="1200" dirty="0">
              <a:solidFill>
                <a:schemeClr val="tx1">
                  <a:lumMod val="50000"/>
                </a:schemeClr>
              </a:solidFill>
              <a:latin typeface="Calibri" pitchFamily="34" charset="0"/>
            </a:endParaRPr>
          </a:p>
          <a:p>
            <a:pPr fontAlgn="base">
              <a:spcBef>
                <a:spcPct val="0"/>
              </a:spcBef>
              <a:spcAft>
                <a:spcPct val="0"/>
              </a:spcAft>
            </a:pPr>
            <a:r>
              <a:rPr lang="en-US" altLang="zh-CN" sz="1200" dirty="0">
                <a:solidFill>
                  <a:schemeClr val="tx1">
                    <a:lumMod val="50000"/>
                  </a:schemeClr>
                </a:solidFill>
                <a:latin typeface="Calibri" pitchFamily="34" charset="0"/>
              </a:rPr>
              <a:t>Graph</a:t>
            </a:r>
            <a:endParaRPr lang="zh-CN" altLang="en-US" sz="1200" dirty="0">
              <a:solidFill>
                <a:schemeClr val="tx1">
                  <a:lumMod val="50000"/>
                </a:schemeClr>
              </a:solidFill>
              <a:latin typeface="Calibri" pitchFamily="34" charset="0"/>
            </a:endParaRPr>
          </a:p>
        </p:txBody>
      </p:sp>
      <p:sp>
        <p:nvSpPr>
          <p:cNvPr id="62" name="圆角矩形 61"/>
          <p:cNvSpPr/>
          <p:nvPr/>
        </p:nvSpPr>
        <p:spPr bwMode="auto">
          <a:xfrm>
            <a:off x="6534150" y="6248400"/>
            <a:ext cx="647700" cy="457200"/>
          </a:xfrm>
          <a:prstGeom prst="roundRect">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US" altLang="zh-CN" sz="1200" dirty="0" err="1">
                <a:solidFill>
                  <a:schemeClr val="tx1">
                    <a:lumMod val="50000"/>
                  </a:schemeClr>
                </a:solidFill>
                <a:latin typeface="Calibri" pitchFamily="34" charset="0"/>
              </a:rPr>
              <a:t>Kmer</a:t>
            </a:r>
            <a:endParaRPr lang="en-US" altLang="zh-CN" sz="1200" dirty="0">
              <a:solidFill>
                <a:schemeClr val="tx1">
                  <a:lumMod val="50000"/>
                </a:schemeClr>
              </a:solidFill>
              <a:latin typeface="Calibri" pitchFamily="34" charset="0"/>
            </a:endParaRPr>
          </a:p>
          <a:p>
            <a:pPr fontAlgn="base">
              <a:spcBef>
                <a:spcPct val="0"/>
              </a:spcBef>
              <a:spcAft>
                <a:spcPct val="0"/>
              </a:spcAft>
            </a:pPr>
            <a:r>
              <a:rPr lang="en-US" altLang="zh-CN" sz="1200" dirty="0">
                <a:solidFill>
                  <a:schemeClr val="tx1">
                    <a:lumMod val="50000"/>
                  </a:schemeClr>
                </a:solidFill>
                <a:latin typeface="Calibri" pitchFamily="34" charset="0"/>
              </a:rPr>
              <a:t>Graph</a:t>
            </a:r>
            <a:endParaRPr lang="zh-CN" altLang="en-US" sz="1200" dirty="0">
              <a:solidFill>
                <a:schemeClr val="tx1">
                  <a:lumMod val="50000"/>
                </a:schemeClr>
              </a:solidFill>
              <a:latin typeface="Calibri" pitchFamily="34" charset="0"/>
            </a:endParaRPr>
          </a:p>
        </p:txBody>
      </p:sp>
      <p:sp>
        <p:nvSpPr>
          <p:cNvPr id="63" name="虚尾箭头 62"/>
          <p:cNvSpPr/>
          <p:nvPr/>
        </p:nvSpPr>
        <p:spPr bwMode="auto">
          <a:xfrm>
            <a:off x="2057400" y="5791200"/>
            <a:ext cx="457200" cy="533400"/>
          </a:xfrm>
          <a:prstGeom prst="stripedRightArrow">
            <a:avLst/>
          </a:prstGeom>
          <a:solidFill>
            <a:schemeClr val="tx2">
              <a:lumMod val="60000"/>
              <a:lumOff val="40000"/>
            </a:schemeClr>
          </a:solidFill>
          <a:ln w="9525" cap="flat" cmpd="sng" algn="ctr">
            <a:noFill/>
            <a:prstDash val="solid"/>
            <a:round/>
            <a:headEnd type="none" w="med" len="med"/>
            <a:tailEnd type="none" w="med" len="med"/>
          </a:ln>
          <a:effectLst/>
          <a:scene3d>
            <a:camera prst="orthographicFront">
              <a:rot lat="0" lon="0" rev="1620000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65" name="虚尾箭头 64"/>
          <p:cNvSpPr/>
          <p:nvPr/>
        </p:nvSpPr>
        <p:spPr bwMode="auto">
          <a:xfrm>
            <a:off x="4343400" y="5791200"/>
            <a:ext cx="457200" cy="533400"/>
          </a:xfrm>
          <a:prstGeom prst="stripedRightArrow">
            <a:avLst/>
          </a:prstGeom>
          <a:solidFill>
            <a:schemeClr val="tx2">
              <a:lumMod val="60000"/>
              <a:lumOff val="40000"/>
            </a:schemeClr>
          </a:solidFill>
          <a:ln w="9525" cap="flat" cmpd="sng" algn="ctr">
            <a:noFill/>
            <a:prstDash val="solid"/>
            <a:round/>
            <a:headEnd type="none" w="med" len="med"/>
            <a:tailEnd type="none" w="med" len="med"/>
          </a:ln>
          <a:effectLst/>
          <a:scene3d>
            <a:camera prst="orthographicFront">
              <a:rot lat="0" lon="0" rev="1620000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66" name="虚尾箭头 65"/>
          <p:cNvSpPr/>
          <p:nvPr/>
        </p:nvSpPr>
        <p:spPr bwMode="auto">
          <a:xfrm>
            <a:off x="6629400" y="5791200"/>
            <a:ext cx="457200" cy="533400"/>
          </a:xfrm>
          <a:prstGeom prst="stripedRightArrow">
            <a:avLst/>
          </a:prstGeom>
          <a:solidFill>
            <a:schemeClr val="tx2">
              <a:lumMod val="60000"/>
              <a:lumOff val="40000"/>
            </a:schemeClr>
          </a:solidFill>
          <a:ln w="9525" cap="flat" cmpd="sng" algn="ctr">
            <a:noFill/>
            <a:prstDash val="solid"/>
            <a:round/>
            <a:headEnd type="none" w="med" len="med"/>
            <a:tailEnd type="none" w="med" len="med"/>
          </a:ln>
          <a:effectLst/>
          <a:scene3d>
            <a:camera prst="orthographicFront">
              <a:rot lat="0" lon="0" rev="1620000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67" name="左右箭头 66"/>
          <p:cNvSpPr/>
          <p:nvPr/>
        </p:nvSpPr>
        <p:spPr bwMode="auto">
          <a:xfrm>
            <a:off x="1600200" y="5410200"/>
            <a:ext cx="5943600" cy="457200"/>
          </a:xfrm>
          <a:prstGeom prst="leftRightArrow">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Network</a:t>
            </a:r>
          </a:p>
        </p:txBody>
      </p:sp>
      <p:sp>
        <p:nvSpPr>
          <p:cNvPr id="68" name="矩形 67"/>
          <p:cNvSpPr/>
          <p:nvPr/>
        </p:nvSpPr>
        <p:spPr bwMode="auto">
          <a:xfrm>
            <a:off x="2286000" y="3962400"/>
            <a:ext cx="609600" cy="304800"/>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A3</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69" name="矩形 68"/>
          <p:cNvSpPr/>
          <p:nvPr/>
        </p:nvSpPr>
        <p:spPr bwMode="auto">
          <a:xfrm>
            <a:off x="5334000" y="3962400"/>
            <a:ext cx="533400" cy="304800"/>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B3</a:t>
            </a:r>
            <a:endParaRPr kumimoji="0" lang="zh-CN" altLang="en-US" sz="1800" b="0" i="0" u="none" strike="noStrike" cap="none" normalizeH="0" baseline="0" dirty="0" smtClean="0">
              <a:ln>
                <a:noFill/>
              </a:ln>
              <a:solidFill>
                <a:schemeClr val="tx1"/>
              </a:solidFill>
              <a:effectLst/>
              <a:latin typeface="Calibri" pitchFamily="34" charset="0"/>
            </a:endParaRPr>
          </a:p>
        </p:txBody>
      </p:sp>
      <p:cxnSp>
        <p:nvCxnSpPr>
          <p:cNvPr id="72" name="直接箭头连接符 71"/>
          <p:cNvCxnSpPr>
            <a:stCxn id="68" idx="2"/>
            <a:endCxn id="32" idx="7"/>
          </p:cNvCxnSpPr>
          <p:nvPr/>
        </p:nvCxnSpPr>
        <p:spPr bwMode="auto">
          <a:xfrm flipH="1">
            <a:off x="2474585" y="4267200"/>
            <a:ext cx="116215" cy="763915"/>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76" name="直接箭头连接符 75"/>
          <p:cNvCxnSpPr>
            <a:stCxn id="69" idx="2"/>
            <a:endCxn id="33" idx="7"/>
          </p:cNvCxnSpPr>
          <p:nvPr/>
        </p:nvCxnSpPr>
        <p:spPr bwMode="auto">
          <a:xfrm flipH="1">
            <a:off x="4760585" y="4267200"/>
            <a:ext cx="840115" cy="763915"/>
          </a:xfrm>
          <a:prstGeom prst="straightConnector1">
            <a:avLst/>
          </a:prstGeom>
          <a:noFill/>
          <a:ln w="9525" cap="flat" cmpd="sng" algn="ctr">
            <a:solidFill>
              <a:schemeClr val="bg2">
                <a:lumMod val="10000"/>
              </a:schemeClr>
            </a:solidFill>
            <a:prstDash val="solid"/>
            <a:round/>
            <a:headEnd type="none" w="med" len="med"/>
            <a:tailEnd type="arrow"/>
          </a:ln>
          <a:effectLst/>
        </p:spPr>
      </p:cxnSp>
      <p:sp>
        <p:nvSpPr>
          <p:cNvPr id="81" name="矩形 80"/>
          <p:cNvSpPr/>
          <p:nvPr/>
        </p:nvSpPr>
        <p:spPr bwMode="auto">
          <a:xfrm>
            <a:off x="8382000" y="3962400"/>
            <a:ext cx="6096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C3</a:t>
            </a:r>
            <a:endParaRPr kumimoji="0" lang="zh-CN" altLang="en-US" sz="1800" b="0" i="0" u="none" strike="noStrike" cap="none" normalizeH="0" baseline="0" dirty="0" smtClean="0">
              <a:ln>
                <a:noFill/>
              </a:ln>
              <a:solidFill>
                <a:schemeClr val="tx1"/>
              </a:solidFill>
              <a:effectLst/>
              <a:latin typeface="Calibri" pitchFamily="34" charset="0"/>
            </a:endParaRPr>
          </a:p>
        </p:txBody>
      </p:sp>
      <p:cxnSp>
        <p:nvCxnSpPr>
          <p:cNvPr id="82" name="直接箭头连接符 81"/>
          <p:cNvCxnSpPr>
            <a:stCxn id="81" idx="2"/>
            <a:endCxn id="34" idx="7"/>
          </p:cNvCxnSpPr>
          <p:nvPr/>
        </p:nvCxnSpPr>
        <p:spPr bwMode="auto">
          <a:xfrm flipH="1">
            <a:off x="7046585" y="4267200"/>
            <a:ext cx="1640215" cy="763915"/>
          </a:xfrm>
          <a:prstGeom prst="straightConnector1">
            <a:avLst/>
          </a:prstGeom>
          <a:noFill/>
          <a:ln w="9525" cap="flat" cmpd="sng" algn="ctr">
            <a:solidFill>
              <a:schemeClr val="bg2">
                <a:lumMod val="10000"/>
              </a:schemeClr>
            </a:solidFill>
            <a:prstDash val="solid"/>
            <a:round/>
            <a:headEnd type="none" w="med" len="med"/>
            <a:tailEnd type="arrow"/>
          </a:ln>
          <a:effectLst/>
        </p:spPr>
      </p:cxnSp>
      <p:sp>
        <p:nvSpPr>
          <p:cNvPr id="91" name="内容占位符 2"/>
          <p:cNvSpPr>
            <a:spLocks noGrp="1"/>
          </p:cNvSpPr>
          <p:nvPr>
            <p:ph idx="1"/>
          </p:nvPr>
        </p:nvSpPr>
        <p:spPr>
          <a:xfrm>
            <a:off x="457199" y="1366837"/>
            <a:ext cx="8537575" cy="2671763"/>
          </a:xfrm>
        </p:spPr>
        <p:txBody>
          <a:bodyPr/>
          <a:lstStyle/>
          <a:p>
            <a:r>
              <a:rPr lang="en-US" altLang="zh-CN" sz="2000" dirty="0"/>
              <a:t>Optimization points</a:t>
            </a:r>
          </a:p>
          <a:p>
            <a:pPr marL="742950" lvl="2" indent="-342900">
              <a:buFont typeface="Wingdings" pitchFamily="2" charset="2"/>
              <a:buChar char="§"/>
            </a:pPr>
            <a:r>
              <a:rPr lang="en-US" altLang="zh-CN" sz="1600" b="1" dirty="0" smtClean="0">
                <a:solidFill>
                  <a:srgbClr val="FF0000"/>
                </a:solidFill>
              </a:rPr>
              <a:t>Data Partition</a:t>
            </a:r>
            <a:r>
              <a:rPr lang="en-US" altLang="zh-CN" sz="1600" dirty="0" smtClean="0">
                <a:solidFill>
                  <a:srgbClr val="FF0000"/>
                </a:solidFill>
              </a:rPr>
              <a:t>: </a:t>
            </a:r>
            <a:r>
              <a:rPr lang="en-US" altLang="zh-CN" sz="1600" dirty="0" smtClean="0"/>
              <a:t>Input </a:t>
            </a:r>
            <a:r>
              <a:rPr lang="en-US" altLang="zh-CN" sz="1600" dirty="0"/>
              <a:t>data is divided into </a:t>
            </a:r>
            <a:r>
              <a:rPr lang="en-US" altLang="zh-CN" sz="1600" i="1" dirty="0" smtClean="0"/>
              <a:t>p</a:t>
            </a:r>
            <a:r>
              <a:rPr lang="en-US" altLang="zh-CN" sz="1600" dirty="0" smtClean="0"/>
              <a:t> virtual data blocks, </a:t>
            </a:r>
            <a:r>
              <a:rPr lang="en-US" altLang="zh-CN" sz="1600" dirty="0"/>
              <a:t>the begin </a:t>
            </a:r>
            <a:r>
              <a:rPr lang="en-US" altLang="zh-CN" sz="1600" dirty="0" smtClean="0"/>
              <a:t>and </a:t>
            </a:r>
            <a:r>
              <a:rPr lang="en-US" altLang="zh-CN" sz="1600" dirty="0"/>
              <a:t>end position for each block is automatically separated at the beginning symbol of </a:t>
            </a:r>
            <a:r>
              <a:rPr lang="en-US" altLang="zh-CN" sz="1600" dirty="0" smtClean="0"/>
              <a:t>reads (</a:t>
            </a:r>
            <a:r>
              <a:rPr lang="en-US" altLang="zh-CN" sz="1600" b="1" dirty="0" smtClean="0"/>
              <a:t>Location</a:t>
            </a:r>
            <a:r>
              <a:rPr lang="en-US" altLang="zh-CN" sz="1600" dirty="0" smtClean="0"/>
              <a:t>).</a:t>
            </a:r>
            <a:endParaRPr lang="en-US" altLang="zh-CN" sz="1600" dirty="0" smtClean="0"/>
          </a:p>
          <a:p>
            <a:pPr marL="742950" lvl="2" indent="-342900">
              <a:buFont typeface="Wingdings" pitchFamily="2" charset="2"/>
              <a:buChar char="§"/>
            </a:pPr>
            <a:r>
              <a:rPr lang="en-US" altLang="zh-CN" sz="1600" b="1" dirty="0" smtClean="0">
                <a:solidFill>
                  <a:srgbClr val="FF0000"/>
                </a:solidFill>
              </a:rPr>
              <a:t>Dynamical balance: </a:t>
            </a:r>
            <a:r>
              <a:rPr lang="en-US" altLang="zh-CN" sz="1600" dirty="0" smtClean="0"/>
              <a:t>Each data blocks is further divided into multiple pieces of fixed length (16M). Each round all process collectively read some pieces of data into memory.</a:t>
            </a:r>
            <a:endParaRPr lang="en-US" altLang="zh-CN" dirty="0"/>
          </a:p>
          <a:p>
            <a:r>
              <a:rPr lang="en-US" altLang="zh-CN" sz="2000" dirty="0" smtClean="0"/>
              <a:t>Benefits:</a:t>
            </a:r>
          </a:p>
          <a:p>
            <a:pPr lvl="1"/>
            <a:r>
              <a:rPr lang="en-US" altLang="zh-CN" sz="1800" dirty="0" smtClean="0"/>
              <a:t>Minimize the </a:t>
            </a:r>
            <a:r>
              <a:rPr lang="en-US" altLang="zh-CN" sz="1800" b="1" dirty="0" smtClean="0">
                <a:solidFill>
                  <a:srgbClr val="FF0000"/>
                </a:solidFill>
              </a:rPr>
              <a:t>memory usage </a:t>
            </a:r>
            <a:r>
              <a:rPr lang="en-US" altLang="zh-CN" sz="1800" dirty="0" smtClean="0"/>
              <a:t>by processing only part </a:t>
            </a:r>
            <a:r>
              <a:rPr lang="en-US" altLang="zh-CN" sz="1800" dirty="0"/>
              <a:t>of </a:t>
            </a:r>
            <a:r>
              <a:rPr lang="en-US" altLang="zh-CN" sz="1800" dirty="0" smtClean="0"/>
              <a:t>data in each round. </a:t>
            </a:r>
          </a:p>
          <a:p>
            <a:pPr lvl="1"/>
            <a:r>
              <a:rPr lang="en-US" altLang="zh-CN" sz="1800" dirty="0" smtClean="0"/>
              <a:t>Support data size </a:t>
            </a:r>
            <a:r>
              <a:rPr lang="en-US" altLang="zh-CN" sz="1800" b="1" dirty="0">
                <a:solidFill>
                  <a:srgbClr val="FF0000"/>
                </a:solidFill>
              </a:rPr>
              <a:t>self-adjustm</a:t>
            </a:r>
            <a:r>
              <a:rPr lang="en-US" altLang="zh-CN" sz="1800" b="1" dirty="0" smtClean="0">
                <a:solidFill>
                  <a:srgbClr val="FF0000"/>
                </a:solidFill>
              </a:rPr>
              <a:t>ent </a:t>
            </a:r>
            <a:r>
              <a:rPr lang="en-US" altLang="zh-CN" sz="1800" dirty="0" smtClean="0"/>
              <a:t>in </a:t>
            </a:r>
            <a:r>
              <a:rPr lang="en-US" altLang="zh-CN" sz="1800" dirty="0" err="1" smtClean="0"/>
              <a:t>kmer</a:t>
            </a:r>
            <a:r>
              <a:rPr lang="en-US" altLang="zh-CN" sz="1800" dirty="0" smtClean="0"/>
              <a:t> graph construction part</a:t>
            </a:r>
            <a:endParaRPr lang="en-US" altLang="zh-CN" sz="1800" dirty="0" smtClean="0"/>
          </a:p>
        </p:txBody>
      </p:sp>
    </p:spTree>
    <p:extLst>
      <p:ext uri="{BB962C8B-B14F-4D97-AF65-F5344CB8AC3E}">
        <p14:creationId xmlns:p14="http://schemas.microsoft.com/office/powerpoint/2010/main" val="3427088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par>
                                <p:cTn id="11" presetID="10" presetClass="entr" presetSubtype="0"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500"/>
                                        <p:tgtEl>
                                          <p:spTgt spid="4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36"/>
                                        </p:tgtEl>
                                      </p:cBhvr>
                                    </p:animEffect>
                                    <p:set>
                                      <p:cBhvr>
                                        <p:cTn id="18" dur="1" fill="hold">
                                          <p:stCondLst>
                                            <p:cond delay="499"/>
                                          </p:stCondLst>
                                        </p:cTn>
                                        <p:tgtEl>
                                          <p:spTgt spid="36"/>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20" dur="500"/>
                                        <p:tgtEl>
                                          <p:spTgt spid="37"/>
                                        </p:tgtEl>
                                      </p:cBhvr>
                                    </p:animEffect>
                                    <p:set>
                                      <p:cBhvr>
                                        <p:cTn id="21" dur="1" fill="hold">
                                          <p:stCondLst>
                                            <p:cond delay="499"/>
                                          </p:stCondLst>
                                        </p:cTn>
                                        <p:tgtEl>
                                          <p:spTgt spid="37"/>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500"/>
                                        <p:tgtEl>
                                          <p:spTgt spid="40"/>
                                        </p:tgtEl>
                                      </p:cBhvr>
                                    </p:animEffect>
                                    <p:set>
                                      <p:cBhvr>
                                        <p:cTn id="24" dur="1" fill="hold">
                                          <p:stCondLst>
                                            <p:cond delay="499"/>
                                          </p:stCondLst>
                                        </p:cTn>
                                        <p:tgtEl>
                                          <p:spTgt spid="40"/>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500"/>
                                        <p:tgtEl>
                                          <p:spTgt spid="44"/>
                                        </p:tgtEl>
                                      </p:cBhvr>
                                    </p:animEffect>
                                  </p:childTnLst>
                                </p:cTn>
                              </p:par>
                              <p:par>
                                <p:cTn id="30" presetID="10" presetClass="entr" presetSubtype="0" fill="hold"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par>
                                <p:cTn id="33" presetID="10" presetClass="entr" presetSubtype="0" fill="hold" nodeType="with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fade">
                                      <p:cBhvr>
                                        <p:cTn id="35" dur="500"/>
                                        <p:tgtEl>
                                          <p:spTgt spid="4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nodeType="clickEffect">
                                  <p:stCondLst>
                                    <p:cond delay="0"/>
                                  </p:stCondLst>
                                  <p:childTnLst>
                                    <p:animEffect transition="out" filter="fade">
                                      <p:cBhvr>
                                        <p:cTn id="39" dur="500"/>
                                        <p:tgtEl>
                                          <p:spTgt spid="44"/>
                                        </p:tgtEl>
                                      </p:cBhvr>
                                    </p:animEffect>
                                    <p:set>
                                      <p:cBhvr>
                                        <p:cTn id="40" dur="1" fill="hold">
                                          <p:stCondLst>
                                            <p:cond delay="499"/>
                                          </p:stCondLst>
                                        </p:cTn>
                                        <p:tgtEl>
                                          <p:spTgt spid="44"/>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45"/>
                                        </p:tgtEl>
                                      </p:cBhvr>
                                    </p:animEffect>
                                    <p:set>
                                      <p:cBhvr>
                                        <p:cTn id="43" dur="1" fill="hold">
                                          <p:stCondLst>
                                            <p:cond delay="499"/>
                                          </p:stCondLst>
                                        </p:cTn>
                                        <p:tgtEl>
                                          <p:spTgt spid="45"/>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500"/>
                                        <p:tgtEl>
                                          <p:spTgt spid="48"/>
                                        </p:tgtEl>
                                      </p:cBhvr>
                                    </p:animEffect>
                                    <p:set>
                                      <p:cBhvr>
                                        <p:cTn id="46" dur="1" fill="hold">
                                          <p:stCondLst>
                                            <p:cond delay="499"/>
                                          </p:stCondLst>
                                        </p:cTn>
                                        <p:tgtEl>
                                          <p:spTgt spid="48"/>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1"/>
                                        </p:tgtEl>
                                        <p:attrNameLst>
                                          <p:attrName>style.visibility</p:attrName>
                                        </p:attrNameLst>
                                      </p:cBhvr>
                                      <p:to>
                                        <p:strVal val="visible"/>
                                      </p:to>
                                    </p:set>
                                    <p:animEffect transition="in" filter="fade">
                                      <p:cBhvr>
                                        <p:cTn id="51" dur="500"/>
                                        <p:tgtEl>
                                          <p:spTgt spid="51"/>
                                        </p:tgtEl>
                                      </p:cBhvr>
                                    </p:animEffect>
                                  </p:childTnLst>
                                </p:cTn>
                              </p:par>
                              <p:par>
                                <p:cTn id="52" presetID="10" presetClass="entr" presetSubtype="0" fill="hold" nodeType="with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fade">
                                      <p:cBhvr>
                                        <p:cTn id="54" dur="500"/>
                                        <p:tgtEl>
                                          <p:spTgt spid="54"/>
                                        </p:tgtEl>
                                      </p:cBhvr>
                                    </p:animEffect>
                                  </p:childTnLst>
                                </p:cTn>
                              </p:par>
                              <p:par>
                                <p:cTn id="55" presetID="10" presetClass="entr" presetSubtype="0" fill="hold" nodeType="with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500"/>
                                        <p:tgtEl>
                                          <p:spTgt spid="5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nodeType="clickEffect">
                                  <p:stCondLst>
                                    <p:cond delay="0"/>
                                  </p:stCondLst>
                                  <p:childTnLst>
                                    <p:animEffect transition="out" filter="fade">
                                      <p:cBhvr>
                                        <p:cTn id="61" dur="500"/>
                                        <p:tgtEl>
                                          <p:spTgt spid="51"/>
                                        </p:tgtEl>
                                      </p:cBhvr>
                                    </p:animEffect>
                                    <p:set>
                                      <p:cBhvr>
                                        <p:cTn id="62" dur="1" fill="hold">
                                          <p:stCondLst>
                                            <p:cond delay="499"/>
                                          </p:stCondLst>
                                        </p:cTn>
                                        <p:tgtEl>
                                          <p:spTgt spid="51"/>
                                        </p:tgtEl>
                                        <p:attrNameLst>
                                          <p:attrName>style.visibility</p:attrName>
                                        </p:attrNameLst>
                                      </p:cBhvr>
                                      <p:to>
                                        <p:strVal val="hidden"/>
                                      </p:to>
                                    </p:set>
                                  </p:childTnLst>
                                </p:cTn>
                              </p:par>
                              <p:par>
                                <p:cTn id="63" presetID="10" presetClass="exit" presetSubtype="0" fill="hold" nodeType="withEffect">
                                  <p:stCondLst>
                                    <p:cond delay="0"/>
                                  </p:stCondLst>
                                  <p:childTnLst>
                                    <p:animEffect transition="out" filter="fade">
                                      <p:cBhvr>
                                        <p:cTn id="64" dur="500"/>
                                        <p:tgtEl>
                                          <p:spTgt spid="54"/>
                                        </p:tgtEl>
                                      </p:cBhvr>
                                    </p:animEffect>
                                    <p:set>
                                      <p:cBhvr>
                                        <p:cTn id="65" dur="1" fill="hold">
                                          <p:stCondLst>
                                            <p:cond delay="499"/>
                                          </p:stCondLst>
                                        </p:cTn>
                                        <p:tgtEl>
                                          <p:spTgt spid="54"/>
                                        </p:tgtEl>
                                        <p:attrNameLst>
                                          <p:attrName>style.visibility</p:attrName>
                                        </p:attrNameLst>
                                      </p:cBhvr>
                                      <p:to>
                                        <p:strVal val="hidden"/>
                                      </p:to>
                                    </p:set>
                                  </p:childTnLst>
                                </p:cTn>
                              </p:par>
                              <p:par>
                                <p:cTn id="66" presetID="10" presetClass="exit" presetSubtype="0" fill="hold" nodeType="withEffect">
                                  <p:stCondLst>
                                    <p:cond delay="0"/>
                                  </p:stCondLst>
                                  <p:childTnLst>
                                    <p:animEffect transition="out" filter="fade">
                                      <p:cBhvr>
                                        <p:cTn id="67" dur="500"/>
                                        <p:tgtEl>
                                          <p:spTgt spid="57"/>
                                        </p:tgtEl>
                                      </p:cBhvr>
                                    </p:animEffect>
                                    <p:set>
                                      <p:cBhvr>
                                        <p:cTn id="68" dur="1" fill="hold">
                                          <p:stCondLst>
                                            <p:cond delay="499"/>
                                          </p:stCondLst>
                                        </p:cTn>
                                        <p:tgtEl>
                                          <p:spTgt spid="57"/>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72"/>
                                        </p:tgtEl>
                                        <p:attrNameLst>
                                          <p:attrName>style.visibility</p:attrName>
                                        </p:attrNameLst>
                                      </p:cBhvr>
                                      <p:to>
                                        <p:strVal val="visible"/>
                                      </p:to>
                                    </p:set>
                                    <p:animEffect transition="in" filter="fade">
                                      <p:cBhvr>
                                        <p:cTn id="73" dur="500"/>
                                        <p:tgtEl>
                                          <p:spTgt spid="72"/>
                                        </p:tgtEl>
                                      </p:cBhvr>
                                    </p:animEffect>
                                  </p:childTnLst>
                                </p:cTn>
                              </p:par>
                              <p:par>
                                <p:cTn id="74" presetID="10" presetClass="entr" presetSubtype="0" fill="hold" nodeType="withEffect">
                                  <p:stCondLst>
                                    <p:cond delay="0"/>
                                  </p:stCondLst>
                                  <p:childTnLst>
                                    <p:set>
                                      <p:cBhvr>
                                        <p:cTn id="75" dur="1" fill="hold">
                                          <p:stCondLst>
                                            <p:cond delay="0"/>
                                          </p:stCondLst>
                                        </p:cTn>
                                        <p:tgtEl>
                                          <p:spTgt spid="76"/>
                                        </p:tgtEl>
                                        <p:attrNameLst>
                                          <p:attrName>style.visibility</p:attrName>
                                        </p:attrNameLst>
                                      </p:cBhvr>
                                      <p:to>
                                        <p:strVal val="visible"/>
                                      </p:to>
                                    </p:set>
                                    <p:animEffect transition="in" filter="fade">
                                      <p:cBhvr>
                                        <p:cTn id="76" dur="500"/>
                                        <p:tgtEl>
                                          <p:spTgt spid="76"/>
                                        </p:tgtEl>
                                      </p:cBhvr>
                                    </p:animEffect>
                                  </p:childTnLst>
                                </p:cTn>
                              </p:par>
                              <p:par>
                                <p:cTn id="77" presetID="10" presetClass="entr" presetSubtype="0" fill="hold" nodeType="withEffect">
                                  <p:stCondLst>
                                    <p:cond delay="0"/>
                                  </p:stCondLst>
                                  <p:childTnLst>
                                    <p:set>
                                      <p:cBhvr>
                                        <p:cTn id="78" dur="1" fill="hold">
                                          <p:stCondLst>
                                            <p:cond delay="0"/>
                                          </p:stCondLst>
                                        </p:cTn>
                                        <p:tgtEl>
                                          <p:spTgt spid="82"/>
                                        </p:tgtEl>
                                        <p:attrNameLst>
                                          <p:attrName>style.visibility</p:attrName>
                                        </p:attrNameLst>
                                      </p:cBhvr>
                                      <p:to>
                                        <p:strVal val="visible"/>
                                      </p:to>
                                    </p:set>
                                    <p:animEffect transition="in" filter="fade">
                                      <p:cBhvr>
                                        <p:cTn id="79" dur="500"/>
                                        <p:tgtEl>
                                          <p:spTgt spid="8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xit" presetSubtype="0" fill="hold" nodeType="clickEffect">
                                  <p:stCondLst>
                                    <p:cond delay="0"/>
                                  </p:stCondLst>
                                  <p:childTnLst>
                                    <p:animEffect transition="out" filter="fade">
                                      <p:cBhvr>
                                        <p:cTn id="83" dur="500"/>
                                        <p:tgtEl>
                                          <p:spTgt spid="72"/>
                                        </p:tgtEl>
                                      </p:cBhvr>
                                    </p:animEffect>
                                    <p:set>
                                      <p:cBhvr>
                                        <p:cTn id="84" dur="1" fill="hold">
                                          <p:stCondLst>
                                            <p:cond delay="499"/>
                                          </p:stCondLst>
                                        </p:cTn>
                                        <p:tgtEl>
                                          <p:spTgt spid="72"/>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500"/>
                                        <p:tgtEl>
                                          <p:spTgt spid="76"/>
                                        </p:tgtEl>
                                      </p:cBhvr>
                                    </p:animEffect>
                                    <p:set>
                                      <p:cBhvr>
                                        <p:cTn id="87" dur="1" fill="hold">
                                          <p:stCondLst>
                                            <p:cond delay="499"/>
                                          </p:stCondLst>
                                        </p:cTn>
                                        <p:tgtEl>
                                          <p:spTgt spid="76"/>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500"/>
                                        <p:tgtEl>
                                          <p:spTgt spid="82"/>
                                        </p:tgtEl>
                                      </p:cBhvr>
                                    </p:animEffect>
                                    <p:set>
                                      <p:cBhvr>
                                        <p:cTn id="90" dur="1" fill="hold">
                                          <p:stCondLst>
                                            <p:cond delay="499"/>
                                          </p:stCondLst>
                                        </p:cTn>
                                        <p:tgtEl>
                                          <p:spTgt spid="8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87034D8C-3CB4-402A-BC46-2AB14C0FE90A}" type="slidenum">
              <a:rPr lang="en-US" smtClean="0"/>
              <a:pPr/>
              <a:t>13</a:t>
            </a:fld>
            <a:endParaRPr lang="en-US"/>
          </a:p>
        </p:txBody>
      </p:sp>
      <p:sp>
        <p:nvSpPr>
          <p:cNvPr id="5" name="灯片编号占位符 3"/>
          <p:cNvSpPr txBox="1">
            <a:spLocks/>
          </p:cNvSpPr>
          <p:nvPr/>
        </p:nvSpPr>
        <p:spPr bwMode="auto">
          <a:xfrm>
            <a:off x="8610600" y="6489700"/>
            <a:ext cx="384175" cy="3651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034D8C-3CB4-402A-BC46-2AB14C0FE90A}" type="slidenum">
              <a:rPr lang="en-US" smtClean="0"/>
              <a:pPr/>
              <a:t>13</a:t>
            </a:fld>
            <a:endParaRPr lang="en-US"/>
          </a:p>
        </p:txBody>
      </p:sp>
      <p:sp>
        <p:nvSpPr>
          <p:cNvPr id="6" name="矩形 5"/>
          <p:cNvSpPr/>
          <p:nvPr/>
        </p:nvSpPr>
        <p:spPr bwMode="auto">
          <a:xfrm>
            <a:off x="0" y="3962400"/>
            <a:ext cx="762000" cy="304800"/>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dirty="0" smtClean="0">
                <a:solidFill>
                  <a:schemeClr val="tx1"/>
                </a:solidFill>
                <a:latin typeface="Calibri" pitchFamily="34" charset="0"/>
              </a:rPr>
              <a:t>A0</a:t>
            </a:r>
            <a:endParaRPr lang="zh-CN" altLang="en-US" dirty="0">
              <a:solidFill>
                <a:schemeClr val="tx1"/>
              </a:solidFill>
              <a:latin typeface="Calibri" pitchFamily="34" charset="0"/>
            </a:endParaRPr>
          </a:p>
        </p:txBody>
      </p:sp>
      <p:sp>
        <p:nvSpPr>
          <p:cNvPr id="7" name="矩形 6"/>
          <p:cNvSpPr/>
          <p:nvPr/>
        </p:nvSpPr>
        <p:spPr bwMode="auto">
          <a:xfrm>
            <a:off x="762000" y="3962400"/>
            <a:ext cx="762000" cy="304800"/>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A1</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8" name="矩形 7"/>
          <p:cNvSpPr/>
          <p:nvPr/>
        </p:nvSpPr>
        <p:spPr bwMode="auto">
          <a:xfrm>
            <a:off x="1524000" y="3962400"/>
            <a:ext cx="762000" cy="304800"/>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A2</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9" name="矩形 8"/>
          <p:cNvSpPr/>
          <p:nvPr/>
        </p:nvSpPr>
        <p:spPr bwMode="auto">
          <a:xfrm>
            <a:off x="3048000" y="3962400"/>
            <a:ext cx="762000" cy="304800"/>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B0</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10" name="矩形 9"/>
          <p:cNvSpPr/>
          <p:nvPr/>
        </p:nvSpPr>
        <p:spPr bwMode="auto">
          <a:xfrm>
            <a:off x="3810000" y="3962400"/>
            <a:ext cx="762000" cy="304800"/>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dirty="0" smtClean="0">
                <a:solidFill>
                  <a:schemeClr val="tx1"/>
                </a:solidFill>
                <a:latin typeface="Calibri" pitchFamily="34" charset="0"/>
              </a:rPr>
              <a:t>B1</a:t>
            </a:r>
            <a:endParaRPr lang="zh-CN" altLang="en-US" dirty="0">
              <a:solidFill>
                <a:schemeClr val="tx1"/>
              </a:solidFill>
              <a:latin typeface="Calibri" pitchFamily="34" charset="0"/>
            </a:endParaRPr>
          </a:p>
        </p:txBody>
      </p:sp>
      <p:sp>
        <p:nvSpPr>
          <p:cNvPr id="11" name="矩形 10"/>
          <p:cNvSpPr/>
          <p:nvPr/>
        </p:nvSpPr>
        <p:spPr bwMode="auto">
          <a:xfrm>
            <a:off x="4572000" y="3962400"/>
            <a:ext cx="762000" cy="304800"/>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B2</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12" name="矩形 11"/>
          <p:cNvSpPr/>
          <p:nvPr/>
        </p:nvSpPr>
        <p:spPr bwMode="auto">
          <a:xfrm>
            <a:off x="6096000" y="3962400"/>
            <a:ext cx="7620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C0</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13" name="矩形 12"/>
          <p:cNvSpPr/>
          <p:nvPr/>
        </p:nvSpPr>
        <p:spPr bwMode="auto">
          <a:xfrm>
            <a:off x="6858000" y="3962400"/>
            <a:ext cx="7620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C1</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14" name="矩形 13"/>
          <p:cNvSpPr/>
          <p:nvPr/>
        </p:nvSpPr>
        <p:spPr bwMode="auto">
          <a:xfrm>
            <a:off x="7620000" y="3962400"/>
            <a:ext cx="7620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C2</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15" name="椭圆 14"/>
          <p:cNvSpPr/>
          <p:nvPr/>
        </p:nvSpPr>
        <p:spPr bwMode="auto">
          <a:xfrm>
            <a:off x="2019300" y="4953000"/>
            <a:ext cx="533400" cy="53340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P0</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16" name="椭圆 15"/>
          <p:cNvSpPr/>
          <p:nvPr/>
        </p:nvSpPr>
        <p:spPr bwMode="auto">
          <a:xfrm>
            <a:off x="4305300" y="4953000"/>
            <a:ext cx="533400" cy="53340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P1</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17" name="椭圆 16"/>
          <p:cNvSpPr/>
          <p:nvPr/>
        </p:nvSpPr>
        <p:spPr bwMode="auto">
          <a:xfrm>
            <a:off x="6591300" y="4953000"/>
            <a:ext cx="533400" cy="53340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P2</a:t>
            </a:r>
            <a:endParaRPr kumimoji="0" lang="zh-CN" altLang="en-US" sz="1800" b="0" i="0" u="none" strike="noStrike" cap="none" normalizeH="0" baseline="0" dirty="0" smtClean="0">
              <a:ln>
                <a:noFill/>
              </a:ln>
              <a:solidFill>
                <a:schemeClr val="tx1"/>
              </a:solidFill>
              <a:effectLst/>
              <a:latin typeface="Calibri" pitchFamily="34" charset="0"/>
            </a:endParaRPr>
          </a:p>
        </p:txBody>
      </p:sp>
      <p:cxnSp>
        <p:nvCxnSpPr>
          <p:cNvPr id="18" name="直接箭头连接符 17"/>
          <p:cNvCxnSpPr>
            <a:stCxn id="6" idx="2"/>
            <a:endCxn id="15" idx="1"/>
          </p:cNvCxnSpPr>
          <p:nvPr/>
        </p:nvCxnSpPr>
        <p:spPr bwMode="auto">
          <a:xfrm>
            <a:off x="381000" y="4267200"/>
            <a:ext cx="1716415" cy="763915"/>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19" name="直接箭头连接符 18"/>
          <p:cNvCxnSpPr>
            <a:stCxn id="9" idx="2"/>
            <a:endCxn id="16" idx="1"/>
          </p:cNvCxnSpPr>
          <p:nvPr/>
        </p:nvCxnSpPr>
        <p:spPr bwMode="auto">
          <a:xfrm>
            <a:off x="3429000" y="4267200"/>
            <a:ext cx="954415" cy="763915"/>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20" name="直接箭头连接符 19"/>
          <p:cNvCxnSpPr>
            <a:stCxn id="12" idx="2"/>
            <a:endCxn id="17" idx="1"/>
          </p:cNvCxnSpPr>
          <p:nvPr/>
        </p:nvCxnSpPr>
        <p:spPr bwMode="auto">
          <a:xfrm>
            <a:off x="6477000" y="4267200"/>
            <a:ext cx="192415" cy="763915"/>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21" name="直接箭头连接符 20"/>
          <p:cNvCxnSpPr>
            <a:stCxn id="7" idx="2"/>
            <a:endCxn id="15" idx="0"/>
          </p:cNvCxnSpPr>
          <p:nvPr/>
        </p:nvCxnSpPr>
        <p:spPr bwMode="auto">
          <a:xfrm>
            <a:off x="1143000" y="4267200"/>
            <a:ext cx="1143000" cy="685800"/>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22" name="直接箭头连接符 21"/>
          <p:cNvCxnSpPr>
            <a:stCxn id="10" idx="2"/>
            <a:endCxn id="16" idx="0"/>
          </p:cNvCxnSpPr>
          <p:nvPr/>
        </p:nvCxnSpPr>
        <p:spPr bwMode="auto">
          <a:xfrm>
            <a:off x="4191000" y="4267200"/>
            <a:ext cx="381000" cy="685800"/>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23" name="直接箭头连接符 22"/>
          <p:cNvCxnSpPr>
            <a:stCxn id="13" idx="2"/>
            <a:endCxn id="17" idx="0"/>
          </p:cNvCxnSpPr>
          <p:nvPr/>
        </p:nvCxnSpPr>
        <p:spPr bwMode="auto">
          <a:xfrm flipH="1">
            <a:off x="6858000" y="4267200"/>
            <a:ext cx="381000" cy="685800"/>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24" name="直接箭头连接符 23"/>
          <p:cNvCxnSpPr>
            <a:stCxn id="8" idx="2"/>
            <a:endCxn id="15" idx="0"/>
          </p:cNvCxnSpPr>
          <p:nvPr/>
        </p:nvCxnSpPr>
        <p:spPr bwMode="auto">
          <a:xfrm>
            <a:off x="1905000" y="4267200"/>
            <a:ext cx="381000" cy="685800"/>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25" name="直接箭头连接符 24"/>
          <p:cNvCxnSpPr>
            <a:stCxn id="11" idx="2"/>
            <a:endCxn id="16" idx="0"/>
          </p:cNvCxnSpPr>
          <p:nvPr/>
        </p:nvCxnSpPr>
        <p:spPr bwMode="auto">
          <a:xfrm flipH="1">
            <a:off x="4572000" y="4267200"/>
            <a:ext cx="381000" cy="685800"/>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26" name="直接箭头连接符 25"/>
          <p:cNvCxnSpPr>
            <a:stCxn id="14" idx="2"/>
            <a:endCxn id="17" idx="0"/>
          </p:cNvCxnSpPr>
          <p:nvPr/>
        </p:nvCxnSpPr>
        <p:spPr bwMode="auto">
          <a:xfrm flipH="1">
            <a:off x="6858000" y="4267200"/>
            <a:ext cx="1143000" cy="685800"/>
          </a:xfrm>
          <a:prstGeom prst="straightConnector1">
            <a:avLst/>
          </a:prstGeom>
          <a:noFill/>
          <a:ln w="9525" cap="flat" cmpd="sng" algn="ctr">
            <a:solidFill>
              <a:schemeClr val="bg2">
                <a:lumMod val="10000"/>
              </a:schemeClr>
            </a:solidFill>
            <a:prstDash val="solid"/>
            <a:round/>
            <a:headEnd type="none" w="med" len="med"/>
            <a:tailEnd type="arrow"/>
          </a:ln>
          <a:effectLst/>
        </p:spPr>
      </p:cxnSp>
      <p:sp>
        <p:nvSpPr>
          <p:cNvPr id="27" name="圆角矩形 26"/>
          <p:cNvSpPr/>
          <p:nvPr/>
        </p:nvSpPr>
        <p:spPr bwMode="auto">
          <a:xfrm>
            <a:off x="1962150" y="6248400"/>
            <a:ext cx="647700" cy="457200"/>
          </a:xfrm>
          <a:prstGeom prst="roundRect">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200" dirty="0" err="1" smtClean="0">
                <a:solidFill>
                  <a:schemeClr val="tx1">
                    <a:lumMod val="50000"/>
                  </a:schemeClr>
                </a:solidFill>
                <a:latin typeface="Calibri" pitchFamily="34" charset="0"/>
              </a:rPr>
              <a:t>Kmer</a:t>
            </a:r>
            <a:endParaRPr lang="en-US" altLang="zh-CN" sz="1200" dirty="0" smtClean="0">
              <a:solidFill>
                <a:schemeClr val="tx1">
                  <a:lumMod val="50000"/>
                </a:schemeClr>
              </a:solidFill>
              <a:latin typeface="Calibri" pitchFamily="34" charset="0"/>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zh-CN" sz="1200" dirty="0" smtClean="0">
                <a:solidFill>
                  <a:schemeClr val="tx1">
                    <a:lumMod val="50000"/>
                  </a:schemeClr>
                </a:solidFill>
                <a:latin typeface="Calibri" pitchFamily="34" charset="0"/>
              </a:rPr>
              <a:t>Graph</a:t>
            </a:r>
            <a:endParaRPr kumimoji="0" lang="zh-CN" altLang="en-US" sz="1200" b="0" i="0" u="none" strike="noStrike" cap="none" normalizeH="0" baseline="0" dirty="0" smtClean="0">
              <a:ln>
                <a:noFill/>
              </a:ln>
              <a:solidFill>
                <a:schemeClr val="tx1">
                  <a:lumMod val="50000"/>
                </a:schemeClr>
              </a:solidFill>
              <a:effectLst/>
              <a:latin typeface="Calibri" pitchFamily="34" charset="0"/>
            </a:endParaRPr>
          </a:p>
        </p:txBody>
      </p:sp>
      <p:sp>
        <p:nvSpPr>
          <p:cNvPr id="28" name="圆角矩形 27"/>
          <p:cNvSpPr/>
          <p:nvPr/>
        </p:nvSpPr>
        <p:spPr bwMode="auto">
          <a:xfrm>
            <a:off x="4248150" y="6248400"/>
            <a:ext cx="647700" cy="457200"/>
          </a:xfrm>
          <a:prstGeom prst="roundRect">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US" altLang="zh-CN" sz="1200" dirty="0" err="1">
                <a:solidFill>
                  <a:schemeClr val="tx1">
                    <a:lumMod val="50000"/>
                  </a:schemeClr>
                </a:solidFill>
                <a:latin typeface="Calibri" pitchFamily="34" charset="0"/>
              </a:rPr>
              <a:t>Kmer</a:t>
            </a:r>
            <a:endParaRPr lang="en-US" altLang="zh-CN" sz="1200" dirty="0">
              <a:solidFill>
                <a:schemeClr val="tx1">
                  <a:lumMod val="50000"/>
                </a:schemeClr>
              </a:solidFill>
              <a:latin typeface="Calibri" pitchFamily="34" charset="0"/>
            </a:endParaRPr>
          </a:p>
          <a:p>
            <a:pPr fontAlgn="base">
              <a:spcBef>
                <a:spcPct val="0"/>
              </a:spcBef>
              <a:spcAft>
                <a:spcPct val="0"/>
              </a:spcAft>
            </a:pPr>
            <a:r>
              <a:rPr lang="en-US" altLang="zh-CN" sz="1200" dirty="0">
                <a:solidFill>
                  <a:schemeClr val="tx1">
                    <a:lumMod val="50000"/>
                  </a:schemeClr>
                </a:solidFill>
                <a:latin typeface="Calibri" pitchFamily="34" charset="0"/>
              </a:rPr>
              <a:t>Graph</a:t>
            </a:r>
            <a:endParaRPr lang="zh-CN" altLang="en-US" sz="1200" dirty="0">
              <a:solidFill>
                <a:schemeClr val="tx1">
                  <a:lumMod val="50000"/>
                </a:schemeClr>
              </a:solidFill>
              <a:latin typeface="Calibri" pitchFamily="34" charset="0"/>
            </a:endParaRPr>
          </a:p>
        </p:txBody>
      </p:sp>
      <p:sp>
        <p:nvSpPr>
          <p:cNvPr id="29" name="圆角矩形 28"/>
          <p:cNvSpPr/>
          <p:nvPr/>
        </p:nvSpPr>
        <p:spPr bwMode="auto">
          <a:xfrm>
            <a:off x="6534150" y="6248400"/>
            <a:ext cx="647700" cy="457200"/>
          </a:xfrm>
          <a:prstGeom prst="roundRect">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US" altLang="zh-CN" sz="1200" dirty="0" err="1">
                <a:solidFill>
                  <a:schemeClr val="tx1">
                    <a:lumMod val="50000"/>
                  </a:schemeClr>
                </a:solidFill>
                <a:latin typeface="Calibri" pitchFamily="34" charset="0"/>
              </a:rPr>
              <a:t>Kmer</a:t>
            </a:r>
            <a:endParaRPr lang="en-US" altLang="zh-CN" sz="1200" dirty="0">
              <a:solidFill>
                <a:schemeClr val="tx1">
                  <a:lumMod val="50000"/>
                </a:schemeClr>
              </a:solidFill>
              <a:latin typeface="Calibri" pitchFamily="34" charset="0"/>
            </a:endParaRPr>
          </a:p>
          <a:p>
            <a:pPr fontAlgn="base">
              <a:spcBef>
                <a:spcPct val="0"/>
              </a:spcBef>
              <a:spcAft>
                <a:spcPct val="0"/>
              </a:spcAft>
            </a:pPr>
            <a:r>
              <a:rPr lang="en-US" altLang="zh-CN" sz="1200" dirty="0">
                <a:solidFill>
                  <a:schemeClr val="tx1">
                    <a:lumMod val="50000"/>
                  </a:schemeClr>
                </a:solidFill>
                <a:latin typeface="Calibri" pitchFamily="34" charset="0"/>
              </a:rPr>
              <a:t>Graph</a:t>
            </a:r>
            <a:endParaRPr lang="zh-CN" altLang="en-US" sz="1200" dirty="0">
              <a:solidFill>
                <a:schemeClr val="tx1">
                  <a:lumMod val="50000"/>
                </a:schemeClr>
              </a:solidFill>
              <a:latin typeface="Calibri" pitchFamily="34" charset="0"/>
            </a:endParaRPr>
          </a:p>
        </p:txBody>
      </p:sp>
      <p:sp>
        <p:nvSpPr>
          <p:cNvPr id="30" name="虚尾箭头 29"/>
          <p:cNvSpPr/>
          <p:nvPr/>
        </p:nvSpPr>
        <p:spPr bwMode="auto">
          <a:xfrm>
            <a:off x="2057400" y="5791200"/>
            <a:ext cx="457200" cy="533400"/>
          </a:xfrm>
          <a:prstGeom prst="stripedRightArrow">
            <a:avLst/>
          </a:prstGeom>
          <a:solidFill>
            <a:schemeClr val="tx2">
              <a:lumMod val="60000"/>
              <a:lumOff val="40000"/>
            </a:schemeClr>
          </a:solidFill>
          <a:ln w="9525" cap="flat" cmpd="sng" algn="ctr">
            <a:noFill/>
            <a:prstDash val="solid"/>
            <a:round/>
            <a:headEnd type="none" w="med" len="med"/>
            <a:tailEnd type="none" w="med" len="med"/>
          </a:ln>
          <a:effectLst/>
          <a:scene3d>
            <a:camera prst="orthographicFront">
              <a:rot lat="0" lon="0" rev="1620000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31" name="虚尾箭头 30"/>
          <p:cNvSpPr/>
          <p:nvPr/>
        </p:nvSpPr>
        <p:spPr bwMode="auto">
          <a:xfrm>
            <a:off x="4343400" y="5791200"/>
            <a:ext cx="457200" cy="533400"/>
          </a:xfrm>
          <a:prstGeom prst="stripedRightArrow">
            <a:avLst/>
          </a:prstGeom>
          <a:solidFill>
            <a:schemeClr val="tx2">
              <a:lumMod val="60000"/>
              <a:lumOff val="40000"/>
            </a:schemeClr>
          </a:solidFill>
          <a:ln w="9525" cap="flat" cmpd="sng" algn="ctr">
            <a:noFill/>
            <a:prstDash val="solid"/>
            <a:round/>
            <a:headEnd type="none" w="med" len="med"/>
            <a:tailEnd type="none" w="med" len="med"/>
          </a:ln>
          <a:effectLst/>
          <a:scene3d>
            <a:camera prst="orthographicFront">
              <a:rot lat="0" lon="0" rev="1620000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32" name="虚尾箭头 31"/>
          <p:cNvSpPr/>
          <p:nvPr/>
        </p:nvSpPr>
        <p:spPr bwMode="auto">
          <a:xfrm>
            <a:off x="6629400" y="5791200"/>
            <a:ext cx="457200" cy="533400"/>
          </a:xfrm>
          <a:prstGeom prst="stripedRightArrow">
            <a:avLst/>
          </a:prstGeom>
          <a:solidFill>
            <a:schemeClr val="tx2">
              <a:lumMod val="60000"/>
              <a:lumOff val="40000"/>
            </a:schemeClr>
          </a:solidFill>
          <a:ln w="9525" cap="flat" cmpd="sng" algn="ctr">
            <a:noFill/>
            <a:prstDash val="solid"/>
            <a:round/>
            <a:headEnd type="none" w="med" len="med"/>
            <a:tailEnd type="none" w="med" len="med"/>
          </a:ln>
          <a:effectLst/>
          <a:scene3d>
            <a:camera prst="orthographicFront">
              <a:rot lat="0" lon="0" rev="1620000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33" name="左右箭头 32"/>
          <p:cNvSpPr/>
          <p:nvPr/>
        </p:nvSpPr>
        <p:spPr bwMode="auto">
          <a:xfrm>
            <a:off x="1600200" y="5410200"/>
            <a:ext cx="5943600" cy="457200"/>
          </a:xfrm>
          <a:prstGeom prst="leftRightArrow">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Network</a:t>
            </a:r>
          </a:p>
        </p:txBody>
      </p:sp>
      <p:cxnSp>
        <p:nvCxnSpPr>
          <p:cNvPr id="36" name="直接箭头连接符 35"/>
          <p:cNvCxnSpPr>
            <a:endCxn id="15" idx="7"/>
          </p:cNvCxnSpPr>
          <p:nvPr/>
        </p:nvCxnSpPr>
        <p:spPr bwMode="auto">
          <a:xfrm flipH="1">
            <a:off x="2474585" y="4267200"/>
            <a:ext cx="192415" cy="763915"/>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37" name="直接箭头连接符 36"/>
          <p:cNvCxnSpPr>
            <a:endCxn id="16" idx="7"/>
          </p:cNvCxnSpPr>
          <p:nvPr/>
        </p:nvCxnSpPr>
        <p:spPr bwMode="auto">
          <a:xfrm flipH="1">
            <a:off x="4760585" y="4267200"/>
            <a:ext cx="954415" cy="763915"/>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39" name="直接箭头连接符 38"/>
          <p:cNvCxnSpPr>
            <a:endCxn id="17" idx="7"/>
          </p:cNvCxnSpPr>
          <p:nvPr/>
        </p:nvCxnSpPr>
        <p:spPr bwMode="auto">
          <a:xfrm flipH="1">
            <a:off x="7046585" y="4267200"/>
            <a:ext cx="1716415" cy="763915"/>
          </a:xfrm>
          <a:prstGeom prst="straightConnector1">
            <a:avLst/>
          </a:prstGeom>
          <a:noFill/>
          <a:ln w="9525" cap="flat" cmpd="sng" algn="ctr">
            <a:solidFill>
              <a:schemeClr val="bg2">
                <a:lumMod val="10000"/>
              </a:schemeClr>
            </a:solidFill>
            <a:prstDash val="solid"/>
            <a:round/>
            <a:headEnd type="none" w="med" len="med"/>
            <a:tailEnd type="arrow"/>
          </a:ln>
          <a:effectLst/>
        </p:spPr>
      </p:cxnSp>
      <p:sp>
        <p:nvSpPr>
          <p:cNvPr id="40" name="标题 1"/>
          <p:cNvSpPr>
            <a:spLocks noGrp="1"/>
          </p:cNvSpPr>
          <p:nvPr>
            <p:ph type="title"/>
          </p:nvPr>
        </p:nvSpPr>
        <p:spPr>
          <a:xfrm>
            <a:off x="457200" y="274638"/>
            <a:ext cx="8229600" cy="1143000"/>
          </a:xfrm>
        </p:spPr>
        <p:txBody>
          <a:bodyPr/>
          <a:lstStyle/>
          <a:p>
            <a:r>
              <a:rPr lang="en-US" altLang="zh-CN" dirty="0" smtClean="0"/>
              <a:t>input &amp; output </a:t>
            </a:r>
            <a:endParaRPr lang="zh-CN" altLang="en-US" dirty="0"/>
          </a:p>
        </p:txBody>
      </p:sp>
      <p:sp>
        <p:nvSpPr>
          <p:cNvPr id="41" name="内容占位符 2"/>
          <p:cNvSpPr>
            <a:spLocks noGrp="1"/>
          </p:cNvSpPr>
          <p:nvPr>
            <p:ph idx="1"/>
          </p:nvPr>
        </p:nvSpPr>
        <p:spPr>
          <a:xfrm>
            <a:off x="457199" y="1366837"/>
            <a:ext cx="8537575" cy="2671763"/>
          </a:xfrm>
        </p:spPr>
        <p:txBody>
          <a:bodyPr/>
          <a:lstStyle/>
          <a:p>
            <a:r>
              <a:rPr lang="en-US" altLang="zh-CN" sz="2000" dirty="0"/>
              <a:t>Optimization points</a:t>
            </a:r>
          </a:p>
          <a:p>
            <a:pPr marL="742950" lvl="2" indent="-342900">
              <a:buFont typeface="Wingdings" pitchFamily="2" charset="2"/>
              <a:buChar char="§"/>
            </a:pPr>
            <a:r>
              <a:rPr lang="en-US" altLang="zh-CN" sz="1600" b="1" dirty="0">
                <a:solidFill>
                  <a:srgbClr val="FF0000"/>
                </a:solidFill>
              </a:rPr>
              <a:t>Data Partition</a:t>
            </a:r>
            <a:r>
              <a:rPr lang="en-US" altLang="zh-CN" sz="1600" dirty="0">
                <a:solidFill>
                  <a:srgbClr val="FF0000"/>
                </a:solidFill>
              </a:rPr>
              <a:t>: </a:t>
            </a:r>
            <a:r>
              <a:rPr lang="en-US" altLang="zh-CN" sz="1600" dirty="0"/>
              <a:t>Input data is divided into </a:t>
            </a:r>
            <a:r>
              <a:rPr lang="en-US" altLang="zh-CN" sz="1600" i="1" dirty="0"/>
              <a:t>p</a:t>
            </a:r>
            <a:r>
              <a:rPr lang="en-US" altLang="zh-CN" sz="1600" dirty="0"/>
              <a:t> virtual data blocks, the begin and end position for each block is automatically separated at the beginning symbol of reads (</a:t>
            </a:r>
            <a:r>
              <a:rPr lang="en-US" altLang="zh-CN" sz="1600" b="1" dirty="0"/>
              <a:t>Location</a:t>
            </a:r>
            <a:r>
              <a:rPr lang="en-US" altLang="zh-CN" sz="1600" dirty="0"/>
              <a:t>).</a:t>
            </a:r>
          </a:p>
          <a:p>
            <a:pPr marL="742950" lvl="2" indent="-342900">
              <a:buFont typeface="Wingdings" pitchFamily="2" charset="2"/>
              <a:buChar char="§"/>
            </a:pPr>
            <a:r>
              <a:rPr lang="en-US" altLang="zh-CN" sz="1600" b="1" dirty="0">
                <a:solidFill>
                  <a:srgbClr val="FF0000"/>
                </a:solidFill>
              </a:rPr>
              <a:t>Dynamical balance: </a:t>
            </a:r>
            <a:r>
              <a:rPr lang="en-US" altLang="zh-CN" sz="1600" dirty="0"/>
              <a:t>Each data blocks is further divided into multiple pieces of fixed length (16M). Each round all process collectively read some pieces of data into memory.</a:t>
            </a:r>
            <a:endParaRPr lang="en-US" altLang="zh-CN" dirty="0"/>
          </a:p>
          <a:p>
            <a:r>
              <a:rPr lang="en-US" altLang="zh-CN" sz="2000" dirty="0"/>
              <a:t>Benefits:</a:t>
            </a:r>
          </a:p>
          <a:p>
            <a:pPr lvl="1"/>
            <a:r>
              <a:rPr lang="en-US" altLang="zh-CN" sz="1800" dirty="0"/>
              <a:t>Minimize the </a:t>
            </a:r>
            <a:r>
              <a:rPr lang="en-US" altLang="zh-CN" sz="1800" b="1" dirty="0">
                <a:solidFill>
                  <a:srgbClr val="FF0000"/>
                </a:solidFill>
              </a:rPr>
              <a:t>memory usage </a:t>
            </a:r>
            <a:r>
              <a:rPr lang="en-US" altLang="zh-CN" sz="1800" dirty="0"/>
              <a:t>by processing only part of data in each round. </a:t>
            </a:r>
          </a:p>
          <a:p>
            <a:pPr lvl="1"/>
            <a:r>
              <a:rPr lang="en-US" altLang="zh-CN" sz="1800" dirty="0"/>
              <a:t>Support data size </a:t>
            </a:r>
            <a:r>
              <a:rPr lang="en-US" altLang="zh-CN" sz="1800" b="1" dirty="0">
                <a:solidFill>
                  <a:srgbClr val="FF0000"/>
                </a:solidFill>
              </a:rPr>
              <a:t>self-adjustment </a:t>
            </a:r>
            <a:r>
              <a:rPr lang="en-US" altLang="zh-CN" sz="1800" dirty="0"/>
              <a:t>in </a:t>
            </a:r>
            <a:r>
              <a:rPr lang="en-US" altLang="zh-CN" sz="1800" dirty="0" err="1"/>
              <a:t>kmer</a:t>
            </a:r>
            <a:r>
              <a:rPr lang="en-US" altLang="zh-CN" sz="1800" dirty="0"/>
              <a:t> graph construction part</a:t>
            </a:r>
          </a:p>
        </p:txBody>
      </p:sp>
      <p:sp>
        <p:nvSpPr>
          <p:cNvPr id="42" name="矩形 41"/>
          <p:cNvSpPr/>
          <p:nvPr/>
        </p:nvSpPr>
        <p:spPr bwMode="auto">
          <a:xfrm>
            <a:off x="2286000" y="3962400"/>
            <a:ext cx="609600" cy="304800"/>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A3</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43" name="矩形 42"/>
          <p:cNvSpPr/>
          <p:nvPr/>
        </p:nvSpPr>
        <p:spPr bwMode="auto">
          <a:xfrm>
            <a:off x="5334000" y="3962400"/>
            <a:ext cx="533400" cy="304800"/>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B3</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44" name="矩形 43"/>
          <p:cNvSpPr/>
          <p:nvPr/>
        </p:nvSpPr>
        <p:spPr bwMode="auto">
          <a:xfrm>
            <a:off x="8382000" y="3962400"/>
            <a:ext cx="6096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Calibri" pitchFamily="34" charset="0"/>
              </a:rPr>
              <a:t>C3</a:t>
            </a:r>
            <a:endParaRPr kumimoji="0" lang="zh-CN" altLang="en-US" sz="1800" b="0" i="0" u="none" strike="noStrike" cap="none" normalizeH="0" baseline="0" dirty="0" smtClean="0">
              <a:ln>
                <a:noFill/>
              </a:ln>
              <a:solidFill>
                <a:schemeClr val="tx1"/>
              </a:solidFill>
              <a:effectLst/>
              <a:latin typeface="Calibri" pitchFamily="34" charset="0"/>
            </a:endParaRPr>
          </a:p>
        </p:txBody>
      </p:sp>
    </p:spTree>
    <p:extLst>
      <p:ext uri="{BB962C8B-B14F-4D97-AF65-F5344CB8AC3E}">
        <p14:creationId xmlns:p14="http://schemas.microsoft.com/office/powerpoint/2010/main" val="1327224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18"/>
                                        </p:tgtEl>
                                      </p:cBhvr>
                                    </p:animEffect>
                                    <p:set>
                                      <p:cBhvr>
                                        <p:cTn id="27" dur="1" fill="hold">
                                          <p:stCondLst>
                                            <p:cond delay="499"/>
                                          </p:stCondLst>
                                        </p:cTn>
                                        <p:tgtEl>
                                          <p:spTgt spid="18"/>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29" dur="500"/>
                                        <p:tgtEl>
                                          <p:spTgt spid="21"/>
                                        </p:tgtEl>
                                      </p:cBhvr>
                                    </p:animEffect>
                                    <p:set>
                                      <p:cBhvr>
                                        <p:cTn id="30" dur="1" fill="hold">
                                          <p:stCondLst>
                                            <p:cond delay="499"/>
                                          </p:stCondLst>
                                        </p:cTn>
                                        <p:tgtEl>
                                          <p:spTgt spid="21"/>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32" dur="500"/>
                                        <p:tgtEl>
                                          <p:spTgt spid="19"/>
                                        </p:tgtEl>
                                      </p:cBhvr>
                                    </p:animEffect>
                                    <p:set>
                                      <p:cBhvr>
                                        <p:cTn id="33" dur="1" fill="hold">
                                          <p:stCondLst>
                                            <p:cond delay="499"/>
                                          </p:stCondLst>
                                        </p:cTn>
                                        <p:tgtEl>
                                          <p:spTgt spid="19"/>
                                        </p:tgtEl>
                                        <p:attrNameLst>
                                          <p:attrName>style.visibility</p:attrName>
                                        </p:attrNameLst>
                                      </p:cBhvr>
                                      <p:to>
                                        <p:strVal val="hidden"/>
                                      </p:to>
                                    </p:set>
                                  </p:childTnLst>
                                </p:cTn>
                              </p:par>
                              <p:par>
                                <p:cTn id="34" presetID="10" presetClass="exit" presetSubtype="0" fill="hold" nodeType="withEffect">
                                  <p:stCondLst>
                                    <p:cond delay="0"/>
                                  </p:stCondLst>
                                  <p:childTnLst>
                                    <p:animEffect transition="out" filter="fade">
                                      <p:cBhvr>
                                        <p:cTn id="35" dur="500"/>
                                        <p:tgtEl>
                                          <p:spTgt spid="22"/>
                                        </p:tgtEl>
                                      </p:cBhvr>
                                    </p:animEffect>
                                    <p:set>
                                      <p:cBhvr>
                                        <p:cTn id="36" dur="1" fill="hold">
                                          <p:stCondLst>
                                            <p:cond delay="499"/>
                                          </p:stCondLst>
                                        </p:cTn>
                                        <p:tgtEl>
                                          <p:spTgt spid="22"/>
                                        </p:tgtEl>
                                        <p:attrNameLst>
                                          <p:attrName>style.visibility</p:attrName>
                                        </p:attrNameLst>
                                      </p:cBhvr>
                                      <p:to>
                                        <p:strVal val="hidden"/>
                                      </p:to>
                                    </p:set>
                                  </p:childTnLst>
                                </p:cTn>
                              </p:par>
                              <p:par>
                                <p:cTn id="37" presetID="10" presetClass="exit" presetSubtype="0" fill="hold" nodeType="withEffect">
                                  <p:stCondLst>
                                    <p:cond delay="0"/>
                                  </p:stCondLst>
                                  <p:childTnLst>
                                    <p:animEffect transition="out" filter="fade">
                                      <p:cBhvr>
                                        <p:cTn id="38" dur="500"/>
                                        <p:tgtEl>
                                          <p:spTgt spid="20"/>
                                        </p:tgtEl>
                                      </p:cBhvr>
                                    </p:animEffect>
                                    <p:set>
                                      <p:cBhvr>
                                        <p:cTn id="39" dur="1" fill="hold">
                                          <p:stCondLst>
                                            <p:cond delay="499"/>
                                          </p:stCondLst>
                                        </p:cTn>
                                        <p:tgtEl>
                                          <p:spTgt spid="20"/>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500"/>
                                        <p:tgtEl>
                                          <p:spTgt spid="23"/>
                                        </p:tgtEl>
                                      </p:cBhvr>
                                    </p:animEffect>
                                    <p:set>
                                      <p:cBhvr>
                                        <p:cTn id="42" dur="1" fill="hold">
                                          <p:stCondLst>
                                            <p:cond delay="499"/>
                                          </p:stCondLst>
                                        </p:cTn>
                                        <p:tgtEl>
                                          <p:spTgt spid="2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par>
                                <p:cTn id="48" presetID="10" presetClass="entr" presetSubtype="0" fill="hold" nodeType="with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500"/>
                                        <p:tgtEl>
                                          <p:spTgt spid="36"/>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500"/>
                                        <p:tgtEl>
                                          <p:spTgt spid="25"/>
                                        </p:tgtEl>
                                      </p:cBhvr>
                                    </p:animEffect>
                                  </p:childTnLst>
                                </p:cTn>
                              </p:par>
                              <p:par>
                                <p:cTn id="54" presetID="10" presetClass="entr" presetSubtype="0" fill="hold" nodeType="with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fade">
                                      <p:cBhvr>
                                        <p:cTn id="56" dur="500"/>
                                        <p:tgtEl>
                                          <p:spTgt spid="37"/>
                                        </p:tgtEl>
                                      </p:cBhvr>
                                    </p:animEffect>
                                  </p:childTnLst>
                                </p:cTn>
                              </p:par>
                              <p:par>
                                <p:cTn id="57" presetID="10" presetClass="entr" presetSubtype="0" fill="hold"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500"/>
                                        <p:tgtEl>
                                          <p:spTgt spid="26"/>
                                        </p:tgtEl>
                                      </p:cBhvr>
                                    </p:animEffect>
                                  </p:childTnLst>
                                </p:cTn>
                              </p:par>
                              <p:par>
                                <p:cTn id="60" presetID="10" presetClass="entr" presetSubtype="0" fill="hold"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500"/>
                                        <p:tgtEl>
                                          <p:spTgt spid="3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nodeType="clickEffect">
                                  <p:stCondLst>
                                    <p:cond delay="0"/>
                                  </p:stCondLst>
                                  <p:childTnLst>
                                    <p:animEffect transition="out" filter="fade">
                                      <p:cBhvr>
                                        <p:cTn id="66" dur="500"/>
                                        <p:tgtEl>
                                          <p:spTgt spid="24"/>
                                        </p:tgtEl>
                                      </p:cBhvr>
                                    </p:animEffect>
                                    <p:set>
                                      <p:cBhvr>
                                        <p:cTn id="67" dur="1" fill="hold">
                                          <p:stCondLst>
                                            <p:cond delay="499"/>
                                          </p:stCondLst>
                                        </p:cTn>
                                        <p:tgtEl>
                                          <p:spTgt spid="24"/>
                                        </p:tgtEl>
                                        <p:attrNameLst>
                                          <p:attrName>style.visibility</p:attrName>
                                        </p:attrNameLst>
                                      </p:cBhvr>
                                      <p:to>
                                        <p:strVal val="hidden"/>
                                      </p:to>
                                    </p:set>
                                  </p:childTnLst>
                                </p:cTn>
                              </p:par>
                              <p:par>
                                <p:cTn id="68" presetID="10" presetClass="exit" presetSubtype="0" fill="hold" nodeType="withEffect">
                                  <p:stCondLst>
                                    <p:cond delay="0"/>
                                  </p:stCondLst>
                                  <p:childTnLst>
                                    <p:animEffect transition="out" filter="fade">
                                      <p:cBhvr>
                                        <p:cTn id="69" dur="500"/>
                                        <p:tgtEl>
                                          <p:spTgt spid="36"/>
                                        </p:tgtEl>
                                      </p:cBhvr>
                                    </p:animEffect>
                                    <p:set>
                                      <p:cBhvr>
                                        <p:cTn id="70" dur="1" fill="hold">
                                          <p:stCondLst>
                                            <p:cond delay="499"/>
                                          </p:stCondLst>
                                        </p:cTn>
                                        <p:tgtEl>
                                          <p:spTgt spid="36"/>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500"/>
                                        <p:tgtEl>
                                          <p:spTgt spid="25"/>
                                        </p:tgtEl>
                                      </p:cBhvr>
                                    </p:animEffect>
                                    <p:set>
                                      <p:cBhvr>
                                        <p:cTn id="73" dur="1" fill="hold">
                                          <p:stCondLst>
                                            <p:cond delay="499"/>
                                          </p:stCondLst>
                                        </p:cTn>
                                        <p:tgtEl>
                                          <p:spTgt spid="25"/>
                                        </p:tgtEl>
                                        <p:attrNameLst>
                                          <p:attrName>style.visibility</p:attrName>
                                        </p:attrNameLst>
                                      </p:cBhvr>
                                      <p:to>
                                        <p:strVal val="hidden"/>
                                      </p:to>
                                    </p:set>
                                  </p:childTnLst>
                                </p:cTn>
                              </p:par>
                              <p:par>
                                <p:cTn id="74" presetID="10" presetClass="exit" presetSubtype="0" fill="hold" nodeType="withEffect">
                                  <p:stCondLst>
                                    <p:cond delay="0"/>
                                  </p:stCondLst>
                                  <p:childTnLst>
                                    <p:animEffect transition="out" filter="fade">
                                      <p:cBhvr>
                                        <p:cTn id="75" dur="500"/>
                                        <p:tgtEl>
                                          <p:spTgt spid="37"/>
                                        </p:tgtEl>
                                      </p:cBhvr>
                                    </p:animEffect>
                                    <p:set>
                                      <p:cBhvr>
                                        <p:cTn id="76" dur="1" fill="hold">
                                          <p:stCondLst>
                                            <p:cond delay="499"/>
                                          </p:stCondLst>
                                        </p:cTn>
                                        <p:tgtEl>
                                          <p:spTgt spid="37"/>
                                        </p:tgtEl>
                                        <p:attrNameLst>
                                          <p:attrName>style.visibility</p:attrName>
                                        </p:attrNameLst>
                                      </p:cBhvr>
                                      <p:to>
                                        <p:strVal val="hidden"/>
                                      </p:to>
                                    </p:set>
                                  </p:childTnLst>
                                </p:cTn>
                              </p:par>
                              <p:par>
                                <p:cTn id="77" presetID="10" presetClass="exit" presetSubtype="0" fill="hold" nodeType="withEffect">
                                  <p:stCondLst>
                                    <p:cond delay="0"/>
                                  </p:stCondLst>
                                  <p:childTnLst>
                                    <p:animEffect transition="out" filter="fade">
                                      <p:cBhvr>
                                        <p:cTn id="78" dur="500"/>
                                        <p:tgtEl>
                                          <p:spTgt spid="26"/>
                                        </p:tgtEl>
                                      </p:cBhvr>
                                    </p:animEffect>
                                    <p:set>
                                      <p:cBhvr>
                                        <p:cTn id="79" dur="1" fill="hold">
                                          <p:stCondLst>
                                            <p:cond delay="499"/>
                                          </p:stCondLst>
                                        </p:cTn>
                                        <p:tgtEl>
                                          <p:spTgt spid="26"/>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500"/>
                                        <p:tgtEl>
                                          <p:spTgt spid="39"/>
                                        </p:tgtEl>
                                      </p:cBhvr>
                                    </p:animEffect>
                                    <p:set>
                                      <p:cBhvr>
                                        <p:cTn id="82" dur="1" fill="hold">
                                          <p:stCondLst>
                                            <p:cond delay="499"/>
                                          </p:stCondLst>
                                        </p:cTn>
                                        <p:tgtEl>
                                          <p:spTgt spid="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Performance improvements on IO lib</a:t>
            </a:r>
            <a:endParaRPr lang="zh-CN" altLang="en-US" dirty="0"/>
          </a:p>
        </p:txBody>
      </p:sp>
      <p:sp>
        <p:nvSpPr>
          <p:cNvPr id="4" name="灯片编号占位符 3"/>
          <p:cNvSpPr>
            <a:spLocks noGrp="1"/>
          </p:cNvSpPr>
          <p:nvPr>
            <p:ph type="sldNum" sz="quarter" idx="12"/>
          </p:nvPr>
        </p:nvSpPr>
        <p:spPr/>
        <p:txBody>
          <a:bodyPr/>
          <a:lstStyle/>
          <a:p>
            <a:fld id="{87034D8C-3CB4-402A-BC46-2AB14C0FE90A}" type="slidenum">
              <a:rPr lang="en-US" smtClean="0"/>
              <a:pPr/>
              <a:t>14</a:t>
            </a:fld>
            <a:endParaRPr lang="en-US"/>
          </a:p>
        </p:txBody>
      </p:sp>
      <p:graphicFrame>
        <p:nvGraphicFramePr>
          <p:cNvPr id="5" name="图表 4"/>
          <p:cNvGraphicFramePr>
            <a:graphicFrameLocks/>
          </p:cNvGraphicFramePr>
          <p:nvPr>
            <p:extLst>
              <p:ext uri="{D42A27DB-BD31-4B8C-83A1-F6EECF244321}">
                <p14:modId xmlns:p14="http://schemas.microsoft.com/office/powerpoint/2010/main" val="23662926"/>
              </p:ext>
            </p:extLst>
          </p:nvPr>
        </p:nvGraphicFramePr>
        <p:xfrm>
          <a:off x="467544" y="1340768"/>
          <a:ext cx="7128792" cy="280831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图表 5"/>
          <p:cNvGraphicFramePr>
            <a:graphicFrameLocks/>
          </p:cNvGraphicFramePr>
          <p:nvPr>
            <p:extLst>
              <p:ext uri="{D42A27DB-BD31-4B8C-83A1-F6EECF244321}">
                <p14:modId xmlns:p14="http://schemas.microsoft.com/office/powerpoint/2010/main" val="2816888884"/>
              </p:ext>
            </p:extLst>
          </p:nvPr>
        </p:nvGraphicFramePr>
        <p:xfrm>
          <a:off x="539552" y="4125897"/>
          <a:ext cx="6840760" cy="27089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7596336" y="2492896"/>
            <a:ext cx="1156535" cy="369332"/>
          </a:xfrm>
          <a:prstGeom prst="rect">
            <a:avLst/>
          </a:prstGeom>
          <a:noFill/>
        </p:spPr>
        <p:txBody>
          <a:bodyPr wrap="none" rtlCol="0">
            <a:spAutoFit/>
          </a:bodyPr>
          <a:lstStyle/>
          <a:p>
            <a:r>
              <a:rPr lang="en-US" altLang="zh-CN" dirty="0" smtClean="0"/>
              <a:t>New IO lib</a:t>
            </a:r>
            <a:endParaRPr lang="zh-CN" altLang="en-US" dirty="0"/>
          </a:p>
        </p:txBody>
      </p:sp>
      <p:sp>
        <p:nvSpPr>
          <p:cNvPr id="8" name="TextBox 7"/>
          <p:cNvSpPr txBox="1"/>
          <p:nvPr/>
        </p:nvSpPr>
        <p:spPr>
          <a:xfrm>
            <a:off x="7596335" y="5157192"/>
            <a:ext cx="1099981" cy="369332"/>
          </a:xfrm>
          <a:prstGeom prst="rect">
            <a:avLst/>
          </a:prstGeom>
          <a:noFill/>
        </p:spPr>
        <p:txBody>
          <a:bodyPr wrap="none" rtlCol="0">
            <a:spAutoFit/>
          </a:bodyPr>
          <a:lstStyle/>
          <a:p>
            <a:r>
              <a:rPr lang="en-US" altLang="zh-CN" dirty="0" smtClean="0"/>
              <a:t>Old IO Lib</a:t>
            </a:r>
            <a:endParaRPr lang="zh-CN" altLang="en-US" dirty="0"/>
          </a:p>
        </p:txBody>
      </p:sp>
      <p:cxnSp>
        <p:nvCxnSpPr>
          <p:cNvPr id="12" name="直接箭头连接符 11"/>
          <p:cNvCxnSpPr/>
          <p:nvPr/>
        </p:nvCxnSpPr>
        <p:spPr bwMode="auto">
          <a:xfrm>
            <a:off x="1295400" y="1981200"/>
            <a:ext cx="5257800" cy="1143000"/>
          </a:xfrm>
          <a:prstGeom prst="straightConnector1">
            <a:avLst/>
          </a:prstGeom>
          <a:noFill/>
          <a:ln w="9525" cap="flat" cmpd="sng" algn="ctr">
            <a:solidFill>
              <a:srgbClr val="FF0000"/>
            </a:solidFill>
            <a:prstDash val="solid"/>
            <a:round/>
            <a:headEnd type="none" w="med" len="med"/>
            <a:tailEnd type="arrow"/>
          </a:ln>
          <a:effectLst/>
        </p:spPr>
      </p:cxnSp>
      <p:sp>
        <p:nvSpPr>
          <p:cNvPr id="9" name="TextBox 8"/>
          <p:cNvSpPr txBox="1"/>
          <p:nvPr/>
        </p:nvSpPr>
        <p:spPr>
          <a:xfrm>
            <a:off x="5880100" y="3944163"/>
            <a:ext cx="3251200" cy="1200329"/>
          </a:xfrm>
          <a:prstGeom prst="rect">
            <a:avLst/>
          </a:prstGeom>
          <a:noFill/>
        </p:spPr>
        <p:txBody>
          <a:bodyPr wrap="square" rtlCol="0">
            <a:spAutoFit/>
          </a:bodyPr>
          <a:lstStyle/>
          <a:p>
            <a:r>
              <a:rPr lang="en-US" altLang="zh-CN" dirty="0" smtClean="0">
                <a:solidFill>
                  <a:srgbClr val="FF0000"/>
                </a:solidFill>
              </a:rPr>
              <a:t>Location </a:t>
            </a:r>
            <a:r>
              <a:rPr lang="en-US" altLang="zh-CN" dirty="0" smtClean="0">
                <a:solidFill>
                  <a:srgbClr val="FF0000"/>
                </a:solidFill>
              </a:rPr>
              <a:t>is to automatically cut the reads from its begin symbol of ‘&gt;’, this can prevent cutting in the middle of one reads. </a:t>
            </a:r>
            <a:endParaRPr lang="zh-CN" altLang="en-US" dirty="0">
              <a:solidFill>
                <a:srgbClr val="FF0000"/>
              </a:solidFill>
            </a:endParaRPr>
          </a:p>
        </p:txBody>
      </p:sp>
    </p:spTree>
    <p:extLst>
      <p:ext uri="{BB962C8B-B14F-4D97-AF65-F5344CB8AC3E}">
        <p14:creationId xmlns:p14="http://schemas.microsoft.com/office/powerpoint/2010/main" val="1590058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平行四边形 256"/>
          <p:cNvSpPr/>
          <p:nvPr/>
        </p:nvSpPr>
        <p:spPr bwMode="auto">
          <a:xfrm>
            <a:off x="1692275" y="4038600"/>
            <a:ext cx="2743200" cy="1733550"/>
          </a:xfrm>
          <a:prstGeom prst="parallelogram">
            <a:avLst>
              <a:gd name="adj" fmla="val 49883"/>
            </a:avLst>
          </a:prstGeom>
          <a:noFill/>
          <a:ln w="25400" cap="flat" cmpd="sng" algn="ctr">
            <a:solidFill>
              <a:srgbClr val="C00000">
                <a:alpha val="82000"/>
              </a:srgbClr>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2" name="标题 1"/>
          <p:cNvSpPr>
            <a:spLocks noGrp="1"/>
          </p:cNvSpPr>
          <p:nvPr>
            <p:ph type="title"/>
          </p:nvPr>
        </p:nvSpPr>
        <p:spPr/>
        <p:txBody>
          <a:bodyPr/>
          <a:lstStyle/>
          <a:p>
            <a:r>
              <a:rPr lang="en-US" altLang="zh-CN" dirty="0" err="1" smtClean="0"/>
              <a:t>Kmer</a:t>
            </a:r>
            <a:r>
              <a:rPr lang="en-US" altLang="zh-CN" dirty="0" smtClean="0"/>
              <a:t> graph construction</a:t>
            </a:r>
            <a:endParaRPr lang="zh-CN" altLang="en-US" dirty="0"/>
          </a:p>
        </p:txBody>
      </p:sp>
      <p:sp>
        <p:nvSpPr>
          <p:cNvPr id="4" name="灯片编号占位符 3"/>
          <p:cNvSpPr>
            <a:spLocks noGrp="1"/>
          </p:cNvSpPr>
          <p:nvPr>
            <p:ph type="sldNum" sz="quarter" idx="12"/>
          </p:nvPr>
        </p:nvSpPr>
        <p:spPr/>
        <p:txBody>
          <a:bodyPr/>
          <a:lstStyle/>
          <a:p>
            <a:fld id="{87034D8C-3CB4-402A-BC46-2AB14C0FE90A}" type="slidenum">
              <a:rPr lang="en-US" smtClean="0"/>
              <a:pPr/>
              <a:t>15</a:t>
            </a:fld>
            <a:endParaRPr lang="en-US" dirty="0"/>
          </a:p>
        </p:txBody>
      </p:sp>
      <p:sp>
        <p:nvSpPr>
          <p:cNvPr id="235" name="椭圆 234"/>
          <p:cNvSpPr/>
          <p:nvPr/>
        </p:nvSpPr>
        <p:spPr bwMode="auto">
          <a:xfrm>
            <a:off x="2346325" y="3833416"/>
            <a:ext cx="549275" cy="43815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P3</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236" name="椭圆 235"/>
          <p:cNvSpPr/>
          <p:nvPr/>
        </p:nvSpPr>
        <p:spPr bwMode="auto">
          <a:xfrm>
            <a:off x="1508125" y="5553075"/>
            <a:ext cx="549275" cy="43815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P0</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237" name="椭圆 236"/>
          <p:cNvSpPr/>
          <p:nvPr/>
        </p:nvSpPr>
        <p:spPr bwMode="auto">
          <a:xfrm>
            <a:off x="4127500" y="3881041"/>
            <a:ext cx="549275" cy="43815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P2</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238" name="椭圆 237"/>
          <p:cNvSpPr/>
          <p:nvPr/>
        </p:nvSpPr>
        <p:spPr bwMode="auto">
          <a:xfrm>
            <a:off x="3219450" y="5553075"/>
            <a:ext cx="549275" cy="43815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P1</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239" name="圆柱形 238"/>
          <p:cNvSpPr/>
          <p:nvPr/>
        </p:nvSpPr>
        <p:spPr bwMode="auto">
          <a:xfrm>
            <a:off x="2438400" y="4490641"/>
            <a:ext cx="381000" cy="333375"/>
          </a:xfrm>
          <a:prstGeom prst="can">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240" name="下箭头 239"/>
          <p:cNvSpPr/>
          <p:nvPr/>
        </p:nvSpPr>
        <p:spPr bwMode="auto">
          <a:xfrm>
            <a:off x="2558256" y="4264819"/>
            <a:ext cx="141287" cy="254794"/>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241" name="圆柱形 240"/>
          <p:cNvSpPr/>
          <p:nvPr/>
        </p:nvSpPr>
        <p:spPr bwMode="auto">
          <a:xfrm>
            <a:off x="1592262" y="6219825"/>
            <a:ext cx="381000" cy="333375"/>
          </a:xfrm>
          <a:prstGeom prst="can">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242" name="下箭头 241"/>
          <p:cNvSpPr/>
          <p:nvPr/>
        </p:nvSpPr>
        <p:spPr bwMode="auto">
          <a:xfrm>
            <a:off x="1712118" y="5994003"/>
            <a:ext cx="141287" cy="254794"/>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243" name="圆柱形 242"/>
          <p:cNvSpPr/>
          <p:nvPr/>
        </p:nvSpPr>
        <p:spPr bwMode="auto">
          <a:xfrm>
            <a:off x="4211637" y="4543425"/>
            <a:ext cx="381000" cy="333375"/>
          </a:xfrm>
          <a:prstGeom prst="can">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244" name="下箭头 243"/>
          <p:cNvSpPr/>
          <p:nvPr/>
        </p:nvSpPr>
        <p:spPr bwMode="auto">
          <a:xfrm>
            <a:off x="4331493" y="4317603"/>
            <a:ext cx="141287" cy="254794"/>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245" name="圆柱形 244"/>
          <p:cNvSpPr/>
          <p:nvPr/>
        </p:nvSpPr>
        <p:spPr bwMode="auto">
          <a:xfrm>
            <a:off x="3303587" y="6219824"/>
            <a:ext cx="381000" cy="333375"/>
          </a:xfrm>
          <a:prstGeom prst="can">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246" name="下箭头 245"/>
          <p:cNvSpPr/>
          <p:nvPr/>
        </p:nvSpPr>
        <p:spPr bwMode="auto">
          <a:xfrm>
            <a:off x="3423443" y="5994002"/>
            <a:ext cx="141287" cy="254794"/>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cxnSp>
        <p:nvCxnSpPr>
          <p:cNvPr id="248" name="直接箭头连接符 247"/>
          <p:cNvCxnSpPr>
            <a:stCxn id="255" idx="2"/>
            <a:endCxn id="235" idx="2"/>
          </p:cNvCxnSpPr>
          <p:nvPr/>
        </p:nvCxnSpPr>
        <p:spPr bwMode="auto">
          <a:xfrm flipV="1">
            <a:off x="1837414" y="4052491"/>
            <a:ext cx="508911" cy="13161"/>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249" name="直接箭头连接符 248"/>
          <p:cNvCxnSpPr>
            <a:stCxn id="252" idx="2"/>
            <a:endCxn id="236" idx="2"/>
          </p:cNvCxnSpPr>
          <p:nvPr/>
        </p:nvCxnSpPr>
        <p:spPr bwMode="auto">
          <a:xfrm>
            <a:off x="1177808" y="5772150"/>
            <a:ext cx="330317" cy="0"/>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250" name="直接箭头连接符 249"/>
          <p:cNvCxnSpPr>
            <a:stCxn id="256" idx="5"/>
            <a:endCxn id="237" idx="6"/>
          </p:cNvCxnSpPr>
          <p:nvPr/>
        </p:nvCxnSpPr>
        <p:spPr bwMode="auto">
          <a:xfrm flipH="1">
            <a:off x="4676775" y="4100116"/>
            <a:ext cx="462078" cy="0"/>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251" name="直接箭头连接符 250"/>
          <p:cNvCxnSpPr>
            <a:stCxn id="254" idx="5"/>
            <a:endCxn id="238" idx="6"/>
          </p:cNvCxnSpPr>
          <p:nvPr/>
        </p:nvCxnSpPr>
        <p:spPr bwMode="auto">
          <a:xfrm flipH="1">
            <a:off x="3768725" y="5759474"/>
            <a:ext cx="542179" cy="12676"/>
          </a:xfrm>
          <a:prstGeom prst="straightConnector1">
            <a:avLst/>
          </a:prstGeom>
          <a:noFill/>
          <a:ln w="9525" cap="flat" cmpd="sng" algn="ctr">
            <a:solidFill>
              <a:schemeClr val="bg2">
                <a:lumMod val="10000"/>
              </a:schemeClr>
            </a:solidFill>
            <a:prstDash val="solid"/>
            <a:round/>
            <a:headEnd type="none" w="med" len="med"/>
            <a:tailEnd type="arrow"/>
          </a:ln>
          <a:effectLst/>
        </p:spPr>
      </p:cxnSp>
      <p:sp>
        <p:nvSpPr>
          <p:cNvPr id="252" name="平行四边形 251"/>
          <p:cNvSpPr/>
          <p:nvPr/>
        </p:nvSpPr>
        <p:spPr bwMode="auto">
          <a:xfrm>
            <a:off x="381000" y="5587539"/>
            <a:ext cx="842961" cy="369222"/>
          </a:xfrm>
          <a:prstGeom prst="parallelogram">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A1A0</a:t>
            </a:r>
            <a:endParaRPr kumimoji="0" lang="zh-CN" altLang="en-US" sz="1400" b="0" i="0" u="none" strike="noStrike" cap="none" normalizeH="0" baseline="0" dirty="0" smtClean="0">
              <a:ln>
                <a:noFill/>
              </a:ln>
              <a:solidFill>
                <a:schemeClr val="tx1"/>
              </a:solidFill>
              <a:effectLst/>
              <a:latin typeface="Calibri" pitchFamily="34" charset="0"/>
            </a:endParaRPr>
          </a:p>
        </p:txBody>
      </p:sp>
      <p:sp>
        <p:nvSpPr>
          <p:cNvPr id="254" name="平行四边形 253"/>
          <p:cNvSpPr/>
          <p:nvPr/>
        </p:nvSpPr>
        <p:spPr bwMode="auto">
          <a:xfrm>
            <a:off x="4264751" y="5574863"/>
            <a:ext cx="779673" cy="369222"/>
          </a:xfrm>
          <a:prstGeom prst="parallelogram">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400" dirty="0" smtClean="0">
                <a:solidFill>
                  <a:schemeClr val="tx1"/>
                </a:solidFill>
                <a:latin typeface="Calibri" pitchFamily="34" charset="0"/>
              </a:rPr>
              <a:t>B</a:t>
            </a:r>
            <a:r>
              <a:rPr kumimoji="0" lang="en-US" altLang="zh-CN" sz="1400" b="0" i="0" u="none" strike="noStrike" cap="none" normalizeH="0" baseline="0" dirty="0" smtClean="0">
                <a:ln>
                  <a:noFill/>
                </a:ln>
                <a:solidFill>
                  <a:schemeClr val="tx1"/>
                </a:solidFill>
                <a:effectLst/>
                <a:latin typeface="Calibri" pitchFamily="34" charset="0"/>
              </a:rPr>
              <a:t>0B1</a:t>
            </a:r>
            <a:endParaRPr kumimoji="0" lang="zh-CN" altLang="en-US" sz="1400" b="0" i="0" u="none" strike="noStrike" cap="none" normalizeH="0" baseline="0" dirty="0" smtClean="0">
              <a:ln>
                <a:noFill/>
              </a:ln>
              <a:solidFill>
                <a:schemeClr val="tx1"/>
              </a:solidFill>
              <a:effectLst/>
              <a:latin typeface="Calibri" pitchFamily="34" charset="0"/>
            </a:endParaRPr>
          </a:p>
        </p:txBody>
      </p:sp>
      <p:sp>
        <p:nvSpPr>
          <p:cNvPr id="277" name="平行四边形 276"/>
          <p:cNvSpPr/>
          <p:nvPr/>
        </p:nvSpPr>
        <p:spPr bwMode="auto">
          <a:xfrm>
            <a:off x="1265236" y="3882897"/>
            <a:ext cx="618331" cy="369222"/>
          </a:xfrm>
          <a:prstGeom prst="parallelogram">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400" dirty="0" smtClean="0">
                <a:solidFill>
                  <a:schemeClr val="tx1"/>
                </a:solidFill>
                <a:latin typeface="Calibri" pitchFamily="34" charset="0"/>
              </a:rPr>
              <a:t>D</a:t>
            </a:r>
            <a:r>
              <a:rPr kumimoji="0" lang="en-US" altLang="zh-CN" sz="1400" b="0" i="0" u="none" strike="noStrike" cap="none" normalizeH="0" baseline="0" dirty="0" smtClean="0">
                <a:ln>
                  <a:noFill/>
                </a:ln>
                <a:solidFill>
                  <a:schemeClr val="tx1"/>
                </a:solidFill>
                <a:effectLst/>
                <a:latin typeface="Calibri" pitchFamily="34" charset="0"/>
              </a:rPr>
              <a:t>0</a:t>
            </a:r>
            <a:endParaRPr kumimoji="0" lang="zh-CN" altLang="en-US" sz="1400" b="0" i="0" u="none" strike="noStrike" cap="none" normalizeH="0" baseline="0" dirty="0" smtClean="0">
              <a:ln>
                <a:noFill/>
              </a:ln>
              <a:solidFill>
                <a:schemeClr val="tx1"/>
              </a:solidFill>
              <a:effectLst/>
              <a:latin typeface="Calibri" pitchFamily="34" charset="0"/>
            </a:endParaRPr>
          </a:p>
        </p:txBody>
      </p:sp>
      <p:cxnSp>
        <p:nvCxnSpPr>
          <p:cNvPr id="278" name="直接箭头连接符 277"/>
          <p:cNvCxnSpPr>
            <a:stCxn id="277" idx="2"/>
            <a:endCxn id="235" idx="2"/>
          </p:cNvCxnSpPr>
          <p:nvPr/>
        </p:nvCxnSpPr>
        <p:spPr bwMode="auto">
          <a:xfrm flipV="1">
            <a:off x="1837414" y="4052491"/>
            <a:ext cx="508911" cy="15017"/>
          </a:xfrm>
          <a:prstGeom prst="straightConnector1">
            <a:avLst/>
          </a:prstGeom>
          <a:noFill/>
          <a:ln w="9525" cap="flat" cmpd="sng" algn="ctr">
            <a:solidFill>
              <a:schemeClr val="bg2">
                <a:lumMod val="10000"/>
              </a:schemeClr>
            </a:solidFill>
            <a:prstDash val="solid"/>
            <a:round/>
            <a:headEnd type="none" w="med" len="med"/>
            <a:tailEnd type="arrow"/>
          </a:ln>
          <a:effectLst/>
        </p:spPr>
      </p:cxnSp>
      <p:sp>
        <p:nvSpPr>
          <p:cNvPr id="281" name="平行四边形 280"/>
          <p:cNvSpPr/>
          <p:nvPr/>
        </p:nvSpPr>
        <p:spPr bwMode="auto">
          <a:xfrm>
            <a:off x="5092700" y="3895597"/>
            <a:ext cx="652788" cy="369222"/>
          </a:xfrm>
          <a:prstGeom prst="parallelogram">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400" dirty="0" smtClean="0">
                <a:solidFill>
                  <a:schemeClr val="tx1"/>
                </a:solidFill>
                <a:latin typeface="Calibri" pitchFamily="34" charset="0"/>
              </a:rPr>
              <a:t>C</a:t>
            </a:r>
            <a:r>
              <a:rPr kumimoji="0" lang="en-US" altLang="zh-CN" sz="1400" b="0" i="0" u="none" strike="noStrike" cap="none" normalizeH="0" baseline="0" dirty="0" smtClean="0">
                <a:ln>
                  <a:noFill/>
                </a:ln>
                <a:solidFill>
                  <a:schemeClr val="tx1"/>
                </a:solidFill>
                <a:effectLst/>
                <a:latin typeface="Calibri" pitchFamily="34" charset="0"/>
              </a:rPr>
              <a:t>0</a:t>
            </a:r>
            <a:endParaRPr kumimoji="0" lang="zh-CN" altLang="en-US" sz="1400" b="0" i="0" u="none" strike="noStrike" cap="none" normalizeH="0" baseline="0" dirty="0" smtClean="0">
              <a:ln>
                <a:noFill/>
              </a:ln>
              <a:solidFill>
                <a:schemeClr val="tx1"/>
              </a:solidFill>
              <a:effectLst/>
              <a:latin typeface="Calibri" pitchFamily="34" charset="0"/>
            </a:endParaRPr>
          </a:p>
        </p:txBody>
      </p:sp>
      <p:cxnSp>
        <p:nvCxnSpPr>
          <p:cNvPr id="282" name="直接箭头连接符 281"/>
          <p:cNvCxnSpPr>
            <a:stCxn id="281" idx="5"/>
            <a:endCxn id="237" idx="6"/>
          </p:cNvCxnSpPr>
          <p:nvPr/>
        </p:nvCxnSpPr>
        <p:spPr bwMode="auto">
          <a:xfrm flipH="1">
            <a:off x="4676775" y="4080208"/>
            <a:ext cx="462078" cy="19908"/>
          </a:xfrm>
          <a:prstGeom prst="straightConnector1">
            <a:avLst/>
          </a:prstGeom>
          <a:noFill/>
          <a:ln w="9525" cap="flat" cmpd="sng" algn="ctr">
            <a:solidFill>
              <a:schemeClr val="bg2">
                <a:lumMod val="10000"/>
              </a:schemeClr>
            </a:solidFill>
            <a:prstDash val="solid"/>
            <a:round/>
            <a:headEnd type="none" w="med" len="med"/>
            <a:tailEnd type="arrow"/>
          </a:ln>
          <a:effectLst/>
        </p:spPr>
      </p:cxnSp>
      <p:sp>
        <p:nvSpPr>
          <p:cNvPr id="256" name="平行四边形 255"/>
          <p:cNvSpPr/>
          <p:nvPr/>
        </p:nvSpPr>
        <p:spPr bwMode="auto">
          <a:xfrm>
            <a:off x="5092700" y="3915505"/>
            <a:ext cx="975376" cy="369222"/>
          </a:xfrm>
          <a:prstGeom prst="parallelogram">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400" dirty="0" smtClean="0">
                <a:solidFill>
                  <a:schemeClr val="tx1"/>
                </a:solidFill>
                <a:latin typeface="Calibri" pitchFamily="34" charset="0"/>
              </a:rPr>
              <a:t>C</a:t>
            </a:r>
            <a:r>
              <a:rPr kumimoji="0" lang="en-US" altLang="zh-CN" sz="1400" b="0" i="0" u="none" strike="noStrike" cap="none" normalizeH="0" baseline="0" dirty="0" smtClean="0">
                <a:ln>
                  <a:noFill/>
                </a:ln>
                <a:solidFill>
                  <a:schemeClr val="tx1"/>
                </a:solidFill>
                <a:effectLst/>
                <a:latin typeface="Calibri" pitchFamily="34" charset="0"/>
              </a:rPr>
              <a:t>0C1</a:t>
            </a:r>
            <a:endParaRPr kumimoji="0" lang="zh-CN" altLang="en-US" sz="1400" b="0" i="0" u="none" strike="noStrike" cap="none" normalizeH="0" baseline="0" dirty="0" smtClean="0">
              <a:ln>
                <a:noFill/>
              </a:ln>
              <a:solidFill>
                <a:schemeClr val="tx1"/>
              </a:solidFill>
              <a:effectLst/>
              <a:latin typeface="Calibri" pitchFamily="34" charset="0"/>
            </a:endParaRPr>
          </a:p>
        </p:txBody>
      </p:sp>
      <p:sp>
        <p:nvSpPr>
          <p:cNvPr id="255" name="平行四边形 254"/>
          <p:cNvSpPr/>
          <p:nvPr/>
        </p:nvSpPr>
        <p:spPr bwMode="auto">
          <a:xfrm>
            <a:off x="1050128" y="3881041"/>
            <a:ext cx="833439" cy="369222"/>
          </a:xfrm>
          <a:prstGeom prst="parallelogram">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400" dirty="0" smtClean="0">
                <a:solidFill>
                  <a:schemeClr val="tx1"/>
                </a:solidFill>
                <a:latin typeface="Calibri" pitchFamily="34" charset="0"/>
              </a:rPr>
              <a:t>D1D</a:t>
            </a:r>
            <a:r>
              <a:rPr kumimoji="0" lang="en-US" altLang="zh-CN" sz="1400" b="0" i="0" u="none" strike="noStrike" cap="none" normalizeH="0" baseline="0" dirty="0" smtClean="0">
                <a:ln>
                  <a:noFill/>
                </a:ln>
                <a:solidFill>
                  <a:schemeClr val="tx1"/>
                </a:solidFill>
                <a:effectLst/>
                <a:latin typeface="Calibri" pitchFamily="34" charset="0"/>
              </a:rPr>
              <a:t>0</a:t>
            </a:r>
            <a:endParaRPr kumimoji="0" lang="zh-CN" altLang="en-US" sz="1400" b="0" i="0" u="none" strike="noStrike" cap="none" normalizeH="0" baseline="0" dirty="0" smtClean="0">
              <a:ln>
                <a:noFill/>
              </a:ln>
              <a:solidFill>
                <a:schemeClr val="tx1"/>
              </a:solidFill>
              <a:effectLst/>
              <a:latin typeface="Calibri" pitchFamily="34" charset="0"/>
            </a:endParaRPr>
          </a:p>
        </p:txBody>
      </p:sp>
      <p:pic>
        <p:nvPicPr>
          <p:cNvPr id="33" name="图片 3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6814" y="3387647"/>
            <a:ext cx="3122520" cy="2618738"/>
          </a:xfrm>
          <a:prstGeom prst="rect">
            <a:avLst/>
          </a:prstGeom>
        </p:spPr>
      </p:pic>
      <p:sp>
        <p:nvSpPr>
          <p:cNvPr id="34" name="TextBox 33"/>
          <p:cNvSpPr txBox="1"/>
          <p:nvPr/>
        </p:nvSpPr>
        <p:spPr>
          <a:xfrm>
            <a:off x="6644167" y="5879068"/>
            <a:ext cx="1847814" cy="369332"/>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US" altLang="zh-CN" dirty="0" smtClean="0"/>
              <a:t>2D torus Network</a:t>
            </a:r>
            <a:endParaRPr lang="zh-CN" altLang="en-US" dirty="0"/>
          </a:p>
        </p:txBody>
      </p:sp>
      <p:sp>
        <p:nvSpPr>
          <p:cNvPr id="35" name="内容占位符 2"/>
          <p:cNvSpPr txBox="1">
            <a:spLocks/>
          </p:cNvSpPr>
          <p:nvPr/>
        </p:nvSpPr>
        <p:spPr bwMode="auto">
          <a:xfrm>
            <a:off x="671534" y="812567"/>
            <a:ext cx="8015266" cy="254023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1F497D"/>
              </a:buClr>
              <a:buFont typeface="Wingdings" pitchFamily="2" charset="2"/>
              <a:buChar char="§"/>
              <a:defRPr sz="1800">
                <a:solidFill>
                  <a:schemeClr val="tx1"/>
                </a:solidFill>
                <a:latin typeface="+mn-lt"/>
                <a:ea typeface="+mn-ea"/>
                <a:cs typeface="+mn-cs"/>
              </a:defRPr>
            </a:lvl1pPr>
            <a:lvl2pPr marL="742950" indent="-285750" algn="l" rtl="0" eaLnBrk="1" fontAlgn="base" hangingPunct="1">
              <a:spcBef>
                <a:spcPct val="20000"/>
              </a:spcBef>
              <a:spcAft>
                <a:spcPct val="0"/>
              </a:spcAft>
              <a:buClr>
                <a:srgbClr val="1F497D"/>
              </a:buClr>
              <a:buChar char="–"/>
              <a:defRPr sz="1600">
                <a:solidFill>
                  <a:schemeClr val="tx1"/>
                </a:solidFill>
                <a:latin typeface="+mn-lt"/>
              </a:defRPr>
            </a:lvl2pPr>
            <a:lvl3pPr marL="1143000" indent="-228600" algn="l" rtl="0" eaLnBrk="1" fontAlgn="base" hangingPunct="1">
              <a:spcBef>
                <a:spcPct val="20000"/>
              </a:spcBef>
              <a:spcAft>
                <a:spcPct val="0"/>
              </a:spcAft>
              <a:buClr>
                <a:srgbClr val="1F497D"/>
              </a:buClr>
              <a:buChar char="•"/>
              <a:defRPr sz="1400">
                <a:solidFill>
                  <a:schemeClr val="tx1"/>
                </a:solidFill>
                <a:latin typeface="+mn-lt"/>
              </a:defRPr>
            </a:lvl3pPr>
            <a:lvl4pPr marL="1600200" indent="-228600" algn="l" rtl="0" eaLnBrk="1" fontAlgn="base" hangingPunct="1">
              <a:spcBef>
                <a:spcPct val="20000"/>
              </a:spcBef>
              <a:spcAft>
                <a:spcPct val="0"/>
              </a:spcAft>
              <a:buClr>
                <a:srgbClr val="1F497D"/>
              </a:buClr>
              <a:buChar char="–"/>
              <a:defRPr sz="1400">
                <a:solidFill>
                  <a:schemeClr val="tx1"/>
                </a:solidFill>
                <a:latin typeface="+mn-lt"/>
              </a:defRPr>
            </a:lvl4pPr>
            <a:lvl5pPr marL="2057400" indent="-228600" algn="l" rtl="0" eaLnBrk="1" fontAlgn="base" hangingPunct="1">
              <a:spcBef>
                <a:spcPct val="20000"/>
              </a:spcBef>
              <a:spcAft>
                <a:spcPct val="0"/>
              </a:spcAft>
              <a:buClr>
                <a:srgbClr val="1F497D"/>
              </a:buClr>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Clr>
                <a:srgbClr val="1F497D"/>
              </a:buClr>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Clr>
                <a:srgbClr val="1F497D"/>
              </a:buClr>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Clr>
                <a:srgbClr val="1F497D"/>
              </a:buClr>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Clr>
                <a:srgbClr val="1F497D"/>
              </a:buClr>
              <a:buFont typeface="Arial" charset="0"/>
              <a:buChar char="»"/>
              <a:defRPr sz="1400">
                <a:solidFill>
                  <a:schemeClr val="tx1"/>
                </a:solidFill>
                <a:latin typeface="+mn-lt"/>
              </a:defRPr>
            </a:lvl9pPr>
          </a:lstStyle>
          <a:p>
            <a:r>
              <a:rPr lang="en-US" altLang="zh-CN" sz="2000" dirty="0" smtClean="0"/>
              <a:t>Optimization points</a:t>
            </a:r>
          </a:p>
          <a:p>
            <a:pPr lvl="1"/>
            <a:r>
              <a:rPr lang="en-US" altLang="zh-CN" sz="1800" dirty="0">
                <a:solidFill>
                  <a:srgbClr val="FF0000"/>
                </a:solidFill>
              </a:rPr>
              <a:t>Aggregated</a:t>
            </a:r>
            <a:r>
              <a:rPr lang="en-US" altLang="zh-CN" sz="1800" dirty="0" smtClean="0"/>
              <a:t> network bisection bandwidth increases proportionally with the number of cores.  (Dong Chen, SC’2012)</a:t>
            </a:r>
          </a:p>
          <a:p>
            <a:pPr lvl="1"/>
            <a:r>
              <a:rPr lang="en-US" altLang="zh-CN" sz="1800" dirty="0" smtClean="0"/>
              <a:t>Keep the message size constant </a:t>
            </a:r>
            <a:r>
              <a:rPr lang="en-US" altLang="zh-CN" sz="1800" dirty="0"/>
              <a:t>by proportionally increasing the number of data pieces with the number of cores</a:t>
            </a:r>
            <a:endParaRPr lang="en-US" altLang="zh-CN" sz="1800" dirty="0" smtClean="0"/>
          </a:p>
          <a:p>
            <a:r>
              <a:rPr lang="en-US" altLang="zh-CN" sz="2000" dirty="0" smtClean="0"/>
              <a:t>Benefits</a:t>
            </a:r>
            <a:endParaRPr lang="en-US" altLang="zh-CN" dirty="0" smtClean="0"/>
          </a:p>
          <a:p>
            <a:pPr lvl="1"/>
            <a:r>
              <a:rPr lang="en-US" altLang="zh-CN" sz="1800" dirty="0" smtClean="0">
                <a:solidFill>
                  <a:srgbClr val="FF0000"/>
                </a:solidFill>
              </a:rPr>
              <a:t>To fully </a:t>
            </a:r>
            <a:r>
              <a:rPr lang="en-US" altLang="zh-CN" sz="1800" dirty="0">
                <a:solidFill>
                  <a:srgbClr val="FF0000"/>
                </a:solidFill>
              </a:rPr>
              <a:t>exploit</a:t>
            </a:r>
            <a:r>
              <a:rPr lang="en-US" altLang="zh-CN" sz="1800" dirty="0" smtClean="0"/>
              <a:t> interconnection BW in 5D torus and keep communication efficiency</a:t>
            </a:r>
            <a:endParaRPr lang="zh-CN" altLang="en-US" dirty="0"/>
          </a:p>
        </p:txBody>
      </p:sp>
    </p:spTree>
    <p:extLst>
      <p:ext uri="{BB962C8B-B14F-4D97-AF65-F5344CB8AC3E}">
        <p14:creationId xmlns:p14="http://schemas.microsoft.com/office/powerpoint/2010/main" val="3816951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1"/>
                                        </p:tgtEl>
                                        <p:attrNameLst>
                                          <p:attrName>style.visibility</p:attrName>
                                        </p:attrNameLst>
                                      </p:cBhvr>
                                      <p:to>
                                        <p:strVal val="visible"/>
                                      </p:to>
                                    </p:set>
                                    <p:animEffect transition="in" filter="fade">
                                      <p:cBhvr>
                                        <p:cTn id="7" dur="500"/>
                                        <p:tgtEl>
                                          <p:spTgt spid="28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7"/>
                                        </p:tgtEl>
                                        <p:attrNameLst>
                                          <p:attrName>style.visibility</p:attrName>
                                        </p:attrNameLst>
                                      </p:cBhvr>
                                      <p:to>
                                        <p:strVal val="visible"/>
                                      </p:to>
                                    </p:set>
                                    <p:animEffect transition="in" filter="fade">
                                      <p:cBhvr>
                                        <p:cTn id="10" dur="500"/>
                                        <p:tgtEl>
                                          <p:spTgt spid="277"/>
                                        </p:tgtEl>
                                      </p:cBhvr>
                                    </p:animEffect>
                                  </p:childTnLst>
                                </p:cTn>
                              </p:par>
                              <p:par>
                                <p:cTn id="11" presetID="10" presetClass="entr" presetSubtype="0" fill="hold" nodeType="withEffect">
                                  <p:stCondLst>
                                    <p:cond delay="0"/>
                                  </p:stCondLst>
                                  <p:childTnLst>
                                    <p:set>
                                      <p:cBhvr>
                                        <p:cTn id="12" dur="1" fill="hold">
                                          <p:stCondLst>
                                            <p:cond delay="0"/>
                                          </p:stCondLst>
                                        </p:cTn>
                                        <p:tgtEl>
                                          <p:spTgt spid="278"/>
                                        </p:tgtEl>
                                        <p:attrNameLst>
                                          <p:attrName>style.visibility</p:attrName>
                                        </p:attrNameLst>
                                      </p:cBhvr>
                                      <p:to>
                                        <p:strVal val="visible"/>
                                      </p:to>
                                    </p:set>
                                    <p:animEffect transition="in" filter="fade">
                                      <p:cBhvr>
                                        <p:cTn id="13" dur="500"/>
                                        <p:tgtEl>
                                          <p:spTgt spid="278"/>
                                        </p:tgtEl>
                                      </p:cBhvr>
                                    </p:animEffect>
                                  </p:childTnLst>
                                </p:cTn>
                              </p:par>
                              <p:par>
                                <p:cTn id="14" presetID="10" presetClass="entr" presetSubtype="0" fill="hold" nodeType="withEffect">
                                  <p:stCondLst>
                                    <p:cond delay="0"/>
                                  </p:stCondLst>
                                  <p:childTnLst>
                                    <p:set>
                                      <p:cBhvr>
                                        <p:cTn id="15" dur="1" fill="hold">
                                          <p:stCondLst>
                                            <p:cond delay="0"/>
                                          </p:stCondLst>
                                        </p:cTn>
                                        <p:tgtEl>
                                          <p:spTgt spid="282"/>
                                        </p:tgtEl>
                                        <p:attrNameLst>
                                          <p:attrName>style.visibility</p:attrName>
                                        </p:attrNameLst>
                                      </p:cBhvr>
                                      <p:to>
                                        <p:strVal val="visible"/>
                                      </p:to>
                                    </p:set>
                                    <p:animEffect transition="in" filter="fade">
                                      <p:cBhvr>
                                        <p:cTn id="16" dur="500"/>
                                        <p:tgtEl>
                                          <p:spTgt spid="282"/>
                                        </p:tgtEl>
                                      </p:cBhvr>
                                    </p:animEffect>
                                  </p:childTnLst>
                                </p:cTn>
                              </p:par>
                            </p:childTnLst>
                          </p:cTn>
                        </p:par>
                      </p:childTnLst>
                    </p:cTn>
                  </p:par>
                  <p:par>
                    <p:cTn id="17" fill="hold">
                      <p:stCondLst>
                        <p:cond delay="indefinite"/>
                      </p:stCondLst>
                      <p:childTnLst>
                        <p:par>
                          <p:cTn id="18" fill="hold">
                            <p:stCondLst>
                              <p:cond delay="0"/>
                            </p:stCondLst>
                            <p:childTnLst>
                              <p:par>
                                <p:cTn id="19" presetID="26" presetClass="emph" presetSubtype="0" fill="hold" grpId="0" nodeType="clickEffect">
                                  <p:stCondLst>
                                    <p:cond delay="0"/>
                                  </p:stCondLst>
                                  <p:childTnLst>
                                    <p:animEffect transition="out" filter="fade">
                                      <p:cBhvr>
                                        <p:cTn id="20" dur="500" tmFilter="0, 0; .2, .5; .8, .5; 1, 0"/>
                                        <p:tgtEl>
                                          <p:spTgt spid="240"/>
                                        </p:tgtEl>
                                      </p:cBhvr>
                                    </p:animEffect>
                                    <p:animScale>
                                      <p:cBhvr>
                                        <p:cTn id="21" dur="250" autoRev="1" fill="hold"/>
                                        <p:tgtEl>
                                          <p:spTgt spid="240"/>
                                        </p:tgtEl>
                                      </p:cBhvr>
                                      <p:by x="105000" y="105000"/>
                                    </p:animScale>
                                  </p:childTnLst>
                                </p:cTn>
                              </p:par>
                              <p:par>
                                <p:cTn id="22" presetID="26" presetClass="emph" presetSubtype="0" fill="hold" grpId="0" nodeType="withEffect">
                                  <p:stCondLst>
                                    <p:cond delay="0"/>
                                  </p:stCondLst>
                                  <p:childTnLst>
                                    <p:animEffect transition="out" filter="fade">
                                      <p:cBhvr>
                                        <p:cTn id="23" dur="500" tmFilter="0, 0; .2, .5; .8, .5; 1, 0"/>
                                        <p:tgtEl>
                                          <p:spTgt spid="244"/>
                                        </p:tgtEl>
                                      </p:cBhvr>
                                    </p:animEffect>
                                    <p:animScale>
                                      <p:cBhvr>
                                        <p:cTn id="24" dur="250" autoRev="1" fill="hold"/>
                                        <p:tgtEl>
                                          <p:spTgt spid="244"/>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57"/>
                                        </p:tgtEl>
                                        <p:attrNameLst>
                                          <p:attrName>style.visibility</p:attrName>
                                        </p:attrNameLst>
                                      </p:cBhvr>
                                      <p:to>
                                        <p:strVal val="visible"/>
                                      </p:to>
                                    </p:set>
                                    <p:animEffect transition="in" filter="fade">
                                      <p:cBhvr>
                                        <p:cTn id="29" dur="500"/>
                                        <p:tgtEl>
                                          <p:spTgt spid="25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38"/>
                                        </p:tgtEl>
                                        <p:attrNameLst>
                                          <p:attrName>style.visibility</p:attrName>
                                        </p:attrNameLst>
                                      </p:cBhvr>
                                      <p:to>
                                        <p:strVal val="visible"/>
                                      </p:to>
                                    </p:set>
                                    <p:animEffect transition="in" filter="fade">
                                      <p:cBhvr>
                                        <p:cTn id="32" dur="500"/>
                                        <p:tgtEl>
                                          <p:spTgt spid="23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6"/>
                                        </p:tgtEl>
                                        <p:attrNameLst>
                                          <p:attrName>style.visibility</p:attrName>
                                        </p:attrNameLst>
                                      </p:cBhvr>
                                      <p:to>
                                        <p:strVal val="visible"/>
                                      </p:to>
                                    </p:set>
                                    <p:animEffect transition="in" filter="fade">
                                      <p:cBhvr>
                                        <p:cTn id="35" dur="500"/>
                                        <p:tgtEl>
                                          <p:spTgt spid="23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42"/>
                                        </p:tgtEl>
                                        <p:attrNameLst>
                                          <p:attrName>style.visibility</p:attrName>
                                        </p:attrNameLst>
                                      </p:cBhvr>
                                      <p:to>
                                        <p:strVal val="visible"/>
                                      </p:to>
                                    </p:set>
                                    <p:animEffect transition="in" filter="fade">
                                      <p:cBhvr>
                                        <p:cTn id="38" dur="500"/>
                                        <p:tgtEl>
                                          <p:spTgt spid="24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46"/>
                                        </p:tgtEl>
                                        <p:attrNameLst>
                                          <p:attrName>style.visibility</p:attrName>
                                        </p:attrNameLst>
                                      </p:cBhvr>
                                      <p:to>
                                        <p:strVal val="visible"/>
                                      </p:to>
                                    </p:set>
                                    <p:animEffect transition="in" filter="fade">
                                      <p:cBhvr>
                                        <p:cTn id="41" dur="500"/>
                                        <p:tgtEl>
                                          <p:spTgt spid="24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45"/>
                                        </p:tgtEl>
                                        <p:attrNameLst>
                                          <p:attrName>style.visibility</p:attrName>
                                        </p:attrNameLst>
                                      </p:cBhvr>
                                      <p:to>
                                        <p:strVal val="visible"/>
                                      </p:to>
                                    </p:set>
                                    <p:animEffect transition="in" filter="fade">
                                      <p:cBhvr>
                                        <p:cTn id="44" dur="500"/>
                                        <p:tgtEl>
                                          <p:spTgt spid="24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41"/>
                                        </p:tgtEl>
                                        <p:attrNameLst>
                                          <p:attrName>style.visibility</p:attrName>
                                        </p:attrNameLst>
                                      </p:cBhvr>
                                      <p:to>
                                        <p:strVal val="visible"/>
                                      </p:to>
                                    </p:set>
                                    <p:animEffect transition="in" filter="fade">
                                      <p:cBhvr>
                                        <p:cTn id="47" dur="500"/>
                                        <p:tgtEl>
                                          <p:spTgt spid="24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52"/>
                                        </p:tgtEl>
                                        <p:attrNameLst>
                                          <p:attrName>style.visibility</p:attrName>
                                        </p:attrNameLst>
                                      </p:cBhvr>
                                      <p:to>
                                        <p:strVal val="visible"/>
                                      </p:to>
                                    </p:set>
                                    <p:animEffect transition="in" filter="fade">
                                      <p:cBhvr>
                                        <p:cTn id="52" dur="500"/>
                                        <p:tgtEl>
                                          <p:spTgt spid="25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54"/>
                                        </p:tgtEl>
                                        <p:attrNameLst>
                                          <p:attrName>style.visibility</p:attrName>
                                        </p:attrNameLst>
                                      </p:cBhvr>
                                      <p:to>
                                        <p:strVal val="visible"/>
                                      </p:to>
                                    </p:set>
                                    <p:animEffect transition="in" filter="fade">
                                      <p:cBhvr>
                                        <p:cTn id="55" dur="500"/>
                                        <p:tgtEl>
                                          <p:spTgt spid="254"/>
                                        </p:tgtEl>
                                      </p:cBhvr>
                                    </p:animEffect>
                                  </p:childTnLst>
                                </p:cTn>
                              </p:par>
                              <p:par>
                                <p:cTn id="56" presetID="10" presetClass="entr" presetSubtype="0" fill="hold" nodeType="withEffect">
                                  <p:stCondLst>
                                    <p:cond delay="0"/>
                                  </p:stCondLst>
                                  <p:childTnLst>
                                    <p:set>
                                      <p:cBhvr>
                                        <p:cTn id="57" dur="1" fill="hold">
                                          <p:stCondLst>
                                            <p:cond delay="0"/>
                                          </p:stCondLst>
                                        </p:cTn>
                                        <p:tgtEl>
                                          <p:spTgt spid="251"/>
                                        </p:tgtEl>
                                        <p:attrNameLst>
                                          <p:attrName>style.visibility</p:attrName>
                                        </p:attrNameLst>
                                      </p:cBhvr>
                                      <p:to>
                                        <p:strVal val="visible"/>
                                      </p:to>
                                    </p:set>
                                    <p:animEffect transition="in" filter="fade">
                                      <p:cBhvr>
                                        <p:cTn id="58" dur="500"/>
                                        <p:tgtEl>
                                          <p:spTgt spid="251"/>
                                        </p:tgtEl>
                                      </p:cBhvr>
                                    </p:animEffect>
                                  </p:childTnLst>
                                </p:cTn>
                              </p:par>
                              <p:par>
                                <p:cTn id="59" presetID="10" presetClass="entr" presetSubtype="0" fill="hold" nodeType="withEffect">
                                  <p:stCondLst>
                                    <p:cond delay="0"/>
                                  </p:stCondLst>
                                  <p:childTnLst>
                                    <p:set>
                                      <p:cBhvr>
                                        <p:cTn id="60" dur="1" fill="hold">
                                          <p:stCondLst>
                                            <p:cond delay="0"/>
                                          </p:stCondLst>
                                        </p:cTn>
                                        <p:tgtEl>
                                          <p:spTgt spid="249"/>
                                        </p:tgtEl>
                                        <p:attrNameLst>
                                          <p:attrName>style.visibility</p:attrName>
                                        </p:attrNameLst>
                                      </p:cBhvr>
                                      <p:to>
                                        <p:strVal val="visible"/>
                                      </p:to>
                                    </p:set>
                                    <p:animEffect transition="in" filter="fade">
                                      <p:cBhvr>
                                        <p:cTn id="61" dur="500"/>
                                        <p:tgtEl>
                                          <p:spTgt spid="24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5"/>
                                        </p:tgtEl>
                                        <p:attrNameLst>
                                          <p:attrName>style.visibility</p:attrName>
                                        </p:attrNameLst>
                                      </p:cBhvr>
                                      <p:to>
                                        <p:strVal val="visible"/>
                                      </p:to>
                                    </p:set>
                                    <p:animEffect transition="in" filter="fade">
                                      <p:cBhvr>
                                        <p:cTn id="64" dur="500"/>
                                        <p:tgtEl>
                                          <p:spTgt spid="255"/>
                                        </p:tgtEl>
                                      </p:cBhvr>
                                    </p:animEffect>
                                  </p:childTnLst>
                                </p:cTn>
                              </p:par>
                              <p:par>
                                <p:cTn id="65" presetID="10" presetClass="entr" presetSubtype="0" fill="hold" nodeType="withEffect">
                                  <p:stCondLst>
                                    <p:cond delay="0"/>
                                  </p:stCondLst>
                                  <p:childTnLst>
                                    <p:set>
                                      <p:cBhvr>
                                        <p:cTn id="66" dur="1" fill="hold">
                                          <p:stCondLst>
                                            <p:cond delay="0"/>
                                          </p:stCondLst>
                                        </p:cTn>
                                        <p:tgtEl>
                                          <p:spTgt spid="248"/>
                                        </p:tgtEl>
                                        <p:attrNameLst>
                                          <p:attrName>style.visibility</p:attrName>
                                        </p:attrNameLst>
                                      </p:cBhvr>
                                      <p:to>
                                        <p:strVal val="visible"/>
                                      </p:to>
                                    </p:set>
                                    <p:animEffect transition="in" filter="fade">
                                      <p:cBhvr>
                                        <p:cTn id="67" dur="500"/>
                                        <p:tgtEl>
                                          <p:spTgt spid="248"/>
                                        </p:tgtEl>
                                      </p:cBhvr>
                                    </p:animEffect>
                                  </p:childTnLst>
                                </p:cTn>
                              </p:par>
                              <p:par>
                                <p:cTn id="68" presetID="10" presetClass="entr" presetSubtype="0" fill="hold" nodeType="withEffect">
                                  <p:stCondLst>
                                    <p:cond delay="0"/>
                                  </p:stCondLst>
                                  <p:childTnLst>
                                    <p:set>
                                      <p:cBhvr>
                                        <p:cTn id="69" dur="1" fill="hold">
                                          <p:stCondLst>
                                            <p:cond delay="0"/>
                                          </p:stCondLst>
                                        </p:cTn>
                                        <p:tgtEl>
                                          <p:spTgt spid="250"/>
                                        </p:tgtEl>
                                        <p:attrNameLst>
                                          <p:attrName>style.visibility</p:attrName>
                                        </p:attrNameLst>
                                      </p:cBhvr>
                                      <p:to>
                                        <p:strVal val="visible"/>
                                      </p:to>
                                    </p:set>
                                    <p:animEffect transition="in" filter="fade">
                                      <p:cBhvr>
                                        <p:cTn id="70" dur="500"/>
                                        <p:tgtEl>
                                          <p:spTgt spid="25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56"/>
                                        </p:tgtEl>
                                        <p:attrNameLst>
                                          <p:attrName>style.visibility</p:attrName>
                                        </p:attrNameLst>
                                      </p:cBhvr>
                                      <p:to>
                                        <p:strVal val="visible"/>
                                      </p:to>
                                    </p:set>
                                    <p:animEffect transition="in" filter="fade">
                                      <p:cBhvr>
                                        <p:cTn id="73" dur="500"/>
                                        <p:tgtEl>
                                          <p:spTgt spid="256"/>
                                        </p:tgtEl>
                                      </p:cBhvr>
                                    </p:animEffect>
                                  </p:childTnLst>
                                </p:cTn>
                              </p:par>
                              <p:par>
                                <p:cTn id="74" presetID="26" presetClass="emph" presetSubtype="0" fill="hold" grpId="1" nodeType="withEffect">
                                  <p:stCondLst>
                                    <p:cond delay="0"/>
                                  </p:stCondLst>
                                  <p:childTnLst>
                                    <p:animEffect transition="out" filter="fade">
                                      <p:cBhvr>
                                        <p:cTn id="75" dur="500" tmFilter="0, 0; .2, .5; .8, .5; 1, 0"/>
                                        <p:tgtEl>
                                          <p:spTgt spid="242"/>
                                        </p:tgtEl>
                                      </p:cBhvr>
                                    </p:animEffect>
                                    <p:animScale>
                                      <p:cBhvr>
                                        <p:cTn id="76" dur="250" autoRev="1" fill="hold"/>
                                        <p:tgtEl>
                                          <p:spTgt spid="242"/>
                                        </p:tgtEl>
                                      </p:cBhvr>
                                      <p:by x="105000" y="105000"/>
                                    </p:animScale>
                                  </p:childTnLst>
                                </p:cTn>
                              </p:par>
                              <p:par>
                                <p:cTn id="77" presetID="26" presetClass="emph" presetSubtype="0" fill="hold" grpId="1" nodeType="withEffect">
                                  <p:stCondLst>
                                    <p:cond delay="0"/>
                                  </p:stCondLst>
                                  <p:childTnLst>
                                    <p:animEffect transition="out" filter="fade">
                                      <p:cBhvr>
                                        <p:cTn id="78" dur="500" tmFilter="0, 0; .2, .5; .8, .5; 1, 0"/>
                                        <p:tgtEl>
                                          <p:spTgt spid="246"/>
                                        </p:tgtEl>
                                      </p:cBhvr>
                                    </p:animEffect>
                                    <p:animScale>
                                      <p:cBhvr>
                                        <p:cTn id="79" dur="250" autoRev="1" fill="hold"/>
                                        <p:tgtEl>
                                          <p:spTgt spid="24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 grpId="0" animBg="1"/>
      <p:bldP spid="236" grpId="0" animBg="1"/>
      <p:bldP spid="238" grpId="0" animBg="1"/>
      <p:bldP spid="240" grpId="0" animBg="1"/>
      <p:bldP spid="241" grpId="0" animBg="1"/>
      <p:bldP spid="242" grpId="0" animBg="1"/>
      <p:bldP spid="242" grpId="1" animBg="1"/>
      <p:bldP spid="244" grpId="0" animBg="1"/>
      <p:bldP spid="245" grpId="0" animBg="1"/>
      <p:bldP spid="246" grpId="0" animBg="1"/>
      <p:bldP spid="246" grpId="1" animBg="1"/>
      <p:bldP spid="252" grpId="0" animBg="1"/>
      <p:bldP spid="254" grpId="0" animBg="1"/>
      <p:bldP spid="277" grpId="0" animBg="1"/>
      <p:bldP spid="281" grpId="0" animBg="1"/>
      <p:bldP spid="256" grpId="0" animBg="1"/>
      <p:bldP spid="25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5" name="直接连接符 124"/>
          <p:cNvCxnSpPr/>
          <p:nvPr/>
        </p:nvCxnSpPr>
        <p:spPr bwMode="auto">
          <a:xfrm flipH="1">
            <a:off x="3552427" y="2776934"/>
            <a:ext cx="63899" cy="2985691"/>
          </a:xfrm>
          <a:prstGeom prst="line">
            <a:avLst/>
          </a:prstGeom>
          <a:noFill/>
          <a:ln w="38100" cap="flat" cmpd="sng" algn="ctr">
            <a:solidFill>
              <a:schemeClr val="tx1"/>
            </a:solidFill>
            <a:prstDash val="dashDot"/>
            <a:round/>
            <a:headEnd type="none" w="med" len="med"/>
            <a:tailEnd type="none" w="med" len="med"/>
          </a:ln>
          <a:effectLst/>
        </p:spPr>
      </p:cxnSp>
      <p:cxnSp>
        <p:nvCxnSpPr>
          <p:cNvPr id="122" name="直接连接符 121"/>
          <p:cNvCxnSpPr/>
          <p:nvPr/>
        </p:nvCxnSpPr>
        <p:spPr bwMode="auto">
          <a:xfrm flipH="1">
            <a:off x="1712118" y="2767409"/>
            <a:ext cx="56357" cy="3004741"/>
          </a:xfrm>
          <a:prstGeom prst="line">
            <a:avLst/>
          </a:prstGeom>
          <a:noFill/>
          <a:ln w="38100" cap="flat" cmpd="sng" algn="ctr">
            <a:solidFill>
              <a:schemeClr val="tx1"/>
            </a:solidFill>
            <a:prstDash val="dashDot"/>
            <a:round/>
            <a:headEnd type="none" w="med" len="med"/>
            <a:tailEnd type="none" w="med" len="med"/>
          </a:ln>
          <a:effectLst/>
        </p:spPr>
      </p:cxnSp>
      <p:cxnSp>
        <p:nvCxnSpPr>
          <p:cNvPr id="127" name="直接连接符 126"/>
          <p:cNvCxnSpPr/>
          <p:nvPr/>
        </p:nvCxnSpPr>
        <p:spPr bwMode="auto">
          <a:xfrm flipH="1">
            <a:off x="4419600" y="1066800"/>
            <a:ext cx="42862" cy="2971800"/>
          </a:xfrm>
          <a:prstGeom prst="line">
            <a:avLst/>
          </a:prstGeom>
          <a:noFill/>
          <a:ln w="38100" cap="flat" cmpd="sng" algn="ctr">
            <a:solidFill>
              <a:schemeClr val="tx1"/>
            </a:solidFill>
            <a:prstDash val="dashDot"/>
            <a:round/>
            <a:headEnd type="none" w="med" len="med"/>
            <a:tailEnd type="none" w="med" len="med"/>
          </a:ln>
          <a:effectLst/>
        </p:spPr>
      </p:cxnSp>
      <p:cxnSp>
        <p:nvCxnSpPr>
          <p:cNvPr id="128" name="直接连接符 127"/>
          <p:cNvCxnSpPr/>
          <p:nvPr/>
        </p:nvCxnSpPr>
        <p:spPr bwMode="auto">
          <a:xfrm flipH="1">
            <a:off x="2558256" y="1066800"/>
            <a:ext cx="81755" cy="2971800"/>
          </a:xfrm>
          <a:prstGeom prst="line">
            <a:avLst/>
          </a:prstGeom>
          <a:noFill/>
          <a:ln w="38100" cap="flat" cmpd="sng" algn="ctr">
            <a:solidFill>
              <a:schemeClr val="tx1"/>
            </a:solidFill>
            <a:prstDash val="dashDot"/>
            <a:round/>
            <a:headEnd type="none" w="med" len="med"/>
            <a:tailEnd type="none" w="med" len="med"/>
          </a:ln>
          <a:effectLst/>
        </p:spPr>
      </p:cxnSp>
      <p:sp>
        <p:nvSpPr>
          <p:cNvPr id="92" name="平行四边形 91"/>
          <p:cNvSpPr/>
          <p:nvPr/>
        </p:nvSpPr>
        <p:spPr bwMode="auto">
          <a:xfrm>
            <a:off x="1768475" y="1043384"/>
            <a:ext cx="2743200" cy="1733550"/>
          </a:xfrm>
          <a:prstGeom prst="parallelogram">
            <a:avLst>
              <a:gd name="adj" fmla="val 49883"/>
            </a:avLst>
          </a:prstGeom>
          <a:noFill/>
          <a:ln w="2540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2" name="标题 1"/>
          <p:cNvSpPr>
            <a:spLocks noGrp="1"/>
          </p:cNvSpPr>
          <p:nvPr>
            <p:ph type="title"/>
          </p:nvPr>
        </p:nvSpPr>
        <p:spPr/>
        <p:txBody>
          <a:bodyPr/>
          <a:lstStyle/>
          <a:p>
            <a:r>
              <a:rPr lang="en-US" altLang="zh-CN" dirty="0" err="1" smtClean="0"/>
              <a:t>Kmer</a:t>
            </a:r>
            <a:r>
              <a:rPr lang="en-US" altLang="zh-CN" dirty="0" smtClean="0"/>
              <a:t> graph construction </a:t>
            </a:r>
            <a:r>
              <a:rPr lang="en-US" altLang="zh-CN" dirty="0"/>
              <a:t>– </a:t>
            </a:r>
            <a:r>
              <a:rPr lang="en-US" altLang="zh-CN" dirty="0" smtClean="0"/>
              <a:t>quadrupling No. of </a:t>
            </a:r>
            <a:r>
              <a:rPr lang="en-US" altLang="zh-CN" dirty="0" err="1" smtClean="0"/>
              <a:t>Proc</a:t>
            </a:r>
            <a:r>
              <a:rPr lang="en-US" altLang="zh-CN" dirty="0" smtClean="0"/>
              <a:t> </a:t>
            </a:r>
            <a:endParaRPr lang="zh-CN" altLang="en-US" dirty="0"/>
          </a:p>
        </p:txBody>
      </p:sp>
      <p:sp>
        <p:nvSpPr>
          <p:cNvPr id="4" name="灯片编号占位符 3"/>
          <p:cNvSpPr>
            <a:spLocks noGrp="1"/>
          </p:cNvSpPr>
          <p:nvPr>
            <p:ph type="sldNum" sz="quarter" idx="12"/>
          </p:nvPr>
        </p:nvSpPr>
        <p:spPr/>
        <p:txBody>
          <a:bodyPr/>
          <a:lstStyle/>
          <a:p>
            <a:fld id="{87034D8C-3CB4-402A-BC46-2AB14C0FE90A}" type="slidenum">
              <a:rPr lang="en-US" smtClean="0"/>
              <a:pPr/>
              <a:t>16</a:t>
            </a:fld>
            <a:endParaRPr lang="en-US" dirty="0"/>
          </a:p>
        </p:txBody>
      </p:sp>
      <p:sp>
        <p:nvSpPr>
          <p:cNvPr id="5" name="椭圆 4"/>
          <p:cNvSpPr/>
          <p:nvPr/>
        </p:nvSpPr>
        <p:spPr bwMode="auto">
          <a:xfrm>
            <a:off x="2346325" y="3833416"/>
            <a:ext cx="549275" cy="43815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P3</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41" name="椭圆 40"/>
          <p:cNvSpPr/>
          <p:nvPr/>
        </p:nvSpPr>
        <p:spPr bwMode="auto">
          <a:xfrm>
            <a:off x="1508125" y="5553075"/>
            <a:ext cx="549275" cy="43815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P0</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42" name="椭圆 41"/>
          <p:cNvSpPr/>
          <p:nvPr/>
        </p:nvSpPr>
        <p:spPr bwMode="auto">
          <a:xfrm>
            <a:off x="4127500" y="3881041"/>
            <a:ext cx="549275" cy="43815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P2</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43" name="椭圆 42"/>
          <p:cNvSpPr/>
          <p:nvPr/>
        </p:nvSpPr>
        <p:spPr bwMode="auto">
          <a:xfrm>
            <a:off x="3219450" y="5553075"/>
            <a:ext cx="549275" cy="43815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P1</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57" name="圆柱形 56"/>
          <p:cNvSpPr/>
          <p:nvPr/>
        </p:nvSpPr>
        <p:spPr bwMode="auto">
          <a:xfrm>
            <a:off x="2438400" y="4490641"/>
            <a:ext cx="381000" cy="333375"/>
          </a:xfrm>
          <a:prstGeom prst="can">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62" name="下箭头 61"/>
          <p:cNvSpPr/>
          <p:nvPr/>
        </p:nvSpPr>
        <p:spPr bwMode="auto">
          <a:xfrm>
            <a:off x="2558256" y="4264819"/>
            <a:ext cx="141287" cy="254794"/>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63" name="圆柱形 62"/>
          <p:cNvSpPr/>
          <p:nvPr/>
        </p:nvSpPr>
        <p:spPr bwMode="auto">
          <a:xfrm>
            <a:off x="1592262" y="6219825"/>
            <a:ext cx="381000" cy="333375"/>
          </a:xfrm>
          <a:prstGeom prst="can">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64" name="下箭头 63"/>
          <p:cNvSpPr/>
          <p:nvPr/>
        </p:nvSpPr>
        <p:spPr bwMode="auto">
          <a:xfrm>
            <a:off x="1712118" y="5994003"/>
            <a:ext cx="141287" cy="254794"/>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65" name="圆柱形 64"/>
          <p:cNvSpPr/>
          <p:nvPr/>
        </p:nvSpPr>
        <p:spPr bwMode="auto">
          <a:xfrm>
            <a:off x="4211637" y="4543425"/>
            <a:ext cx="381000" cy="333375"/>
          </a:xfrm>
          <a:prstGeom prst="can">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66" name="下箭头 65"/>
          <p:cNvSpPr/>
          <p:nvPr/>
        </p:nvSpPr>
        <p:spPr bwMode="auto">
          <a:xfrm>
            <a:off x="4331493" y="4317603"/>
            <a:ext cx="141287" cy="254794"/>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67" name="圆柱形 66"/>
          <p:cNvSpPr/>
          <p:nvPr/>
        </p:nvSpPr>
        <p:spPr bwMode="auto">
          <a:xfrm>
            <a:off x="3303587" y="6219824"/>
            <a:ext cx="381000" cy="333375"/>
          </a:xfrm>
          <a:prstGeom prst="can">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68" name="下箭头 67"/>
          <p:cNvSpPr/>
          <p:nvPr/>
        </p:nvSpPr>
        <p:spPr bwMode="auto">
          <a:xfrm>
            <a:off x="3423443" y="5994002"/>
            <a:ext cx="141287" cy="254794"/>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93" name="椭圆 92"/>
          <p:cNvSpPr/>
          <p:nvPr/>
        </p:nvSpPr>
        <p:spPr bwMode="auto">
          <a:xfrm>
            <a:off x="2422525" y="838200"/>
            <a:ext cx="549275" cy="43815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P7</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98" name="椭圆 97"/>
          <p:cNvSpPr/>
          <p:nvPr/>
        </p:nvSpPr>
        <p:spPr bwMode="auto">
          <a:xfrm>
            <a:off x="1584325" y="2557859"/>
            <a:ext cx="549275" cy="43815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P4</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99" name="椭圆 98"/>
          <p:cNvSpPr/>
          <p:nvPr/>
        </p:nvSpPr>
        <p:spPr bwMode="auto">
          <a:xfrm>
            <a:off x="4203700" y="885825"/>
            <a:ext cx="549275" cy="43815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P6</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100" name="椭圆 99"/>
          <p:cNvSpPr/>
          <p:nvPr/>
        </p:nvSpPr>
        <p:spPr bwMode="auto">
          <a:xfrm>
            <a:off x="3295650" y="2557859"/>
            <a:ext cx="549275" cy="438150"/>
          </a:xfrm>
          <a:prstGeom prst="ellipse">
            <a:avLst/>
          </a:prstGeom>
          <a:solidFill>
            <a:schemeClr val="tx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P5</a:t>
            </a:r>
            <a:endParaRPr kumimoji="0" lang="zh-CN" altLang="en-US" sz="1800" b="0" i="0" u="none" strike="noStrike" cap="none" normalizeH="0" baseline="0" dirty="0" smtClean="0">
              <a:ln>
                <a:noFill/>
              </a:ln>
              <a:solidFill>
                <a:schemeClr val="tx1"/>
              </a:solidFill>
              <a:effectLst/>
              <a:latin typeface="Calibri" pitchFamily="34" charset="0"/>
            </a:endParaRPr>
          </a:p>
        </p:txBody>
      </p:sp>
      <p:sp>
        <p:nvSpPr>
          <p:cNvPr id="105" name="圆柱形 104"/>
          <p:cNvSpPr/>
          <p:nvPr/>
        </p:nvSpPr>
        <p:spPr bwMode="auto">
          <a:xfrm>
            <a:off x="2514600" y="1495425"/>
            <a:ext cx="381000" cy="333375"/>
          </a:xfrm>
          <a:prstGeom prst="can">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106" name="下箭头 105"/>
          <p:cNvSpPr/>
          <p:nvPr/>
        </p:nvSpPr>
        <p:spPr bwMode="auto">
          <a:xfrm>
            <a:off x="2634456" y="1269603"/>
            <a:ext cx="141287" cy="254794"/>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107" name="圆柱形 106"/>
          <p:cNvSpPr/>
          <p:nvPr/>
        </p:nvSpPr>
        <p:spPr bwMode="auto">
          <a:xfrm>
            <a:off x="1668462" y="3224609"/>
            <a:ext cx="381000" cy="333375"/>
          </a:xfrm>
          <a:prstGeom prst="can">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108" name="下箭头 107"/>
          <p:cNvSpPr/>
          <p:nvPr/>
        </p:nvSpPr>
        <p:spPr bwMode="auto">
          <a:xfrm>
            <a:off x="1788318" y="2998787"/>
            <a:ext cx="141287" cy="254794"/>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109" name="圆柱形 108"/>
          <p:cNvSpPr/>
          <p:nvPr/>
        </p:nvSpPr>
        <p:spPr bwMode="auto">
          <a:xfrm>
            <a:off x="4287837" y="1548209"/>
            <a:ext cx="381000" cy="333375"/>
          </a:xfrm>
          <a:prstGeom prst="can">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110" name="下箭头 109"/>
          <p:cNvSpPr/>
          <p:nvPr/>
        </p:nvSpPr>
        <p:spPr bwMode="auto">
          <a:xfrm>
            <a:off x="4407693" y="1322387"/>
            <a:ext cx="141287" cy="254794"/>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111" name="圆柱形 110"/>
          <p:cNvSpPr/>
          <p:nvPr/>
        </p:nvSpPr>
        <p:spPr bwMode="auto">
          <a:xfrm>
            <a:off x="3379787" y="3224608"/>
            <a:ext cx="381000" cy="333375"/>
          </a:xfrm>
          <a:prstGeom prst="can">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sp>
        <p:nvSpPr>
          <p:cNvPr id="112" name="下箭头 111"/>
          <p:cNvSpPr/>
          <p:nvPr/>
        </p:nvSpPr>
        <p:spPr bwMode="auto">
          <a:xfrm>
            <a:off x="3499643" y="2998786"/>
            <a:ext cx="141287" cy="254794"/>
          </a:xfrm>
          <a:prstGeom prst="downArrow">
            <a:avLst/>
          </a:prstGeom>
          <a:solidFill>
            <a:schemeClr val="accent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grpSp>
        <p:nvGrpSpPr>
          <p:cNvPr id="7" name="组合 6"/>
          <p:cNvGrpSpPr/>
          <p:nvPr/>
        </p:nvGrpSpPr>
        <p:grpSpPr>
          <a:xfrm>
            <a:off x="-76200" y="3856243"/>
            <a:ext cx="6503552" cy="2255427"/>
            <a:chOff x="-76200" y="3856243"/>
            <a:chExt cx="6503552" cy="2255427"/>
          </a:xfrm>
        </p:grpSpPr>
        <p:cxnSp>
          <p:nvCxnSpPr>
            <p:cNvPr id="14" name="直接箭头连接符 13"/>
            <p:cNvCxnSpPr>
              <a:stCxn id="185" idx="2"/>
              <a:endCxn id="5" idx="2"/>
            </p:cNvCxnSpPr>
            <p:nvPr/>
          </p:nvCxnSpPr>
          <p:spPr bwMode="auto">
            <a:xfrm>
              <a:off x="2011247" y="4040854"/>
              <a:ext cx="335078" cy="11637"/>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16" name="直接箭头连接符 15"/>
            <p:cNvCxnSpPr>
              <a:stCxn id="49" idx="2"/>
              <a:endCxn id="41" idx="2"/>
            </p:cNvCxnSpPr>
            <p:nvPr/>
          </p:nvCxnSpPr>
          <p:spPr bwMode="auto">
            <a:xfrm>
              <a:off x="1177809" y="5737686"/>
              <a:ext cx="330316" cy="34464"/>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26" name="直接箭头连接符 25"/>
            <p:cNvCxnSpPr>
              <a:stCxn id="197" idx="5"/>
              <a:endCxn id="42" idx="6"/>
            </p:cNvCxnSpPr>
            <p:nvPr/>
          </p:nvCxnSpPr>
          <p:spPr bwMode="auto">
            <a:xfrm flipH="1">
              <a:off x="4676775" y="4100116"/>
              <a:ext cx="413802" cy="0"/>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29" name="直接箭头连接符 28"/>
            <p:cNvCxnSpPr>
              <a:stCxn id="167" idx="5"/>
              <a:endCxn id="43" idx="6"/>
            </p:cNvCxnSpPr>
            <p:nvPr/>
          </p:nvCxnSpPr>
          <p:spPr bwMode="auto">
            <a:xfrm flipH="1">
              <a:off x="3768725" y="5746799"/>
              <a:ext cx="528876" cy="25351"/>
            </a:xfrm>
            <a:prstGeom prst="straightConnector1">
              <a:avLst/>
            </a:prstGeom>
            <a:noFill/>
            <a:ln w="9525" cap="flat" cmpd="sng" algn="ctr">
              <a:solidFill>
                <a:schemeClr val="bg2">
                  <a:lumMod val="10000"/>
                </a:schemeClr>
              </a:solidFill>
              <a:prstDash val="solid"/>
              <a:round/>
              <a:headEnd type="none" w="med" len="med"/>
              <a:tailEnd type="arrow"/>
            </a:ln>
            <a:effectLst/>
          </p:spPr>
        </p:cxnSp>
        <p:sp>
          <p:nvSpPr>
            <p:cNvPr id="49" name="平行四边形 48"/>
            <p:cNvSpPr/>
            <p:nvPr/>
          </p:nvSpPr>
          <p:spPr bwMode="auto">
            <a:xfrm>
              <a:off x="-76200" y="5553075"/>
              <a:ext cx="1300162" cy="369222"/>
            </a:xfrm>
            <a:prstGeom prst="parallelogram">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Calibri" pitchFamily="34" charset="0"/>
                </a:rPr>
                <a:t>A3A2A1A0</a:t>
              </a:r>
              <a:endParaRPr kumimoji="0" lang="zh-CN" altLang="en-US" sz="1400" b="0" i="0" u="none" strike="noStrike" cap="none" normalizeH="0" baseline="0" dirty="0" smtClean="0">
                <a:ln>
                  <a:noFill/>
                </a:ln>
                <a:solidFill>
                  <a:schemeClr val="tx1"/>
                </a:solidFill>
                <a:effectLst/>
                <a:latin typeface="Calibri" pitchFamily="34" charset="0"/>
              </a:endParaRPr>
            </a:p>
          </p:txBody>
        </p:sp>
        <p:cxnSp>
          <p:nvCxnSpPr>
            <p:cNvPr id="78" name="直接箭头连接符 77"/>
            <p:cNvCxnSpPr>
              <a:endCxn id="41" idx="3"/>
            </p:cNvCxnSpPr>
            <p:nvPr/>
          </p:nvCxnSpPr>
          <p:spPr bwMode="auto">
            <a:xfrm flipV="1">
              <a:off x="1067950" y="5927059"/>
              <a:ext cx="520614" cy="184611"/>
            </a:xfrm>
            <a:prstGeom prst="straightConnector1">
              <a:avLst/>
            </a:prstGeom>
            <a:noFill/>
            <a:ln w="9525" cap="flat" cmpd="sng" algn="ctr">
              <a:solidFill>
                <a:schemeClr val="bg2">
                  <a:lumMod val="10000"/>
                </a:schemeClr>
              </a:solidFill>
              <a:prstDash val="solid"/>
              <a:round/>
              <a:headEnd type="none" w="med" len="med"/>
              <a:tailEnd type="arrow"/>
            </a:ln>
            <a:effectLst/>
          </p:spPr>
        </p:cxnSp>
        <p:sp>
          <p:nvSpPr>
            <p:cNvPr id="167" name="平行四边形 166"/>
            <p:cNvSpPr/>
            <p:nvPr/>
          </p:nvSpPr>
          <p:spPr bwMode="auto">
            <a:xfrm>
              <a:off x="4251448" y="5562188"/>
              <a:ext cx="1559346" cy="369222"/>
            </a:xfrm>
            <a:prstGeom prst="parallelogram">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400" dirty="0" smtClean="0">
                  <a:solidFill>
                    <a:schemeClr val="tx1"/>
                  </a:solidFill>
                  <a:latin typeface="Calibri" pitchFamily="34" charset="0"/>
                </a:rPr>
                <a:t>B</a:t>
              </a:r>
              <a:r>
                <a:rPr kumimoji="0" lang="en-US" altLang="zh-CN" sz="1400" b="0" i="0" u="none" strike="noStrike" cap="none" normalizeH="0" baseline="0" dirty="0" smtClean="0">
                  <a:ln>
                    <a:noFill/>
                  </a:ln>
                  <a:solidFill>
                    <a:schemeClr val="tx1"/>
                  </a:solidFill>
                  <a:effectLst/>
                  <a:latin typeface="Calibri" pitchFamily="34" charset="0"/>
                </a:rPr>
                <a:t>0B1B2B3</a:t>
              </a:r>
              <a:endParaRPr kumimoji="0" lang="zh-CN" altLang="en-US" sz="1400" b="0" i="0" u="none" strike="noStrike" cap="none" normalizeH="0" baseline="0" dirty="0" smtClean="0">
                <a:ln>
                  <a:noFill/>
                </a:ln>
                <a:solidFill>
                  <a:schemeClr val="tx1"/>
                </a:solidFill>
                <a:effectLst/>
                <a:latin typeface="Calibri" pitchFamily="34" charset="0"/>
              </a:endParaRPr>
            </a:p>
          </p:txBody>
        </p:sp>
        <p:sp>
          <p:nvSpPr>
            <p:cNvPr id="185" name="平行四边形 184"/>
            <p:cNvSpPr/>
            <p:nvPr/>
          </p:nvSpPr>
          <p:spPr bwMode="auto">
            <a:xfrm>
              <a:off x="659860" y="3856243"/>
              <a:ext cx="1397540" cy="369222"/>
            </a:xfrm>
            <a:prstGeom prst="parallelogram">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400" dirty="0" smtClean="0">
                  <a:solidFill>
                    <a:schemeClr val="tx1"/>
                  </a:solidFill>
                  <a:latin typeface="Calibri" pitchFamily="34" charset="0"/>
                </a:rPr>
                <a:t>D3D2D1D</a:t>
              </a:r>
              <a:r>
                <a:rPr kumimoji="0" lang="en-US" altLang="zh-CN" sz="1400" b="0" i="0" u="none" strike="noStrike" cap="none" normalizeH="0" baseline="0" dirty="0" smtClean="0">
                  <a:ln>
                    <a:noFill/>
                  </a:ln>
                  <a:solidFill>
                    <a:schemeClr val="tx1"/>
                  </a:solidFill>
                  <a:effectLst/>
                  <a:latin typeface="Calibri" pitchFamily="34" charset="0"/>
                </a:rPr>
                <a:t>0</a:t>
              </a:r>
              <a:endParaRPr kumimoji="0" lang="zh-CN" altLang="en-US" sz="1400" b="0" i="0" u="none" strike="noStrike" cap="none" normalizeH="0" baseline="0" dirty="0" smtClean="0">
                <a:ln>
                  <a:noFill/>
                </a:ln>
                <a:solidFill>
                  <a:schemeClr val="tx1"/>
                </a:solidFill>
                <a:effectLst/>
                <a:latin typeface="Calibri" pitchFamily="34" charset="0"/>
              </a:endParaRPr>
            </a:p>
          </p:txBody>
        </p:sp>
        <p:sp>
          <p:nvSpPr>
            <p:cNvPr id="197" name="平行四边形 196"/>
            <p:cNvSpPr/>
            <p:nvPr/>
          </p:nvSpPr>
          <p:spPr bwMode="auto">
            <a:xfrm>
              <a:off x="5044424" y="3915505"/>
              <a:ext cx="1382928" cy="369222"/>
            </a:xfrm>
            <a:prstGeom prst="parallelogram">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400" dirty="0" smtClean="0">
                  <a:solidFill>
                    <a:schemeClr val="tx1"/>
                  </a:solidFill>
                  <a:latin typeface="Calibri" pitchFamily="34" charset="0"/>
                </a:rPr>
                <a:t>C</a:t>
              </a:r>
              <a:r>
                <a:rPr kumimoji="0" lang="en-US" altLang="zh-CN" sz="1400" b="0" i="0" u="none" strike="noStrike" cap="none" normalizeH="0" baseline="0" dirty="0" smtClean="0">
                  <a:ln>
                    <a:noFill/>
                  </a:ln>
                  <a:solidFill>
                    <a:schemeClr val="tx1"/>
                  </a:solidFill>
                  <a:effectLst/>
                  <a:latin typeface="Calibri" pitchFamily="34" charset="0"/>
                </a:rPr>
                <a:t>0C1C2C3</a:t>
              </a:r>
              <a:endParaRPr kumimoji="0" lang="zh-CN" altLang="en-US" sz="1400" b="0" i="0" u="none" strike="noStrike" cap="none" normalizeH="0" baseline="0" dirty="0" smtClean="0">
                <a:ln>
                  <a:noFill/>
                </a:ln>
                <a:solidFill>
                  <a:schemeClr val="tx1"/>
                </a:solidFill>
                <a:effectLst/>
                <a:latin typeface="Calibri" pitchFamily="34" charset="0"/>
              </a:endParaRPr>
            </a:p>
          </p:txBody>
        </p:sp>
      </p:grpSp>
      <p:grpSp>
        <p:nvGrpSpPr>
          <p:cNvPr id="6" name="组合 5"/>
          <p:cNvGrpSpPr/>
          <p:nvPr/>
        </p:nvGrpSpPr>
        <p:grpSpPr>
          <a:xfrm>
            <a:off x="9303" y="909305"/>
            <a:ext cx="6387808" cy="2052240"/>
            <a:chOff x="9303" y="909305"/>
            <a:chExt cx="6387808" cy="2052240"/>
          </a:xfrm>
        </p:grpSpPr>
        <p:cxnSp>
          <p:nvCxnSpPr>
            <p:cNvPr id="94" name="直接箭头连接符 93"/>
            <p:cNvCxnSpPr>
              <a:stCxn id="217" idx="2"/>
              <a:endCxn id="93" idx="2"/>
            </p:cNvCxnSpPr>
            <p:nvPr/>
          </p:nvCxnSpPr>
          <p:spPr bwMode="auto">
            <a:xfrm flipV="1">
              <a:off x="2084940" y="1057275"/>
              <a:ext cx="337585" cy="36641"/>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95" name="直接箭头连接符 94"/>
            <p:cNvCxnSpPr>
              <a:stCxn id="203" idx="2"/>
              <a:endCxn id="98" idx="2"/>
            </p:cNvCxnSpPr>
            <p:nvPr/>
          </p:nvCxnSpPr>
          <p:spPr bwMode="auto">
            <a:xfrm>
              <a:off x="1157782" y="2776934"/>
              <a:ext cx="426543" cy="0"/>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96" name="直接箭头连接符 95"/>
            <p:cNvCxnSpPr>
              <a:stCxn id="224" idx="5"/>
              <a:endCxn id="99" idx="6"/>
            </p:cNvCxnSpPr>
            <p:nvPr/>
          </p:nvCxnSpPr>
          <p:spPr bwMode="auto">
            <a:xfrm flipH="1">
              <a:off x="4752975" y="1093916"/>
              <a:ext cx="506862" cy="10984"/>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97" name="直接箭头连接符 96"/>
            <p:cNvCxnSpPr>
              <a:stCxn id="209" idx="5"/>
              <a:endCxn id="100" idx="6"/>
            </p:cNvCxnSpPr>
            <p:nvPr/>
          </p:nvCxnSpPr>
          <p:spPr bwMode="auto">
            <a:xfrm flipH="1">
              <a:off x="3844925" y="2776934"/>
              <a:ext cx="489064" cy="0"/>
            </a:xfrm>
            <a:prstGeom prst="straightConnector1">
              <a:avLst/>
            </a:prstGeom>
            <a:noFill/>
            <a:ln w="9525" cap="flat" cmpd="sng" algn="ctr">
              <a:solidFill>
                <a:schemeClr val="bg2">
                  <a:lumMod val="10000"/>
                </a:schemeClr>
              </a:solidFill>
              <a:prstDash val="solid"/>
              <a:round/>
              <a:headEnd type="none" w="med" len="med"/>
              <a:tailEnd type="arrow"/>
            </a:ln>
            <a:effectLst/>
          </p:spPr>
        </p:cxnSp>
        <p:cxnSp>
          <p:nvCxnSpPr>
            <p:cNvPr id="117" name="直接箭头连接符 116"/>
            <p:cNvCxnSpPr>
              <a:endCxn id="93" idx="3"/>
            </p:cNvCxnSpPr>
            <p:nvPr/>
          </p:nvCxnSpPr>
          <p:spPr bwMode="auto">
            <a:xfrm flipV="1">
              <a:off x="2027864" y="1212184"/>
              <a:ext cx="475100" cy="177818"/>
            </a:xfrm>
            <a:prstGeom prst="straightConnector1">
              <a:avLst/>
            </a:prstGeom>
            <a:noFill/>
            <a:ln w="9525" cap="flat" cmpd="sng" algn="ctr">
              <a:solidFill>
                <a:schemeClr val="bg2">
                  <a:lumMod val="10000"/>
                </a:schemeClr>
              </a:solidFill>
              <a:prstDash val="solid"/>
              <a:round/>
              <a:headEnd type="none" w="med" len="med"/>
              <a:tailEnd type="arrow"/>
            </a:ln>
            <a:effectLst/>
          </p:spPr>
        </p:cxnSp>
        <p:sp>
          <p:nvSpPr>
            <p:cNvPr id="203" name="平行四边形 202"/>
            <p:cNvSpPr/>
            <p:nvPr/>
          </p:nvSpPr>
          <p:spPr bwMode="auto">
            <a:xfrm>
              <a:off x="9303" y="2592323"/>
              <a:ext cx="1194632" cy="369222"/>
            </a:xfrm>
            <a:prstGeom prst="parallelogram">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400" dirty="0" smtClean="0">
                  <a:solidFill>
                    <a:schemeClr val="tx1"/>
                  </a:solidFill>
                  <a:latin typeface="Calibri" pitchFamily="34" charset="0"/>
                </a:rPr>
                <a:t>E3E2E1</a:t>
              </a:r>
              <a:r>
                <a:rPr kumimoji="0" lang="en-US" altLang="zh-CN" sz="1400" b="0" i="0" u="none" strike="noStrike" cap="none" normalizeH="0" baseline="0" dirty="0" smtClean="0">
                  <a:ln>
                    <a:noFill/>
                  </a:ln>
                  <a:solidFill>
                    <a:schemeClr val="tx1"/>
                  </a:solidFill>
                  <a:effectLst/>
                  <a:latin typeface="Calibri" pitchFamily="34" charset="0"/>
                </a:rPr>
                <a:t>E0</a:t>
              </a:r>
              <a:endParaRPr kumimoji="0" lang="zh-CN" altLang="en-US" sz="1400" b="0" i="0" u="none" strike="noStrike" cap="none" normalizeH="0" baseline="0" dirty="0" smtClean="0">
                <a:ln>
                  <a:noFill/>
                </a:ln>
                <a:solidFill>
                  <a:schemeClr val="tx1"/>
                </a:solidFill>
                <a:effectLst/>
                <a:latin typeface="Calibri" pitchFamily="34" charset="0"/>
              </a:endParaRPr>
            </a:p>
          </p:txBody>
        </p:sp>
        <p:sp>
          <p:nvSpPr>
            <p:cNvPr id="209" name="平行四边形 208"/>
            <p:cNvSpPr/>
            <p:nvPr/>
          </p:nvSpPr>
          <p:spPr bwMode="auto">
            <a:xfrm>
              <a:off x="4287836" y="2592323"/>
              <a:ext cx="1251895" cy="369222"/>
            </a:xfrm>
            <a:prstGeom prst="parallelogram">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400" dirty="0" smtClean="0">
                  <a:solidFill>
                    <a:schemeClr val="tx1"/>
                  </a:solidFill>
                  <a:latin typeface="Calibri" pitchFamily="34" charset="0"/>
                </a:rPr>
                <a:t>F</a:t>
              </a:r>
              <a:r>
                <a:rPr kumimoji="0" lang="en-US" altLang="zh-CN" sz="1400" b="0" i="0" u="none" strike="noStrike" cap="none" normalizeH="0" baseline="0" dirty="0" smtClean="0">
                  <a:ln>
                    <a:noFill/>
                  </a:ln>
                  <a:solidFill>
                    <a:schemeClr val="tx1"/>
                  </a:solidFill>
                  <a:effectLst/>
                  <a:latin typeface="Calibri" pitchFamily="34" charset="0"/>
                </a:rPr>
                <a:t>0F1F2F3</a:t>
              </a:r>
              <a:endParaRPr kumimoji="0" lang="zh-CN" altLang="en-US" sz="1400" b="0" i="0" u="none" strike="noStrike" cap="none" normalizeH="0" baseline="0" dirty="0" smtClean="0">
                <a:ln>
                  <a:noFill/>
                </a:ln>
                <a:solidFill>
                  <a:schemeClr val="tx1"/>
                </a:solidFill>
                <a:effectLst/>
                <a:latin typeface="Calibri" pitchFamily="34" charset="0"/>
              </a:endParaRPr>
            </a:p>
          </p:txBody>
        </p:sp>
        <p:sp>
          <p:nvSpPr>
            <p:cNvPr id="217" name="平行四边形 216"/>
            <p:cNvSpPr/>
            <p:nvPr/>
          </p:nvSpPr>
          <p:spPr bwMode="auto">
            <a:xfrm>
              <a:off x="785417" y="909305"/>
              <a:ext cx="1345676" cy="369222"/>
            </a:xfrm>
            <a:prstGeom prst="parallelogram">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400" dirty="0" smtClean="0">
                  <a:solidFill>
                    <a:schemeClr val="tx1"/>
                  </a:solidFill>
                  <a:latin typeface="Calibri" pitchFamily="34" charset="0"/>
                </a:rPr>
                <a:t>H3H2H1H</a:t>
              </a:r>
              <a:r>
                <a:rPr kumimoji="0" lang="en-US" altLang="zh-CN" sz="1400" b="0" i="0" u="none" strike="noStrike" cap="none" normalizeH="0" baseline="0" dirty="0" smtClean="0">
                  <a:ln>
                    <a:noFill/>
                  </a:ln>
                  <a:solidFill>
                    <a:schemeClr val="tx1"/>
                  </a:solidFill>
                  <a:effectLst/>
                  <a:latin typeface="Calibri" pitchFamily="34" charset="0"/>
                </a:rPr>
                <a:t>0</a:t>
              </a:r>
              <a:endParaRPr kumimoji="0" lang="zh-CN" altLang="en-US" sz="1400" b="0" i="0" u="none" strike="noStrike" cap="none" normalizeH="0" baseline="0" dirty="0" smtClean="0">
                <a:ln>
                  <a:noFill/>
                </a:ln>
                <a:solidFill>
                  <a:schemeClr val="tx1"/>
                </a:solidFill>
                <a:effectLst/>
                <a:latin typeface="Calibri" pitchFamily="34" charset="0"/>
              </a:endParaRPr>
            </a:p>
          </p:txBody>
        </p:sp>
        <p:sp>
          <p:nvSpPr>
            <p:cNvPr id="224" name="平行四边形 223"/>
            <p:cNvSpPr/>
            <p:nvPr/>
          </p:nvSpPr>
          <p:spPr bwMode="auto">
            <a:xfrm>
              <a:off x="5213684" y="909305"/>
              <a:ext cx="1183427" cy="369222"/>
            </a:xfrm>
            <a:prstGeom prst="parallelogram">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zh-CN" sz="1400" dirty="0" smtClean="0">
                  <a:solidFill>
                    <a:schemeClr val="tx1"/>
                  </a:solidFill>
                  <a:latin typeface="Calibri" pitchFamily="34" charset="0"/>
                </a:rPr>
                <a:t>F0F1F2F3</a:t>
              </a:r>
              <a:endParaRPr kumimoji="0" lang="zh-CN" altLang="en-US" sz="1400" b="0" i="0" u="none" strike="noStrike" cap="none" normalizeH="0" baseline="0" dirty="0" smtClean="0">
                <a:ln>
                  <a:noFill/>
                </a:ln>
                <a:solidFill>
                  <a:schemeClr val="tx1"/>
                </a:solidFill>
                <a:effectLst/>
                <a:latin typeface="Calibri" pitchFamily="34" charset="0"/>
              </a:endParaRPr>
            </a:p>
          </p:txBody>
        </p:sp>
      </p:grpSp>
      <p:sp>
        <p:nvSpPr>
          <p:cNvPr id="32" name="平行四边形 31"/>
          <p:cNvSpPr/>
          <p:nvPr/>
        </p:nvSpPr>
        <p:spPr bwMode="auto">
          <a:xfrm>
            <a:off x="1692275" y="4038600"/>
            <a:ext cx="2743200" cy="1733550"/>
          </a:xfrm>
          <a:prstGeom prst="parallelogram">
            <a:avLst>
              <a:gd name="adj" fmla="val 49883"/>
            </a:avLst>
          </a:prstGeom>
          <a:noFill/>
          <a:ln w="25400" cap="flat" cmpd="sng" algn="ctr">
            <a:solidFill>
              <a:srgbClr val="C00000">
                <a:alpha val="82000"/>
              </a:srgbClr>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Calibri" pitchFamily="34" charset="0"/>
            </a:endParaRPr>
          </a:p>
        </p:txBody>
      </p:sp>
      <p:pic>
        <p:nvPicPr>
          <p:cNvPr id="115" name="Picture 10" descr="http://clusterdesign.org/wp-content/uploads/2012/09/fujitsu-3d-toru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3760786"/>
            <a:ext cx="2600325" cy="2638426"/>
          </a:xfrm>
          <a:prstGeom prst="rect">
            <a:avLst/>
          </a:prstGeom>
          <a:noFill/>
          <a:extLst>
            <a:ext uri="{909E8E84-426E-40DD-AFC4-6F175D3DCCD1}">
              <a14:hiddenFill xmlns:a14="http://schemas.microsoft.com/office/drawing/2010/main">
                <a:solidFill>
                  <a:srgbClr val="FFFFFF"/>
                </a:solidFill>
              </a14:hiddenFill>
            </a:ext>
          </a:extLst>
        </p:spPr>
      </p:pic>
      <p:sp>
        <p:nvSpPr>
          <p:cNvPr id="116" name="TextBox 115"/>
          <p:cNvSpPr txBox="1"/>
          <p:nvPr/>
        </p:nvSpPr>
        <p:spPr>
          <a:xfrm>
            <a:off x="6858000" y="6412468"/>
            <a:ext cx="1847814" cy="369332"/>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US" altLang="zh-CN" dirty="0" smtClean="0"/>
              <a:t>3D torus Network</a:t>
            </a:r>
            <a:endParaRPr lang="zh-CN" altLang="en-US" dirty="0"/>
          </a:p>
        </p:txBody>
      </p:sp>
    </p:spTree>
    <p:extLst>
      <p:ext uri="{BB962C8B-B14F-4D97-AF65-F5344CB8AC3E}">
        <p14:creationId xmlns:p14="http://schemas.microsoft.com/office/powerpoint/2010/main" val="2322709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2"/>
                                        </p:tgtEl>
                                        <p:attrNameLst>
                                          <p:attrName>style.visibility</p:attrName>
                                        </p:attrNameLst>
                                      </p:cBhvr>
                                      <p:to>
                                        <p:strVal val="visible"/>
                                      </p:to>
                                    </p:set>
                                    <p:animEffect transition="in" filter="fade">
                                      <p:cBhvr>
                                        <p:cTn id="10" dur="500"/>
                                        <p:tgtEl>
                                          <p:spTgt spid="6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7"/>
                                        </p:tgtEl>
                                        <p:attrNameLst>
                                          <p:attrName>style.visibility</p:attrName>
                                        </p:attrNameLst>
                                      </p:cBhvr>
                                      <p:to>
                                        <p:strVal val="visible"/>
                                      </p:to>
                                    </p:set>
                                    <p:animEffect transition="in" filter="fade">
                                      <p:cBhvr>
                                        <p:cTn id="13" dur="500"/>
                                        <p:tgtEl>
                                          <p:spTgt spid="5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500"/>
                                        <p:tgtEl>
                                          <p:spTgt spid="4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500"/>
                                        <p:tgtEl>
                                          <p:spTgt spid="6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fade">
                                      <p:cBhvr>
                                        <p:cTn id="22" dur="500"/>
                                        <p:tgtEl>
                                          <p:spTgt spid="6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fade">
                                      <p:cBhvr>
                                        <p:cTn id="25" dur="500"/>
                                        <p:tgtEl>
                                          <p:spTgt spid="6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8"/>
                                        </p:tgtEl>
                                        <p:attrNameLst>
                                          <p:attrName>style.visibility</p:attrName>
                                        </p:attrNameLst>
                                      </p:cBhvr>
                                      <p:to>
                                        <p:strVal val="visible"/>
                                      </p:to>
                                    </p:set>
                                    <p:animEffect transition="in" filter="fade">
                                      <p:cBhvr>
                                        <p:cTn id="28" dur="500"/>
                                        <p:tgtEl>
                                          <p:spTgt spid="6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fade">
                                      <p:cBhvr>
                                        <p:cTn id="31" dur="500"/>
                                        <p:tgtEl>
                                          <p:spTgt spid="4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2"/>
                                        </p:tgtEl>
                                        <p:attrNameLst>
                                          <p:attrName>style.visibility</p:attrName>
                                        </p:attrNameLst>
                                      </p:cBhvr>
                                      <p:to>
                                        <p:strVal val="visible"/>
                                      </p:to>
                                    </p:set>
                                    <p:animEffect transition="in" filter="fade">
                                      <p:cBhvr>
                                        <p:cTn id="34" dur="500"/>
                                        <p:tgtEl>
                                          <p:spTgt spid="4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6"/>
                                        </p:tgtEl>
                                        <p:attrNameLst>
                                          <p:attrName>style.visibility</p:attrName>
                                        </p:attrNameLst>
                                      </p:cBhvr>
                                      <p:to>
                                        <p:strVal val="visible"/>
                                      </p:to>
                                    </p:set>
                                    <p:animEffect transition="in" filter="fade">
                                      <p:cBhvr>
                                        <p:cTn id="37" dur="500"/>
                                        <p:tgtEl>
                                          <p:spTgt spid="6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5"/>
                                        </p:tgtEl>
                                        <p:attrNameLst>
                                          <p:attrName>style.visibility</p:attrName>
                                        </p:attrNameLst>
                                      </p:cBhvr>
                                      <p:to>
                                        <p:strVal val="visible"/>
                                      </p:to>
                                    </p:set>
                                    <p:animEffect transition="in" filter="fade">
                                      <p:cBhvr>
                                        <p:cTn id="40" dur="500"/>
                                        <p:tgtEl>
                                          <p:spTgt spid="65"/>
                                        </p:tgtEl>
                                      </p:cBhvr>
                                    </p:animEffect>
                                  </p:childTnLst>
                                </p:cTn>
                              </p:par>
                              <p:par>
                                <p:cTn id="41" presetID="10" presetClass="entr" presetSubtype="0" fill="hold" nodeType="withEffect">
                                  <p:stCondLst>
                                    <p:cond delay="0"/>
                                  </p:stCondLst>
                                  <p:childTnLst>
                                    <p:set>
                                      <p:cBhvr>
                                        <p:cTn id="42" dur="1" fill="hold">
                                          <p:stCondLst>
                                            <p:cond delay="0"/>
                                          </p:stCondLst>
                                        </p:cTn>
                                        <p:tgtEl>
                                          <p:spTgt spid="125"/>
                                        </p:tgtEl>
                                        <p:attrNameLst>
                                          <p:attrName>style.visibility</p:attrName>
                                        </p:attrNameLst>
                                      </p:cBhvr>
                                      <p:to>
                                        <p:strVal val="visible"/>
                                      </p:to>
                                    </p:set>
                                    <p:animEffect transition="in" filter="fade">
                                      <p:cBhvr>
                                        <p:cTn id="43" dur="500"/>
                                        <p:tgtEl>
                                          <p:spTgt spid="12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childTnLst>
                                </p:cTn>
                              </p:par>
                              <p:par>
                                <p:cTn id="47" presetID="10" presetClass="entr" presetSubtype="0" fill="hold" nodeType="withEffect">
                                  <p:stCondLst>
                                    <p:cond delay="0"/>
                                  </p:stCondLst>
                                  <p:childTnLst>
                                    <p:set>
                                      <p:cBhvr>
                                        <p:cTn id="48" dur="1" fill="hold">
                                          <p:stCondLst>
                                            <p:cond delay="0"/>
                                          </p:stCondLst>
                                        </p:cTn>
                                        <p:tgtEl>
                                          <p:spTgt spid="122"/>
                                        </p:tgtEl>
                                        <p:attrNameLst>
                                          <p:attrName>style.visibility</p:attrName>
                                        </p:attrNameLst>
                                      </p:cBhvr>
                                      <p:to>
                                        <p:strVal val="visible"/>
                                      </p:to>
                                    </p:set>
                                    <p:animEffect transition="in" filter="fade">
                                      <p:cBhvr>
                                        <p:cTn id="49" dur="500"/>
                                        <p:tgtEl>
                                          <p:spTgt spid="1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12"/>
                                        </p:tgtEl>
                                        <p:attrNameLst>
                                          <p:attrName>style.visibility</p:attrName>
                                        </p:attrNameLst>
                                      </p:cBhvr>
                                      <p:to>
                                        <p:strVal val="visible"/>
                                      </p:to>
                                    </p:set>
                                    <p:animEffect transition="in" filter="fade">
                                      <p:cBhvr>
                                        <p:cTn id="52" dur="500"/>
                                        <p:tgtEl>
                                          <p:spTgt spid="11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11"/>
                                        </p:tgtEl>
                                        <p:attrNameLst>
                                          <p:attrName>style.visibility</p:attrName>
                                        </p:attrNameLst>
                                      </p:cBhvr>
                                      <p:to>
                                        <p:strVal val="visible"/>
                                      </p:to>
                                    </p:set>
                                    <p:animEffect transition="in" filter="fade">
                                      <p:cBhvr>
                                        <p:cTn id="55" dur="500"/>
                                        <p:tgtEl>
                                          <p:spTgt spid="11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08"/>
                                        </p:tgtEl>
                                        <p:attrNameLst>
                                          <p:attrName>style.visibility</p:attrName>
                                        </p:attrNameLst>
                                      </p:cBhvr>
                                      <p:to>
                                        <p:strVal val="visible"/>
                                      </p:to>
                                    </p:set>
                                    <p:animEffect transition="in" filter="fade">
                                      <p:cBhvr>
                                        <p:cTn id="58" dur="500"/>
                                        <p:tgtEl>
                                          <p:spTgt spid="10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07"/>
                                        </p:tgtEl>
                                        <p:attrNameLst>
                                          <p:attrName>style.visibility</p:attrName>
                                        </p:attrNameLst>
                                      </p:cBhvr>
                                      <p:to>
                                        <p:strVal val="visible"/>
                                      </p:to>
                                    </p:set>
                                    <p:animEffect transition="in" filter="fade">
                                      <p:cBhvr>
                                        <p:cTn id="61" dur="500"/>
                                        <p:tgtEl>
                                          <p:spTgt spid="10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05"/>
                                        </p:tgtEl>
                                        <p:attrNameLst>
                                          <p:attrName>style.visibility</p:attrName>
                                        </p:attrNameLst>
                                      </p:cBhvr>
                                      <p:to>
                                        <p:strVal val="visible"/>
                                      </p:to>
                                    </p:set>
                                    <p:animEffect transition="in" filter="fade">
                                      <p:cBhvr>
                                        <p:cTn id="64" dur="500"/>
                                        <p:tgtEl>
                                          <p:spTgt spid="10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06"/>
                                        </p:tgtEl>
                                        <p:attrNameLst>
                                          <p:attrName>style.visibility</p:attrName>
                                        </p:attrNameLst>
                                      </p:cBhvr>
                                      <p:to>
                                        <p:strVal val="visible"/>
                                      </p:to>
                                    </p:set>
                                    <p:animEffect transition="in" filter="fade">
                                      <p:cBhvr>
                                        <p:cTn id="67" dur="500"/>
                                        <p:tgtEl>
                                          <p:spTgt spid="106"/>
                                        </p:tgtEl>
                                      </p:cBhvr>
                                    </p:animEffect>
                                  </p:childTnLst>
                                </p:cTn>
                              </p:par>
                              <p:par>
                                <p:cTn id="68" presetID="10" presetClass="entr" presetSubtype="0" fill="hold" nodeType="withEffect">
                                  <p:stCondLst>
                                    <p:cond delay="0"/>
                                  </p:stCondLst>
                                  <p:childTnLst>
                                    <p:set>
                                      <p:cBhvr>
                                        <p:cTn id="69" dur="1" fill="hold">
                                          <p:stCondLst>
                                            <p:cond delay="0"/>
                                          </p:stCondLst>
                                        </p:cTn>
                                        <p:tgtEl>
                                          <p:spTgt spid="128"/>
                                        </p:tgtEl>
                                        <p:attrNameLst>
                                          <p:attrName>style.visibility</p:attrName>
                                        </p:attrNameLst>
                                      </p:cBhvr>
                                      <p:to>
                                        <p:strVal val="visible"/>
                                      </p:to>
                                    </p:set>
                                    <p:animEffect transition="in" filter="fade">
                                      <p:cBhvr>
                                        <p:cTn id="70" dur="500"/>
                                        <p:tgtEl>
                                          <p:spTgt spid="12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99"/>
                                        </p:tgtEl>
                                        <p:attrNameLst>
                                          <p:attrName>style.visibility</p:attrName>
                                        </p:attrNameLst>
                                      </p:cBhvr>
                                      <p:to>
                                        <p:strVal val="visible"/>
                                      </p:to>
                                    </p:set>
                                    <p:animEffect transition="in" filter="fade">
                                      <p:cBhvr>
                                        <p:cTn id="73" dur="500"/>
                                        <p:tgtEl>
                                          <p:spTgt spid="99"/>
                                        </p:tgtEl>
                                      </p:cBhvr>
                                    </p:animEffect>
                                  </p:childTnLst>
                                </p:cTn>
                              </p:par>
                              <p:par>
                                <p:cTn id="74" presetID="10" presetClass="entr" presetSubtype="0" fill="hold" nodeType="withEffect">
                                  <p:stCondLst>
                                    <p:cond delay="0"/>
                                  </p:stCondLst>
                                  <p:childTnLst>
                                    <p:set>
                                      <p:cBhvr>
                                        <p:cTn id="75" dur="1" fill="hold">
                                          <p:stCondLst>
                                            <p:cond delay="0"/>
                                          </p:stCondLst>
                                        </p:cTn>
                                        <p:tgtEl>
                                          <p:spTgt spid="127"/>
                                        </p:tgtEl>
                                        <p:attrNameLst>
                                          <p:attrName>style.visibility</p:attrName>
                                        </p:attrNameLst>
                                      </p:cBhvr>
                                      <p:to>
                                        <p:strVal val="visible"/>
                                      </p:to>
                                    </p:set>
                                    <p:animEffect transition="in" filter="fade">
                                      <p:cBhvr>
                                        <p:cTn id="76" dur="500"/>
                                        <p:tgtEl>
                                          <p:spTgt spid="1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09"/>
                                        </p:tgtEl>
                                        <p:attrNameLst>
                                          <p:attrName>style.visibility</p:attrName>
                                        </p:attrNameLst>
                                      </p:cBhvr>
                                      <p:to>
                                        <p:strVal val="visible"/>
                                      </p:to>
                                    </p:set>
                                    <p:animEffect transition="in" filter="fade">
                                      <p:cBhvr>
                                        <p:cTn id="79" dur="500"/>
                                        <p:tgtEl>
                                          <p:spTgt spid="10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10"/>
                                        </p:tgtEl>
                                        <p:attrNameLst>
                                          <p:attrName>style.visibility</p:attrName>
                                        </p:attrNameLst>
                                      </p:cBhvr>
                                      <p:to>
                                        <p:strVal val="visible"/>
                                      </p:to>
                                    </p:set>
                                    <p:animEffect transition="in" filter="fade">
                                      <p:cBhvr>
                                        <p:cTn id="82" dur="500"/>
                                        <p:tgtEl>
                                          <p:spTgt spid="11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00"/>
                                        </p:tgtEl>
                                        <p:attrNameLst>
                                          <p:attrName>style.visibility</p:attrName>
                                        </p:attrNameLst>
                                      </p:cBhvr>
                                      <p:to>
                                        <p:strVal val="visible"/>
                                      </p:to>
                                    </p:set>
                                    <p:animEffect transition="in" filter="fade">
                                      <p:cBhvr>
                                        <p:cTn id="85" dur="500"/>
                                        <p:tgtEl>
                                          <p:spTgt spid="10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98"/>
                                        </p:tgtEl>
                                        <p:attrNameLst>
                                          <p:attrName>style.visibility</p:attrName>
                                        </p:attrNameLst>
                                      </p:cBhvr>
                                      <p:to>
                                        <p:strVal val="visible"/>
                                      </p:to>
                                    </p:set>
                                    <p:animEffect transition="in" filter="fade">
                                      <p:cBhvr>
                                        <p:cTn id="88" dur="500"/>
                                        <p:tgtEl>
                                          <p:spTgt spid="9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93"/>
                                        </p:tgtEl>
                                        <p:attrNameLst>
                                          <p:attrName>style.visibility</p:attrName>
                                        </p:attrNameLst>
                                      </p:cBhvr>
                                      <p:to>
                                        <p:strVal val="visible"/>
                                      </p:to>
                                    </p:set>
                                    <p:animEffect transition="in" filter="fade">
                                      <p:cBhvr>
                                        <p:cTn id="91" dur="500"/>
                                        <p:tgtEl>
                                          <p:spTgt spid="9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92"/>
                                        </p:tgtEl>
                                        <p:attrNameLst>
                                          <p:attrName>style.visibility</p:attrName>
                                        </p:attrNameLst>
                                      </p:cBhvr>
                                      <p:to>
                                        <p:strVal val="visible"/>
                                      </p:to>
                                    </p:set>
                                    <p:animEffect transition="in" filter="fade">
                                      <p:cBhvr>
                                        <p:cTn id="94" dur="500"/>
                                        <p:tgtEl>
                                          <p:spTgt spid="92"/>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6"/>
                                        </p:tgtEl>
                                        <p:attrNameLst>
                                          <p:attrName>style.visibility</p:attrName>
                                        </p:attrNameLst>
                                      </p:cBhvr>
                                      <p:to>
                                        <p:strVal val="visible"/>
                                      </p:to>
                                    </p:set>
                                    <p:animEffect transition="in" filter="fade">
                                      <p:cBhvr>
                                        <p:cTn id="99" dur="500"/>
                                        <p:tgtEl>
                                          <p:spTgt spid="6"/>
                                        </p:tgtEl>
                                      </p:cBhvr>
                                    </p:animEffect>
                                  </p:childTnLst>
                                </p:cTn>
                              </p:par>
                              <p:par>
                                <p:cTn id="100" presetID="10" presetClass="entr" presetSubtype="0" fill="hold" nodeType="withEffect">
                                  <p:stCondLst>
                                    <p:cond delay="0"/>
                                  </p:stCondLst>
                                  <p:childTnLst>
                                    <p:set>
                                      <p:cBhvr>
                                        <p:cTn id="101" dur="1" fill="hold">
                                          <p:stCondLst>
                                            <p:cond delay="0"/>
                                          </p:stCondLst>
                                        </p:cTn>
                                        <p:tgtEl>
                                          <p:spTgt spid="7"/>
                                        </p:tgtEl>
                                        <p:attrNameLst>
                                          <p:attrName>style.visibility</p:attrName>
                                        </p:attrNameLst>
                                      </p:cBhvr>
                                      <p:to>
                                        <p:strVal val="visible"/>
                                      </p:to>
                                    </p:set>
                                    <p:animEffect transition="in" filter="fade">
                                      <p:cBhvr>
                                        <p:cTn id="102" dur="500"/>
                                        <p:tgtEl>
                                          <p:spTgt spid="7"/>
                                        </p:tgtEl>
                                      </p:cBhvr>
                                    </p:animEffect>
                                  </p:childTnLst>
                                </p:cTn>
                              </p:par>
                            </p:childTnLst>
                          </p:cTn>
                        </p:par>
                      </p:childTnLst>
                    </p:cTn>
                  </p:par>
                  <p:par>
                    <p:cTn id="103" fill="hold">
                      <p:stCondLst>
                        <p:cond delay="indefinite"/>
                      </p:stCondLst>
                      <p:childTnLst>
                        <p:par>
                          <p:cTn id="104" fill="hold">
                            <p:stCondLst>
                              <p:cond delay="0"/>
                            </p:stCondLst>
                            <p:childTnLst>
                              <p:par>
                                <p:cTn id="105" presetID="7" presetClass="emph" presetSubtype="2" fill="hold" nodeType="clickEffect">
                                  <p:stCondLst>
                                    <p:cond delay="0"/>
                                  </p:stCondLst>
                                  <p:childTnLst>
                                    <p:animClr clrSpc="rgb" dir="cw">
                                      <p:cBhvr>
                                        <p:cTn id="106" dur="2000" fill="hold"/>
                                        <p:tgtEl>
                                          <p:spTgt spid="125"/>
                                        </p:tgtEl>
                                        <p:attrNameLst>
                                          <p:attrName>stroke.color</p:attrName>
                                        </p:attrNameLst>
                                      </p:cBhvr>
                                      <p:to>
                                        <a:schemeClr val="accent2"/>
                                      </p:to>
                                    </p:animClr>
                                    <p:set>
                                      <p:cBhvr>
                                        <p:cTn id="107" dur="2000" fill="hold"/>
                                        <p:tgtEl>
                                          <p:spTgt spid="125"/>
                                        </p:tgtEl>
                                        <p:attrNameLst>
                                          <p:attrName>stroke.on</p:attrName>
                                        </p:attrNameLst>
                                      </p:cBhvr>
                                      <p:to>
                                        <p:strVal val="true"/>
                                      </p:to>
                                    </p:set>
                                  </p:childTnLst>
                                </p:cTn>
                              </p:par>
                              <p:par>
                                <p:cTn id="108" presetID="7" presetClass="emph" presetSubtype="2" fill="hold" nodeType="withEffect">
                                  <p:stCondLst>
                                    <p:cond delay="0"/>
                                  </p:stCondLst>
                                  <p:childTnLst>
                                    <p:animClr clrSpc="rgb" dir="cw">
                                      <p:cBhvr>
                                        <p:cTn id="109" dur="2000" fill="hold"/>
                                        <p:tgtEl>
                                          <p:spTgt spid="32"/>
                                        </p:tgtEl>
                                        <p:attrNameLst>
                                          <p:attrName>stroke.color</p:attrName>
                                        </p:attrNameLst>
                                      </p:cBhvr>
                                      <p:to>
                                        <a:schemeClr val="accent2"/>
                                      </p:to>
                                    </p:animClr>
                                    <p:set>
                                      <p:cBhvr>
                                        <p:cTn id="110" dur="2000" fill="hold"/>
                                        <p:tgtEl>
                                          <p:spTgt spid="32"/>
                                        </p:tgtEl>
                                        <p:attrNameLst>
                                          <p:attrName>stroke.on</p:attrName>
                                        </p:attrNameLst>
                                      </p:cBhvr>
                                      <p:to>
                                        <p:strVal val="true"/>
                                      </p:to>
                                    </p:set>
                                  </p:childTnLst>
                                </p:cTn>
                              </p:par>
                              <p:par>
                                <p:cTn id="111" presetID="7" presetClass="emph" presetSubtype="2" fill="hold" nodeType="withEffect">
                                  <p:stCondLst>
                                    <p:cond delay="0"/>
                                  </p:stCondLst>
                                  <p:childTnLst>
                                    <p:animClr clrSpc="rgb" dir="cw">
                                      <p:cBhvr>
                                        <p:cTn id="112" dur="2000" fill="hold"/>
                                        <p:tgtEl>
                                          <p:spTgt spid="122"/>
                                        </p:tgtEl>
                                        <p:attrNameLst>
                                          <p:attrName>stroke.color</p:attrName>
                                        </p:attrNameLst>
                                      </p:cBhvr>
                                      <p:to>
                                        <a:schemeClr val="accent2"/>
                                      </p:to>
                                    </p:animClr>
                                    <p:set>
                                      <p:cBhvr>
                                        <p:cTn id="113" dur="2000" fill="hold"/>
                                        <p:tgtEl>
                                          <p:spTgt spid="122"/>
                                        </p:tgtEl>
                                        <p:attrNameLst>
                                          <p:attrName>stroke.on</p:attrName>
                                        </p:attrNameLst>
                                      </p:cBhvr>
                                      <p:to>
                                        <p:strVal val="true"/>
                                      </p:to>
                                    </p:set>
                                  </p:childTnLst>
                                </p:cTn>
                              </p:par>
                              <p:par>
                                <p:cTn id="114" presetID="7" presetClass="emph" presetSubtype="2" fill="hold" nodeType="withEffect">
                                  <p:stCondLst>
                                    <p:cond delay="0"/>
                                  </p:stCondLst>
                                  <p:childTnLst>
                                    <p:animClr clrSpc="rgb" dir="cw">
                                      <p:cBhvr>
                                        <p:cTn id="115" dur="2000" fill="hold"/>
                                        <p:tgtEl>
                                          <p:spTgt spid="128"/>
                                        </p:tgtEl>
                                        <p:attrNameLst>
                                          <p:attrName>stroke.color</p:attrName>
                                        </p:attrNameLst>
                                      </p:cBhvr>
                                      <p:to>
                                        <a:schemeClr val="accent2"/>
                                      </p:to>
                                    </p:animClr>
                                    <p:set>
                                      <p:cBhvr>
                                        <p:cTn id="116" dur="2000" fill="hold"/>
                                        <p:tgtEl>
                                          <p:spTgt spid="128"/>
                                        </p:tgtEl>
                                        <p:attrNameLst>
                                          <p:attrName>stroke.on</p:attrName>
                                        </p:attrNameLst>
                                      </p:cBhvr>
                                      <p:to>
                                        <p:strVal val="true"/>
                                      </p:to>
                                    </p:set>
                                  </p:childTnLst>
                                </p:cTn>
                              </p:par>
                              <p:par>
                                <p:cTn id="117" presetID="7" presetClass="emph" presetSubtype="2" fill="hold" nodeType="withEffect">
                                  <p:stCondLst>
                                    <p:cond delay="0"/>
                                  </p:stCondLst>
                                  <p:childTnLst>
                                    <p:animClr clrSpc="rgb" dir="cw">
                                      <p:cBhvr>
                                        <p:cTn id="118" dur="2000" fill="hold"/>
                                        <p:tgtEl>
                                          <p:spTgt spid="127"/>
                                        </p:tgtEl>
                                        <p:attrNameLst>
                                          <p:attrName>stroke.color</p:attrName>
                                        </p:attrNameLst>
                                      </p:cBhvr>
                                      <p:to>
                                        <a:schemeClr val="accent2"/>
                                      </p:to>
                                    </p:animClr>
                                    <p:set>
                                      <p:cBhvr>
                                        <p:cTn id="119" dur="2000" fill="hold"/>
                                        <p:tgtEl>
                                          <p:spTgt spid="127"/>
                                        </p:tgtEl>
                                        <p:attrNameLst>
                                          <p:attrName>stroke.on</p:attrName>
                                        </p:attrNameLst>
                                      </p:cBhvr>
                                      <p:to>
                                        <p:strVal val="true"/>
                                      </p:to>
                                    </p:set>
                                  </p:childTnLst>
                                </p:cTn>
                              </p:par>
                              <p:par>
                                <p:cTn id="120" presetID="7" presetClass="emph" presetSubtype="2" fill="hold" nodeType="withEffect">
                                  <p:stCondLst>
                                    <p:cond delay="0"/>
                                  </p:stCondLst>
                                  <p:childTnLst>
                                    <p:animClr clrSpc="rgb" dir="cw">
                                      <p:cBhvr>
                                        <p:cTn id="121" dur="2000" fill="hold"/>
                                        <p:tgtEl>
                                          <p:spTgt spid="92"/>
                                        </p:tgtEl>
                                        <p:attrNameLst>
                                          <p:attrName>stroke.color</p:attrName>
                                        </p:attrNameLst>
                                      </p:cBhvr>
                                      <p:to>
                                        <a:schemeClr val="accent2"/>
                                      </p:to>
                                    </p:animClr>
                                    <p:set>
                                      <p:cBhvr>
                                        <p:cTn id="122" dur="2000" fill="hold"/>
                                        <p:tgtEl>
                                          <p:spTgt spid="92"/>
                                        </p:tgtEl>
                                        <p:attrNameLst>
                                          <p:attrName>stroke.on</p:attrName>
                                        </p:attrNameLst>
                                      </p:cBhvr>
                                      <p:to>
                                        <p:strVal val="true"/>
                                      </p:to>
                                    </p:set>
                                  </p:childTnLst>
                                </p:cTn>
                              </p:par>
                            </p:childTnLst>
                          </p:cTn>
                        </p:par>
                      </p:childTnLst>
                    </p:cTn>
                  </p:par>
                  <p:par>
                    <p:cTn id="123" fill="hold">
                      <p:stCondLst>
                        <p:cond delay="indefinite"/>
                      </p:stCondLst>
                      <p:childTnLst>
                        <p:par>
                          <p:cTn id="124" fill="hold">
                            <p:stCondLst>
                              <p:cond delay="0"/>
                            </p:stCondLst>
                            <p:childTnLst>
                              <p:par>
                                <p:cTn id="125" presetID="26" presetClass="emph" presetSubtype="0" fill="hold" grpId="1" nodeType="clickEffect">
                                  <p:stCondLst>
                                    <p:cond delay="0"/>
                                  </p:stCondLst>
                                  <p:childTnLst>
                                    <p:animEffect transition="out" filter="fade">
                                      <p:cBhvr>
                                        <p:cTn id="126" dur="500" tmFilter="0, 0; .2, .5; .8, .5; 1, 0"/>
                                        <p:tgtEl>
                                          <p:spTgt spid="62"/>
                                        </p:tgtEl>
                                      </p:cBhvr>
                                    </p:animEffect>
                                    <p:animScale>
                                      <p:cBhvr>
                                        <p:cTn id="127" dur="250" autoRev="1" fill="hold"/>
                                        <p:tgtEl>
                                          <p:spTgt spid="62"/>
                                        </p:tgtEl>
                                      </p:cBhvr>
                                      <p:by x="105000" y="105000"/>
                                    </p:animScale>
                                  </p:childTnLst>
                                </p:cTn>
                              </p:par>
                              <p:par>
                                <p:cTn id="128" presetID="26" presetClass="emph" presetSubtype="0" fill="hold" grpId="1" nodeType="withEffect">
                                  <p:stCondLst>
                                    <p:cond delay="0"/>
                                  </p:stCondLst>
                                  <p:childTnLst>
                                    <p:animEffect transition="out" filter="fade">
                                      <p:cBhvr>
                                        <p:cTn id="129" dur="500" tmFilter="0, 0; .2, .5; .8, .5; 1, 0"/>
                                        <p:tgtEl>
                                          <p:spTgt spid="64"/>
                                        </p:tgtEl>
                                      </p:cBhvr>
                                    </p:animEffect>
                                    <p:animScale>
                                      <p:cBhvr>
                                        <p:cTn id="130" dur="250" autoRev="1" fill="hold"/>
                                        <p:tgtEl>
                                          <p:spTgt spid="64"/>
                                        </p:tgtEl>
                                      </p:cBhvr>
                                      <p:by x="105000" y="105000"/>
                                    </p:animScale>
                                  </p:childTnLst>
                                </p:cTn>
                              </p:par>
                              <p:par>
                                <p:cTn id="131" presetID="26" presetClass="emph" presetSubtype="0" fill="hold" grpId="1" nodeType="withEffect">
                                  <p:stCondLst>
                                    <p:cond delay="0"/>
                                  </p:stCondLst>
                                  <p:childTnLst>
                                    <p:animEffect transition="out" filter="fade">
                                      <p:cBhvr>
                                        <p:cTn id="132" dur="500" tmFilter="0, 0; .2, .5; .8, .5; 1, 0"/>
                                        <p:tgtEl>
                                          <p:spTgt spid="68"/>
                                        </p:tgtEl>
                                      </p:cBhvr>
                                    </p:animEffect>
                                    <p:animScale>
                                      <p:cBhvr>
                                        <p:cTn id="133" dur="250" autoRev="1" fill="hold"/>
                                        <p:tgtEl>
                                          <p:spTgt spid="68"/>
                                        </p:tgtEl>
                                      </p:cBhvr>
                                      <p:by x="105000" y="105000"/>
                                    </p:animScale>
                                  </p:childTnLst>
                                </p:cTn>
                              </p:par>
                              <p:par>
                                <p:cTn id="134" presetID="26" presetClass="emph" presetSubtype="0" fill="hold" grpId="1" nodeType="withEffect">
                                  <p:stCondLst>
                                    <p:cond delay="0"/>
                                  </p:stCondLst>
                                  <p:childTnLst>
                                    <p:animEffect transition="out" filter="fade">
                                      <p:cBhvr>
                                        <p:cTn id="135" dur="500" tmFilter="0, 0; .2, .5; .8, .5; 1, 0"/>
                                        <p:tgtEl>
                                          <p:spTgt spid="66"/>
                                        </p:tgtEl>
                                      </p:cBhvr>
                                    </p:animEffect>
                                    <p:animScale>
                                      <p:cBhvr>
                                        <p:cTn id="136" dur="250" autoRev="1" fill="hold"/>
                                        <p:tgtEl>
                                          <p:spTgt spid="66"/>
                                        </p:tgtEl>
                                      </p:cBhvr>
                                      <p:by x="105000" y="105000"/>
                                    </p:animScale>
                                  </p:childTnLst>
                                </p:cTn>
                              </p:par>
                              <p:par>
                                <p:cTn id="137" presetID="26" presetClass="emph" presetSubtype="0" fill="hold" grpId="1" nodeType="withEffect">
                                  <p:stCondLst>
                                    <p:cond delay="0"/>
                                  </p:stCondLst>
                                  <p:childTnLst>
                                    <p:animEffect transition="out" filter="fade">
                                      <p:cBhvr>
                                        <p:cTn id="138" dur="500" tmFilter="0, 0; .2, .5; .8, .5; 1, 0"/>
                                        <p:tgtEl>
                                          <p:spTgt spid="112"/>
                                        </p:tgtEl>
                                      </p:cBhvr>
                                    </p:animEffect>
                                    <p:animScale>
                                      <p:cBhvr>
                                        <p:cTn id="139" dur="250" autoRev="1" fill="hold"/>
                                        <p:tgtEl>
                                          <p:spTgt spid="112"/>
                                        </p:tgtEl>
                                      </p:cBhvr>
                                      <p:by x="105000" y="105000"/>
                                    </p:animScale>
                                  </p:childTnLst>
                                </p:cTn>
                              </p:par>
                              <p:par>
                                <p:cTn id="140" presetID="26" presetClass="emph" presetSubtype="0" fill="hold" grpId="1" nodeType="withEffect">
                                  <p:stCondLst>
                                    <p:cond delay="0"/>
                                  </p:stCondLst>
                                  <p:childTnLst>
                                    <p:animEffect transition="out" filter="fade">
                                      <p:cBhvr>
                                        <p:cTn id="141" dur="500" tmFilter="0, 0; .2, .5; .8, .5; 1, 0"/>
                                        <p:tgtEl>
                                          <p:spTgt spid="108"/>
                                        </p:tgtEl>
                                      </p:cBhvr>
                                    </p:animEffect>
                                    <p:animScale>
                                      <p:cBhvr>
                                        <p:cTn id="142" dur="250" autoRev="1" fill="hold"/>
                                        <p:tgtEl>
                                          <p:spTgt spid="108"/>
                                        </p:tgtEl>
                                      </p:cBhvr>
                                      <p:by x="105000" y="105000"/>
                                    </p:animScale>
                                  </p:childTnLst>
                                </p:cTn>
                              </p:par>
                              <p:par>
                                <p:cTn id="143" presetID="26" presetClass="emph" presetSubtype="0" fill="hold" grpId="1" nodeType="withEffect">
                                  <p:stCondLst>
                                    <p:cond delay="0"/>
                                  </p:stCondLst>
                                  <p:childTnLst>
                                    <p:animEffect transition="out" filter="fade">
                                      <p:cBhvr>
                                        <p:cTn id="144" dur="500" tmFilter="0, 0; .2, .5; .8, .5; 1, 0"/>
                                        <p:tgtEl>
                                          <p:spTgt spid="106"/>
                                        </p:tgtEl>
                                      </p:cBhvr>
                                    </p:animEffect>
                                    <p:animScale>
                                      <p:cBhvr>
                                        <p:cTn id="145" dur="250" autoRev="1" fill="hold"/>
                                        <p:tgtEl>
                                          <p:spTgt spid="106"/>
                                        </p:tgtEl>
                                      </p:cBhvr>
                                      <p:by x="105000" y="105000"/>
                                    </p:animScale>
                                  </p:childTnLst>
                                </p:cTn>
                              </p:par>
                              <p:par>
                                <p:cTn id="146" presetID="26" presetClass="emph" presetSubtype="0" fill="hold" grpId="1" nodeType="withEffect">
                                  <p:stCondLst>
                                    <p:cond delay="0"/>
                                  </p:stCondLst>
                                  <p:childTnLst>
                                    <p:animEffect transition="out" filter="fade">
                                      <p:cBhvr>
                                        <p:cTn id="147" dur="500" tmFilter="0, 0; .2, .5; .8, .5; 1, 0"/>
                                        <p:tgtEl>
                                          <p:spTgt spid="110"/>
                                        </p:tgtEl>
                                      </p:cBhvr>
                                    </p:animEffect>
                                    <p:animScale>
                                      <p:cBhvr>
                                        <p:cTn id="148" dur="250" autoRev="1" fill="hold"/>
                                        <p:tgtEl>
                                          <p:spTgt spid="1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P spid="5" grpId="0" animBg="1"/>
      <p:bldP spid="41" grpId="0" animBg="1"/>
      <p:bldP spid="42" grpId="0" animBg="1"/>
      <p:bldP spid="43" grpId="0" animBg="1"/>
      <p:bldP spid="57" grpId="0" animBg="1"/>
      <p:bldP spid="62" grpId="0" animBg="1"/>
      <p:bldP spid="62" grpId="1" animBg="1"/>
      <p:bldP spid="63" grpId="0" animBg="1"/>
      <p:bldP spid="64" grpId="0" animBg="1"/>
      <p:bldP spid="64" grpId="1" animBg="1"/>
      <p:bldP spid="65" grpId="0" animBg="1"/>
      <p:bldP spid="66" grpId="0" animBg="1"/>
      <p:bldP spid="66" grpId="1" animBg="1"/>
      <p:bldP spid="67" grpId="0" animBg="1"/>
      <p:bldP spid="68" grpId="0" animBg="1"/>
      <p:bldP spid="68" grpId="1" animBg="1"/>
      <p:bldP spid="93" grpId="0" animBg="1"/>
      <p:bldP spid="98" grpId="0" animBg="1"/>
      <p:bldP spid="99" grpId="0" animBg="1"/>
      <p:bldP spid="100" grpId="0" animBg="1"/>
      <p:bldP spid="105" grpId="0" animBg="1"/>
      <p:bldP spid="106" grpId="0" animBg="1"/>
      <p:bldP spid="106" grpId="1" animBg="1"/>
      <p:bldP spid="107" grpId="0" animBg="1"/>
      <p:bldP spid="108" grpId="0" animBg="1"/>
      <p:bldP spid="108" grpId="1" animBg="1"/>
      <p:bldP spid="109" grpId="0" animBg="1"/>
      <p:bldP spid="110" grpId="0" animBg="1"/>
      <p:bldP spid="110" grpId="1" animBg="1"/>
      <p:bldP spid="111" grpId="0" animBg="1"/>
      <p:bldP spid="112" grpId="0" animBg="1"/>
      <p:bldP spid="112" grpId="1" animBg="1"/>
      <p:bldP spid="3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Kmer</a:t>
            </a:r>
            <a:r>
              <a:rPr lang="en-US" altLang="zh-CN" dirty="0"/>
              <a:t> graph construction – </a:t>
            </a:r>
            <a:r>
              <a:rPr lang="en-US" altLang="zh-CN" dirty="0" smtClean="0"/>
              <a:t>8X No. of </a:t>
            </a:r>
            <a:r>
              <a:rPr lang="en-US" altLang="zh-CN" dirty="0" err="1" smtClean="0"/>
              <a:t>Proc</a:t>
            </a:r>
            <a:endParaRPr lang="zh-CN" altLang="en-US" dirty="0"/>
          </a:p>
        </p:txBody>
      </p:sp>
      <p:sp>
        <p:nvSpPr>
          <p:cNvPr id="4" name="灯片编号占位符 3"/>
          <p:cNvSpPr>
            <a:spLocks noGrp="1"/>
          </p:cNvSpPr>
          <p:nvPr>
            <p:ph type="sldNum" sz="quarter" idx="12"/>
          </p:nvPr>
        </p:nvSpPr>
        <p:spPr/>
        <p:txBody>
          <a:bodyPr/>
          <a:lstStyle/>
          <a:p>
            <a:fld id="{87034D8C-3CB4-402A-BC46-2AB14C0FE90A}" type="slidenum">
              <a:rPr lang="en-US" smtClean="0"/>
              <a:pPr/>
              <a:t>17</a:t>
            </a:fld>
            <a:endParaRPr lang="en-US"/>
          </a:p>
        </p:txBody>
      </p:sp>
      <p:pic>
        <p:nvPicPr>
          <p:cNvPr id="2050" name="Picture 2" descr="http://www.idris.fr/media/turing/pics/tore5d_nodecar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335594"/>
            <a:ext cx="4648200" cy="36576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computing.llnl.gov/tutorials/bgq/images/5Dtorus.400pix.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6700" y="3352800"/>
            <a:ext cx="3810000" cy="295275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553200" y="6324600"/>
            <a:ext cx="1864806" cy="369332"/>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US" altLang="zh-CN" dirty="0" smtClean="0"/>
              <a:t>4D Torus Network</a:t>
            </a:r>
            <a:endParaRPr lang="zh-CN" altLang="en-US" dirty="0"/>
          </a:p>
        </p:txBody>
      </p:sp>
      <p:sp>
        <p:nvSpPr>
          <p:cNvPr id="10" name="内容占位符 2"/>
          <p:cNvSpPr txBox="1">
            <a:spLocks/>
          </p:cNvSpPr>
          <p:nvPr/>
        </p:nvSpPr>
        <p:spPr bwMode="auto">
          <a:xfrm>
            <a:off x="671534" y="812567"/>
            <a:ext cx="8015266" cy="254023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1F497D"/>
              </a:buClr>
              <a:buFont typeface="Wingdings" pitchFamily="2" charset="2"/>
              <a:buChar char="§"/>
              <a:defRPr sz="1800">
                <a:solidFill>
                  <a:schemeClr val="tx1"/>
                </a:solidFill>
                <a:latin typeface="+mn-lt"/>
                <a:ea typeface="+mn-ea"/>
                <a:cs typeface="+mn-cs"/>
              </a:defRPr>
            </a:lvl1pPr>
            <a:lvl2pPr marL="742950" indent="-285750" algn="l" rtl="0" eaLnBrk="1" fontAlgn="base" hangingPunct="1">
              <a:spcBef>
                <a:spcPct val="20000"/>
              </a:spcBef>
              <a:spcAft>
                <a:spcPct val="0"/>
              </a:spcAft>
              <a:buClr>
                <a:srgbClr val="1F497D"/>
              </a:buClr>
              <a:buChar char="–"/>
              <a:defRPr sz="1600">
                <a:solidFill>
                  <a:schemeClr val="tx1"/>
                </a:solidFill>
                <a:latin typeface="+mn-lt"/>
              </a:defRPr>
            </a:lvl2pPr>
            <a:lvl3pPr marL="1143000" indent="-228600" algn="l" rtl="0" eaLnBrk="1" fontAlgn="base" hangingPunct="1">
              <a:spcBef>
                <a:spcPct val="20000"/>
              </a:spcBef>
              <a:spcAft>
                <a:spcPct val="0"/>
              </a:spcAft>
              <a:buClr>
                <a:srgbClr val="1F497D"/>
              </a:buClr>
              <a:buChar char="•"/>
              <a:defRPr sz="1400">
                <a:solidFill>
                  <a:schemeClr val="tx1"/>
                </a:solidFill>
                <a:latin typeface="+mn-lt"/>
              </a:defRPr>
            </a:lvl3pPr>
            <a:lvl4pPr marL="1600200" indent="-228600" algn="l" rtl="0" eaLnBrk="1" fontAlgn="base" hangingPunct="1">
              <a:spcBef>
                <a:spcPct val="20000"/>
              </a:spcBef>
              <a:spcAft>
                <a:spcPct val="0"/>
              </a:spcAft>
              <a:buClr>
                <a:srgbClr val="1F497D"/>
              </a:buClr>
              <a:buChar char="–"/>
              <a:defRPr sz="1400">
                <a:solidFill>
                  <a:schemeClr val="tx1"/>
                </a:solidFill>
                <a:latin typeface="+mn-lt"/>
              </a:defRPr>
            </a:lvl4pPr>
            <a:lvl5pPr marL="2057400" indent="-228600" algn="l" rtl="0" eaLnBrk="1" fontAlgn="base" hangingPunct="1">
              <a:spcBef>
                <a:spcPct val="20000"/>
              </a:spcBef>
              <a:spcAft>
                <a:spcPct val="0"/>
              </a:spcAft>
              <a:buClr>
                <a:srgbClr val="1F497D"/>
              </a:buClr>
              <a:buFont typeface="Arial" charset="0"/>
              <a:buChar char="»"/>
              <a:defRPr sz="1400">
                <a:solidFill>
                  <a:schemeClr val="tx1"/>
                </a:solidFill>
                <a:latin typeface="+mn-lt"/>
              </a:defRPr>
            </a:lvl5pPr>
            <a:lvl6pPr marL="2514600" indent="-228600" algn="l" rtl="0" eaLnBrk="1" fontAlgn="base" hangingPunct="1">
              <a:spcBef>
                <a:spcPct val="20000"/>
              </a:spcBef>
              <a:spcAft>
                <a:spcPct val="0"/>
              </a:spcAft>
              <a:buClr>
                <a:srgbClr val="1F497D"/>
              </a:buClr>
              <a:buFont typeface="Arial" charset="0"/>
              <a:buChar char="»"/>
              <a:defRPr sz="1400">
                <a:solidFill>
                  <a:schemeClr val="tx1"/>
                </a:solidFill>
                <a:latin typeface="+mn-lt"/>
              </a:defRPr>
            </a:lvl6pPr>
            <a:lvl7pPr marL="2971800" indent="-228600" algn="l" rtl="0" eaLnBrk="1" fontAlgn="base" hangingPunct="1">
              <a:spcBef>
                <a:spcPct val="20000"/>
              </a:spcBef>
              <a:spcAft>
                <a:spcPct val="0"/>
              </a:spcAft>
              <a:buClr>
                <a:srgbClr val="1F497D"/>
              </a:buClr>
              <a:buFont typeface="Arial" charset="0"/>
              <a:buChar char="»"/>
              <a:defRPr sz="1400">
                <a:solidFill>
                  <a:schemeClr val="tx1"/>
                </a:solidFill>
                <a:latin typeface="+mn-lt"/>
              </a:defRPr>
            </a:lvl7pPr>
            <a:lvl8pPr marL="3429000" indent="-228600" algn="l" rtl="0" eaLnBrk="1" fontAlgn="base" hangingPunct="1">
              <a:spcBef>
                <a:spcPct val="20000"/>
              </a:spcBef>
              <a:spcAft>
                <a:spcPct val="0"/>
              </a:spcAft>
              <a:buClr>
                <a:srgbClr val="1F497D"/>
              </a:buClr>
              <a:buFont typeface="Arial" charset="0"/>
              <a:buChar char="»"/>
              <a:defRPr sz="1400">
                <a:solidFill>
                  <a:schemeClr val="tx1"/>
                </a:solidFill>
                <a:latin typeface="+mn-lt"/>
              </a:defRPr>
            </a:lvl8pPr>
            <a:lvl9pPr marL="3886200" indent="-228600" algn="l" rtl="0" eaLnBrk="1" fontAlgn="base" hangingPunct="1">
              <a:spcBef>
                <a:spcPct val="20000"/>
              </a:spcBef>
              <a:spcAft>
                <a:spcPct val="0"/>
              </a:spcAft>
              <a:buClr>
                <a:srgbClr val="1F497D"/>
              </a:buClr>
              <a:buFont typeface="Arial" charset="0"/>
              <a:buChar char="»"/>
              <a:defRPr sz="1400">
                <a:solidFill>
                  <a:schemeClr val="tx1"/>
                </a:solidFill>
                <a:latin typeface="+mn-lt"/>
              </a:defRPr>
            </a:lvl9pPr>
          </a:lstStyle>
          <a:p>
            <a:r>
              <a:rPr lang="en-US" altLang="zh-CN" sz="2000" dirty="0" smtClean="0"/>
              <a:t>Optimization points</a:t>
            </a:r>
          </a:p>
          <a:p>
            <a:pPr lvl="1"/>
            <a:r>
              <a:rPr lang="en-US" altLang="zh-CN" sz="1800" dirty="0">
                <a:solidFill>
                  <a:srgbClr val="FF0000"/>
                </a:solidFill>
              </a:rPr>
              <a:t>Aggregated</a:t>
            </a:r>
            <a:r>
              <a:rPr lang="en-US" altLang="zh-CN" sz="1800" dirty="0" smtClean="0"/>
              <a:t> network bisection bandwidth increases proportionally with the number of cores. </a:t>
            </a:r>
            <a:r>
              <a:rPr lang="en-US" altLang="zh-CN" sz="1800" dirty="0"/>
              <a:t>(Dong Chen, SC’2012)</a:t>
            </a:r>
          </a:p>
          <a:p>
            <a:pPr lvl="1"/>
            <a:r>
              <a:rPr lang="en-US" altLang="zh-CN" sz="1800" dirty="0" smtClean="0"/>
              <a:t>Keep the message size constant </a:t>
            </a:r>
            <a:r>
              <a:rPr lang="en-US" altLang="zh-CN" sz="1800" dirty="0"/>
              <a:t>by proportionally increasing the number of data pieces with the number of cores</a:t>
            </a:r>
            <a:endParaRPr lang="en-US" altLang="zh-CN" sz="1800" dirty="0" smtClean="0"/>
          </a:p>
          <a:p>
            <a:r>
              <a:rPr lang="en-US" altLang="zh-CN" sz="2000" dirty="0" smtClean="0"/>
              <a:t>Benefits</a:t>
            </a:r>
            <a:endParaRPr lang="en-US" altLang="zh-CN" dirty="0" smtClean="0"/>
          </a:p>
          <a:p>
            <a:pPr lvl="1"/>
            <a:r>
              <a:rPr lang="en-US" altLang="zh-CN" sz="1800" dirty="0" smtClean="0">
                <a:solidFill>
                  <a:srgbClr val="FF0000"/>
                </a:solidFill>
              </a:rPr>
              <a:t>To fully </a:t>
            </a:r>
            <a:r>
              <a:rPr lang="en-US" altLang="zh-CN" sz="1800" dirty="0">
                <a:solidFill>
                  <a:srgbClr val="FF0000"/>
                </a:solidFill>
              </a:rPr>
              <a:t>exploit</a:t>
            </a:r>
            <a:r>
              <a:rPr lang="en-US" altLang="zh-CN" sz="1800" dirty="0" smtClean="0"/>
              <a:t> interconnection BW in 5D torus and keep communication efficiency</a:t>
            </a:r>
            <a:endParaRPr lang="zh-CN" altLang="en-US" dirty="0"/>
          </a:p>
        </p:txBody>
      </p:sp>
    </p:spTree>
    <p:extLst>
      <p:ext uri="{BB962C8B-B14F-4D97-AF65-F5344CB8AC3E}">
        <p14:creationId xmlns:p14="http://schemas.microsoft.com/office/powerpoint/2010/main" val="1493925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Graph simplification (edge merging) </a:t>
            </a:r>
            <a:endParaRPr lang="zh-CN" altLang="en-US" dirty="0"/>
          </a:p>
        </p:txBody>
      </p:sp>
      <p:sp>
        <p:nvSpPr>
          <p:cNvPr id="3" name="内容占位符 2"/>
          <p:cNvSpPr>
            <a:spLocks noGrp="1"/>
          </p:cNvSpPr>
          <p:nvPr>
            <p:ph idx="1"/>
          </p:nvPr>
        </p:nvSpPr>
        <p:spPr>
          <a:xfrm>
            <a:off x="457200" y="1600201"/>
            <a:ext cx="4800600" cy="4724399"/>
          </a:xfrm>
        </p:spPr>
        <p:txBody>
          <a:bodyPr/>
          <a:lstStyle/>
          <a:p>
            <a:r>
              <a:rPr lang="en-US" altLang="zh-CN" sz="2400" dirty="0"/>
              <a:t>Optimization </a:t>
            </a:r>
            <a:r>
              <a:rPr lang="en-US" altLang="zh-CN" sz="2400" dirty="0" smtClean="0"/>
              <a:t>points</a:t>
            </a:r>
            <a:endParaRPr lang="en-US" altLang="zh-CN" sz="2400" dirty="0"/>
          </a:p>
          <a:p>
            <a:pPr lvl="1"/>
            <a:r>
              <a:rPr lang="en-US" altLang="zh-CN" sz="1800" dirty="0" smtClean="0"/>
              <a:t>Sending &amp; </a:t>
            </a:r>
            <a:r>
              <a:rPr lang="en-US" altLang="zh-CN" sz="1800" dirty="0" err="1" smtClean="0"/>
              <a:t>Recving</a:t>
            </a:r>
            <a:r>
              <a:rPr lang="en-US" altLang="zh-CN" sz="1800" dirty="0" smtClean="0"/>
              <a:t> multiple messages to/from all its neighbors </a:t>
            </a:r>
            <a:r>
              <a:rPr lang="en-US" altLang="zh-CN" sz="1800" dirty="0"/>
              <a:t>within one loop instead of </a:t>
            </a:r>
            <a:r>
              <a:rPr lang="en-US" altLang="zh-CN" sz="1800" dirty="0" smtClean="0"/>
              <a:t>one message to one neighbor in each loop. </a:t>
            </a:r>
            <a:endParaRPr lang="en-US" altLang="zh-CN" sz="1800" dirty="0"/>
          </a:p>
          <a:p>
            <a:pPr marL="457200" lvl="1" indent="0">
              <a:buNone/>
            </a:pPr>
            <a:endParaRPr lang="en-US" altLang="zh-CN" sz="2400" dirty="0"/>
          </a:p>
          <a:p>
            <a:r>
              <a:rPr lang="en-US" altLang="zh-CN" sz="2400" dirty="0" smtClean="0"/>
              <a:t>Benefits</a:t>
            </a:r>
          </a:p>
          <a:p>
            <a:pPr lvl="1"/>
            <a:r>
              <a:rPr lang="en-US" altLang="zh-CN" sz="1800" dirty="0"/>
              <a:t>Minimize </a:t>
            </a:r>
            <a:r>
              <a:rPr lang="en-US" altLang="zh-CN" sz="1800" dirty="0">
                <a:solidFill>
                  <a:srgbClr val="FF0000"/>
                </a:solidFill>
              </a:rPr>
              <a:t>time in SWAP</a:t>
            </a:r>
            <a:r>
              <a:rPr lang="en-US" altLang="zh-CN" sz="1800" dirty="0"/>
              <a:t> </a:t>
            </a:r>
            <a:r>
              <a:rPr lang="en-US" altLang="zh-CN" sz="1800" dirty="0" smtClean="0"/>
              <a:t>protocol </a:t>
            </a:r>
            <a:r>
              <a:rPr lang="en-US" altLang="zh-CN" sz="1800" dirty="0"/>
              <a:t>on edge merging.</a:t>
            </a:r>
          </a:p>
          <a:p>
            <a:pPr lvl="1"/>
            <a:endParaRPr lang="en-US" altLang="zh-CN" sz="2200" dirty="0"/>
          </a:p>
        </p:txBody>
      </p:sp>
      <p:sp>
        <p:nvSpPr>
          <p:cNvPr id="4" name="灯片编号占位符 3"/>
          <p:cNvSpPr>
            <a:spLocks noGrp="1"/>
          </p:cNvSpPr>
          <p:nvPr>
            <p:ph type="sldNum" sz="quarter" idx="12"/>
          </p:nvPr>
        </p:nvSpPr>
        <p:spPr/>
        <p:txBody>
          <a:bodyPr/>
          <a:lstStyle/>
          <a:p>
            <a:fld id="{87034D8C-3CB4-402A-BC46-2AB14C0FE90A}" type="slidenum">
              <a:rPr lang="en-US" smtClean="0"/>
              <a:pPr/>
              <a:t>18</a:t>
            </a:fld>
            <a:endParaRPr lang="en-US"/>
          </a:p>
        </p:txBody>
      </p:sp>
      <p:sp>
        <p:nvSpPr>
          <p:cNvPr id="25" name="椭圆 24"/>
          <p:cNvSpPr/>
          <p:nvPr/>
        </p:nvSpPr>
        <p:spPr>
          <a:xfrm>
            <a:off x="7020272" y="1932112"/>
            <a:ext cx="360040"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0</a:t>
            </a:r>
            <a:endParaRPr lang="zh-CN" altLang="en-US" dirty="0"/>
          </a:p>
        </p:txBody>
      </p:sp>
      <p:sp>
        <p:nvSpPr>
          <p:cNvPr id="26" name="椭圆 25"/>
          <p:cNvSpPr/>
          <p:nvPr/>
        </p:nvSpPr>
        <p:spPr>
          <a:xfrm>
            <a:off x="8100392" y="2796208"/>
            <a:ext cx="360040"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27" name="椭圆 26"/>
          <p:cNvSpPr/>
          <p:nvPr/>
        </p:nvSpPr>
        <p:spPr>
          <a:xfrm>
            <a:off x="5796136" y="2810508"/>
            <a:ext cx="360040"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cxnSp>
        <p:nvCxnSpPr>
          <p:cNvPr id="28" name="直接箭头连接符 27"/>
          <p:cNvCxnSpPr>
            <a:stCxn id="25" idx="6"/>
            <a:endCxn id="26" idx="1"/>
          </p:cNvCxnSpPr>
          <p:nvPr/>
        </p:nvCxnSpPr>
        <p:spPr>
          <a:xfrm>
            <a:off x="7380312" y="2184140"/>
            <a:ext cx="772807" cy="6858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25" idx="2"/>
            <a:endCxn id="27" idx="7"/>
          </p:cNvCxnSpPr>
          <p:nvPr/>
        </p:nvCxnSpPr>
        <p:spPr>
          <a:xfrm flipH="1">
            <a:off x="6103449" y="2184140"/>
            <a:ext cx="916823" cy="7001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椭圆 29"/>
          <p:cNvSpPr/>
          <p:nvPr/>
        </p:nvSpPr>
        <p:spPr>
          <a:xfrm>
            <a:off x="6992652" y="3732312"/>
            <a:ext cx="360040"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0</a:t>
            </a:r>
            <a:endParaRPr lang="zh-CN" altLang="en-US" dirty="0"/>
          </a:p>
        </p:txBody>
      </p:sp>
      <p:cxnSp>
        <p:nvCxnSpPr>
          <p:cNvPr id="31" name="直接箭头连接符 30"/>
          <p:cNvCxnSpPr>
            <a:stCxn id="27" idx="5"/>
            <a:endCxn id="30" idx="1"/>
          </p:cNvCxnSpPr>
          <p:nvPr/>
        </p:nvCxnSpPr>
        <p:spPr>
          <a:xfrm>
            <a:off x="6103449" y="3240747"/>
            <a:ext cx="941930" cy="5653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26" idx="3"/>
            <a:endCxn id="30" idx="7"/>
          </p:cNvCxnSpPr>
          <p:nvPr/>
        </p:nvCxnSpPr>
        <p:spPr>
          <a:xfrm flipH="1">
            <a:off x="7299965" y="3226447"/>
            <a:ext cx="853154" cy="5796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椭圆 32"/>
          <p:cNvSpPr/>
          <p:nvPr/>
        </p:nvSpPr>
        <p:spPr>
          <a:xfrm>
            <a:off x="5750880" y="4736722"/>
            <a:ext cx="360040"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34" name="椭圆 33"/>
          <p:cNvSpPr/>
          <p:nvPr/>
        </p:nvSpPr>
        <p:spPr>
          <a:xfrm>
            <a:off x="8124192" y="4736722"/>
            <a:ext cx="360040"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cxnSp>
        <p:nvCxnSpPr>
          <p:cNvPr id="35" name="直接箭头连接符 34"/>
          <p:cNvCxnSpPr>
            <a:stCxn id="30" idx="5"/>
            <a:endCxn id="34" idx="1"/>
          </p:cNvCxnSpPr>
          <p:nvPr/>
        </p:nvCxnSpPr>
        <p:spPr>
          <a:xfrm>
            <a:off x="7299965" y="4162551"/>
            <a:ext cx="876954" cy="647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30" idx="3"/>
            <a:endCxn id="33" idx="7"/>
          </p:cNvCxnSpPr>
          <p:nvPr/>
        </p:nvCxnSpPr>
        <p:spPr>
          <a:xfrm flipH="1">
            <a:off x="6058193" y="4162551"/>
            <a:ext cx="987186" cy="647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7" name="圆角矩形 36"/>
          <p:cNvSpPr/>
          <p:nvPr/>
        </p:nvSpPr>
        <p:spPr>
          <a:xfrm>
            <a:off x="8176919" y="4363818"/>
            <a:ext cx="864096" cy="2870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Data</a:t>
            </a:r>
            <a:endParaRPr lang="zh-CN" altLang="en-US" dirty="0"/>
          </a:p>
        </p:txBody>
      </p:sp>
      <p:sp>
        <p:nvSpPr>
          <p:cNvPr id="38" name="圆角矩形 37"/>
          <p:cNvSpPr/>
          <p:nvPr/>
        </p:nvSpPr>
        <p:spPr>
          <a:xfrm>
            <a:off x="7547520" y="2413192"/>
            <a:ext cx="794922" cy="2420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Lock</a:t>
            </a:r>
            <a:endParaRPr lang="zh-CN" altLang="en-US" dirty="0"/>
          </a:p>
        </p:txBody>
      </p:sp>
      <p:sp>
        <p:nvSpPr>
          <p:cNvPr id="39" name="圆角矩形 38"/>
          <p:cNvSpPr/>
          <p:nvPr/>
        </p:nvSpPr>
        <p:spPr>
          <a:xfrm>
            <a:off x="6058193" y="2441104"/>
            <a:ext cx="765345" cy="23714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Lock</a:t>
            </a:r>
            <a:endParaRPr lang="zh-CN" altLang="en-US" dirty="0"/>
          </a:p>
        </p:txBody>
      </p:sp>
      <p:sp>
        <p:nvSpPr>
          <p:cNvPr id="40" name="圆角矩形 39"/>
          <p:cNvSpPr/>
          <p:nvPr/>
        </p:nvSpPr>
        <p:spPr>
          <a:xfrm>
            <a:off x="7524328" y="3444280"/>
            <a:ext cx="1296144" cy="3675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Lock reply</a:t>
            </a:r>
            <a:endParaRPr lang="zh-CN" altLang="en-US" dirty="0"/>
          </a:p>
        </p:txBody>
      </p:sp>
      <p:sp>
        <p:nvSpPr>
          <p:cNvPr id="41" name="圆角矩形 40"/>
          <p:cNvSpPr/>
          <p:nvPr/>
        </p:nvSpPr>
        <p:spPr>
          <a:xfrm>
            <a:off x="5668262" y="3431704"/>
            <a:ext cx="1189738" cy="3675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Lock reply</a:t>
            </a:r>
            <a:endParaRPr lang="zh-CN" altLang="en-US" dirty="0"/>
          </a:p>
        </p:txBody>
      </p:sp>
      <p:sp>
        <p:nvSpPr>
          <p:cNvPr id="42" name="圆角矩形 41"/>
          <p:cNvSpPr/>
          <p:nvPr/>
        </p:nvSpPr>
        <p:spPr>
          <a:xfrm>
            <a:off x="7348730" y="4363819"/>
            <a:ext cx="804670" cy="2870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N</a:t>
            </a:r>
            <a:r>
              <a:rPr lang="en-US" altLang="zh-CN" dirty="0" smtClean="0"/>
              <a:t>otify</a:t>
            </a:r>
            <a:endParaRPr lang="zh-CN" altLang="en-US" dirty="0"/>
          </a:p>
        </p:txBody>
      </p:sp>
      <p:sp>
        <p:nvSpPr>
          <p:cNvPr id="43" name="圆角矩形 42"/>
          <p:cNvSpPr/>
          <p:nvPr/>
        </p:nvSpPr>
        <p:spPr>
          <a:xfrm>
            <a:off x="5405690" y="4363819"/>
            <a:ext cx="804670" cy="2870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N</a:t>
            </a:r>
            <a:r>
              <a:rPr lang="en-US" altLang="zh-CN" dirty="0" smtClean="0"/>
              <a:t>otify</a:t>
            </a:r>
            <a:endParaRPr lang="zh-CN" altLang="en-US" dirty="0"/>
          </a:p>
        </p:txBody>
      </p:sp>
      <p:sp>
        <p:nvSpPr>
          <p:cNvPr id="44" name="圆角矩形 43"/>
          <p:cNvSpPr/>
          <p:nvPr/>
        </p:nvSpPr>
        <p:spPr>
          <a:xfrm>
            <a:off x="6230712" y="4363818"/>
            <a:ext cx="864096" cy="2952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Data</a:t>
            </a:r>
            <a:endParaRPr lang="zh-CN" altLang="en-US" dirty="0"/>
          </a:p>
        </p:txBody>
      </p:sp>
      <p:cxnSp>
        <p:nvCxnSpPr>
          <p:cNvPr id="45" name="直接箭头连接符 44"/>
          <p:cNvCxnSpPr/>
          <p:nvPr/>
        </p:nvCxnSpPr>
        <p:spPr>
          <a:xfrm>
            <a:off x="5322963" y="1644080"/>
            <a:ext cx="0" cy="4680520"/>
          </a:xfrm>
          <a:prstGeom prst="straightConnector1">
            <a:avLst/>
          </a:prstGeom>
          <a:ln w="25400" cmpd="sng">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4849789" y="1516142"/>
            <a:ext cx="1090363" cy="369332"/>
          </a:xfrm>
          <a:prstGeom prst="rect">
            <a:avLst/>
          </a:prstGeom>
          <a:noFill/>
        </p:spPr>
        <p:txBody>
          <a:bodyPr wrap="none" rtlCol="0">
            <a:spAutoFit/>
          </a:bodyPr>
          <a:lstStyle/>
          <a:p>
            <a:r>
              <a:rPr lang="en-US" altLang="zh-CN" dirty="0" smtClean="0"/>
              <a:t>Time Line</a:t>
            </a:r>
            <a:endParaRPr lang="zh-CN" altLang="en-US" dirty="0"/>
          </a:p>
        </p:txBody>
      </p:sp>
      <p:sp>
        <p:nvSpPr>
          <p:cNvPr id="5" name="TextBox 4"/>
          <p:cNvSpPr txBox="1"/>
          <p:nvPr/>
        </p:nvSpPr>
        <p:spPr>
          <a:xfrm>
            <a:off x="5796136" y="5678269"/>
            <a:ext cx="2793650" cy="646331"/>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US" altLang="zh-CN" dirty="0" smtClean="0"/>
              <a:t>Communication protocol in </a:t>
            </a:r>
          </a:p>
          <a:p>
            <a:r>
              <a:rPr lang="en-US" altLang="zh-CN" dirty="0" smtClean="0"/>
              <a:t>SWAP on Edge merging </a:t>
            </a:r>
            <a:endParaRPr lang="zh-CN" altLang="en-US" dirty="0"/>
          </a:p>
        </p:txBody>
      </p:sp>
    </p:spTree>
    <p:extLst>
      <p:ext uri="{BB962C8B-B14F-4D97-AF65-F5344CB8AC3E}">
        <p14:creationId xmlns:p14="http://schemas.microsoft.com/office/powerpoint/2010/main" val="8125460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graph simplification (edge merging) </a:t>
            </a:r>
            <a:endParaRPr lang="zh-CN" altLang="en-US" dirty="0"/>
          </a:p>
        </p:txBody>
      </p:sp>
      <p:sp>
        <p:nvSpPr>
          <p:cNvPr id="4" name="椭圆 3"/>
          <p:cNvSpPr/>
          <p:nvPr/>
        </p:nvSpPr>
        <p:spPr>
          <a:xfrm>
            <a:off x="7020272" y="1932112"/>
            <a:ext cx="360040"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0</a:t>
            </a:r>
            <a:endParaRPr lang="zh-CN" altLang="en-US" dirty="0"/>
          </a:p>
        </p:txBody>
      </p:sp>
      <p:sp>
        <p:nvSpPr>
          <p:cNvPr id="5" name="椭圆 4"/>
          <p:cNvSpPr/>
          <p:nvPr/>
        </p:nvSpPr>
        <p:spPr>
          <a:xfrm>
            <a:off x="8100392" y="2796208"/>
            <a:ext cx="360040"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6" name="椭圆 5"/>
          <p:cNvSpPr/>
          <p:nvPr/>
        </p:nvSpPr>
        <p:spPr>
          <a:xfrm>
            <a:off x="5796136" y="2810508"/>
            <a:ext cx="360040"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cxnSp>
        <p:nvCxnSpPr>
          <p:cNvPr id="9" name="直接箭头连接符 8"/>
          <p:cNvCxnSpPr>
            <a:stCxn id="4" idx="6"/>
            <a:endCxn id="5" idx="1"/>
          </p:cNvCxnSpPr>
          <p:nvPr/>
        </p:nvCxnSpPr>
        <p:spPr>
          <a:xfrm>
            <a:off x="7380312" y="2184140"/>
            <a:ext cx="772807" cy="6858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4" idx="2"/>
            <a:endCxn id="6" idx="7"/>
          </p:cNvCxnSpPr>
          <p:nvPr/>
        </p:nvCxnSpPr>
        <p:spPr>
          <a:xfrm flipH="1">
            <a:off x="6103449" y="2184140"/>
            <a:ext cx="916823" cy="7001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6992652" y="3732312"/>
            <a:ext cx="360040"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0</a:t>
            </a:r>
            <a:endParaRPr lang="zh-CN" altLang="en-US" dirty="0"/>
          </a:p>
        </p:txBody>
      </p:sp>
      <p:cxnSp>
        <p:nvCxnSpPr>
          <p:cNvPr id="13" name="直接箭头连接符 12"/>
          <p:cNvCxnSpPr>
            <a:stCxn id="6" idx="5"/>
            <a:endCxn id="12" idx="1"/>
          </p:cNvCxnSpPr>
          <p:nvPr/>
        </p:nvCxnSpPr>
        <p:spPr>
          <a:xfrm>
            <a:off x="6103449" y="3240747"/>
            <a:ext cx="941930" cy="5653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5" idx="3"/>
            <a:endCxn id="12" idx="7"/>
          </p:cNvCxnSpPr>
          <p:nvPr/>
        </p:nvCxnSpPr>
        <p:spPr>
          <a:xfrm flipH="1">
            <a:off x="7299965" y="3226447"/>
            <a:ext cx="853154" cy="5796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5750880" y="4736722"/>
            <a:ext cx="360040"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22" name="椭圆 21"/>
          <p:cNvSpPr/>
          <p:nvPr/>
        </p:nvSpPr>
        <p:spPr>
          <a:xfrm>
            <a:off x="8124192" y="4736722"/>
            <a:ext cx="360040"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cxnSp>
        <p:nvCxnSpPr>
          <p:cNvPr id="23" name="直接箭头连接符 22"/>
          <p:cNvCxnSpPr>
            <a:stCxn id="12" idx="5"/>
            <a:endCxn id="22" idx="1"/>
          </p:cNvCxnSpPr>
          <p:nvPr/>
        </p:nvCxnSpPr>
        <p:spPr>
          <a:xfrm>
            <a:off x="7299965" y="4162551"/>
            <a:ext cx="876954" cy="647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12" idx="3"/>
            <a:endCxn id="21" idx="7"/>
          </p:cNvCxnSpPr>
          <p:nvPr/>
        </p:nvCxnSpPr>
        <p:spPr>
          <a:xfrm flipH="1">
            <a:off x="6058193" y="4162551"/>
            <a:ext cx="987186" cy="647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圆角矩形 27"/>
          <p:cNvSpPr/>
          <p:nvPr/>
        </p:nvSpPr>
        <p:spPr>
          <a:xfrm>
            <a:off x="8176919" y="4363818"/>
            <a:ext cx="864096" cy="2870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Data</a:t>
            </a:r>
            <a:endParaRPr lang="zh-CN" altLang="en-US" dirty="0"/>
          </a:p>
        </p:txBody>
      </p:sp>
      <p:sp>
        <p:nvSpPr>
          <p:cNvPr id="29" name="圆角矩形 28"/>
          <p:cNvSpPr/>
          <p:nvPr/>
        </p:nvSpPr>
        <p:spPr>
          <a:xfrm>
            <a:off x="7547520" y="2413192"/>
            <a:ext cx="794922" cy="2420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Lock</a:t>
            </a:r>
            <a:endParaRPr lang="zh-CN" altLang="en-US" dirty="0"/>
          </a:p>
        </p:txBody>
      </p:sp>
      <p:sp>
        <p:nvSpPr>
          <p:cNvPr id="30" name="圆角矩形 29"/>
          <p:cNvSpPr/>
          <p:nvPr/>
        </p:nvSpPr>
        <p:spPr>
          <a:xfrm>
            <a:off x="6058193" y="2441104"/>
            <a:ext cx="765345" cy="23714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Lock</a:t>
            </a:r>
            <a:endParaRPr lang="zh-CN" altLang="en-US" dirty="0"/>
          </a:p>
        </p:txBody>
      </p:sp>
      <p:sp>
        <p:nvSpPr>
          <p:cNvPr id="31" name="圆角矩形 30"/>
          <p:cNvSpPr/>
          <p:nvPr/>
        </p:nvSpPr>
        <p:spPr>
          <a:xfrm>
            <a:off x="7524328" y="3444280"/>
            <a:ext cx="1296144" cy="3675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Lock reply</a:t>
            </a:r>
            <a:endParaRPr lang="zh-CN" altLang="en-US" dirty="0"/>
          </a:p>
        </p:txBody>
      </p:sp>
      <p:sp>
        <p:nvSpPr>
          <p:cNvPr id="32" name="圆角矩形 31"/>
          <p:cNvSpPr/>
          <p:nvPr/>
        </p:nvSpPr>
        <p:spPr>
          <a:xfrm>
            <a:off x="5668262" y="3431704"/>
            <a:ext cx="1189738" cy="3675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Lock reply</a:t>
            </a:r>
            <a:endParaRPr lang="zh-CN" altLang="en-US" dirty="0"/>
          </a:p>
        </p:txBody>
      </p:sp>
      <p:sp>
        <p:nvSpPr>
          <p:cNvPr id="33" name="圆角矩形 32"/>
          <p:cNvSpPr/>
          <p:nvPr/>
        </p:nvSpPr>
        <p:spPr>
          <a:xfrm>
            <a:off x="7348730" y="4363819"/>
            <a:ext cx="804670" cy="2870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N</a:t>
            </a:r>
            <a:r>
              <a:rPr lang="en-US" altLang="zh-CN" dirty="0" smtClean="0"/>
              <a:t>otify</a:t>
            </a:r>
            <a:endParaRPr lang="zh-CN" altLang="en-US" dirty="0"/>
          </a:p>
        </p:txBody>
      </p:sp>
      <p:sp>
        <p:nvSpPr>
          <p:cNvPr id="34" name="圆角矩形 33"/>
          <p:cNvSpPr/>
          <p:nvPr/>
        </p:nvSpPr>
        <p:spPr>
          <a:xfrm>
            <a:off x="5405690" y="4363819"/>
            <a:ext cx="804670" cy="2870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N</a:t>
            </a:r>
            <a:r>
              <a:rPr lang="en-US" altLang="zh-CN" dirty="0" smtClean="0"/>
              <a:t>otify</a:t>
            </a:r>
            <a:endParaRPr lang="zh-CN" altLang="en-US" dirty="0"/>
          </a:p>
        </p:txBody>
      </p:sp>
      <p:cxnSp>
        <p:nvCxnSpPr>
          <p:cNvPr id="36" name="直接箭头连接符 35"/>
          <p:cNvCxnSpPr/>
          <p:nvPr/>
        </p:nvCxnSpPr>
        <p:spPr>
          <a:xfrm>
            <a:off x="5322963" y="1644080"/>
            <a:ext cx="0" cy="4680520"/>
          </a:xfrm>
          <a:prstGeom prst="straightConnector1">
            <a:avLst/>
          </a:prstGeom>
          <a:ln w="25400" cmpd="sng">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4849789" y="1516142"/>
            <a:ext cx="1090363" cy="369332"/>
          </a:xfrm>
          <a:prstGeom prst="rect">
            <a:avLst/>
          </a:prstGeom>
          <a:noFill/>
        </p:spPr>
        <p:txBody>
          <a:bodyPr wrap="none" rtlCol="0">
            <a:spAutoFit/>
          </a:bodyPr>
          <a:lstStyle/>
          <a:p>
            <a:r>
              <a:rPr lang="en-US" altLang="zh-CN" dirty="0" smtClean="0"/>
              <a:t>Time Line</a:t>
            </a:r>
            <a:endParaRPr lang="zh-CN" altLang="en-US" dirty="0"/>
          </a:p>
        </p:txBody>
      </p:sp>
      <p:sp>
        <p:nvSpPr>
          <p:cNvPr id="52" name="内容占位符 2"/>
          <p:cNvSpPr txBox="1">
            <a:spLocks/>
          </p:cNvSpPr>
          <p:nvPr/>
        </p:nvSpPr>
        <p:spPr>
          <a:xfrm>
            <a:off x="426244" y="1432672"/>
            <a:ext cx="4114800" cy="97962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altLang="zh-CN" dirty="0"/>
          </a:p>
        </p:txBody>
      </p:sp>
      <p:sp>
        <p:nvSpPr>
          <p:cNvPr id="54" name="矩形 53"/>
          <p:cNvSpPr/>
          <p:nvPr/>
        </p:nvSpPr>
        <p:spPr>
          <a:xfrm>
            <a:off x="394792" y="3717032"/>
            <a:ext cx="4465239" cy="3093154"/>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altLang="zh-CN" sz="1500" dirty="0" err="1" smtClean="0">
                <a:solidFill>
                  <a:srgbClr val="FF0000"/>
                </a:solidFill>
              </a:rPr>
              <a:t>RecvProc</a:t>
            </a:r>
            <a:r>
              <a:rPr lang="en-US" altLang="zh-CN" sz="1500" dirty="0" smtClean="0">
                <a:solidFill>
                  <a:srgbClr val="FF0000"/>
                </a:solidFill>
              </a:rPr>
              <a:t> Routine (Service Routine)</a:t>
            </a:r>
          </a:p>
          <a:p>
            <a:r>
              <a:rPr lang="en-US" altLang="zh-CN" sz="1500" dirty="0">
                <a:solidFill>
                  <a:schemeClr val="tx1"/>
                </a:solidFill>
              </a:rPr>
              <a:t>While(1)</a:t>
            </a:r>
          </a:p>
          <a:p>
            <a:r>
              <a:rPr lang="en-US" altLang="zh-CN" sz="1500" dirty="0">
                <a:solidFill>
                  <a:schemeClr val="tx1"/>
                </a:solidFill>
              </a:rPr>
              <a:t>{</a:t>
            </a:r>
          </a:p>
          <a:p>
            <a:r>
              <a:rPr lang="en-US" altLang="zh-CN" sz="1500" dirty="0">
                <a:solidFill>
                  <a:schemeClr val="tx1"/>
                </a:solidFill>
              </a:rPr>
              <a:t>      Post </a:t>
            </a:r>
            <a:r>
              <a:rPr lang="en-US" altLang="zh-CN" sz="1500" dirty="0" err="1">
                <a:solidFill>
                  <a:schemeClr val="tx1"/>
                </a:solidFill>
              </a:rPr>
              <a:t>MPI_Testall</a:t>
            </a:r>
            <a:r>
              <a:rPr lang="en-US" altLang="zh-CN" sz="1500" dirty="0">
                <a:solidFill>
                  <a:schemeClr val="tx1"/>
                </a:solidFill>
              </a:rPr>
              <a:t>(2, </a:t>
            </a:r>
            <a:r>
              <a:rPr lang="en-US" altLang="zh-CN" sz="1500" dirty="0" err="1">
                <a:solidFill>
                  <a:schemeClr val="tx1"/>
                </a:solidFill>
              </a:rPr>
              <a:t>compReq</a:t>
            </a:r>
            <a:r>
              <a:rPr lang="en-US" altLang="zh-CN" sz="1500" dirty="0">
                <a:solidFill>
                  <a:schemeClr val="tx1"/>
                </a:solidFill>
              </a:rPr>
              <a:t>, &amp;flag</a:t>
            </a:r>
            <a:r>
              <a:rPr lang="en-US" altLang="zh-CN" sz="1500" dirty="0" smtClean="0">
                <a:solidFill>
                  <a:schemeClr val="tx1"/>
                </a:solidFill>
              </a:rPr>
              <a:t>) </a:t>
            </a:r>
            <a:endParaRPr lang="en-US" altLang="zh-CN" sz="1500" dirty="0">
              <a:solidFill>
                <a:schemeClr val="tx1"/>
              </a:solidFill>
            </a:endParaRPr>
          </a:p>
          <a:p>
            <a:r>
              <a:rPr lang="en-US" altLang="zh-CN" sz="1500" dirty="0">
                <a:solidFill>
                  <a:schemeClr val="tx1"/>
                </a:solidFill>
              </a:rPr>
              <a:t>      if(flag)     break;</a:t>
            </a:r>
          </a:p>
          <a:p>
            <a:endParaRPr lang="en-US" altLang="zh-CN" sz="1500" dirty="0">
              <a:solidFill>
                <a:schemeClr val="tx1"/>
              </a:solidFill>
            </a:endParaRPr>
          </a:p>
          <a:p>
            <a:r>
              <a:rPr lang="en-US" altLang="zh-CN" sz="1500" dirty="0">
                <a:solidFill>
                  <a:schemeClr val="tx1"/>
                </a:solidFill>
              </a:rPr>
              <a:t>      Post </a:t>
            </a:r>
            <a:r>
              <a:rPr lang="en-US" altLang="zh-CN" sz="1500" dirty="0" err="1">
                <a:solidFill>
                  <a:schemeClr val="tx1"/>
                </a:solidFill>
              </a:rPr>
              <a:t>MPI_Test</a:t>
            </a:r>
            <a:r>
              <a:rPr lang="en-US" altLang="zh-CN" sz="1500" dirty="0">
                <a:solidFill>
                  <a:schemeClr val="tx1"/>
                </a:solidFill>
              </a:rPr>
              <a:t>(&amp;</a:t>
            </a:r>
            <a:r>
              <a:rPr lang="en-US" altLang="zh-CN" sz="1500" dirty="0" err="1">
                <a:solidFill>
                  <a:schemeClr val="tx1"/>
                </a:solidFill>
              </a:rPr>
              <a:t>globalReq</a:t>
            </a:r>
            <a:r>
              <a:rPr lang="en-US" altLang="zh-CN" sz="1500" dirty="0">
                <a:solidFill>
                  <a:schemeClr val="tx1"/>
                </a:solidFill>
              </a:rPr>
              <a:t>, &amp;flag)</a:t>
            </a:r>
          </a:p>
          <a:p>
            <a:r>
              <a:rPr lang="en-US" altLang="zh-CN" sz="1500" dirty="0">
                <a:solidFill>
                  <a:schemeClr val="tx1"/>
                </a:solidFill>
              </a:rPr>
              <a:t>      if(flag==0)  continue;</a:t>
            </a:r>
          </a:p>
          <a:p>
            <a:r>
              <a:rPr lang="en-US" altLang="zh-CN" sz="1500" dirty="0">
                <a:solidFill>
                  <a:schemeClr val="tx1"/>
                </a:solidFill>
              </a:rPr>
              <a:t>      </a:t>
            </a:r>
          </a:p>
          <a:p>
            <a:r>
              <a:rPr lang="en-US" altLang="zh-CN" sz="1500" dirty="0">
                <a:solidFill>
                  <a:schemeClr val="tx1"/>
                </a:solidFill>
              </a:rPr>
              <a:t>      Doing work here…..</a:t>
            </a:r>
          </a:p>
          <a:p>
            <a:endParaRPr lang="en-US" altLang="zh-CN" sz="1500" dirty="0">
              <a:solidFill>
                <a:schemeClr val="tx1"/>
              </a:solidFill>
            </a:endParaRPr>
          </a:p>
          <a:p>
            <a:r>
              <a:rPr lang="en-US" altLang="zh-CN" sz="1500" dirty="0">
                <a:solidFill>
                  <a:schemeClr val="tx1"/>
                </a:solidFill>
              </a:rPr>
              <a:t>      Post </a:t>
            </a:r>
            <a:r>
              <a:rPr lang="en-US" altLang="zh-CN" sz="1500" dirty="0" err="1">
                <a:solidFill>
                  <a:schemeClr val="tx1"/>
                </a:solidFill>
              </a:rPr>
              <a:t>MPI_Irecv</a:t>
            </a:r>
            <a:r>
              <a:rPr lang="en-US" altLang="zh-CN" sz="1500" dirty="0">
                <a:solidFill>
                  <a:schemeClr val="tx1"/>
                </a:solidFill>
              </a:rPr>
              <a:t>(&amp;</a:t>
            </a:r>
            <a:r>
              <a:rPr lang="en-US" altLang="zh-CN" sz="1500" dirty="0" err="1">
                <a:solidFill>
                  <a:schemeClr val="tx1"/>
                </a:solidFill>
              </a:rPr>
              <a:t>globalReq</a:t>
            </a:r>
            <a:r>
              <a:rPr lang="en-US" altLang="zh-CN" sz="1500" dirty="0">
                <a:solidFill>
                  <a:schemeClr val="tx1"/>
                </a:solidFill>
              </a:rPr>
              <a:t>)</a:t>
            </a:r>
          </a:p>
          <a:p>
            <a:r>
              <a:rPr lang="en-US" altLang="zh-CN" sz="1500" dirty="0">
                <a:solidFill>
                  <a:schemeClr val="tx1"/>
                </a:solidFill>
              </a:rPr>
              <a:t>}</a:t>
            </a:r>
          </a:p>
        </p:txBody>
      </p:sp>
      <p:sp>
        <p:nvSpPr>
          <p:cNvPr id="55" name="内容占位符 2"/>
          <p:cNvSpPr txBox="1">
            <a:spLocks/>
          </p:cNvSpPr>
          <p:nvPr/>
        </p:nvSpPr>
        <p:spPr>
          <a:xfrm>
            <a:off x="394792" y="1143000"/>
            <a:ext cx="4465239" cy="2484276"/>
          </a:xfrm>
          <a:prstGeom prst="rect">
            <a:avLst/>
          </a:prstGeom>
        </p:spPr>
        <p:style>
          <a:lnRef idx="1">
            <a:schemeClr val="accent4"/>
          </a:lnRef>
          <a:fillRef idx="2">
            <a:schemeClr val="accent4"/>
          </a:fillRef>
          <a:effectRef idx="1">
            <a:schemeClr val="accent4"/>
          </a:effectRef>
          <a:fontRef idx="minor">
            <a:schemeClr val="dk1"/>
          </a:fontRef>
        </p:style>
        <p:txBody>
          <a:bodyPr vert="horz" lIns="91440" tIns="45720" rIns="91440" bIns="45720" rtlCol="0">
            <a:normAutofit fontScale="4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dirty="0" smtClean="0">
                <a:solidFill>
                  <a:srgbClr val="FF0000"/>
                </a:solidFill>
              </a:rPr>
              <a:t>Compute Routine</a:t>
            </a:r>
          </a:p>
          <a:p>
            <a:pPr marL="0" indent="0">
              <a:buNone/>
            </a:pPr>
            <a:r>
              <a:rPr lang="en-US" altLang="zh-CN" dirty="0" smtClean="0">
                <a:solidFill>
                  <a:srgbClr val="FF0000"/>
                </a:solidFill>
              </a:rPr>
              <a:t>Lock </a:t>
            </a:r>
            <a:r>
              <a:rPr lang="en-US" altLang="zh-CN" dirty="0">
                <a:solidFill>
                  <a:srgbClr val="FF0000"/>
                </a:solidFill>
              </a:rPr>
              <a:t>Stage :</a:t>
            </a:r>
          </a:p>
          <a:p>
            <a:pPr marL="0" indent="0">
              <a:buNone/>
            </a:pPr>
            <a:r>
              <a:rPr lang="en-US" altLang="zh-CN" dirty="0"/>
              <a:t>Post </a:t>
            </a:r>
            <a:r>
              <a:rPr lang="en-US" altLang="zh-CN" dirty="0" err="1"/>
              <a:t>MPI_Isend</a:t>
            </a:r>
            <a:r>
              <a:rPr lang="en-US" altLang="zh-CN" dirty="0"/>
              <a:t>(</a:t>
            </a:r>
            <a:r>
              <a:rPr lang="en-US" altLang="zh-CN" dirty="0" err="1"/>
              <a:t>compReq</a:t>
            </a:r>
            <a:r>
              <a:rPr lang="en-US" altLang="zh-CN" dirty="0" smtClean="0"/>
              <a:t>)      //Lock</a:t>
            </a:r>
            <a:endParaRPr lang="en-US" altLang="zh-CN" dirty="0"/>
          </a:p>
          <a:p>
            <a:pPr marL="0" indent="0">
              <a:buNone/>
            </a:pPr>
            <a:r>
              <a:rPr lang="en-US" altLang="zh-CN" dirty="0"/>
              <a:t>Post </a:t>
            </a:r>
            <a:r>
              <a:rPr lang="en-US" altLang="zh-CN" dirty="0" err="1" smtClean="0"/>
              <a:t>MPI_Irecv</a:t>
            </a:r>
            <a:r>
              <a:rPr lang="en-US" altLang="zh-CN" dirty="0" smtClean="0"/>
              <a:t>(compReq+1)       //Lock Reply</a:t>
            </a:r>
            <a:endParaRPr lang="en-US" altLang="zh-CN" dirty="0"/>
          </a:p>
          <a:p>
            <a:pPr marL="0" indent="0">
              <a:buNone/>
            </a:pPr>
            <a:r>
              <a:rPr lang="en-US" altLang="zh-CN" dirty="0"/>
              <a:t>Call </a:t>
            </a:r>
            <a:r>
              <a:rPr lang="en-US" altLang="zh-CN" dirty="0" err="1"/>
              <a:t>RecvProc</a:t>
            </a:r>
            <a:r>
              <a:rPr lang="en-US" altLang="zh-CN" dirty="0"/>
              <a:t>(2, </a:t>
            </a:r>
            <a:r>
              <a:rPr lang="en-US" altLang="zh-CN" dirty="0" err="1"/>
              <a:t>compReq</a:t>
            </a:r>
            <a:r>
              <a:rPr lang="en-US" altLang="zh-CN" dirty="0" smtClean="0"/>
              <a:t>)      //Wait until finish</a:t>
            </a:r>
            <a:endParaRPr lang="en-US" altLang="zh-CN" dirty="0"/>
          </a:p>
          <a:p>
            <a:pPr marL="0" indent="0">
              <a:buNone/>
            </a:pPr>
            <a:endParaRPr lang="en-US" altLang="zh-CN" dirty="0">
              <a:solidFill>
                <a:srgbClr val="FF0000"/>
              </a:solidFill>
            </a:endParaRPr>
          </a:p>
          <a:p>
            <a:pPr marL="0" indent="0">
              <a:buNone/>
            </a:pPr>
            <a:r>
              <a:rPr lang="en-US" altLang="zh-CN" dirty="0" smtClean="0">
                <a:solidFill>
                  <a:srgbClr val="FF0000"/>
                </a:solidFill>
              </a:rPr>
              <a:t>Notify Stage :</a:t>
            </a:r>
          </a:p>
          <a:p>
            <a:pPr marL="0" indent="0">
              <a:buNone/>
            </a:pPr>
            <a:r>
              <a:rPr lang="en-US" altLang="zh-CN" dirty="0" smtClean="0"/>
              <a:t>Post </a:t>
            </a:r>
            <a:r>
              <a:rPr lang="en-US" altLang="zh-CN" dirty="0" err="1" smtClean="0"/>
              <a:t>MPI_Isend</a:t>
            </a:r>
            <a:r>
              <a:rPr lang="en-US" altLang="zh-CN" dirty="0" smtClean="0"/>
              <a:t>(</a:t>
            </a:r>
            <a:r>
              <a:rPr lang="en-US" altLang="zh-CN" dirty="0" err="1" smtClean="0"/>
              <a:t>compReq</a:t>
            </a:r>
            <a:r>
              <a:rPr lang="en-US" altLang="zh-CN" dirty="0" smtClean="0"/>
              <a:t>)     //Notification &amp;data size</a:t>
            </a:r>
          </a:p>
          <a:p>
            <a:pPr marL="0" indent="0">
              <a:buNone/>
            </a:pPr>
            <a:r>
              <a:rPr lang="en-US" altLang="zh-CN" dirty="0" smtClean="0"/>
              <a:t>Post </a:t>
            </a:r>
            <a:r>
              <a:rPr lang="en-US" altLang="zh-CN" dirty="0" err="1" smtClean="0"/>
              <a:t>MPI_Isend</a:t>
            </a:r>
            <a:r>
              <a:rPr lang="en-US" altLang="zh-CN" dirty="0" smtClean="0"/>
              <a:t>(compReq+1) //Data</a:t>
            </a:r>
          </a:p>
          <a:p>
            <a:pPr marL="0" indent="0">
              <a:buNone/>
            </a:pPr>
            <a:r>
              <a:rPr lang="en-US" altLang="zh-CN" dirty="0" smtClean="0"/>
              <a:t> Call </a:t>
            </a:r>
            <a:r>
              <a:rPr lang="en-US" altLang="zh-CN" dirty="0" err="1" smtClean="0"/>
              <a:t>RecvProc</a:t>
            </a:r>
            <a:r>
              <a:rPr lang="en-US" altLang="zh-CN" dirty="0" smtClean="0"/>
              <a:t>(2, </a:t>
            </a:r>
            <a:r>
              <a:rPr lang="en-US" altLang="zh-CN" dirty="0" err="1" smtClean="0"/>
              <a:t>compReq</a:t>
            </a:r>
            <a:r>
              <a:rPr lang="en-US" altLang="zh-CN" dirty="0" smtClean="0"/>
              <a:t>)    //Wait until finish</a:t>
            </a:r>
            <a:endParaRPr lang="en-US" altLang="zh-CN" dirty="0"/>
          </a:p>
        </p:txBody>
      </p:sp>
      <p:sp>
        <p:nvSpPr>
          <p:cNvPr id="58" name="内容占位符 2"/>
          <p:cNvSpPr txBox="1">
            <a:spLocks/>
          </p:cNvSpPr>
          <p:nvPr/>
        </p:nvSpPr>
        <p:spPr>
          <a:xfrm>
            <a:off x="672582" y="1112542"/>
            <a:ext cx="4650381" cy="3382483"/>
          </a:xfrm>
          <a:prstGeom prst="rect">
            <a:avLst/>
          </a:prstGeom>
        </p:spPr>
        <p:style>
          <a:lnRef idx="1">
            <a:schemeClr val="accent4"/>
          </a:lnRef>
          <a:fillRef idx="2">
            <a:schemeClr val="accent4"/>
          </a:fillRef>
          <a:effectRef idx="1">
            <a:schemeClr val="accent4"/>
          </a:effectRef>
          <a:fontRef idx="minor">
            <a:schemeClr val="dk1"/>
          </a:fontRef>
        </p:style>
        <p:txBody>
          <a:bodyPr vert="horz" lIns="91440" tIns="45720" rIns="91440" bIns="45720" rtlCol="0">
            <a:normAutofit fontScale="4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dirty="0" smtClean="0">
                <a:solidFill>
                  <a:srgbClr val="FF0000"/>
                </a:solidFill>
              </a:rPr>
              <a:t>Compute Routine</a:t>
            </a:r>
          </a:p>
          <a:p>
            <a:pPr marL="0" indent="0">
              <a:buNone/>
            </a:pPr>
            <a:r>
              <a:rPr lang="en-US" altLang="zh-CN" dirty="0" smtClean="0">
                <a:solidFill>
                  <a:srgbClr val="FF0000"/>
                </a:solidFill>
              </a:rPr>
              <a:t>Lock </a:t>
            </a:r>
            <a:r>
              <a:rPr lang="en-US" altLang="zh-CN" dirty="0">
                <a:solidFill>
                  <a:srgbClr val="FF0000"/>
                </a:solidFill>
              </a:rPr>
              <a:t>Stage :</a:t>
            </a:r>
          </a:p>
          <a:p>
            <a:pPr marL="0" indent="0">
              <a:buNone/>
            </a:pPr>
            <a:r>
              <a:rPr lang="en-US" altLang="zh-CN" dirty="0"/>
              <a:t>Post </a:t>
            </a:r>
            <a:r>
              <a:rPr lang="en-US" altLang="zh-CN" dirty="0" err="1"/>
              <a:t>MPI_Isend</a:t>
            </a:r>
            <a:r>
              <a:rPr lang="en-US" altLang="zh-CN" dirty="0"/>
              <a:t>(</a:t>
            </a:r>
            <a:r>
              <a:rPr lang="en-US" altLang="zh-CN" dirty="0" err="1"/>
              <a:t>compReq</a:t>
            </a:r>
            <a:r>
              <a:rPr lang="en-US" altLang="zh-CN" dirty="0" smtClean="0"/>
              <a:t>)          //Lock</a:t>
            </a:r>
            <a:endParaRPr lang="en-US" altLang="zh-CN" dirty="0"/>
          </a:p>
          <a:p>
            <a:pPr marL="0" indent="0">
              <a:buNone/>
            </a:pPr>
            <a:r>
              <a:rPr lang="en-US" altLang="zh-CN" dirty="0"/>
              <a:t>Post </a:t>
            </a:r>
            <a:r>
              <a:rPr lang="en-US" altLang="zh-CN" dirty="0" err="1" smtClean="0"/>
              <a:t>MPI_Irecv</a:t>
            </a:r>
            <a:r>
              <a:rPr lang="en-US" altLang="zh-CN" dirty="0" smtClean="0"/>
              <a:t>(compReq+1)       //Lock Reply</a:t>
            </a:r>
          </a:p>
          <a:p>
            <a:pPr marL="0" indent="0">
              <a:buNone/>
            </a:pPr>
            <a:r>
              <a:rPr lang="en-US" altLang="zh-CN" dirty="0" smtClean="0">
                <a:solidFill>
                  <a:srgbClr val="0070C0"/>
                </a:solidFill>
              </a:rPr>
              <a:t>Post </a:t>
            </a:r>
            <a:r>
              <a:rPr lang="en-US" altLang="zh-CN" dirty="0" err="1" smtClean="0">
                <a:solidFill>
                  <a:srgbClr val="0070C0"/>
                </a:solidFill>
              </a:rPr>
              <a:t>MPI_Isend</a:t>
            </a:r>
            <a:r>
              <a:rPr lang="en-US" altLang="zh-CN" dirty="0" smtClean="0">
                <a:solidFill>
                  <a:srgbClr val="0070C0"/>
                </a:solidFill>
              </a:rPr>
              <a:t>(compReq+2)</a:t>
            </a:r>
          </a:p>
          <a:p>
            <a:pPr marL="0" indent="0">
              <a:buNone/>
            </a:pPr>
            <a:r>
              <a:rPr lang="en-US" altLang="zh-CN" dirty="0" smtClean="0">
                <a:solidFill>
                  <a:srgbClr val="0070C0"/>
                </a:solidFill>
              </a:rPr>
              <a:t>Post </a:t>
            </a:r>
            <a:r>
              <a:rPr lang="en-US" altLang="zh-CN" dirty="0" err="1" smtClean="0">
                <a:solidFill>
                  <a:srgbClr val="0070C0"/>
                </a:solidFill>
              </a:rPr>
              <a:t>MPI_Irecv</a:t>
            </a:r>
            <a:r>
              <a:rPr lang="en-US" altLang="zh-CN" dirty="0" smtClean="0">
                <a:solidFill>
                  <a:srgbClr val="0070C0"/>
                </a:solidFill>
              </a:rPr>
              <a:t>(compReq+3)</a:t>
            </a:r>
            <a:endParaRPr lang="en-US" altLang="zh-CN" dirty="0">
              <a:solidFill>
                <a:srgbClr val="0070C0"/>
              </a:solidFill>
            </a:endParaRPr>
          </a:p>
          <a:p>
            <a:pPr marL="0" indent="0">
              <a:buNone/>
            </a:pPr>
            <a:r>
              <a:rPr lang="en-US" altLang="zh-CN" dirty="0"/>
              <a:t>Call </a:t>
            </a:r>
            <a:r>
              <a:rPr lang="en-US" altLang="zh-CN" dirty="0" err="1" smtClean="0"/>
              <a:t>RecvProc</a:t>
            </a:r>
            <a:r>
              <a:rPr lang="en-US" altLang="zh-CN" dirty="0" smtClean="0"/>
              <a:t>(4, </a:t>
            </a:r>
            <a:r>
              <a:rPr lang="en-US" altLang="zh-CN" dirty="0" err="1"/>
              <a:t>compReq</a:t>
            </a:r>
            <a:r>
              <a:rPr lang="en-US" altLang="zh-CN" dirty="0" smtClean="0"/>
              <a:t>)      //Wait until finish</a:t>
            </a:r>
            <a:endParaRPr lang="en-US" altLang="zh-CN" dirty="0"/>
          </a:p>
          <a:p>
            <a:pPr marL="0" indent="0">
              <a:buNone/>
            </a:pPr>
            <a:endParaRPr lang="en-US" altLang="zh-CN" dirty="0">
              <a:solidFill>
                <a:srgbClr val="FF0000"/>
              </a:solidFill>
            </a:endParaRPr>
          </a:p>
          <a:p>
            <a:pPr marL="0" indent="0">
              <a:buNone/>
            </a:pPr>
            <a:r>
              <a:rPr lang="en-US" altLang="zh-CN" dirty="0" smtClean="0">
                <a:solidFill>
                  <a:srgbClr val="FF0000"/>
                </a:solidFill>
              </a:rPr>
              <a:t>Notify Stage :</a:t>
            </a:r>
          </a:p>
          <a:p>
            <a:pPr marL="0" indent="0">
              <a:buNone/>
            </a:pPr>
            <a:r>
              <a:rPr lang="en-US" altLang="zh-CN" dirty="0" smtClean="0"/>
              <a:t>Post </a:t>
            </a:r>
            <a:r>
              <a:rPr lang="en-US" altLang="zh-CN" dirty="0" err="1" smtClean="0"/>
              <a:t>MPI_Isend</a:t>
            </a:r>
            <a:r>
              <a:rPr lang="en-US" altLang="zh-CN" dirty="0" smtClean="0"/>
              <a:t>(</a:t>
            </a:r>
            <a:r>
              <a:rPr lang="en-US" altLang="zh-CN" dirty="0" err="1" smtClean="0"/>
              <a:t>compReq</a:t>
            </a:r>
            <a:r>
              <a:rPr lang="en-US" altLang="zh-CN" dirty="0" smtClean="0"/>
              <a:t>)     //Notification &amp;data size</a:t>
            </a:r>
          </a:p>
          <a:p>
            <a:pPr marL="0" indent="0">
              <a:buNone/>
            </a:pPr>
            <a:r>
              <a:rPr lang="en-US" altLang="zh-CN" dirty="0" smtClean="0"/>
              <a:t>Post </a:t>
            </a:r>
            <a:r>
              <a:rPr lang="en-US" altLang="zh-CN" dirty="0" err="1" smtClean="0"/>
              <a:t>MPI_Isend</a:t>
            </a:r>
            <a:r>
              <a:rPr lang="en-US" altLang="zh-CN" dirty="0" smtClean="0"/>
              <a:t>(compReq+1) //Data</a:t>
            </a:r>
          </a:p>
          <a:p>
            <a:pPr marL="0" indent="0">
              <a:buNone/>
            </a:pPr>
            <a:r>
              <a:rPr lang="en-US" altLang="zh-CN" dirty="0">
                <a:solidFill>
                  <a:srgbClr val="0070C0"/>
                </a:solidFill>
              </a:rPr>
              <a:t>Post </a:t>
            </a:r>
            <a:r>
              <a:rPr lang="en-US" altLang="zh-CN" dirty="0" err="1" smtClean="0">
                <a:solidFill>
                  <a:srgbClr val="0070C0"/>
                </a:solidFill>
              </a:rPr>
              <a:t>MPI_Isend</a:t>
            </a:r>
            <a:r>
              <a:rPr lang="en-US" altLang="zh-CN" dirty="0" smtClean="0">
                <a:solidFill>
                  <a:srgbClr val="0070C0"/>
                </a:solidFill>
              </a:rPr>
              <a:t>(compReq+2)</a:t>
            </a:r>
            <a:endParaRPr lang="en-US" altLang="zh-CN" dirty="0">
              <a:solidFill>
                <a:srgbClr val="0070C0"/>
              </a:solidFill>
            </a:endParaRPr>
          </a:p>
          <a:p>
            <a:pPr marL="0" indent="0">
              <a:buNone/>
            </a:pPr>
            <a:r>
              <a:rPr lang="en-US" altLang="zh-CN" dirty="0">
                <a:solidFill>
                  <a:srgbClr val="0070C0"/>
                </a:solidFill>
              </a:rPr>
              <a:t>Post </a:t>
            </a:r>
            <a:r>
              <a:rPr lang="en-US" altLang="zh-CN" dirty="0" err="1" smtClean="0">
                <a:solidFill>
                  <a:srgbClr val="0070C0"/>
                </a:solidFill>
              </a:rPr>
              <a:t>MPI_Isend</a:t>
            </a:r>
            <a:r>
              <a:rPr lang="en-US" altLang="zh-CN" dirty="0" smtClean="0">
                <a:solidFill>
                  <a:srgbClr val="0070C0"/>
                </a:solidFill>
              </a:rPr>
              <a:t>(compReq+3) </a:t>
            </a:r>
          </a:p>
          <a:p>
            <a:pPr marL="0" indent="0">
              <a:buNone/>
            </a:pPr>
            <a:r>
              <a:rPr lang="en-US" altLang="zh-CN" dirty="0" smtClean="0"/>
              <a:t>Call </a:t>
            </a:r>
            <a:r>
              <a:rPr lang="en-US" altLang="zh-CN" dirty="0" err="1" smtClean="0"/>
              <a:t>RecvProc</a:t>
            </a:r>
            <a:r>
              <a:rPr lang="en-US" altLang="zh-CN" dirty="0" smtClean="0"/>
              <a:t>(4, </a:t>
            </a:r>
            <a:r>
              <a:rPr lang="en-US" altLang="zh-CN" dirty="0" err="1" smtClean="0"/>
              <a:t>compReq</a:t>
            </a:r>
            <a:r>
              <a:rPr lang="en-US" altLang="zh-CN" dirty="0" smtClean="0"/>
              <a:t>)    //Wait until finish</a:t>
            </a:r>
            <a:endParaRPr lang="en-US" altLang="zh-CN" dirty="0"/>
          </a:p>
        </p:txBody>
      </p:sp>
      <p:sp>
        <p:nvSpPr>
          <p:cNvPr id="35" name="圆角矩形 34"/>
          <p:cNvSpPr/>
          <p:nvPr/>
        </p:nvSpPr>
        <p:spPr>
          <a:xfrm>
            <a:off x="6230712" y="4363818"/>
            <a:ext cx="864096" cy="2952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Data</a:t>
            </a:r>
            <a:endParaRPr lang="zh-CN" altLang="en-US" dirty="0"/>
          </a:p>
        </p:txBody>
      </p:sp>
      <p:sp>
        <p:nvSpPr>
          <p:cNvPr id="39" name="TextBox 38"/>
          <p:cNvSpPr txBox="1"/>
          <p:nvPr/>
        </p:nvSpPr>
        <p:spPr>
          <a:xfrm>
            <a:off x="5796136" y="5678269"/>
            <a:ext cx="2793650" cy="646331"/>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US" altLang="zh-CN" dirty="0" smtClean="0"/>
              <a:t>Communication protocol in </a:t>
            </a:r>
          </a:p>
          <a:p>
            <a:r>
              <a:rPr lang="en-US" altLang="zh-CN" dirty="0" smtClean="0"/>
              <a:t>SWAP on Edge merging </a:t>
            </a:r>
            <a:endParaRPr lang="zh-CN" altLang="en-US" dirty="0"/>
          </a:p>
        </p:txBody>
      </p:sp>
      <p:sp>
        <p:nvSpPr>
          <p:cNvPr id="38" name="TextBox 37"/>
          <p:cNvSpPr txBox="1"/>
          <p:nvPr/>
        </p:nvSpPr>
        <p:spPr>
          <a:xfrm>
            <a:off x="5322963" y="5380200"/>
            <a:ext cx="3718052" cy="1477328"/>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CN" dirty="0" smtClean="0"/>
              <a:t>Note that: </a:t>
            </a:r>
          </a:p>
          <a:p>
            <a:r>
              <a:rPr lang="en-US" altLang="zh-CN" dirty="0" smtClean="0"/>
              <a:t>Two neighbors can share the same loop in both Lock and Notify stage</a:t>
            </a:r>
            <a:r>
              <a:rPr lang="en-US" altLang="zh-CN" dirty="0" smtClean="0"/>
              <a:t>.</a:t>
            </a:r>
          </a:p>
          <a:p>
            <a:r>
              <a:rPr lang="en-US" altLang="zh-CN" dirty="0">
                <a:solidFill>
                  <a:srgbClr val="FF0000"/>
                </a:solidFill>
              </a:rPr>
              <a:t>Can not understand this. Please explain more to your audience</a:t>
            </a:r>
            <a:r>
              <a:rPr lang="en-US" altLang="zh-CN"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676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additive="base">
                                        <p:cTn id="7" dur="500" fill="hold"/>
                                        <p:tgtEl>
                                          <p:spTgt spid="58"/>
                                        </p:tgtEl>
                                        <p:attrNameLst>
                                          <p:attrName>ppt_x</p:attrName>
                                        </p:attrNameLst>
                                      </p:cBhvr>
                                      <p:tavLst>
                                        <p:tav tm="0">
                                          <p:val>
                                            <p:strVal val="1+#ppt_w/2"/>
                                          </p:val>
                                        </p:tav>
                                        <p:tav tm="100000">
                                          <p:val>
                                            <p:strVal val="#ppt_x"/>
                                          </p:val>
                                        </p:tav>
                                      </p:tavLst>
                                    </p:anim>
                                    <p:anim calcmode="lin" valueType="num">
                                      <p:cBhvr additive="base">
                                        <p:cTn id="8" dur="500" fill="hold"/>
                                        <p:tgtEl>
                                          <p:spTgt spid="5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3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Graph </a:t>
            </a:r>
            <a:r>
              <a:rPr lang="en-US" altLang="zh-CN" dirty="0"/>
              <a:t>simplification (edge merging) </a:t>
            </a:r>
            <a:endParaRPr lang="zh-CN" altLang="en-US" dirty="0"/>
          </a:p>
        </p:txBody>
      </p:sp>
      <p:sp>
        <p:nvSpPr>
          <p:cNvPr id="3" name="内容占位符 2"/>
          <p:cNvSpPr>
            <a:spLocks noGrp="1"/>
          </p:cNvSpPr>
          <p:nvPr>
            <p:ph idx="1"/>
          </p:nvPr>
        </p:nvSpPr>
        <p:spPr>
          <a:xfrm>
            <a:off x="457200" y="1219200"/>
            <a:ext cx="8229600" cy="1676399"/>
          </a:xfrm>
        </p:spPr>
        <p:txBody>
          <a:bodyPr/>
          <a:lstStyle/>
          <a:p>
            <a:pPr marL="0" indent="0">
              <a:buNone/>
            </a:pPr>
            <a:r>
              <a:rPr lang="en-US" altLang="zh-CN" dirty="0" smtClean="0"/>
              <a:t>After Message Combining, the Idle time stops increase and keeps constant.</a:t>
            </a:r>
          </a:p>
          <a:p>
            <a:pPr marL="0" indent="0">
              <a:buNone/>
            </a:pPr>
            <a:endParaRPr lang="en-US" altLang="zh-CN" dirty="0" smtClean="0"/>
          </a:p>
          <a:p>
            <a:pPr marL="0" indent="0">
              <a:buNone/>
            </a:pPr>
            <a:r>
              <a:rPr lang="en-US" altLang="zh-CN" b="1" dirty="0" smtClean="0">
                <a:solidFill>
                  <a:srgbClr val="FF0000"/>
                </a:solidFill>
              </a:rPr>
              <a:t>We </a:t>
            </a:r>
            <a:r>
              <a:rPr lang="en-US" altLang="zh-CN" b="1" dirty="0">
                <a:solidFill>
                  <a:srgbClr val="FF0000"/>
                </a:solidFill>
              </a:rPr>
              <a:t>can’t eliminate all </a:t>
            </a:r>
            <a:r>
              <a:rPr lang="en-US" altLang="zh-CN" b="1" dirty="0" smtClean="0">
                <a:solidFill>
                  <a:srgbClr val="FF0000"/>
                </a:solidFill>
              </a:rPr>
              <a:t>the idle time.  </a:t>
            </a:r>
          </a:p>
          <a:p>
            <a:pPr marL="0" indent="0">
              <a:buNone/>
            </a:pPr>
            <a:r>
              <a:rPr lang="en-US" altLang="zh-CN" dirty="0" smtClean="0"/>
              <a:t>Due to the difficulty in recording the time used in sending &amp; </a:t>
            </a:r>
            <a:r>
              <a:rPr lang="en-US" altLang="zh-CN" dirty="0" err="1"/>
              <a:t>r</a:t>
            </a:r>
            <a:r>
              <a:rPr lang="en-US" altLang="zh-CN" dirty="0" err="1" smtClean="0"/>
              <a:t>ecving</a:t>
            </a:r>
            <a:r>
              <a:rPr lang="en-US" altLang="zh-CN" dirty="0" smtClean="0"/>
              <a:t> </a:t>
            </a:r>
            <a:r>
              <a:rPr lang="en-US" altLang="zh-CN" dirty="0" err="1"/>
              <a:t>n</a:t>
            </a:r>
            <a:r>
              <a:rPr lang="en-US" altLang="zh-CN" dirty="0" err="1" smtClean="0"/>
              <a:t>onblocking</a:t>
            </a:r>
            <a:r>
              <a:rPr lang="en-US" altLang="zh-CN" dirty="0" smtClean="0"/>
              <a:t> messages in computing routine, these time usage has been gathered into Idle time.</a:t>
            </a:r>
            <a:endParaRPr lang="zh-CN" altLang="en-US" dirty="0"/>
          </a:p>
        </p:txBody>
      </p:sp>
      <p:sp>
        <p:nvSpPr>
          <p:cNvPr id="4" name="灯片编号占位符 3"/>
          <p:cNvSpPr>
            <a:spLocks noGrp="1"/>
          </p:cNvSpPr>
          <p:nvPr>
            <p:ph type="sldNum" sz="quarter" idx="12"/>
          </p:nvPr>
        </p:nvSpPr>
        <p:spPr/>
        <p:txBody>
          <a:bodyPr/>
          <a:lstStyle/>
          <a:p>
            <a:fld id="{87034D8C-3CB4-402A-BC46-2AB14C0FE90A}" type="slidenum">
              <a:rPr lang="en-US" smtClean="0"/>
              <a:pPr/>
              <a:t>20</a:t>
            </a:fld>
            <a:endParaRPr lang="en-US"/>
          </a:p>
        </p:txBody>
      </p:sp>
      <p:graphicFrame>
        <p:nvGraphicFramePr>
          <p:cNvPr id="7" name="图表 6"/>
          <p:cNvGraphicFramePr>
            <a:graphicFrameLocks/>
          </p:cNvGraphicFramePr>
          <p:nvPr>
            <p:extLst>
              <p:ext uri="{D42A27DB-BD31-4B8C-83A1-F6EECF244321}">
                <p14:modId xmlns:p14="http://schemas.microsoft.com/office/powerpoint/2010/main" val="1763940345"/>
              </p:ext>
            </p:extLst>
          </p:nvPr>
        </p:nvGraphicFramePr>
        <p:xfrm>
          <a:off x="228600" y="3091934"/>
          <a:ext cx="8458200" cy="3557588"/>
        </p:xfrm>
        <a:graphic>
          <a:graphicData uri="http://schemas.openxmlformats.org/drawingml/2006/chart">
            <c:chart xmlns:c="http://schemas.openxmlformats.org/drawingml/2006/chart" xmlns:r="http://schemas.openxmlformats.org/officeDocument/2006/relationships" r:id="rId2"/>
          </a:graphicData>
        </a:graphic>
      </p:graphicFrame>
      <p:cxnSp>
        <p:nvCxnSpPr>
          <p:cNvPr id="6" name="直接箭头连接符 5"/>
          <p:cNvCxnSpPr/>
          <p:nvPr/>
        </p:nvCxnSpPr>
        <p:spPr bwMode="auto">
          <a:xfrm>
            <a:off x="1066800" y="4419600"/>
            <a:ext cx="3124200" cy="1066800"/>
          </a:xfrm>
          <a:prstGeom prst="straightConnector1">
            <a:avLst/>
          </a:prstGeom>
          <a:noFill/>
          <a:ln w="9525" cap="flat" cmpd="sng" algn="ctr">
            <a:solidFill>
              <a:schemeClr val="accent2">
                <a:lumMod val="50000"/>
              </a:schemeClr>
            </a:solidFill>
            <a:prstDash val="solid"/>
            <a:round/>
            <a:headEnd type="none" w="med" len="med"/>
            <a:tailEnd type="arrow"/>
          </a:ln>
          <a:effectLst/>
        </p:spPr>
      </p:cxnSp>
      <p:cxnSp>
        <p:nvCxnSpPr>
          <p:cNvPr id="9" name="直接箭头连接符 8"/>
          <p:cNvCxnSpPr/>
          <p:nvPr/>
        </p:nvCxnSpPr>
        <p:spPr bwMode="auto">
          <a:xfrm>
            <a:off x="5334000" y="4267200"/>
            <a:ext cx="3200400" cy="0"/>
          </a:xfrm>
          <a:prstGeom prst="straightConnector1">
            <a:avLst/>
          </a:prstGeom>
          <a:noFill/>
          <a:ln w="9525" cap="flat" cmpd="sng" algn="ctr">
            <a:solidFill>
              <a:schemeClr val="accent2">
                <a:lumMod val="50000"/>
              </a:schemeClr>
            </a:solidFill>
            <a:prstDash val="solid"/>
            <a:round/>
            <a:headEnd type="none" w="med" len="med"/>
            <a:tailEnd type="arrow"/>
          </a:ln>
          <a:effectLst/>
        </p:spPr>
      </p:cxnSp>
      <p:sp>
        <p:nvSpPr>
          <p:cNvPr id="10" name="TextBox 9"/>
          <p:cNvSpPr txBox="1"/>
          <p:nvPr/>
        </p:nvSpPr>
        <p:spPr>
          <a:xfrm>
            <a:off x="752152" y="2907268"/>
            <a:ext cx="2600648" cy="369332"/>
          </a:xfrm>
          <a:prstGeom prst="rect">
            <a:avLst/>
          </a:prstGeom>
          <a:noFill/>
        </p:spPr>
        <p:txBody>
          <a:bodyPr wrap="none" rtlCol="0">
            <a:spAutoFit/>
          </a:bodyPr>
          <a:lstStyle/>
          <a:p>
            <a:r>
              <a:rPr lang="en-US" altLang="zh-CN" dirty="0" smtClean="0"/>
              <a:t>Percentage of time usage</a:t>
            </a:r>
            <a:endParaRPr lang="zh-CN" altLang="en-US" dirty="0"/>
          </a:p>
        </p:txBody>
      </p:sp>
    </p:spTree>
    <p:extLst>
      <p:ext uri="{BB962C8B-B14F-4D97-AF65-F5344CB8AC3E}">
        <p14:creationId xmlns:p14="http://schemas.microsoft.com/office/powerpoint/2010/main" val="22976310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Performance Improvements</a:t>
            </a:r>
            <a:endParaRPr lang="zh-CN" altLang="en-US" dirty="0"/>
          </a:p>
        </p:txBody>
      </p:sp>
      <p:sp>
        <p:nvSpPr>
          <p:cNvPr id="3" name="内容占位符 2"/>
          <p:cNvSpPr>
            <a:spLocks noGrp="1"/>
          </p:cNvSpPr>
          <p:nvPr>
            <p:ph idx="1"/>
          </p:nvPr>
        </p:nvSpPr>
        <p:spPr>
          <a:xfrm>
            <a:off x="533400" y="1143000"/>
            <a:ext cx="8229600" cy="1295400"/>
          </a:xfrm>
        </p:spPr>
        <p:txBody>
          <a:bodyPr/>
          <a:lstStyle/>
          <a:p>
            <a:r>
              <a:rPr lang="en-US" altLang="zh-CN" dirty="0" smtClean="0"/>
              <a:t>With the human dataset on 32k cores, SWAP with optimization on IO and </a:t>
            </a:r>
            <a:r>
              <a:rPr lang="en-US" altLang="zh-CN" dirty="0" err="1" smtClean="0"/>
              <a:t>Kmer</a:t>
            </a:r>
            <a:r>
              <a:rPr lang="en-US" altLang="zh-CN" dirty="0" smtClean="0"/>
              <a:t> graph construction has a speedup of 4.9X.  </a:t>
            </a:r>
          </a:p>
          <a:p>
            <a:r>
              <a:rPr lang="en-US" altLang="zh-CN" dirty="0" smtClean="0"/>
              <a:t>SWAP with optimization on all three steps gain a speedup of 10X, and </a:t>
            </a:r>
            <a:r>
              <a:rPr lang="en-US" altLang="zh-CN" dirty="0"/>
              <a:t>the efficiency is </a:t>
            </a:r>
            <a:r>
              <a:rPr lang="en-US" altLang="zh-CN" dirty="0" smtClean="0"/>
              <a:t>62%.</a:t>
            </a:r>
            <a:endParaRPr lang="zh-CN" altLang="en-US" dirty="0"/>
          </a:p>
        </p:txBody>
      </p:sp>
      <p:sp>
        <p:nvSpPr>
          <p:cNvPr id="4" name="灯片编号占位符 3"/>
          <p:cNvSpPr>
            <a:spLocks noGrp="1"/>
          </p:cNvSpPr>
          <p:nvPr>
            <p:ph type="sldNum" sz="quarter" idx="12"/>
          </p:nvPr>
        </p:nvSpPr>
        <p:spPr/>
        <p:txBody>
          <a:bodyPr/>
          <a:lstStyle/>
          <a:p>
            <a:fld id="{87034D8C-3CB4-402A-BC46-2AB14C0FE90A}" type="slidenum">
              <a:rPr lang="en-US" smtClean="0"/>
              <a:pPr/>
              <a:t>21</a:t>
            </a:fld>
            <a:endParaRPr lang="en-US"/>
          </a:p>
        </p:txBody>
      </p:sp>
      <p:graphicFrame>
        <p:nvGraphicFramePr>
          <p:cNvPr id="5" name="图表 4"/>
          <p:cNvGraphicFramePr>
            <a:graphicFrameLocks/>
          </p:cNvGraphicFramePr>
          <p:nvPr>
            <p:extLst>
              <p:ext uri="{D42A27DB-BD31-4B8C-83A1-F6EECF244321}">
                <p14:modId xmlns:p14="http://schemas.microsoft.com/office/powerpoint/2010/main" val="1868478968"/>
              </p:ext>
            </p:extLst>
          </p:nvPr>
        </p:nvGraphicFramePr>
        <p:xfrm>
          <a:off x="685800" y="2362200"/>
          <a:ext cx="8067675" cy="42338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491399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Percentage of time usage </a:t>
            </a:r>
            <a:r>
              <a:rPr lang="en-US" altLang="zh-CN" dirty="0" smtClean="0"/>
              <a:t>for SWAP 0.3</a:t>
            </a:r>
            <a:endParaRPr lang="zh-CN" altLang="en-US" dirty="0"/>
          </a:p>
        </p:txBody>
      </p:sp>
      <p:sp>
        <p:nvSpPr>
          <p:cNvPr id="3" name="内容占位符 2"/>
          <p:cNvSpPr>
            <a:spLocks noGrp="1"/>
          </p:cNvSpPr>
          <p:nvPr>
            <p:ph idx="1"/>
          </p:nvPr>
        </p:nvSpPr>
        <p:spPr>
          <a:xfrm>
            <a:off x="457200" y="1295400"/>
            <a:ext cx="8229600" cy="1022866"/>
          </a:xfrm>
        </p:spPr>
        <p:txBody>
          <a:bodyPr/>
          <a:lstStyle/>
          <a:p>
            <a:r>
              <a:rPr lang="en-US" altLang="zh-CN" dirty="0" smtClean="0"/>
              <a:t>The percentage of time usage on original SWAP 0.3.</a:t>
            </a:r>
          </a:p>
          <a:p>
            <a:r>
              <a:rPr lang="en-US" altLang="zh-CN" dirty="0" smtClean="0"/>
              <a:t>The number of cores is set to be less than 16k cores, so there is no records </a:t>
            </a:r>
            <a:r>
              <a:rPr lang="en-US" altLang="zh-CN" dirty="0" smtClean="0"/>
              <a:t>equal and beyond </a:t>
            </a:r>
            <a:r>
              <a:rPr lang="en-US" altLang="zh-CN" dirty="0" smtClean="0"/>
              <a:t>16k cores. </a:t>
            </a:r>
            <a:endParaRPr lang="zh-CN" altLang="en-US" dirty="0"/>
          </a:p>
        </p:txBody>
      </p:sp>
      <p:sp>
        <p:nvSpPr>
          <p:cNvPr id="4" name="灯片编号占位符 3"/>
          <p:cNvSpPr>
            <a:spLocks noGrp="1"/>
          </p:cNvSpPr>
          <p:nvPr>
            <p:ph type="sldNum" sz="quarter" idx="12"/>
          </p:nvPr>
        </p:nvSpPr>
        <p:spPr/>
        <p:txBody>
          <a:bodyPr/>
          <a:lstStyle/>
          <a:p>
            <a:fld id="{87034D8C-3CB4-402A-BC46-2AB14C0FE90A}" type="slidenum">
              <a:rPr lang="en-US" smtClean="0"/>
              <a:pPr/>
              <a:t>22</a:t>
            </a:fld>
            <a:endParaRPr lang="en-US"/>
          </a:p>
        </p:txBody>
      </p:sp>
      <p:graphicFrame>
        <p:nvGraphicFramePr>
          <p:cNvPr id="5" name="图表 4"/>
          <p:cNvGraphicFramePr>
            <a:graphicFrameLocks/>
          </p:cNvGraphicFramePr>
          <p:nvPr>
            <p:extLst>
              <p:ext uri="{D42A27DB-BD31-4B8C-83A1-F6EECF244321}">
                <p14:modId xmlns:p14="http://schemas.microsoft.com/office/powerpoint/2010/main" val="1087578655"/>
              </p:ext>
            </p:extLst>
          </p:nvPr>
        </p:nvGraphicFramePr>
        <p:xfrm>
          <a:off x="457199" y="2667000"/>
          <a:ext cx="8305800" cy="3690938"/>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990600" y="2502932"/>
            <a:ext cx="2556341" cy="369332"/>
          </a:xfrm>
          <a:prstGeom prst="rect">
            <a:avLst/>
          </a:prstGeom>
          <a:noFill/>
        </p:spPr>
        <p:txBody>
          <a:bodyPr wrap="none" rtlCol="0">
            <a:spAutoFit/>
          </a:bodyPr>
          <a:lstStyle/>
          <a:p>
            <a:r>
              <a:rPr lang="en-US" altLang="zh-CN" dirty="0" smtClean="0"/>
              <a:t>Percentage of time usage</a:t>
            </a:r>
            <a:endParaRPr lang="zh-CN" altLang="en-US" dirty="0"/>
          </a:p>
        </p:txBody>
      </p:sp>
      <p:sp>
        <p:nvSpPr>
          <p:cNvPr id="7" name="TextBox 6"/>
          <p:cNvSpPr txBox="1"/>
          <p:nvPr/>
        </p:nvSpPr>
        <p:spPr>
          <a:xfrm>
            <a:off x="6096000" y="6165304"/>
            <a:ext cx="1783052" cy="369332"/>
          </a:xfrm>
          <a:prstGeom prst="rect">
            <a:avLst/>
          </a:prstGeom>
          <a:noFill/>
        </p:spPr>
        <p:txBody>
          <a:bodyPr wrap="none" rtlCol="0">
            <a:spAutoFit/>
          </a:bodyPr>
          <a:lstStyle/>
          <a:p>
            <a:r>
              <a:rPr lang="en-US" altLang="zh-CN" dirty="0" smtClean="0"/>
              <a:t>Number of Cores</a:t>
            </a:r>
            <a:endParaRPr lang="zh-CN" altLang="en-US" dirty="0"/>
          </a:p>
        </p:txBody>
      </p:sp>
    </p:spTree>
    <p:extLst>
      <p:ext uri="{BB962C8B-B14F-4D97-AF65-F5344CB8AC3E}">
        <p14:creationId xmlns:p14="http://schemas.microsoft.com/office/powerpoint/2010/main" val="18644466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Percentage of time usage for SWAP +  IO + </a:t>
            </a:r>
            <a:r>
              <a:rPr lang="en-US" altLang="zh-CN" dirty="0" err="1" smtClean="0"/>
              <a:t>KmerGraph</a:t>
            </a:r>
            <a:endParaRPr lang="zh-CN" altLang="en-US" dirty="0"/>
          </a:p>
        </p:txBody>
      </p:sp>
      <p:sp>
        <p:nvSpPr>
          <p:cNvPr id="4" name="灯片编号占位符 3"/>
          <p:cNvSpPr>
            <a:spLocks noGrp="1"/>
          </p:cNvSpPr>
          <p:nvPr>
            <p:ph type="sldNum" sz="quarter" idx="12"/>
          </p:nvPr>
        </p:nvSpPr>
        <p:spPr/>
        <p:txBody>
          <a:bodyPr/>
          <a:lstStyle/>
          <a:p>
            <a:fld id="{87034D8C-3CB4-402A-BC46-2AB14C0FE90A}" type="slidenum">
              <a:rPr lang="en-US" smtClean="0"/>
              <a:pPr/>
              <a:t>23</a:t>
            </a:fld>
            <a:endParaRPr lang="en-US"/>
          </a:p>
        </p:txBody>
      </p:sp>
      <p:sp>
        <p:nvSpPr>
          <p:cNvPr id="7" name="TextBox 6"/>
          <p:cNvSpPr txBox="1"/>
          <p:nvPr/>
        </p:nvSpPr>
        <p:spPr>
          <a:xfrm>
            <a:off x="23416" y="1571000"/>
            <a:ext cx="2556341" cy="369332"/>
          </a:xfrm>
          <a:prstGeom prst="rect">
            <a:avLst/>
          </a:prstGeom>
          <a:noFill/>
        </p:spPr>
        <p:txBody>
          <a:bodyPr wrap="none" rtlCol="0">
            <a:spAutoFit/>
          </a:bodyPr>
          <a:lstStyle/>
          <a:p>
            <a:r>
              <a:rPr lang="en-US" altLang="zh-CN" dirty="0" smtClean="0"/>
              <a:t>Percentage of time usage</a:t>
            </a:r>
            <a:endParaRPr lang="zh-CN" altLang="en-US" dirty="0"/>
          </a:p>
        </p:txBody>
      </p:sp>
      <p:graphicFrame>
        <p:nvGraphicFramePr>
          <p:cNvPr id="8" name="图表 7"/>
          <p:cNvGraphicFramePr>
            <a:graphicFrameLocks/>
          </p:cNvGraphicFramePr>
          <p:nvPr>
            <p:extLst>
              <p:ext uri="{D42A27DB-BD31-4B8C-83A1-F6EECF244321}">
                <p14:modId xmlns:p14="http://schemas.microsoft.com/office/powerpoint/2010/main" val="2793284461"/>
              </p:ext>
            </p:extLst>
          </p:nvPr>
        </p:nvGraphicFramePr>
        <p:xfrm>
          <a:off x="381000" y="1916832"/>
          <a:ext cx="8382000" cy="4560168"/>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6804248" y="5980638"/>
            <a:ext cx="1783052" cy="369332"/>
          </a:xfrm>
          <a:prstGeom prst="rect">
            <a:avLst/>
          </a:prstGeom>
          <a:noFill/>
        </p:spPr>
        <p:txBody>
          <a:bodyPr wrap="none" rtlCol="0">
            <a:spAutoFit/>
          </a:bodyPr>
          <a:lstStyle/>
          <a:p>
            <a:r>
              <a:rPr lang="en-US" altLang="zh-CN" dirty="0" smtClean="0"/>
              <a:t>Number of Cores</a:t>
            </a:r>
            <a:endParaRPr lang="zh-CN" altLang="en-US" dirty="0"/>
          </a:p>
        </p:txBody>
      </p:sp>
    </p:spTree>
    <p:extLst>
      <p:ext uri="{BB962C8B-B14F-4D97-AF65-F5344CB8AC3E}">
        <p14:creationId xmlns:p14="http://schemas.microsoft.com/office/powerpoint/2010/main" val="22233489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Percentage of time usage for SWAP +  IO + </a:t>
            </a:r>
            <a:r>
              <a:rPr lang="en-US" altLang="zh-CN" dirty="0" err="1"/>
              <a:t>KmerGraph</a:t>
            </a:r>
            <a:r>
              <a:rPr lang="en-US" altLang="zh-CN" dirty="0"/>
              <a:t> + Edge </a:t>
            </a:r>
            <a:r>
              <a:rPr lang="en-US" altLang="zh-CN" dirty="0" smtClean="0"/>
              <a:t>merging  </a:t>
            </a:r>
            <a:r>
              <a:rPr lang="en-US" altLang="zh-CN" b="0" dirty="0" smtClean="0">
                <a:solidFill>
                  <a:srgbClr val="FF0000"/>
                </a:solidFill>
              </a:rPr>
              <a:t>(SWAP 0.4)</a:t>
            </a:r>
            <a:endParaRPr lang="zh-CN" altLang="en-US" b="0" dirty="0">
              <a:solidFill>
                <a:srgbClr val="FF0000"/>
              </a:solidFill>
            </a:endParaRPr>
          </a:p>
        </p:txBody>
      </p:sp>
      <p:sp>
        <p:nvSpPr>
          <p:cNvPr id="4" name="灯片编号占位符 3"/>
          <p:cNvSpPr>
            <a:spLocks noGrp="1"/>
          </p:cNvSpPr>
          <p:nvPr>
            <p:ph type="sldNum" sz="quarter" idx="12"/>
          </p:nvPr>
        </p:nvSpPr>
        <p:spPr/>
        <p:txBody>
          <a:bodyPr/>
          <a:lstStyle/>
          <a:p>
            <a:fld id="{87034D8C-3CB4-402A-BC46-2AB14C0FE90A}" type="slidenum">
              <a:rPr lang="en-US" smtClean="0"/>
              <a:pPr/>
              <a:t>24</a:t>
            </a:fld>
            <a:endParaRPr lang="en-US"/>
          </a:p>
        </p:txBody>
      </p:sp>
      <p:sp>
        <p:nvSpPr>
          <p:cNvPr id="9" name="TextBox 8"/>
          <p:cNvSpPr txBox="1"/>
          <p:nvPr/>
        </p:nvSpPr>
        <p:spPr>
          <a:xfrm>
            <a:off x="685800" y="1764566"/>
            <a:ext cx="2556341" cy="369332"/>
          </a:xfrm>
          <a:prstGeom prst="rect">
            <a:avLst/>
          </a:prstGeom>
          <a:noFill/>
        </p:spPr>
        <p:txBody>
          <a:bodyPr wrap="none" rtlCol="0">
            <a:spAutoFit/>
          </a:bodyPr>
          <a:lstStyle/>
          <a:p>
            <a:r>
              <a:rPr lang="en-US" altLang="zh-CN" dirty="0" smtClean="0"/>
              <a:t>Percentage of time usage</a:t>
            </a:r>
            <a:endParaRPr lang="zh-CN" altLang="en-US" dirty="0"/>
          </a:p>
        </p:txBody>
      </p:sp>
      <p:graphicFrame>
        <p:nvGraphicFramePr>
          <p:cNvPr id="12" name="图表 11"/>
          <p:cNvGraphicFramePr>
            <a:graphicFrameLocks/>
          </p:cNvGraphicFramePr>
          <p:nvPr>
            <p:extLst>
              <p:ext uri="{D42A27DB-BD31-4B8C-83A1-F6EECF244321}">
                <p14:modId xmlns:p14="http://schemas.microsoft.com/office/powerpoint/2010/main" val="2045672771"/>
              </p:ext>
            </p:extLst>
          </p:nvPr>
        </p:nvGraphicFramePr>
        <p:xfrm>
          <a:off x="381000" y="2133600"/>
          <a:ext cx="8305800" cy="4343400"/>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p:cNvSpPr txBox="1"/>
          <p:nvPr/>
        </p:nvSpPr>
        <p:spPr>
          <a:xfrm>
            <a:off x="6248400" y="6165304"/>
            <a:ext cx="1783052" cy="369332"/>
          </a:xfrm>
          <a:prstGeom prst="rect">
            <a:avLst/>
          </a:prstGeom>
          <a:noFill/>
        </p:spPr>
        <p:txBody>
          <a:bodyPr wrap="none" rtlCol="0">
            <a:spAutoFit/>
          </a:bodyPr>
          <a:lstStyle/>
          <a:p>
            <a:r>
              <a:rPr lang="en-US" altLang="zh-CN" dirty="0" smtClean="0"/>
              <a:t>Number of Cores</a:t>
            </a:r>
            <a:endParaRPr lang="zh-CN" altLang="en-US" dirty="0"/>
          </a:p>
        </p:txBody>
      </p:sp>
    </p:spTree>
    <p:extLst>
      <p:ext uri="{BB962C8B-B14F-4D97-AF65-F5344CB8AC3E}">
        <p14:creationId xmlns:p14="http://schemas.microsoft.com/office/powerpoint/2010/main" val="10986821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Performance </a:t>
            </a:r>
            <a:r>
              <a:rPr lang="en-US" altLang="zh-CN" dirty="0"/>
              <a:t>results for mixed fish &amp; human dataset (500GB, 3.8 billion reads)</a:t>
            </a:r>
            <a:endParaRPr lang="zh-CN" altLang="en-US" dirty="0"/>
          </a:p>
        </p:txBody>
      </p:sp>
      <p:sp>
        <p:nvSpPr>
          <p:cNvPr id="4" name="灯片编号占位符 3"/>
          <p:cNvSpPr>
            <a:spLocks noGrp="1"/>
          </p:cNvSpPr>
          <p:nvPr>
            <p:ph type="sldNum" sz="quarter" idx="12"/>
          </p:nvPr>
        </p:nvSpPr>
        <p:spPr/>
        <p:txBody>
          <a:bodyPr/>
          <a:lstStyle/>
          <a:p>
            <a:fld id="{87034D8C-3CB4-402A-BC46-2AB14C0FE90A}" type="slidenum">
              <a:rPr lang="en-US" smtClean="0"/>
              <a:pPr/>
              <a:t>25</a:t>
            </a:fld>
            <a:endParaRPr lang="en-US"/>
          </a:p>
        </p:txBody>
      </p:sp>
      <p:graphicFrame>
        <p:nvGraphicFramePr>
          <p:cNvPr id="7" name="图表 6"/>
          <p:cNvGraphicFramePr>
            <a:graphicFrameLocks/>
          </p:cNvGraphicFramePr>
          <p:nvPr>
            <p:extLst>
              <p:ext uri="{D42A27DB-BD31-4B8C-83A1-F6EECF244321}">
                <p14:modId xmlns:p14="http://schemas.microsoft.com/office/powerpoint/2010/main" val="2793614701"/>
              </p:ext>
            </p:extLst>
          </p:nvPr>
        </p:nvGraphicFramePr>
        <p:xfrm>
          <a:off x="457200" y="2533134"/>
          <a:ext cx="8305800" cy="4096266"/>
        </p:xfrm>
        <a:graphic>
          <a:graphicData uri="http://schemas.openxmlformats.org/drawingml/2006/chart">
            <c:chart xmlns:c="http://schemas.openxmlformats.org/drawingml/2006/chart" xmlns:r="http://schemas.openxmlformats.org/officeDocument/2006/relationships" r:id="rId2"/>
          </a:graphicData>
        </a:graphic>
      </p:graphicFrame>
      <p:sp>
        <p:nvSpPr>
          <p:cNvPr id="8" name="内容占位符 2"/>
          <p:cNvSpPr>
            <a:spLocks noGrp="1"/>
          </p:cNvSpPr>
          <p:nvPr>
            <p:ph idx="1"/>
          </p:nvPr>
        </p:nvSpPr>
        <p:spPr>
          <a:xfrm>
            <a:off x="533400" y="1371600"/>
            <a:ext cx="8015266" cy="914399"/>
          </a:xfrm>
        </p:spPr>
        <p:txBody>
          <a:bodyPr/>
          <a:lstStyle/>
          <a:p>
            <a:r>
              <a:rPr lang="en-US" altLang="zh-CN" sz="2000" dirty="0" smtClean="0"/>
              <a:t>With mixed fish and human dataset (0.5TB is used), SWAP scales to  </a:t>
            </a:r>
            <a:r>
              <a:rPr lang="en-US" altLang="zh-CN" sz="2000" b="1" dirty="0" smtClean="0"/>
              <a:t>256k cores </a:t>
            </a:r>
            <a:r>
              <a:rPr lang="en-US" altLang="zh-CN" sz="2000" dirty="0" smtClean="0"/>
              <a:t>with an efficiency of </a:t>
            </a:r>
            <a:r>
              <a:rPr lang="en-US" altLang="zh-CN" sz="2000" b="1" dirty="0" smtClean="0"/>
              <a:t>24.2%</a:t>
            </a:r>
            <a:r>
              <a:rPr lang="en-US" altLang="zh-CN" sz="2000" dirty="0" smtClean="0"/>
              <a:t>.</a:t>
            </a:r>
            <a:endParaRPr lang="en-US" altLang="zh-CN" sz="1800" dirty="0" smtClean="0"/>
          </a:p>
        </p:txBody>
      </p:sp>
      <p:sp>
        <p:nvSpPr>
          <p:cNvPr id="9" name="TextBox 8"/>
          <p:cNvSpPr txBox="1"/>
          <p:nvPr/>
        </p:nvSpPr>
        <p:spPr>
          <a:xfrm>
            <a:off x="5943600" y="6260068"/>
            <a:ext cx="1783052" cy="369332"/>
          </a:xfrm>
          <a:prstGeom prst="rect">
            <a:avLst/>
          </a:prstGeom>
          <a:noFill/>
        </p:spPr>
        <p:txBody>
          <a:bodyPr wrap="none" rtlCol="0">
            <a:spAutoFit/>
          </a:bodyPr>
          <a:lstStyle/>
          <a:p>
            <a:r>
              <a:rPr lang="en-US" altLang="zh-CN" dirty="0" smtClean="0"/>
              <a:t>Number of Cores</a:t>
            </a:r>
            <a:endParaRPr lang="zh-CN" altLang="en-US" dirty="0"/>
          </a:p>
        </p:txBody>
      </p:sp>
      <p:sp>
        <p:nvSpPr>
          <p:cNvPr id="10" name="TextBox 9"/>
          <p:cNvSpPr txBox="1"/>
          <p:nvPr/>
        </p:nvSpPr>
        <p:spPr>
          <a:xfrm>
            <a:off x="685800" y="2241708"/>
            <a:ext cx="3827202" cy="369332"/>
          </a:xfrm>
          <a:prstGeom prst="rect">
            <a:avLst/>
          </a:prstGeom>
          <a:noFill/>
        </p:spPr>
        <p:txBody>
          <a:bodyPr wrap="none" rtlCol="0">
            <a:spAutoFit/>
          </a:bodyPr>
          <a:lstStyle/>
          <a:p>
            <a:r>
              <a:rPr lang="en-US" altLang="zh-CN" dirty="0" smtClean="0"/>
              <a:t>Percentage of time usage for each step</a:t>
            </a:r>
            <a:endParaRPr lang="zh-CN" altLang="en-US" dirty="0"/>
          </a:p>
        </p:txBody>
      </p:sp>
      <p:sp>
        <p:nvSpPr>
          <p:cNvPr id="11" name="TextBox 10"/>
          <p:cNvSpPr txBox="1"/>
          <p:nvPr/>
        </p:nvSpPr>
        <p:spPr>
          <a:xfrm>
            <a:off x="6330820" y="2725698"/>
            <a:ext cx="1008609" cy="369332"/>
          </a:xfrm>
          <a:prstGeom prst="rect">
            <a:avLst/>
          </a:prstGeom>
          <a:noFill/>
        </p:spPr>
        <p:txBody>
          <a:bodyPr wrap="none" rtlCol="0">
            <a:spAutoFit/>
          </a:bodyPr>
          <a:lstStyle/>
          <a:p>
            <a:r>
              <a:rPr lang="en-US" altLang="zh-CN" dirty="0" smtClean="0"/>
              <a:t>Speedup</a:t>
            </a:r>
            <a:endParaRPr lang="zh-CN" altLang="en-US" dirty="0"/>
          </a:p>
        </p:txBody>
      </p:sp>
    </p:spTree>
    <p:extLst>
      <p:ext uri="{BB962C8B-B14F-4D97-AF65-F5344CB8AC3E}">
        <p14:creationId xmlns:p14="http://schemas.microsoft.com/office/powerpoint/2010/main" val="215768624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Performance results for 1k human project dataset (4TB, 30 billion reads)</a:t>
            </a:r>
            <a:endParaRPr lang="zh-CN" altLang="en-US" dirty="0"/>
          </a:p>
        </p:txBody>
      </p:sp>
      <p:sp>
        <p:nvSpPr>
          <p:cNvPr id="4" name="灯片编号占位符 3"/>
          <p:cNvSpPr>
            <a:spLocks noGrp="1"/>
          </p:cNvSpPr>
          <p:nvPr>
            <p:ph type="sldNum" sz="quarter" idx="12"/>
          </p:nvPr>
        </p:nvSpPr>
        <p:spPr/>
        <p:txBody>
          <a:bodyPr/>
          <a:lstStyle/>
          <a:p>
            <a:fld id="{87034D8C-3CB4-402A-BC46-2AB14C0FE90A}" type="slidenum">
              <a:rPr lang="en-US" smtClean="0"/>
              <a:pPr/>
              <a:t>26</a:t>
            </a:fld>
            <a:endParaRPr lang="en-US"/>
          </a:p>
        </p:txBody>
      </p:sp>
      <p:graphicFrame>
        <p:nvGraphicFramePr>
          <p:cNvPr id="10" name="图表 9"/>
          <p:cNvGraphicFramePr>
            <a:graphicFrameLocks/>
          </p:cNvGraphicFramePr>
          <p:nvPr>
            <p:extLst>
              <p:ext uri="{D42A27DB-BD31-4B8C-83A1-F6EECF244321}">
                <p14:modId xmlns:p14="http://schemas.microsoft.com/office/powerpoint/2010/main" val="165228678"/>
              </p:ext>
            </p:extLst>
          </p:nvPr>
        </p:nvGraphicFramePr>
        <p:xfrm>
          <a:off x="304800" y="2514600"/>
          <a:ext cx="8458200" cy="4191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内容占位符 2"/>
          <p:cNvSpPr>
            <a:spLocks noGrp="1"/>
          </p:cNvSpPr>
          <p:nvPr>
            <p:ph idx="1"/>
          </p:nvPr>
        </p:nvSpPr>
        <p:spPr>
          <a:xfrm>
            <a:off x="533400" y="1371600"/>
            <a:ext cx="8015266" cy="914399"/>
          </a:xfrm>
        </p:spPr>
        <p:txBody>
          <a:bodyPr/>
          <a:lstStyle/>
          <a:p>
            <a:r>
              <a:rPr lang="en-US" altLang="zh-CN" sz="2000" dirty="0" smtClean="0"/>
              <a:t>With parts of 1k human project dataset (4TB is used, and 120T in total)  SWAP scales to  </a:t>
            </a:r>
            <a:r>
              <a:rPr lang="en-US" altLang="zh-CN" sz="2000" b="1" dirty="0" smtClean="0"/>
              <a:t>256k cores </a:t>
            </a:r>
            <a:r>
              <a:rPr lang="en-US" altLang="zh-CN" sz="2000" dirty="0" smtClean="0"/>
              <a:t>with an efficiency of </a:t>
            </a:r>
            <a:r>
              <a:rPr lang="en-US" altLang="zh-CN" sz="2000" b="1" dirty="0" smtClean="0"/>
              <a:t>27.5%</a:t>
            </a:r>
            <a:r>
              <a:rPr lang="en-US" altLang="zh-CN" sz="2000" dirty="0" smtClean="0"/>
              <a:t>.</a:t>
            </a:r>
            <a:endParaRPr lang="en-US" altLang="zh-CN" sz="1800" dirty="0" smtClean="0"/>
          </a:p>
        </p:txBody>
      </p:sp>
      <p:sp>
        <p:nvSpPr>
          <p:cNvPr id="12" name="TextBox 11"/>
          <p:cNvSpPr txBox="1"/>
          <p:nvPr/>
        </p:nvSpPr>
        <p:spPr>
          <a:xfrm>
            <a:off x="5943600" y="6260068"/>
            <a:ext cx="1783052" cy="369332"/>
          </a:xfrm>
          <a:prstGeom prst="rect">
            <a:avLst/>
          </a:prstGeom>
          <a:noFill/>
        </p:spPr>
        <p:txBody>
          <a:bodyPr wrap="none" rtlCol="0">
            <a:spAutoFit/>
          </a:bodyPr>
          <a:lstStyle/>
          <a:p>
            <a:r>
              <a:rPr lang="en-US" altLang="zh-CN" dirty="0" smtClean="0"/>
              <a:t>Number of Cores</a:t>
            </a:r>
            <a:endParaRPr lang="zh-CN" altLang="en-US" dirty="0"/>
          </a:p>
        </p:txBody>
      </p:sp>
      <p:sp>
        <p:nvSpPr>
          <p:cNvPr id="13" name="TextBox 12"/>
          <p:cNvSpPr txBox="1"/>
          <p:nvPr/>
        </p:nvSpPr>
        <p:spPr>
          <a:xfrm>
            <a:off x="12700" y="2329934"/>
            <a:ext cx="3827202" cy="369332"/>
          </a:xfrm>
          <a:prstGeom prst="rect">
            <a:avLst/>
          </a:prstGeom>
          <a:noFill/>
        </p:spPr>
        <p:txBody>
          <a:bodyPr wrap="none" rtlCol="0">
            <a:spAutoFit/>
          </a:bodyPr>
          <a:lstStyle/>
          <a:p>
            <a:r>
              <a:rPr lang="en-US" altLang="zh-CN" dirty="0" smtClean="0"/>
              <a:t>Percentage of time usage for each step</a:t>
            </a:r>
            <a:endParaRPr lang="zh-CN" altLang="en-US" dirty="0"/>
          </a:p>
        </p:txBody>
      </p:sp>
      <p:sp>
        <p:nvSpPr>
          <p:cNvPr id="14" name="TextBox 13"/>
          <p:cNvSpPr txBox="1"/>
          <p:nvPr/>
        </p:nvSpPr>
        <p:spPr>
          <a:xfrm>
            <a:off x="6330820" y="2725698"/>
            <a:ext cx="1008609" cy="369332"/>
          </a:xfrm>
          <a:prstGeom prst="rect">
            <a:avLst/>
          </a:prstGeom>
          <a:noFill/>
        </p:spPr>
        <p:txBody>
          <a:bodyPr wrap="none" rtlCol="0">
            <a:spAutoFit/>
          </a:bodyPr>
          <a:lstStyle/>
          <a:p>
            <a:r>
              <a:rPr lang="en-US" altLang="zh-CN" dirty="0" smtClean="0"/>
              <a:t>Speedup</a:t>
            </a:r>
            <a:endParaRPr lang="zh-CN" altLang="en-US" dirty="0"/>
          </a:p>
        </p:txBody>
      </p:sp>
    </p:spTree>
    <p:extLst>
      <p:ext uri="{BB962C8B-B14F-4D97-AF65-F5344CB8AC3E}">
        <p14:creationId xmlns:p14="http://schemas.microsoft.com/office/powerpoint/2010/main" val="253427211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r>
              <a:rPr lang="en-US" sz="2000" dirty="0" smtClean="0"/>
              <a:t>SWAP-Assembler contributions</a:t>
            </a:r>
          </a:p>
          <a:p>
            <a:pPr lvl="1"/>
            <a:r>
              <a:rPr lang="en-US" sz="1800" dirty="0" smtClean="0"/>
              <a:t>Simplify the GA problem to </a:t>
            </a:r>
            <a:r>
              <a:rPr lang="en-US" sz="1800" dirty="0"/>
              <a:t>a commutative </a:t>
            </a:r>
            <a:r>
              <a:rPr lang="en-US" sz="1800" b="1" dirty="0" smtClean="0">
                <a:solidFill>
                  <a:srgbClr val="FF0000"/>
                </a:solidFill>
              </a:rPr>
              <a:t>operation over semi-group</a:t>
            </a:r>
          </a:p>
          <a:p>
            <a:pPr lvl="1"/>
            <a:r>
              <a:rPr lang="en-US" sz="1800" b="1" dirty="0" smtClean="0">
                <a:solidFill>
                  <a:srgbClr val="FF0000"/>
                </a:solidFill>
              </a:rPr>
              <a:t>Lowest complexity </a:t>
            </a:r>
            <a:r>
              <a:rPr lang="en-US" sz="1800" dirty="0" smtClean="0"/>
              <a:t>on computation, communication, and (virtual) communication round</a:t>
            </a:r>
            <a:endParaRPr lang="en-US" sz="1800" dirty="0"/>
          </a:p>
          <a:p>
            <a:pPr lvl="1"/>
            <a:endParaRPr lang="en-US" sz="2000" dirty="0" smtClean="0"/>
          </a:p>
          <a:p>
            <a:r>
              <a:rPr lang="en-US" sz="2000" dirty="0" smtClean="0"/>
              <a:t>Optimization on Mira</a:t>
            </a:r>
            <a:endParaRPr lang="en-US" sz="1800" dirty="0" smtClean="0"/>
          </a:p>
          <a:p>
            <a:pPr lvl="1"/>
            <a:r>
              <a:rPr lang="en-US" sz="1800" dirty="0" smtClean="0"/>
              <a:t>Input &amp; output                      -&gt;  Data partition </a:t>
            </a:r>
          </a:p>
          <a:p>
            <a:pPr lvl="1"/>
            <a:r>
              <a:rPr lang="en-US" sz="1800" dirty="0" err="1" smtClean="0"/>
              <a:t>kmer</a:t>
            </a:r>
            <a:r>
              <a:rPr lang="en-US" sz="1800" dirty="0" smtClean="0"/>
              <a:t> </a:t>
            </a:r>
            <a:r>
              <a:rPr lang="en-US" sz="1800" dirty="0"/>
              <a:t>g</a:t>
            </a:r>
            <a:r>
              <a:rPr lang="en-US" sz="1800" dirty="0" smtClean="0"/>
              <a:t>raph construction     -&gt;  Communication</a:t>
            </a:r>
          </a:p>
          <a:p>
            <a:pPr lvl="1"/>
            <a:r>
              <a:rPr lang="en-US" sz="1800" dirty="0" smtClean="0"/>
              <a:t>graph simplification              -&gt;  Message </a:t>
            </a:r>
            <a:r>
              <a:rPr lang="en-US" sz="1800" dirty="0"/>
              <a:t>C</a:t>
            </a:r>
            <a:r>
              <a:rPr lang="en-US" sz="1800" dirty="0" smtClean="0"/>
              <a:t>ombination</a:t>
            </a:r>
          </a:p>
          <a:p>
            <a:pPr marL="457200" lvl="1" indent="0">
              <a:buNone/>
            </a:pPr>
            <a:endParaRPr lang="en-US" sz="1800" dirty="0" smtClean="0"/>
          </a:p>
          <a:p>
            <a:pPr marL="342900" lvl="1" indent="-342900">
              <a:buFont typeface="Wingdings" pitchFamily="2" charset="2"/>
              <a:buChar char="§"/>
            </a:pPr>
            <a:r>
              <a:rPr lang="en-US" altLang="zh-CN" sz="2000" dirty="0">
                <a:ea typeface="+mn-ea"/>
                <a:cs typeface="+mn-cs"/>
              </a:rPr>
              <a:t>Conclusion on our work:</a:t>
            </a:r>
          </a:p>
          <a:p>
            <a:pPr lvl="1"/>
            <a:r>
              <a:rPr lang="en-US" altLang="zh-CN" sz="2000" dirty="0">
                <a:solidFill>
                  <a:srgbClr val="FF0000"/>
                </a:solidFill>
              </a:rPr>
              <a:t>Ratio of the steps in SWAP</a:t>
            </a:r>
            <a:r>
              <a:rPr lang="en-US" altLang="zh-CN" sz="2000" dirty="0"/>
              <a:t> keeps </a:t>
            </a:r>
            <a:r>
              <a:rPr lang="en-US" altLang="zh-CN" sz="2000" b="1" dirty="0">
                <a:solidFill>
                  <a:srgbClr val="FF0000"/>
                </a:solidFill>
              </a:rPr>
              <a:t>constant</a:t>
            </a:r>
            <a:r>
              <a:rPr lang="en-US" altLang="zh-CN" sz="2000" dirty="0"/>
              <a:t>. </a:t>
            </a:r>
            <a:r>
              <a:rPr lang="en-US" altLang="zh-CN" sz="2000" dirty="0">
                <a:solidFill>
                  <a:srgbClr val="FF0000"/>
                </a:solidFill>
              </a:rPr>
              <a:t>Explain more for the meaning and value</a:t>
            </a:r>
          </a:p>
          <a:p>
            <a:pPr lvl="1"/>
            <a:r>
              <a:rPr lang="en-US" altLang="zh-CN" sz="2000" dirty="0" smtClean="0"/>
              <a:t>Scalability </a:t>
            </a:r>
            <a:r>
              <a:rPr lang="en-US" altLang="zh-CN" sz="2000" dirty="0" smtClean="0"/>
              <a:t>to </a:t>
            </a:r>
            <a:r>
              <a:rPr lang="en-US" altLang="zh-CN" sz="2000" b="1" dirty="0" smtClean="0">
                <a:solidFill>
                  <a:srgbClr val="FF0000"/>
                </a:solidFill>
              </a:rPr>
              <a:t>256k</a:t>
            </a:r>
            <a:r>
              <a:rPr lang="en-US" altLang="zh-CN" sz="2000" dirty="0" smtClean="0"/>
              <a:t> cores with an efficiency of </a:t>
            </a:r>
            <a:r>
              <a:rPr lang="en-US" altLang="zh-CN" sz="2000" b="1" dirty="0" smtClean="0">
                <a:solidFill>
                  <a:srgbClr val="FF0000"/>
                </a:solidFill>
              </a:rPr>
              <a:t>27.5%</a:t>
            </a:r>
            <a:r>
              <a:rPr lang="en-US" altLang="zh-CN" sz="2000" dirty="0" smtClean="0">
                <a:solidFill>
                  <a:srgbClr val="FF0000"/>
                </a:solidFill>
              </a:rPr>
              <a:t> </a:t>
            </a:r>
            <a:r>
              <a:rPr lang="en-US" altLang="zh-CN" sz="2000" dirty="0" smtClean="0"/>
              <a:t>on </a:t>
            </a:r>
            <a:r>
              <a:rPr lang="en-US" altLang="zh-CN" sz="2000" b="1" dirty="0" smtClean="0">
                <a:solidFill>
                  <a:srgbClr val="FF0000"/>
                </a:solidFill>
              </a:rPr>
              <a:t>4T</a:t>
            </a:r>
            <a:r>
              <a:rPr lang="en-US" altLang="zh-CN" sz="2000" dirty="0" smtClean="0"/>
              <a:t> data. </a:t>
            </a:r>
            <a:endParaRPr lang="en-US" dirty="0" smtClean="0"/>
          </a:p>
          <a:p>
            <a:pPr lvl="1"/>
            <a:endParaRPr lang="en-US" dirty="0" smtClean="0"/>
          </a:p>
          <a:p>
            <a:endParaRPr lang="en-US" dirty="0" smtClean="0"/>
          </a:p>
          <a:p>
            <a:endParaRPr lang="en-US" dirty="0"/>
          </a:p>
        </p:txBody>
      </p:sp>
      <p:sp>
        <p:nvSpPr>
          <p:cNvPr id="5" name="Slide Number Placeholder 4"/>
          <p:cNvSpPr>
            <a:spLocks noGrp="1"/>
          </p:cNvSpPr>
          <p:nvPr>
            <p:ph type="sldNum" sz="quarter" idx="12"/>
          </p:nvPr>
        </p:nvSpPr>
        <p:spPr/>
        <p:txBody>
          <a:bodyPr/>
          <a:lstStyle/>
          <a:p>
            <a:fld id="{87034D8C-3CB4-402A-BC46-2AB14C0FE90A}" type="slidenum">
              <a:rPr lang="en-US" smtClean="0"/>
              <a:pPr/>
              <a:t>27</a:t>
            </a:fld>
            <a:endParaRPr lang="en-US"/>
          </a:p>
        </p:txBody>
      </p:sp>
    </p:spTree>
    <p:extLst>
      <p:ext uri="{BB962C8B-B14F-4D97-AF65-F5344CB8AC3E}">
        <p14:creationId xmlns:p14="http://schemas.microsoft.com/office/powerpoint/2010/main" val="159268823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Work</a:t>
            </a:r>
            <a:endParaRPr lang="en-US" dirty="0"/>
          </a:p>
        </p:txBody>
      </p:sp>
      <p:sp>
        <p:nvSpPr>
          <p:cNvPr id="3" name="Content Placeholder 2"/>
          <p:cNvSpPr>
            <a:spLocks noGrp="1"/>
          </p:cNvSpPr>
          <p:nvPr>
            <p:ph idx="1"/>
          </p:nvPr>
        </p:nvSpPr>
        <p:spPr/>
        <p:txBody>
          <a:bodyPr/>
          <a:lstStyle/>
          <a:p>
            <a:r>
              <a:rPr lang="en-US" sz="2000" dirty="0" smtClean="0"/>
              <a:t>Software </a:t>
            </a:r>
            <a:r>
              <a:rPr lang="en-US" sz="2000" dirty="0"/>
              <a:t>s</a:t>
            </a:r>
            <a:r>
              <a:rPr lang="en-US" altLang="zh-CN" sz="2000" dirty="0" smtClean="0"/>
              <a:t>calability </a:t>
            </a:r>
          </a:p>
          <a:p>
            <a:pPr lvl="1"/>
            <a:r>
              <a:rPr lang="en-US" sz="1800" dirty="0" smtClean="0"/>
              <a:t>Continue optimize SWAP step by step to the whole MIRA (</a:t>
            </a:r>
            <a:r>
              <a:rPr lang="en-US" sz="1800" b="1" dirty="0" smtClean="0">
                <a:solidFill>
                  <a:srgbClr val="FF0000"/>
                </a:solidFill>
              </a:rPr>
              <a:t>768k cores</a:t>
            </a:r>
            <a:r>
              <a:rPr lang="en-US" sz="1800" dirty="0" smtClean="0"/>
              <a:t>) by approaching MIRA’s </a:t>
            </a:r>
            <a:r>
              <a:rPr lang="en-US" sz="1800" b="1" dirty="0" smtClean="0">
                <a:solidFill>
                  <a:srgbClr val="FF0000"/>
                </a:solidFill>
              </a:rPr>
              <a:t>peak performance</a:t>
            </a:r>
            <a:r>
              <a:rPr lang="en-US" sz="1800" dirty="0" smtClean="0"/>
              <a:t>. (Dong Chen, SC 2012)</a:t>
            </a:r>
          </a:p>
          <a:p>
            <a:pPr lvl="1"/>
            <a:endParaRPr lang="en-US" sz="1800" dirty="0"/>
          </a:p>
          <a:p>
            <a:pPr lvl="1"/>
            <a:r>
              <a:rPr lang="en-US" sz="1800" dirty="0" smtClean="0"/>
              <a:t>Overlap IO &amp; </a:t>
            </a:r>
            <a:r>
              <a:rPr lang="en-US" sz="1800" dirty="0" err="1" smtClean="0"/>
              <a:t>Kmer</a:t>
            </a:r>
            <a:r>
              <a:rPr lang="en-US" sz="1800" dirty="0" smtClean="0"/>
              <a:t> Graph Construction to hide the computing, communication cost behind the IO cost. </a:t>
            </a:r>
          </a:p>
          <a:p>
            <a:pPr marL="457200" lvl="1" indent="0">
              <a:buNone/>
            </a:pPr>
            <a:endParaRPr lang="en-US" sz="1800" dirty="0" smtClean="0"/>
          </a:p>
          <a:p>
            <a:r>
              <a:rPr lang="en-US" sz="2000" dirty="0" smtClean="0"/>
              <a:t>New algorithm for edge merging </a:t>
            </a:r>
          </a:p>
          <a:p>
            <a:pPr lvl="1"/>
            <a:r>
              <a:rPr lang="en-US" altLang="zh-CN" sz="1800" dirty="0" smtClean="0"/>
              <a:t>Try to use </a:t>
            </a:r>
            <a:r>
              <a:rPr lang="en-US" altLang="zh-CN" sz="1800" b="1" dirty="0" smtClean="0">
                <a:solidFill>
                  <a:srgbClr val="FF0000"/>
                </a:solidFill>
              </a:rPr>
              <a:t>Independent Set </a:t>
            </a:r>
            <a:r>
              <a:rPr lang="en-US" altLang="zh-CN" sz="1800" b="1" dirty="0">
                <a:solidFill>
                  <a:srgbClr val="FF0000"/>
                </a:solidFill>
              </a:rPr>
              <a:t>method </a:t>
            </a:r>
            <a:r>
              <a:rPr lang="en-US" altLang="zh-CN" sz="1800" b="1" dirty="0" smtClean="0">
                <a:solidFill>
                  <a:srgbClr val="FF0000"/>
                </a:solidFill>
              </a:rPr>
              <a:t>on SWAP </a:t>
            </a:r>
            <a:r>
              <a:rPr lang="en-US" altLang="zh-CN" sz="1800" dirty="0" smtClean="0"/>
              <a:t>in </a:t>
            </a:r>
            <a:r>
              <a:rPr lang="en-US" altLang="zh-CN" sz="1800" dirty="0"/>
              <a:t>edge merging </a:t>
            </a:r>
            <a:r>
              <a:rPr lang="en-US" altLang="zh-CN" sz="1800" dirty="0" smtClean="0"/>
              <a:t>(maximize the degree of parallelism in edge merging)  </a:t>
            </a:r>
            <a:endParaRPr lang="en-US" altLang="zh-CN" sz="1800" dirty="0" smtClean="0"/>
          </a:p>
          <a:p>
            <a:pPr lvl="1"/>
            <a:r>
              <a:rPr lang="en-US" altLang="zh-CN" sz="1800" dirty="0" smtClean="0"/>
              <a:t>List ranking for BSP &amp; </a:t>
            </a:r>
            <a:r>
              <a:rPr lang="en-US" altLang="zh-CN" sz="1800" dirty="0" err="1" smtClean="0"/>
              <a:t>Pragel</a:t>
            </a:r>
            <a:r>
              <a:rPr lang="en-US" altLang="zh-CN" sz="1800" dirty="0" smtClean="0"/>
              <a:t> framework  for </a:t>
            </a:r>
            <a:r>
              <a:rPr lang="en-US" altLang="zh-CN" sz="1800" b="1" dirty="0" smtClean="0">
                <a:solidFill>
                  <a:srgbClr val="FF0000"/>
                </a:solidFill>
              </a:rPr>
              <a:t>genome assembly on the Cloud</a:t>
            </a:r>
            <a:r>
              <a:rPr lang="en-US" altLang="zh-CN" sz="1800" dirty="0" smtClean="0"/>
              <a:t>.</a:t>
            </a:r>
            <a:endParaRPr lang="en-US" altLang="zh-CN" sz="1800" dirty="0"/>
          </a:p>
          <a:p>
            <a:pPr lvl="1"/>
            <a:endParaRPr lang="en-US" dirty="0" smtClean="0"/>
          </a:p>
          <a:p>
            <a:r>
              <a:rPr lang="en-US" altLang="zh-CN" sz="2000" dirty="0" smtClean="0"/>
              <a:t>Application  </a:t>
            </a:r>
            <a:r>
              <a:rPr lang="en-US" altLang="zh-CN" sz="2000" dirty="0"/>
              <a:t>to new area </a:t>
            </a:r>
            <a:endParaRPr lang="en-US" sz="2000" dirty="0" smtClean="0"/>
          </a:p>
          <a:p>
            <a:pPr lvl="1"/>
            <a:r>
              <a:rPr lang="en-US" altLang="zh-CN" dirty="0" smtClean="0"/>
              <a:t>Breakthrough the biology problems in </a:t>
            </a:r>
            <a:r>
              <a:rPr lang="en-US" altLang="zh-CN" b="1" dirty="0" err="1" smtClean="0">
                <a:solidFill>
                  <a:srgbClr val="FF0000"/>
                </a:solidFill>
              </a:rPr>
              <a:t>metagenome</a:t>
            </a:r>
            <a:r>
              <a:rPr lang="en-US" altLang="zh-CN" b="1" dirty="0" smtClean="0">
                <a:solidFill>
                  <a:srgbClr val="FF0000"/>
                </a:solidFill>
              </a:rPr>
              <a:t> with uneven depth</a:t>
            </a:r>
            <a:endParaRPr lang="en-US" altLang="zh-CN" b="1" dirty="0">
              <a:solidFill>
                <a:srgbClr val="FF0000"/>
              </a:solidFill>
            </a:endParaRPr>
          </a:p>
          <a:p>
            <a:pPr lvl="1"/>
            <a:r>
              <a:rPr lang="en-US" dirty="0" smtClean="0"/>
              <a:t>Apply the parallel DBG methods into </a:t>
            </a:r>
            <a:r>
              <a:rPr lang="en-US" b="1" dirty="0" smtClean="0">
                <a:solidFill>
                  <a:srgbClr val="FF0000"/>
                </a:solidFill>
              </a:rPr>
              <a:t>alignment &amp; SNP search  </a:t>
            </a:r>
            <a:r>
              <a:rPr lang="en-US" dirty="0" smtClean="0"/>
              <a:t>(SC 2014)</a:t>
            </a:r>
          </a:p>
        </p:txBody>
      </p:sp>
      <p:sp>
        <p:nvSpPr>
          <p:cNvPr id="5" name="Slide Number Placeholder 4"/>
          <p:cNvSpPr>
            <a:spLocks noGrp="1"/>
          </p:cNvSpPr>
          <p:nvPr>
            <p:ph type="sldNum" sz="quarter" idx="12"/>
          </p:nvPr>
        </p:nvSpPr>
        <p:spPr/>
        <p:txBody>
          <a:bodyPr/>
          <a:lstStyle/>
          <a:p>
            <a:fld id="{87034D8C-3CB4-402A-BC46-2AB14C0FE90A}" type="slidenum">
              <a:rPr lang="en-US" smtClean="0"/>
              <a:pPr/>
              <a:t>28</a:t>
            </a:fld>
            <a:endParaRPr lang="en-US"/>
          </a:p>
        </p:txBody>
      </p:sp>
    </p:spTree>
    <p:extLst>
      <p:ext uri="{BB962C8B-B14F-4D97-AF65-F5344CB8AC3E}">
        <p14:creationId xmlns:p14="http://schemas.microsoft.com/office/powerpoint/2010/main" val="23861804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8229600" cy="1143000"/>
          </a:xfrm>
        </p:spPr>
        <p:txBody>
          <a:bodyPr/>
          <a:lstStyle/>
          <a:p>
            <a:r>
              <a:rPr lang="en-US" dirty="0" smtClean="0"/>
              <a:t>Acknowledgements</a:t>
            </a:r>
            <a:endParaRPr lang="en-US" dirty="0"/>
          </a:p>
        </p:txBody>
      </p:sp>
      <p:sp>
        <p:nvSpPr>
          <p:cNvPr id="5" name="Slide Number Placeholder 4"/>
          <p:cNvSpPr>
            <a:spLocks noGrp="1"/>
          </p:cNvSpPr>
          <p:nvPr>
            <p:ph type="sldNum" sz="quarter" idx="12"/>
          </p:nvPr>
        </p:nvSpPr>
        <p:spPr/>
        <p:txBody>
          <a:bodyPr/>
          <a:lstStyle/>
          <a:p>
            <a:fld id="{87034D8C-3CB4-402A-BC46-2AB14C0FE90A}" type="slidenum">
              <a:rPr lang="en-US" smtClean="0"/>
              <a:pPr/>
              <a:t>29</a:t>
            </a:fld>
            <a:endParaRPr lang="en-US"/>
          </a:p>
        </p:txBody>
      </p:sp>
      <p:sp>
        <p:nvSpPr>
          <p:cNvPr id="13" name="Rectangle 3"/>
          <p:cNvSpPr txBox="1">
            <a:spLocks/>
          </p:cNvSpPr>
          <p:nvPr/>
        </p:nvSpPr>
        <p:spPr bwMode="auto">
          <a:xfrm>
            <a:off x="381001" y="1143000"/>
            <a:ext cx="5434799" cy="4787124"/>
          </a:xfrm>
          <a:prstGeom prst="rect">
            <a:avLst/>
          </a:prstGeom>
          <a:ln w="9525" cap="flat" cmpd="sng" algn="ctr">
            <a:solidFill>
              <a:schemeClr val="accent1">
                <a:shade val="95000"/>
                <a:satMod val="105000"/>
              </a:schemeClr>
            </a:solidFill>
            <a:prstDash val="solid"/>
            <a:miter lim="800000"/>
            <a:headEnd/>
            <a:tailEn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1F497D"/>
              </a:buClr>
              <a:buFont typeface="Wingdings" pitchFamily="2" charset="2"/>
              <a:buChar char="§"/>
              <a:defRPr sz="1800">
                <a:solidFill>
                  <a:schemeClr val="dk1"/>
                </a:solidFill>
                <a:latin typeface="+mn-lt"/>
                <a:ea typeface="+mn-ea"/>
                <a:cs typeface="+mn-cs"/>
              </a:defRPr>
            </a:lvl1pPr>
            <a:lvl2pPr marL="742950" indent="-285750" algn="l" rtl="0" eaLnBrk="1" fontAlgn="base" hangingPunct="1">
              <a:spcBef>
                <a:spcPct val="20000"/>
              </a:spcBef>
              <a:spcAft>
                <a:spcPct val="0"/>
              </a:spcAft>
              <a:buClr>
                <a:srgbClr val="1F497D"/>
              </a:buClr>
              <a:buChar char="–"/>
              <a:defRPr sz="1600">
                <a:solidFill>
                  <a:schemeClr val="dk1"/>
                </a:solidFill>
                <a:latin typeface="+mn-lt"/>
                <a:ea typeface="+mn-ea"/>
                <a:cs typeface="+mn-cs"/>
              </a:defRPr>
            </a:lvl2pPr>
            <a:lvl3pPr marL="1143000" indent="-228600" algn="l" rtl="0" eaLnBrk="1" fontAlgn="base" hangingPunct="1">
              <a:spcBef>
                <a:spcPct val="20000"/>
              </a:spcBef>
              <a:spcAft>
                <a:spcPct val="0"/>
              </a:spcAft>
              <a:buClr>
                <a:srgbClr val="1F497D"/>
              </a:buClr>
              <a:buChar char="•"/>
              <a:defRPr sz="1400">
                <a:solidFill>
                  <a:schemeClr val="dk1"/>
                </a:solidFill>
                <a:latin typeface="+mn-lt"/>
                <a:ea typeface="+mn-ea"/>
                <a:cs typeface="+mn-cs"/>
              </a:defRPr>
            </a:lvl3pPr>
            <a:lvl4pPr marL="1600200" indent="-228600" algn="l" rtl="0" eaLnBrk="1" fontAlgn="base" hangingPunct="1">
              <a:spcBef>
                <a:spcPct val="20000"/>
              </a:spcBef>
              <a:spcAft>
                <a:spcPct val="0"/>
              </a:spcAft>
              <a:buClr>
                <a:srgbClr val="1F497D"/>
              </a:buClr>
              <a:buChar char="–"/>
              <a:defRPr sz="1400">
                <a:solidFill>
                  <a:schemeClr val="dk1"/>
                </a:solidFill>
                <a:latin typeface="+mn-lt"/>
                <a:ea typeface="+mn-ea"/>
                <a:cs typeface="+mn-cs"/>
              </a:defRPr>
            </a:lvl4pPr>
            <a:lvl5pPr marL="2057400" indent="-228600" algn="l" rtl="0" eaLnBrk="1" fontAlgn="base" hangingPunct="1">
              <a:spcBef>
                <a:spcPct val="20000"/>
              </a:spcBef>
              <a:spcAft>
                <a:spcPct val="0"/>
              </a:spcAft>
              <a:buClr>
                <a:srgbClr val="1F497D"/>
              </a:buClr>
              <a:buFont typeface="Arial" charset="0"/>
              <a:buChar char="»"/>
              <a:defRPr sz="1400">
                <a:solidFill>
                  <a:schemeClr val="dk1"/>
                </a:solidFill>
                <a:latin typeface="+mn-lt"/>
                <a:ea typeface="+mn-ea"/>
                <a:cs typeface="+mn-cs"/>
              </a:defRPr>
            </a:lvl5pPr>
            <a:lvl6pPr marL="2514600" indent="-228600" algn="l" rtl="0" eaLnBrk="1" fontAlgn="base" hangingPunct="1">
              <a:spcBef>
                <a:spcPct val="20000"/>
              </a:spcBef>
              <a:spcAft>
                <a:spcPct val="0"/>
              </a:spcAft>
              <a:buClr>
                <a:srgbClr val="1F497D"/>
              </a:buClr>
              <a:buFont typeface="Arial" charset="0"/>
              <a:buChar char="»"/>
              <a:defRPr sz="1400">
                <a:solidFill>
                  <a:schemeClr val="dk1"/>
                </a:solidFill>
                <a:latin typeface="+mn-lt"/>
                <a:ea typeface="+mn-ea"/>
                <a:cs typeface="+mn-cs"/>
              </a:defRPr>
            </a:lvl6pPr>
            <a:lvl7pPr marL="2971800" indent="-228600" algn="l" rtl="0" eaLnBrk="1" fontAlgn="base" hangingPunct="1">
              <a:spcBef>
                <a:spcPct val="20000"/>
              </a:spcBef>
              <a:spcAft>
                <a:spcPct val="0"/>
              </a:spcAft>
              <a:buClr>
                <a:srgbClr val="1F497D"/>
              </a:buClr>
              <a:buFont typeface="Arial" charset="0"/>
              <a:buChar char="»"/>
              <a:defRPr sz="1400">
                <a:solidFill>
                  <a:schemeClr val="dk1"/>
                </a:solidFill>
                <a:latin typeface="+mn-lt"/>
                <a:ea typeface="+mn-ea"/>
                <a:cs typeface="+mn-cs"/>
              </a:defRPr>
            </a:lvl7pPr>
            <a:lvl8pPr marL="3429000" indent="-228600" algn="l" rtl="0" eaLnBrk="1" fontAlgn="base" hangingPunct="1">
              <a:spcBef>
                <a:spcPct val="20000"/>
              </a:spcBef>
              <a:spcAft>
                <a:spcPct val="0"/>
              </a:spcAft>
              <a:buClr>
                <a:srgbClr val="1F497D"/>
              </a:buClr>
              <a:buFont typeface="Arial" charset="0"/>
              <a:buChar char="»"/>
              <a:defRPr sz="1400">
                <a:solidFill>
                  <a:schemeClr val="dk1"/>
                </a:solidFill>
                <a:latin typeface="+mn-lt"/>
                <a:ea typeface="+mn-ea"/>
                <a:cs typeface="+mn-cs"/>
              </a:defRPr>
            </a:lvl8pPr>
            <a:lvl9pPr marL="3886200" indent="-228600" algn="l" rtl="0" eaLnBrk="1" fontAlgn="base" hangingPunct="1">
              <a:spcBef>
                <a:spcPct val="20000"/>
              </a:spcBef>
              <a:spcAft>
                <a:spcPct val="0"/>
              </a:spcAft>
              <a:buClr>
                <a:srgbClr val="1F497D"/>
              </a:buClr>
              <a:buFont typeface="Arial" charset="0"/>
              <a:buChar char="»"/>
              <a:defRPr sz="1400">
                <a:solidFill>
                  <a:schemeClr val="dk1"/>
                </a:solidFill>
                <a:latin typeface="+mn-lt"/>
                <a:ea typeface="+mn-ea"/>
                <a:cs typeface="+mn-cs"/>
              </a:defRPr>
            </a:lvl9pPr>
          </a:lstStyle>
          <a:p>
            <a:pPr marL="0" indent="0">
              <a:buNone/>
            </a:pPr>
            <a:r>
              <a:rPr lang="en-US" altLang="zh-CN" sz="2000" b="1" dirty="0">
                <a:solidFill>
                  <a:schemeClr val="bg2">
                    <a:lumMod val="10000"/>
                  </a:schemeClr>
                </a:solidFill>
              </a:rPr>
              <a:t>Thanks to </a:t>
            </a:r>
          </a:p>
          <a:p>
            <a:r>
              <a:rPr lang="en-US" altLang="zh-CN" sz="2000" b="1" dirty="0">
                <a:solidFill>
                  <a:schemeClr val="bg2">
                    <a:lumMod val="10000"/>
                  </a:schemeClr>
                </a:solidFill>
              </a:rPr>
              <a:t>Supervisor:  </a:t>
            </a:r>
            <a:r>
              <a:rPr lang="en-US" altLang="zh-CN" sz="2000" b="1" dirty="0" err="1" smtClean="0">
                <a:solidFill>
                  <a:schemeClr val="bg2">
                    <a:lumMod val="10000"/>
                  </a:schemeClr>
                </a:solidFill>
              </a:rPr>
              <a:t>Pavan</a:t>
            </a:r>
            <a:r>
              <a:rPr lang="en-US" altLang="zh-CN" sz="2000" b="1" dirty="0" smtClean="0">
                <a:solidFill>
                  <a:schemeClr val="bg2">
                    <a:lumMod val="10000"/>
                  </a:schemeClr>
                </a:solidFill>
              </a:rPr>
              <a:t> </a:t>
            </a:r>
            <a:r>
              <a:rPr lang="en-US" altLang="zh-CN" sz="2000" b="1" dirty="0" err="1">
                <a:solidFill>
                  <a:schemeClr val="bg2">
                    <a:lumMod val="10000"/>
                  </a:schemeClr>
                </a:solidFill>
              </a:rPr>
              <a:t>Balaji</a:t>
            </a:r>
            <a:endParaRPr lang="en-US" altLang="zh-CN" sz="2000" b="1" dirty="0">
              <a:solidFill>
                <a:schemeClr val="bg2">
                  <a:lumMod val="10000"/>
                </a:schemeClr>
              </a:solidFill>
            </a:endParaRPr>
          </a:p>
          <a:p>
            <a:r>
              <a:rPr lang="en-US" altLang="zh-CN" sz="2000" b="1" dirty="0">
                <a:solidFill>
                  <a:schemeClr val="bg2">
                    <a:lumMod val="10000"/>
                  </a:schemeClr>
                </a:solidFill>
              </a:rPr>
              <a:t>Mentor:        </a:t>
            </a:r>
            <a:r>
              <a:rPr lang="en-US" altLang="zh-CN" sz="2000" b="1" dirty="0" err="1">
                <a:solidFill>
                  <a:schemeClr val="bg2">
                    <a:lumMod val="10000"/>
                  </a:schemeClr>
                </a:solidFill>
              </a:rPr>
              <a:t>Sangmin</a:t>
            </a:r>
            <a:r>
              <a:rPr lang="en-US" altLang="zh-CN" sz="2000" b="1" dirty="0">
                <a:solidFill>
                  <a:schemeClr val="bg2">
                    <a:lumMod val="10000"/>
                  </a:schemeClr>
                </a:solidFill>
              </a:rPr>
              <a:t> </a:t>
            </a:r>
            <a:r>
              <a:rPr lang="en-US" altLang="zh-CN" sz="2000" b="1" dirty="0" err="1" smtClean="0">
                <a:solidFill>
                  <a:schemeClr val="bg2">
                    <a:lumMod val="10000"/>
                  </a:schemeClr>
                </a:solidFill>
              </a:rPr>
              <a:t>Seo</a:t>
            </a:r>
            <a:endParaRPr lang="en-US" altLang="zh-CN" sz="2000" b="1" dirty="0" smtClean="0">
              <a:solidFill>
                <a:schemeClr val="bg2">
                  <a:lumMod val="10000"/>
                </a:schemeClr>
              </a:solidFill>
            </a:endParaRPr>
          </a:p>
          <a:p>
            <a:pPr marL="0" indent="0">
              <a:buNone/>
            </a:pPr>
            <a:endParaRPr lang="en-US" altLang="zh-CN" sz="2000" b="1" dirty="0">
              <a:solidFill>
                <a:schemeClr val="bg2">
                  <a:lumMod val="10000"/>
                </a:schemeClr>
              </a:solidFill>
            </a:endParaRPr>
          </a:p>
          <a:p>
            <a:pPr marL="0" indent="0">
              <a:buNone/>
            </a:pPr>
            <a:r>
              <a:rPr lang="en-US" altLang="zh-CN" sz="2000" b="1" dirty="0" smtClean="0">
                <a:solidFill>
                  <a:schemeClr val="bg2">
                    <a:lumMod val="10000"/>
                  </a:schemeClr>
                </a:solidFill>
              </a:rPr>
              <a:t>Technical thanks to</a:t>
            </a:r>
            <a:endParaRPr lang="en-US" altLang="zh-CN" sz="2000" b="1" dirty="0">
              <a:solidFill>
                <a:schemeClr val="bg2">
                  <a:lumMod val="10000"/>
                </a:schemeClr>
              </a:solidFill>
            </a:endParaRPr>
          </a:p>
          <a:p>
            <a:r>
              <a:rPr lang="en-US" altLang="zh-CN" sz="2000" b="1" dirty="0" err="1">
                <a:solidFill>
                  <a:schemeClr val="bg2">
                    <a:lumMod val="10000"/>
                  </a:schemeClr>
                </a:solidFill>
              </a:rPr>
              <a:t>Huiwei</a:t>
            </a:r>
            <a:r>
              <a:rPr lang="en-US" altLang="zh-CN" sz="2000" b="1" dirty="0">
                <a:solidFill>
                  <a:schemeClr val="bg2">
                    <a:lumMod val="10000"/>
                  </a:schemeClr>
                </a:solidFill>
              </a:rPr>
              <a:t> </a:t>
            </a:r>
            <a:r>
              <a:rPr lang="en-US" altLang="zh-CN" sz="2000" b="1" dirty="0" err="1" smtClean="0">
                <a:solidFill>
                  <a:schemeClr val="bg2">
                    <a:lumMod val="10000"/>
                  </a:schemeClr>
                </a:solidFill>
              </a:rPr>
              <a:t>Lv</a:t>
            </a:r>
            <a:r>
              <a:rPr lang="en-US" altLang="zh-CN" sz="2000" b="1" dirty="0" smtClean="0">
                <a:solidFill>
                  <a:schemeClr val="bg2">
                    <a:lumMod val="10000"/>
                  </a:schemeClr>
                </a:solidFill>
              </a:rPr>
              <a:t>,     Rob Latham      </a:t>
            </a:r>
            <a:r>
              <a:rPr lang="en-US" altLang="zh-CN" sz="2000" b="1" dirty="0" smtClean="0">
                <a:solidFill>
                  <a:schemeClr val="bg2">
                    <a:lumMod val="10000"/>
                  </a:schemeClr>
                </a:solidFill>
              </a:rPr>
              <a:t>   for </a:t>
            </a:r>
            <a:r>
              <a:rPr lang="en-US" altLang="zh-CN" sz="2000" b="1" dirty="0" smtClean="0">
                <a:solidFill>
                  <a:schemeClr val="bg2">
                    <a:lumMod val="10000"/>
                  </a:schemeClr>
                </a:solidFill>
              </a:rPr>
              <a:t>MPICH &amp; IO</a:t>
            </a:r>
          </a:p>
          <a:p>
            <a:r>
              <a:rPr lang="en-US" altLang="zh-CN" sz="2000" b="1" dirty="0" smtClean="0">
                <a:solidFill>
                  <a:schemeClr val="bg2">
                    <a:lumMod val="10000"/>
                  </a:schemeClr>
                </a:solidFill>
              </a:rPr>
              <a:t>Sheng Di,      Dong Chen        </a:t>
            </a:r>
            <a:r>
              <a:rPr lang="en-US" altLang="zh-CN" sz="2000" b="1" dirty="0" smtClean="0">
                <a:solidFill>
                  <a:schemeClr val="bg2">
                    <a:lumMod val="10000"/>
                  </a:schemeClr>
                </a:solidFill>
              </a:rPr>
              <a:t>   for </a:t>
            </a:r>
            <a:r>
              <a:rPr lang="en-US" altLang="zh-CN" sz="2000" b="1" dirty="0" smtClean="0">
                <a:solidFill>
                  <a:schemeClr val="bg2">
                    <a:lumMod val="10000"/>
                  </a:schemeClr>
                </a:solidFill>
              </a:rPr>
              <a:t>Torus</a:t>
            </a:r>
          </a:p>
          <a:p>
            <a:r>
              <a:rPr lang="en-US" altLang="zh-CN" sz="2000" b="1" dirty="0" err="1" smtClean="0">
                <a:solidFill>
                  <a:schemeClr val="bg2">
                    <a:lumMod val="10000"/>
                  </a:schemeClr>
                </a:solidFill>
              </a:rPr>
              <a:t>Sabestien</a:t>
            </a:r>
            <a:r>
              <a:rPr lang="en-US" altLang="zh-CN" sz="2000" b="1" dirty="0" smtClean="0">
                <a:solidFill>
                  <a:schemeClr val="bg2">
                    <a:lumMod val="10000"/>
                  </a:schemeClr>
                </a:solidFill>
              </a:rPr>
              <a:t>,    </a:t>
            </a:r>
            <a:r>
              <a:rPr lang="en-US" altLang="zh-CN" sz="2000" b="1" dirty="0" err="1" smtClean="0">
                <a:solidFill>
                  <a:schemeClr val="bg2">
                    <a:lumMod val="10000"/>
                  </a:schemeClr>
                </a:solidFill>
              </a:rPr>
              <a:t>FangFang</a:t>
            </a:r>
            <a:r>
              <a:rPr lang="en-US" altLang="zh-CN" sz="2000" b="1" dirty="0" smtClean="0">
                <a:solidFill>
                  <a:schemeClr val="bg2">
                    <a:lumMod val="10000"/>
                  </a:schemeClr>
                </a:solidFill>
              </a:rPr>
              <a:t> Xia    </a:t>
            </a:r>
            <a:r>
              <a:rPr lang="en-US" altLang="zh-CN" sz="2000" b="1" dirty="0" smtClean="0">
                <a:solidFill>
                  <a:schemeClr val="bg2">
                    <a:lumMod val="10000"/>
                  </a:schemeClr>
                </a:solidFill>
              </a:rPr>
              <a:t>   for </a:t>
            </a:r>
            <a:r>
              <a:rPr lang="en-US" altLang="zh-CN" sz="2000" b="1" dirty="0" smtClean="0">
                <a:solidFill>
                  <a:schemeClr val="bg2">
                    <a:lumMod val="10000"/>
                  </a:schemeClr>
                </a:solidFill>
              </a:rPr>
              <a:t>GA </a:t>
            </a:r>
          </a:p>
          <a:p>
            <a:r>
              <a:rPr lang="en-US" altLang="zh-CN" sz="2000" b="1" dirty="0">
                <a:solidFill>
                  <a:schemeClr val="bg2">
                    <a:lumMod val="10000"/>
                  </a:schemeClr>
                </a:solidFill>
              </a:rPr>
              <a:t>PMRS team </a:t>
            </a:r>
            <a:r>
              <a:rPr lang="en-US" altLang="zh-CN" sz="2000" b="1" dirty="0" smtClean="0">
                <a:solidFill>
                  <a:schemeClr val="bg2">
                    <a:lumMod val="10000"/>
                  </a:schemeClr>
                </a:solidFill>
              </a:rPr>
              <a:t>members            </a:t>
            </a:r>
            <a:r>
              <a:rPr lang="en-US" altLang="zh-CN" sz="2000" b="1" dirty="0" smtClean="0">
                <a:solidFill>
                  <a:schemeClr val="bg2">
                    <a:lumMod val="10000"/>
                  </a:schemeClr>
                </a:solidFill>
              </a:rPr>
              <a:t>  for Meeting</a:t>
            </a:r>
          </a:p>
          <a:p>
            <a:r>
              <a:rPr lang="en-US" altLang="zh-CN" sz="2000" b="1" dirty="0" err="1" smtClean="0">
                <a:solidFill>
                  <a:schemeClr val="bg2">
                    <a:lumMod val="10000"/>
                  </a:schemeClr>
                </a:solidFill>
              </a:rPr>
              <a:t>Yanjie</a:t>
            </a:r>
            <a:r>
              <a:rPr lang="en-US" altLang="zh-CN" sz="2000" b="1" dirty="0" smtClean="0">
                <a:solidFill>
                  <a:schemeClr val="bg2">
                    <a:lumMod val="10000"/>
                  </a:schemeClr>
                </a:solidFill>
              </a:rPr>
              <a:t> Wei,  </a:t>
            </a:r>
            <a:r>
              <a:rPr lang="en-US" altLang="zh-CN" sz="2000" b="1" dirty="0" err="1" smtClean="0">
                <a:solidFill>
                  <a:schemeClr val="bg2">
                    <a:lumMod val="10000"/>
                  </a:schemeClr>
                </a:solidFill>
              </a:rPr>
              <a:t>Bingqiang</a:t>
            </a:r>
            <a:r>
              <a:rPr lang="en-US" altLang="zh-CN" sz="2000" b="1" dirty="0" smtClean="0">
                <a:solidFill>
                  <a:schemeClr val="bg2">
                    <a:lumMod val="10000"/>
                  </a:schemeClr>
                </a:solidFill>
              </a:rPr>
              <a:t> Wang  for Review </a:t>
            </a:r>
            <a:endParaRPr lang="en-US" altLang="zh-CN" sz="2000" b="1" dirty="0" smtClean="0">
              <a:solidFill>
                <a:schemeClr val="bg2">
                  <a:lumMod val="10000"/>
                </a:schemeClr>
              </a:solidFill>
            </a:endParaRPr>
          </a:p>
          <a:p>
            <a:endParaRPr lang="en-US" altLang="zh-CN" sz="2000" b="1" dirty="0">
              <a:solidFill>
                <a:schemeClr val="bg2">
                  <a:lumMod val="10000"/>
                </a:schemeClr>
              </a:solidFill>
            </a:endParaRPr>
          </a:p>
          <a:p>
            <a:pPr marL="0" indent="0">
              <a:buNone/>
            </a:pPr>
            <a:r>
              <a:rPr lang="en-US" altLang="zh-CN" sz="2000" b="1" dirty="0" smtClean="0">
                <a:solidFill>
                  <a:schemeClr val="bg2">
                    <a:lumMod val="10000"/>
                  </a:schemeClr>
                </a:solidFill>
              </a:rPr>
              <a:t>Special thanks to </a:t>
            </a:r>
          </a:p>
          <a:p>
            <a:r>
              <a:rPr lang="en-US" altLang="zh-CN" sz="2000" b="1" dirty="0" err="1" smtClean="0">
                <a:solidFill>
                  <a:schemeClr val="bg2">
                    <a:lumMod val="10000"/>
                  </a:schemeClr>
                </a:solidFill>
              </a:rPr>
              <a:t>Renbo</a:t>
            </a:r>
            <a:r>
              <a:rPr lang="en-US" altLang="zh-CN" sz="2000" b="1" dirty="0" smtClean="0">
                <a:solidFill>
                  <a:schemeClr val="bg2">
                    <a:lumMod val="10000"/>
                  </a:schemeClr>
                </a:solidFill>
              </a:rPr>
              <a:t> Pang,  </a:t>
            </a:r>
            <a:r>
              <a:rPr lang="en-US" altLang="zh-CN" sz="2000" b="1" dirty="0" err="1" smtClean="0">
                <a:solidFill>
                  <a:schemeClr val="bg2">
                    <a:lumMod val="10000"/>
                  </a:schemeClr>
                </a:solidFill>
              </a:rPr>
              <a:t>Xiaomin</a:t>
            </a:r>
            <a:r>
              <a:rPr lang="en-US" altLang="zh-CN" sz="2000" b="1" dirty="0" smtClean="0">
                <a:solidFill>
                  <a:schemeClr val="bg2">
                    <a:lumMod val="10000"/>
                  </a:schemeClr>
                </a:solidFill>
              </a:rPr>
              <a:t> Zhu </a:t>
            </a:r>
          </a:p>
        </p:txBody>
      </p:sp>
      <p:pic>
        <p:nvPicPr>
          <p:cNvPr id="1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4029" y="5105400"/>
            <a:ext cx="2215399" cy="1649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00" y="5995618"/>
            <a:ext cx="5872100" cy="85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 descr="AN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15800" y="1524000"/>
            <a:ext cx="3311859" cy="124608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SIA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64030" y="2895600"/>
            <a:ext cx="2215398" cy="2092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8161390"/>
      </p:ext>
    </p:extLst>
  </p:cSld>
  <p:clrMapOvr>
    <a:masterClrMapping/>
  </p:clrMapOvr>
  <p:timing>
    <p:tnLst>
      <p:par>
        <p:cTn id="1" dur="indefinite" restart="never" nodeType="tmRoot"/>
      </p:par>
    </p:tnLst>
  </p:timing>
</p:sld>
</file>

<file path=ppt/theme/theme1.xml><?xml version="1.0" encoding="utf-8"?>
<a:theme xmlns:a="http://schemas.openxmlformats.org/drawingml/2006/main" name="Blue design">
  <a:themeElements>
    <a:clrScheme name="Custom 7">
      <a:dk1>
        <a:srgbClr val="616161"/>
      </a:dk1>
      <a:lt1>
        <a:srgbClr val="FFFFFF"/>
      </a:lt1>
      <a:dk2>
        <a:srgbClr val="1F497D"/>
      </a:dk2>
      <a:lt2>
        <a:srgbClr val="D2D2D2"/>
      </a:lt2>
      <a:accent1>
        <a:srgbClr val="A6C4DE"/>
      </a:accent1>
      <a:accent2>
        <a:srgbClr val="D8AC28"/>
      </a:accent2>
      <a:accent3>
        <a:srgbClr val="A22B38"/>
      </a:accent3>
      <a:accent4>
        <a:srgbClr val="7AB800"/>
      </a:accent4>
      <a:accent5>
        <a:srgbClr val="9D7D9E"/>
      </a:accent5>
      <a:accent6>
        <a:srgbClr val="BF5C28"/>
      </a:accent6>
      <a:hlink>
        <a:srgbClr val="4D8ABE"/>
      </a:hlink>
      <a:folHlink>
        <a:srgbClr val="4D8ABE"/>
      </a:folHlink>
    </a:clrScheme>
    <a:fontScheme name="Blue design">
      <a:majorFont>
        <a:latin typeface="Trebuchet MS"/>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Calibri"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Calibri" pitchFamily="34" charset="0"/>
          </a:defRPr>
        </a:defPPr>
      </a:lstStyle>
    </a:lnDef>
  </a:objectDefaults>
  <a:extraClrSchemeLst>
    <a:extraClrScheme>
      <a:clrScheme name="Blue design 1">
        <a:dk1>
          <a:srgbClr val="616161"/>
        </a:dk1>
        <a:lt1>
          <a:srgbClr val="FFFFFF"/>
        </a:lt1>
        <a:dk2>
          <a:srgbClr val="1F497D"/>
        </a:dk2>
        <a:lt2>
          <a:srgbClr val="D2D2D2"/>
        </a:lt2>
        <a:accent1>
          <a:srgbClr val="5C0426"/>
        </a:accent1>
        <a:accent2>
          <a:srgbClr val="9D7D9E"/>
        </a:accent2>
        <a:accent3>
          <a:srgbClr val="FFFFFF"/>
        </a:accent3>
        <a:accent4>
          <a:srgbClr val="525252"/>
        </a:accent4>
        <a:accent5>
          <a:srgbClr val="B5AAAC"/>
        </a:accent5>
        <a:accent6>
          <a:srgbClr val="8E718F"/>
        </a:accent6>
        <a:hlink>
          <a:srgbClr val="253D51"/>
        </a:hlink>
        <a:folHlink>
          <a:srgbClr val="0D204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ustom 11">
      <a:dk1>
        <a:srgbClr val="616161"/>
      </a:dk1>
      <a:lt1>
        <a:sysClr val="window" lastClr="FFFFFF"/>
      </a:lt1>
      <a:dk2>
        <a:srgbClr val="1F497D"/>
      </a:dk2>
      <a:lt2>
        <a:srgbClr val="D2D2D2"/>
      </a:lt2>
      <a:accent1>
        <a:srgbClr val="A6C4DE"/>
      </a:accent1>
      <a:accent2>
        <a:srgbClr val="D8AC28"/>
      </a:accent2>
      <a:accent3>
        <a:srgbClr val="A22B38"/>
      </a:accent3>
      <a:accent4>
        <a:srgbClr val="7AB800"/>
      </a:accent4>
      <a:accent5>
        <a:srgbClr val="4B7D9E"/>
      </a:accent5>
      <a:accent6>
        <a:srgbClr val="BF5C28"/>
      </a:accent6>
      <a:hlink>
        <a:srgbClr val="4D8ABE"/>
      </a:hlink>
      <a:folHlink>
        <a:srgbClr val="4D8AB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10667</TotalTime>
  <Words>2255</Words>
  <Application>Microsoft Office PowerPoint</Application>
  <PresentationFormat>全屏显示(4:3)</PresentationFormat>
  <Paragraphs>478</Paragraphs>
  <Slides>29</Slides>
  <Notes>1</Notes>
  <HiddenSlides>0</HiddenSlides>
  <MMClips>0</MMClips>
  <ScaleCrop>false</ScaleCrop>
  <HeadingPairs>
    <vt:vector size="4" baseType="variant">
      <vt:variant>
        <vt:lpstr>主题</vt:lpstr>
      </vt:variant>
      <vt:variant>
        <vt:i4>1</vt:i4>
      </vt:variant>
      <vt:variant>
        <vt:lpstr>幻灯片标题</vt:lpstr>
      </vt:variant>
      <vt:variant>
        <vt:i4>29</vt:i4>
      </vt:variant>
    </vt:vector>
  </HeadingPairs>
  <TitlesOfParts>
    <vt:vector size="30" baseType="lpstr">
      <vt:lpstr>Blue design</vt:lpstr>
      <vt:lpstr>SWAP-Assembler: Scalable Genome Assembler towards Millions of Cores – Practice and Experience</vt:lpstr>
      <vt:lpstr>Outline of the Talk</vt:lpstr>
      <vt:lpstr>Importance of Parallel Assembly</vt:lpstr>
      <vt:lpstr>Genome assembly and major steps of DBG based strategy</vt:lpstr>
      <vt:lpstr>Challenge issues in Parallel Genome Assembly</vt:lpstr>
      <vt:lpstr>Previous published parallel assemblers</vt:lpstr>
      <vt:lpstr>Contributions in SWAP-Assembler</vt:lpstr>
      <vt:lpstr>Complexity of SWAP-Assembler</vt:lpstr>
      <vt:lpstr>Performance results of SWAP-Assembler 0.3</vt:lpstr>
      <vt:lpstr>Performance results of SWAP-Assembler</vt:lpstr>
      <vt:lpstr>Optimization strategy on Mira for SWAP-Assembler</vt:lpstr>
      <vt:lpstr>input &amp; output </vt:lpstr>
      <vt:lpstr>input &amp; output </vt:lpstr>
      <vt:lpstr>Performance improvements on IO lib</vt:lpstr>
      <vt:lpstr>Kmer graph construction</vt:lpstr>
      <vt:lpstr>Kmer graph construction – quadrupling No. of Proc </vt:lpstr>
      <vt:lpstr>Kmer graph construction – 8X No. of Proc</vt:lpstr>
      <vt:lpstr>Graph simplification (edge merging) </vt:lpstr>
      <vt:lpstr>graph simplification (edge merging) </vt:lpstr>
      <vt:lpstr>Graph simplification (edge merging) </vt:lpstr>
      <vt:lpstr>Performance Improvements</vt:lpstr>
      <vt:lpstr>Percentage of time usage for SWAP 0.3</vt:lpstr>
      <vt:lpstr>Percentage of time usage for SWAP +  IO + KmerGraph</vt:lpstr>
      <vt:lpstr>Percentage of time usage for SWAP +  IO + KmerGraph + Edge merging  (SWAP 0.4)</vt:lpstr>
      <vt:lpstr>Performance results for mixed fish &amp; human dataset (500GB, 3.8 billion reads)</vt:lpstr>
      <vt:lpstr>Performance results for 1k human project dataset (4TB, 30 billion reads)</vt:lpstr>
      <vt:lpstr>Summary</vt:lpstr>
      <vt:lpstr>Future Work</vt:lpstr>
      <vt:lpstr>Acknowledgements</vt:lpstr>
    </vt:vector>
  </TitlesOfParts>
  <Company>Argonne National Laboratory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Betty Waterman</dc:creator>
  <cp:lastModifiedBy>孟金涛</cp:lastModifiedBy>
  <cp:revision>1194</cp:revision>
  <dcterms:created xsi:type="dcterms:W3CDTF">2009-09-22T20:45:00Z</dcterms:created>
  <dcterms:modified xsi:type="dcterms:W3CDTF">2014-10-28T05:19:51Z</dcterms:modified>
</cp:coreProperties>
</file>