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933" r:id="rId2"/>
    <p:sldId id="1514" r:id="rId3"/>
    <p:sldId id="1686" r:id="rId4"/>
    <p:sldId id="1689" r:id="rId5"/>
    <p:sldId id="1619" r:id="rId6"/>
    <p:sldId id="1616" r:id="rId7"/>
    <p:sldId id="1621" r:id="rId8"/>
    <p:sldId id="1624" r:id="rId9"/>
    <p:sldId id="1629" r:id="rId10"/>
    <p:sldId id="1626" r:id="rId11"/>
    <p:sldId id="1672" r:id="rId12"/>
    <p:sldId id="1639" r:id="rId13"/>
    <p:sldId id="1681" r:id="rId14"/>
    <p:sldId id="1684" r:id="rId15"/>
    <p:sldId id="1682" r:id="rId16"/>
    <p:sldId id="1677" r:id="rId17"/>
    <p:sldId id="1685" r:id="rId18"/>
    <p:sldId id="1654" r:id="rId19"/>
    <p:sldId id="1648" r:id="rId20"/>
    <p:sldId id="1652" r:id="rId21"/>
    <p:sldId id="1632" r:id="rId22"/>
    <p:sldId id="1644" r:id="rId23"/>
    <p:sldId id="1668" r:id="rId24"/>
    <p:sldId id="1671" r:id="rId25"/>
    <p:sldId id="1645" r:id="rId26"/>
    <p:sldId id="1532" r:id="rId27"/>
    <p:sldId id="1611" r:id="rId28"/>
    <p:sldId id="1679" r:id="rId29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20000"/>
      </a:spcBef>
      <a:spcAft>
        <a:spcPct val="0"/>
      </a:spcAft>
      <a:buFont typeface="Arial" charset="0"/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Font typeface="Arial" charset="0"/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Font typeface="Arial" charset="0"/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Font typeface="Arial" charset="0"/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Font typeface="Arial" charset="0"/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3333CC"/>
    <a:srgbClr val="669900"/>
    <a:srgbClr val="FF6600"/>
    <a:srgbClr val="FEFEDA"/>
    <a:srgbClr val="D8E4FC"/>
    <a:srgbClr val="DDFFFF"/>
    <a:srgbClr val="B2D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深色样式 1 - 强调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69" autoAdjust="0"/>
    <p:restoredTop sz="92630" autoAdjust="0"/>
  </p:normalViewPr>
  <p:slideViewPr>
    <p:cSldViewPr>
      <p:cViewPr varScale="1">
        <p:scale>
          <a:sx n="70" d="100"/>
          <a:sy n="70" d="100"/>
        </p:scale>
        <p:origin x="-89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6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95C3E51-F39D-498D-B98F-40CC1547B190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4FA4619-A5DA-48EF-B305-CD68A07E588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1496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CB0A3338-634B-44E4-B240-F1F3920525AA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C72B40BC-F6F8-4EAB-9D93-CADAD7D269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2633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hyperlink" Target="http://photo.tlw.cn/2/JPEG640/033/001_050/AH016_L.htm" TargetMode="External"/><Relationship Id="rId18" Type="http://schemas.openxmlformats.org/officeDocument/2006/relationships/image" Target="../media/image10.jpeg"/><Relationship Id="rId3" Type="http://schemas.openxmlformats.org/officeDocument/2006/relationships/image" Target="../media/image2.jpeg"/><Relationship Id="rId7" Type="http://schemas.openxmlformats.org/officeDocument/2006/relationships/hyperlink" Target="http://photo.tlw.cn/7/JPEG/Vol_113/ER004_L.htm" TargetMode="External"/><Relationship Id="rId12" Type="http://schemas.openxmlformats.org/officeDocument/2006/relationships/image" Target="../media/image7.jpeg"/><Relationship Id="rId17" Type="http://schemas.openxmlformats.org/officeDocument/2006/relationships/hyperlink" Target="http://photo.tlw.cn/5/JPEG640/087/151_200/DP151_L.htm" TargetMode="External"/><Relationship Id="rId2" Type="http://schemas.openxmlformats.org/officeDocument/2006/relationships/hyperlink" Target="http://photo.tlw.cn/7/JPEG/Vol_117/EV163_L.htm" TargetMode="External"/><Relationship Id="rId16" Type="http://schemas.openxmlformats.org/officeDocument/2006/relationships/image" Target="../media/image9.jpeg"/><Relationship Id="rId20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jpeg"/><Relationship Id="rId11" Type="http://schemas.openxmlformats.org/officeDocument/2006/relationships/hyperlink" Target="http://photo.tlw.cn/5/JPEG640/097/001_050/DZ006_L.htm" TargetMode="External"/><Relationship Id="rId5" Type="http://schemas.openxmlformats.org/officeDocument/2006/relationships/hyperlink" Target="http://photo.tlw.cn/7/JPEG/Vol_126/FE088_L.htm" TargetMode="External"/><Relationship Id="rId15" Type="http://schemas.openxmlformats.org/officeDocument/2006/relationships/hyperlink" Target="http://photo.tlw.cn/7/JPEG/Vol_113/ER147_L.htm" TargetMode="External"/><Relationship Id="rId10" Type="http://schemas.openxmlformats.org/officeDocument/2006/relationships/image" Target="../media/image6.jpeg"/><Relationship Id="rId19" Type="http://schemas.openxmlformats.org/officeDocument/2006/relationships/hyperlink" Target="http://photo.tlw.cn/7/JPEG/Vol_117/EV032_L.htm" TargetMode="External"/><Relationship Id="rId4" Type="http://schemas.openxmlformats.org/officeDocument/2006/relationships/image" Target="../media/image3.jpeg"/><Relationship Id="rId9" Type="http://schemas.openxmlformats.org/officeDocument/2006/relationships/hyperlink" Target="http://photo.tlw.cn/5/JPEG640/087/151_200/DP172_L.htm" TargetMode="External"/><Relationship Id="rId14" Type="http://schemas.openxmlformats.org/officeDocument/2006/relationships/image" Target="../media/image8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CE6A7-DBC3-4CA3-ABCB-053018DD6C52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01BF2-E41D-439A-A9A6-BCA6FA59B97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138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F9873-8655-46D0-A4B7-630B2744757E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389660-3F86-4F20-BEF2-2833362AF7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15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CA420-52E1-4B14-9B0F-F84382A58FDB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10A7DF-8F08-42E6-ABE8-9F90DBEA90B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56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AB3595-1F72-40EE-8BDE-3B953A53CC13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A5005-1144-4CBA-A163-54EFB1EF82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79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5A3EFB-FD2E-4D9E-8A61-5CE2E4D294D2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23F04-1449-4995-A828-07DEB574B7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130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7BADB-0D90-4866-ADD0-7B254946AB3C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51D74-314B-493D-BEBE-3A54A2565B3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14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85C83A-FE87-40BE-9096-3A229F3D8BF6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E68A0B-112B-45D8-ABA2-F9FBADC344D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04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033EE-D612-4166-9FC3-D47B5D5B3CAC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40F15-D332-41C0-8DDF-DCB6ABC1606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630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EDA7D-F343-4CDF-A1E0-58F31EBD9E1D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38599-74B4-4740-BE77-5B28527928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05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C79B7B-806F-43D3-92AA-B64F9CEB0D93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EB505-58B3-42B2-81E8-2BA2FAEB9F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21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3B9DF5-A6A5-4D9D-8797-9DCC24098D79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7DF1BC-4E79-4AB1-9FF0-1C3B3C61886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478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V163_T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45125"/>
            <a:ext cx="8636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上标题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350"/>
            <a:ext cx="91440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FE088_T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5437188"/>
            <a:ext cx="165735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ER004_T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5437188"/>
            <a:ext cx="865188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DP172_T">
            <a:hlinkClick r:id="rId9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5437188"/>
            <a:ext cx="863600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DZ006_T">
            <a:hlinkClick r:id="rId11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400" y="5437188"/>
            <a:ext cx="863600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AH016_T">
            <a:hlinkClick r:id="rId13"/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5437188"/>
            <a:ext cx="151130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 descr="ER147_T">
            <a:hlinkClick r:id="rId15"/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5437188"/>
            <a:ext cx="865187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DP151_T">
            <a:hlinkClick r:id="rId17"/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5437188"/>
            <a:ext cx="863600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1" descr="EV032_T">
            <a:hlinkClick r:id="rId19"/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5437188"/>
            <a:ext cx="863600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0" y="6570663"/>
            <a:ext cx="9144000" cy="2873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BCD4E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311124"/>
      </p:ext>
    </p:extLst>
  </p:cSld>
  <p:clrMapOvr>
    <a:masterClrMapping/>
  </p:clrMapOvr>
  <p:transition>
    <p:pull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E2B1F0-13B6-48C3-94A6-195F855565C9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52B1E3-C63B-4C78-972D-F110F397197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044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30C2F7-83EF-40EC-B752-543318158CD3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1D556-49F3-4D19-88EC-A12D4D3B3B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118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E260CE9-23B0-4AC6-99FB-0953A4F4319E}" type="datetimeFigureOut">
              <a:rPr lang="zh-CN" altLang="en-US"/>
              <a:pPr>
                <a:defRPr/>
              </a:pPr>
              <a:t>2016/1/14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C332E2A-555E-4384-9074-58F16B3860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8" r:id="rId12"/>
    <p:sldLayoutId id="2147483676" r:id="rId13"/>
    <p:sldLayoutId id="2147483677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gif"/><Relationship Id="rId4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/>
              <a:t> </a:t>
            </a:r>
          </a:p>
        </p:txBody>
      </p:sp>
      <p:sp>
        <p:nvSpPr>
          <p:cNvPr id="3075" name="Rectangle 12"/>
          <p:cNvSpPr>
            <a:spLocks noChangeArrowheads="1"/>
          </p:cNvSpPr>
          <p:nvPr/>
        </p:nvSpPr>
        <p:spPr bwMode="auto">
          <a:xfrm>
            <a:off x="746125" y="104298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博士论文中期考核</a:t>
            </a:r>
            <a:endParaRPr lang="zh-CN" altLang="en-US" sz="4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6" name="Rectangle 13"/>
          <p:cNvSpPr>
            <a:spLocks noChangeArrowheads="1"/>
          </p:cNvSpPr>
          <p:nvPr/>
        </p:nvSpPr>
        <p:spPr bwMode="auto">
          <a:xfrm>
            <a:off x="1151620" y="2348881"/>
            <a:ext cx="7065786" cy="4230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buFontTx/>
              <a:buNone/>
            </a:pPr>
            <a:r>
              <a:rPr lang="zh-CN" altLang="en-US" sz="36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高可扩展基因组组装研究</a:t>
            </a:r>
            <a:endParaRPr lang="en-US" altLang="zh-CN" sz="36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buFontTx/>
              <a:buNone/>
            </a:pPr>
            <a:endParaRPr lang="en-US" altLang="zh-CN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buFontTx/>
              <a:buNone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答辩人：孟金涛</a:t>
            </a:r>
          </a:p>
          <a:p>
            <a:pPr algn="ctr">
              <a:buFontTx/>
              <a:buNone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导   师：赵晓</a:t>
            </a:r>
            <a:r>
              <a:rPr lang="zh-CN" altLang="en-US" sz="28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芳，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冯圣中</a:t>
            </a:r>
            <a:endParaRPr lang="en-US" altLang="zh-CN" sz="28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buFontTx/>
              <a:buNone/>
            </a:pPr>
            <a:endParaRPr lang="en-US" altLang="zh-CN" sz="28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buFontTx/>
              <a:buNone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中科院深圳先进技术研究院</a:t>
            </a:r>
            <a:endParaRPr lang="en-US" altLang="zh-CN" sz="28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buFontTx/>
              <a:buNone/>
            </a:pPr>
            <a:r>
              <a:rPr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2016-1-14</a:t>
            </a:r>
            <a:endParaRPr lang="en-US" altLang="zh-CN" sz="28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8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时限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分钟</a:t>
            </a:r>
            <a:endParaRPr lang="en-US" altLang="zh-CN" sz="28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advTm="1468">
    <p:pull dir="r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706596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800">
                <a:latin typeface="微软雅黑" pitchFamily="34" charset="-122"/>
                <a:ea typeface="微软雅黑" pitchFamily="34" charset="-122"/>
              </a:rPr>
              <a:t>内容提要</a:t>
            </a:r>
            <a:endParaRPr lang="en-US" altLang="zh-CN" sz="48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1000125" y="1403350"/>
            <a:ext cx="7667330" cy="481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、选题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依据                                  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、研究现状与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挑战                        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、研究内容、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目标                        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、拟解决的关键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问题                    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、拟采取的研究方案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可行性分析    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、现已取得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进展                           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参考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文献                                   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701569" y="1403350"/>
            <a:ext cx="8055895" cy="585490"/>
          </a:xfrm>
          <a:prstGeom prst="roundRect">
            <a:avLst/>
          </a:prstGeom>
          <a:solidFill>
            <a:schemeClr val="accent1"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9DCDC31D-C135-43ED-9FCB-DE603FBD4833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50825" y="274638"/>
            <a:ext cx="8713788" cy="1143000"/>
          </a:xfrm>
          <a:prstGeom prst="rect">
            <a:avLst/>
          </a:prstGeom>
          <a:ex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200" b="1" dirty="0" err="1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生命科学和医疗健康</a:t>
            </a:r>
            <a:r>
              <a:rPr lang="en-US" sz="32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/>
            </a:r>
            <a:br>
              <a:rPr lang="en-US" sz="32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</a:br>
            <a:r>
              <a:rPr lang="en-US" altLang="en-US" sz="3200" b="1" dirty="0" err="1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正转变为</a:t>
            </a:r>
            <a:r>
              <a:rPr lang="en-US" altLang="en-US" sz="3200" b="1" dirty="0" err="1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大数据和</a:t>
            </a:r>
            <a:r>
              <a:rPr lang="zh-CN" altLang="en-US" sz="32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超级</a:t>
            </a:r>
            <a:r>
              <a:rPr lang="en-US" altLang="en-US" sz="3200" b="1" dirty="0" err="1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计算</a:t>
            </a:r>
            <a:r>
              <a:rPr lang="zh-CN" altLang="en-US" sz="32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驱动</a:t>
            </a:r>
            <a:endParaRPr lang="en-US" sz="32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6" name="Picture 10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7904" y="1616075"/>
            <a:ext cx="1862137" cy="2557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7" descr="C:\Users\aaron\Desktop\DN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16216" y="1700808"/>
            <a:ext cx="2160240" cy="2472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23528" y="4221088"/>
            <a:ext cx="2736304" cy="17912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一人</a:t>
            </a:r>
            <a:r>
              <a:rPr lang="zh-CN" altLang="en-US" sz="1800" dirty="0" smtClean="0"/>
              <a:t>基因组数据</a:t>
            </a:r>
            <a:endParaRPr lang="en-US" altLang="zh-CN" sz="1800" dirty="0"/>
          </a:p>
          <a:p>
            <a:endParaRPr lang="en-US" sz="1800" dirty="0">
              <a:latin typeface="宋体" pitchFamily="2" charset="-122"/>
            </a:endParaRPr>
          </a:p>
          <a:p>
            <a:pPr lvl="1">
              <a:buFont typeface="Wingdings" pitchFamily="2" charset="2"/>
              <a:buChar char="ü"/>
            </a:pPr>
            <a:r>
              <a:rPr lang="zh-CN" altLang="en-US" sz="1800" dirty="0" smtClean="0">
                <a:latin typeface="宋体" pitchFamily="2" charset="-122"/>
              </a:rPr>
              <a:t>普通工作站</a:t>
            </a:r>
            <a:endParaRPr lang="en-US" altLang="zh-CN" sz="1800" dirty="0" smtClean="0">
              <a:latin typeface="宋体" pitchFamily="2" charset="-122"/>
            </a:endParaRPr>
          </a:p>
          <a:p>
            <a:pPr lvl="1">
              <a:buFont typeface="Wingdings" pitchFamily="2" charset="2"/>
              <a:buChar char="ü"/>
            </a:pPr>
            <a:r>
              <a:rPr lang="zh-CN" altLang="en-US" sz="1800" dirty="0" smtClean="0">
                <a:latin typeface="宋体" pitchFamily="2" charset="-122"/>
              </a:rPr>
              <a:t>个体分析软件</a:t>
            </a:r>
            <a:endParaRPr lang="en-US" altLang="zh-CN" sz="1800" dirty="0" smtClean="0">
              <a:latin typeface="宋体" pitchFamily="2" charset="-122"/>
            </a:endParaRPr>
          </a:p>
          <a:p>
            <a:pPr lvl="1">
              <a:buFont typeface="Wingdings" pitchFamily="2" charset="2"/>
              <a:buChar char="ü"/>
            </a:pPr>
            <a:r>
              <a:rPr lang="zh-CN" altLang="en-US" sz="1800" dirty="0" smtClean="0">
                <a:latin typeface="宋体" pitchFamily="2" charset="-122"/>
              </a:rPr>
              <a:t>疾病诊断</a:t>
            </a:r>
            <a:endParaRPr lang="en-US" altLang="zh-CN" sz="1800" dirty="0" smtClean="0">
              <a:latin typeface="宋体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47864" y="4221088"/>
            <a:ext cx="2686174" cy="17912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千</a:t>
            </a:r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人</a:t>
            </a:r>
            <a:r>
              <a:rPr lang="zh-CN" altLang="en-US" sz="1800" dirty="0" smtClean="0"/>
              <a:t>基因组数据</a:t>
            </a:r>
            <a:endParaRPr lang="en-US" altLang="zh-CN" sz="1800" dirty="0"/>
          </a:p>
          <a:p>
            <a:pPr algn="ctr"/>
            <a:endParaRPr lang="en-US" altLang="zh-CN" sz="1800" dirty="0"/>
          </a:p>
          <a:p>
            <a:pPr>
              <a:buFont typeface="Wingdings" pitchFamily="2" charset="2"/>
              <a:buChar char="ü"/>
            </a:pPr>
            <a:r>
              <a:rPr lang="zh-CN" altLang="en-US" sz="1800" dirty="0" smtClean="0">
                <a:latin typeface="宋体" pitchFamily="2" charset="-122"/>
              </a:rPr>
              <a:t>十万亿</a:t>
            </a:r>
            <a:r>
              <a:rPr lang="zh-CN" altLang="en-US" sz="1800" dirty="0">
                <a:latin typeface="宋体" pitchFamily="2" charset="-122"/>
              </a:rPr>
              <a:t>次</a:t>
            </a:r>
            <a:r>
              <a:rPr lang="zh-CN" altLang="en-US" sz="1800" dirty="0" smtClean="0">
                <a:latin typeface="宋体" pitchFamily="2" charset="-122"/>
              </a:rPr>
              <a:t>超级计算机</a:t>
            </a:r>
            <a:endParaRPr lang="en-US" altLang="zh-CN" sz="1800" dirty="0" smtClean="0">
              <a:latin typeface="宋体" pitchFamily="2" charset="-122"/>
            </a:endParaRPr>
          </a:p>
          <a:p>
            <a:pPr>
              <a:buFont typeface="Wingdings" pitchFamily="2" charset="2"/>
              <a:buChar char="ü"/>
            </a:pPr>
            <a:r>
              <a:rPr lang="zh-CN" altLang="en-US" sz="1800" dirty="0" smtClean="0"/>
              <a:t>群体分析工具</a:t>
            </a:r>
            <a:endParaRPr lang="en-US" altLang="zh-CN" sz="1800" dirty="0" smtClean="0"/>
          </a:p>
          <a:p>
            <a:pPr>
              <a:buFont typeface="Wingdings" pitchFamily="2" charset="2"/>
              <a:buChar char="ü"/>
            </a:pPr>
            <a:r>
              <a:rPr lang="zh-CN" altLang="en-US" sz="1800" dirty="0" smtClean="0"/>
              <a:t>基因</a:t>
            </a:r>
            <a:r>
              <a:rPr lang="en-US" altLang="zh-CN" sz="1800" dirty="0" smtClean="0"/>
              <a:t>-</a:t>
            </a:r>
            <a:r>
              <a:rPr lang="zh-CN" altLang="en-US" sz="1800" dirty="0" smtClean="0"/>
              <a:t>疾病关联分析</a:t>
            </a:r>
            <a:endParaRPr lang="en-US" altLang="zh-CN" sz="1800" dirty="0"/>
          </a:p>
        </p:txBody>
      </p:sp>
      <p:sp>
        <p:nvSpPr>
          <p:cNvPr id="10" name="TextBox 9"/>
          <p:cNvSpPr txBox="1"/>
          <p:nvPr/>
        </p:nvSpPr>
        <p:spPr>
          <a:xfrm>
            <a:off x="6300192" y="4206775"/>
            <a:ext cx="2651150" cy="17912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百万</a:t>
            </a:r>
            <a:r>
              <a:rPr lang="zh-CN" altLang="en-US" sz="1800" dirty="0" smtClean="0"/>
              <a:t>人基因组数据</a:t>
            </a:r>
            <a:endParaRPr lang="en-US" altLang="zh-CN" sz="1800" dirty="0"/>
          </a:p>
          <a:p>
            <a:pPr algn="ctr"/>
            <a:endParaRPr lang="en-US" altLang="zh-CN" sz="1800" dirty="0"/>
          </a:p>
          <a:p>
            <a:pPr>
              <a:buFont typeface="Wingdings" pitchFamily="2" charset="2"/>
              <a:buChar char="ü"/>
            </a:pPr>
            <a:r>
              <a:rPr lang="zh-CN" altLang="en-US" sz="1800" dirty="0" smtClean="0">
                <a:latin typeface="宋体" pitchFamily="2" charset="-122"/>
              </a:rPr>
              <a:t>万万</a:t>
            </a:r>
            <a:r>
              <a:rPr lang="zh-CN" altLang="en-US" sz="1800" dirty="0">
                <a:latin typeface="宋体" pitchFamily="2" charset="-122"/>
              </a:rPr>
              <a:t>亿次超级计算机</a:t>
            </a:r>
            <a:endParaRPr lang="en-US" altLang="ja-JP" sz="1800" dirty="0">
              <a:latin typeface="宋体" pitchFamily="2" charset="-122"/>
            </a:endParaRPr>
          </a:p>
          <a:p>
            <a:pPr>
              <a:buFont typeface="Wingdings" pitchFamily="2" charset="2"/>
              <a:buChar char="ü"/>
            </a:pPr>
            <a:r>
              <a:rPr lang="zh-CN" altLang="en-US" sz="1800" dirty="0" smtClean="0"/>
              <a:t>大数据挖掘工具</a:t>
            </a:r>
            <a:endParaRPr lang="en-US" altLang="zh-CN" sz="1800" dirty="0" smtClean="0"/>
          </a:p>
          <a:p>
            <a:pPr>
              <a:buFont typeface="Wingdings" pitchFamily="2" charset="2"/>
              <a:buChar char="ü"/>
            </a:pPr>
            <a:r>
              <a:rPr lang="zh-CN" altLang="en-US" sz="1800" dirty="0" smtClean="0"/>
              <a:t>遗传、变异统计分析</a:t>
            </a:r>
            <a:endParaRPr lang="en-US" altLang="zh-CN" sz="1800" dirty="0"/>
          </a:p>
        </p:txBody>
      </p:sp>
      <p:sp>
        <p:nvSpPr>
          <p:cNvPr id="11" name="右箭头 10"/>
          <p:cNvSpPr/>
          <p:nvPr/>
        </p:nvSpPr>
        <p:spPr>
          <a:xfrm>
            <a:off x="251520" y="5824688"/>
            <a:ext cx="8712968" cy="1060696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FF0000"/>
                </a:solidFill>
              </a:rPr>
              <a:t>2008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年                          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2012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年                      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2015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年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12" name="Picture 2" descr="C:\Documents and Settings\admin\桌面\2010021111391397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16075"/>
            <a:ext cx="2034183" cy="260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04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研究现状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smtClean="0">
                <a:latin typeface="微软雅黑" pitchFamily="34" charset="-122"/>
                <a:ea typeface="微软雅黑" pitchFamily="34" charset="-122"/>
              </a:rPr>
              <a:t>什么是基因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组装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69598"/>
            <a:ext cx="9144000" cy="4980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ontent Placeholder 2"/>
          <p:cNvSpPr>
            <a:spLocks/>
          </p:cNvSpPr>
          <p:nvPr/>
        </p:nvSpPr>
        <p:spPr bwMode="auto">
          <a:xfrm>
            <a:off x="296863" y="1268412"/>
            <a:ext cx="4950211" cy="5445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基本理论</a:t>
            </a:r>
            <a:endParaRPr lang="en-US" altLang="zh-CN" sz="2400" dirty="0"/>
          </a:p>
          <a:p>
            <a:pPr lvl="1"/>
            <a:r>
              <a:rPr lang="zh-CN" altLang="en-US" sz="2400" dirty="0" smtClean="0"/>
              <a:t>使用互相重叠的</a:t>
            </a:r>
            <a:r>
              <a:rPr lang="en-US" altLang="zh-CN" sz="2400" dirty="0" smtClean="0"/>
              <a:t>Reads/</a:t>
            </a:r>
            <a:r>
              <a:rPr lang="en-US" altLang="zh-CN" sz="2400" dirty="0" err="1" smtClean="0"/>
              <a:t>kmers</a:t>
            </a:r>
            <a:r>
              <a:rPr lang="en-US" altLang="zh-CN" sz="2400" dirty="0" smtClean="0"/>
              <a:t>, </a:t>
            </a:r>
            <a:r>
              <a:rPr lang="zh-CN" altLang="en-US" sz="2400" dirty="0" smtClean="0"/>
              <a:t>重建连续的</a:t>
            </a:r>
            <a:r>
              <a:rPr lang="en-US" altLang="zh-CN" sz="2400" dirty="0" smtClean="0"/>
              <a:t>DNA</a:t>
            </a:r>
            <a:r>
              <a:rPr lang="zh-CN" altLang="en-US" sz="2400" dirty="0"/>
              <a:t>序列</a:t>
            </a:r>
            <a:r>
              <a:rPr lang="en-US" altLang="zh-CN" sz="2400" dirty="0" err="1" smtClean="0"/>
              <a:t>contigs</a:t>
            </a:r>
            <a:endParaRPr lang="en-US" altLang="zh-CN" sz="2400" dirty="0" smtClean="0"/>
          </a:p>
          <a:p>
            <a:endParaRPr lang="en-US" altLang="zh-CN" sz="2000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主要策略有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种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b="1" dirty="0">
                <a:solidFill>
                  <a:srgbClr val="3333CC"/>
                </a:solidFill>
              </a:rPr>
              <a:t>O</a:t>
            </a:r>
            <a:r>
              <a:rPr lang="en-US" altLang="zh-CN" sz="2400" dirty="0"/>
              <a:t>verlap-</a:t>
            </a:r>
            <a:r>
              <a:rPr lang="en-US" altLang="zh-CN" sz="2400" b="1" dirty="0">
                <a:solidFill>
                  <a:srgbClr val="3333CC"/>
                </a:solidFill>
              </a:rPr>
              <a:t>L</a:t>
            </a:r>
            <a:r>
              <a:rPr lang="en-US" altLang="zh-CN" sz="2400" dirty="0"/>
              <a:t>ayout-</a:t>
            </a:r>
            <a:r>
              <a:rPr lang="en-US" altLang="zh-CN" sz="2400" b="1" dirty="0">
                <a:solidFill>
                  <a:srgbClr val="3333CC"/>
                </a:solidFill>
              </a:rPr>
              <a:t>C</a:t>
            </a:r>
            <a:r>
              <a:rPr lang="en-US" altLang="zh-CN" sz="2400" dirty="0"/>
              <a:t>onsensus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/>
              <a:t>De </a:t>
            </a:r>
            <a:r>
              <a:rPr lang="en-US" altLang="zh-CN" sz="2400" dirty="0" err="1"/>
              <a:t>Bruijn</a:t>
            </a:r>
            <a:r>
              <a:rPr lang="zh-CN" altLang="en-US" sz="2400" dirty="0"/>
              <a:t>图  </a:t>
            </a:r>
            <a:r>
              <a:rPr lang="en-US" altLang="zh-CN" sz="2000" i="1" dirty="0">
                <a:solidFill>
                  <a:srgbClr val="FF0000"/>
                </a:solidFill>
              </a:rPr>
              <a:t>(</a:t>
            </a:r>
            <a:r>
              <a:rPr lang="zh-CN" altLang="en-US" sz="2000" i="1" dirty="0">
                <a:solidFill>
                  <a:srgbClr val="FF0000"/>
                </a:solidFill>
              </a:rPr>
              <a:t>复杂度低，可并行</a:t>
            </a:r>
            <a:r>
              <a:rPr lang="en-US" altLang="zh-CN" sz="2000" i="1" dirty="0">
                <a:solidFill>
                  <a:srgbClr val="FF0000"/>
                </a:solidFill>
              </a:rPr>
              <a:t>)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/>
              <a:t>String </a:t>
            </a:r>
            <a:r>
              <a:rPr lang="zh-CN" altLang="en-US" sz="2400" dirty="0"/>
              <a:t>图 </a:t>
            </a:r>
            <a:endParaRPr lang="en-US" altLang="zh-CN" sz="2400" dirty="0" smtClean="0"/>
          </a:p>
          <a:p>
            <a:endParaRPr lang="en-US" altLang="zh-CN" sz="2000" dirty="0" smtClean="0"/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 smtClean="0"/>
              <a:t>DBG</a:t>
            </a:r>
            <a:r>
              <a:rPr lang="zh-CN" altLang="en-US" sz="2400" dirty="0" smtClean="0"/>
              <a:t>策略核心步骤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 smtClean="0"/>
              <a:t>DBG</a:t>
            </a:r>
            <a:r>
              <a:rPr lang="zh-CN" altLang="en-US" sz="2400" dirty="0" smtClean="0"/>
              <a:t>图构建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边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顶点合并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 err="1" smtClean="0"/>
              <a:t>Contig</a:t>
            </a:r>
            <a:r>
              <a:rPr lang="zh-CN" altLang="en-US" sz="2400" dirty="0" smtClean="0"/>
              <a:t>生成</a:t>
            </a:r>
            <a:endParaRPr lang="en-US" altLang="zh-CN" sz="2400" dirty="0" smtClean="0"/>
          </a:p>
          <a:p>
            <a:pPr lvl="1"/>
            <a:endParaRPr lang="en-US" altLang="zh-CN" sz="2400" dirty="0" smtClean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326" y="1523999"/>
            <a:ext cx="4097640" cy="4829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906946" y="6312265"/>
            <a:ext cx="2438400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/>
              <a:t>基因组装工作流程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47150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选题依据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为什么并行基因组装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296863" y="1268413"/>
            <a:ext cx="8550611" cy="3600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生命大数据研究：               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大数据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-&gt;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高扩展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百万动植物，百万环境宏基因组</a:t>
            </a:r>
            <a:r>
              <a:rPr lang="zh-CN" altLang="en-US" sz="2400" dirty="0"/>
              <a:t>，百万人</a:t>
            </a:r>
            <a:r>
              <a:rPr lang="zh-CN" altLang="en-US" sz="2400" dirty="0" smtClean="0"/>
              <a:t>基因组</a:t>
            </a:r>
            <a:r>
              <a:rPr lang="en-US" altLang="zh-CN" sz="2400" dirty="0" smtClean="0"/>
              <a:t>(0.5EB)</a:t>
            </a:r>
          </a:p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并行组装软件高效：       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时间成本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-&gt;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高效率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组装百万人类基因组需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5479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年</a:t>
            </a:r>
            <a:r>
              <a:rPr lang="zh-CN" altLang="en-US" sz="2400" dirty="0" smtClean="0"/>
              <a:t>或者花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50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亿美元建大内存超算 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(1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月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)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 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 smtClean="0"/>
              <a:t>Mira + SWAP </a:t>
            </a:r>
            <a:r>
              <a:rPr lang="zh-CN" altLang="en-US" sz="2400" dirty="0" smtClean="0"/>
              <a:t>只要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天</a:t>
            </a:r>
            <a:endParaRPr lang="en-US" altLang="zh-CN" sz="2400" b="1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软硬件系统可扩展：     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自动化分析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-&gt;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高质量  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数据存储可扩充，</a:t>
            </a:r>
            <a:r>
              <a:rPr lang="zh-CN" altLang="en-US" sz="2400" dirty="0"/>
              <a:t>数据分析可</a:t>
            </a:r>
            <a:r>
              <a:rPr lang="zh-CN" altLang="en-US" sz="2400" dirty="0" smtClean="0"/>
              <a:t>扩展</a:t>
            </a:r>
            <a:endParaRPr lang="en-US" altLang="zh-CN" sz="2800" dirty="0"/>
          </a:p>
          <a:p>
            <a:pPr marL="285750" indent="-285750">
              <a:buFont typeface="Arial" charset="0"/>
              <a:buChar char="•"/>
            </a:pPr>
            <a:endParaRPr lang="en-US" altLang="zh-CN" sz="2800" dirty="0" smtClean="0"/>
          </a:p>
          <a:p>
            <a:pPr marL="285750" indent="-285750">
              <a:buFont typeface="Arial" charset="0"/>
              <a:buChar char="•"/>
            </a:pPr>
            <a:endParaRPr lang="en-US" altLang="zh-CN" sz="2800" dirty="0"/>
          </a:p>
          <a:p>
            <a:pPr marL="285750" indent="-285750">
              <a:buFont typeface="Arial" charset="0"/>
              <a:buChar char="•"/>
            </a:pPr>
            <a:endParaRPr lang="en-US" altLang="zh-CN" sz="2800" dirty="0" smtClean="0"/>
          </a:p>
          <a:p>
            <a:pPr marL="285750" indent="-285750">
              <a:buFont typeface="Arial" charset="0"/>
              <a:buChar char="•"/>
            </a:pPr>
            <a:endParaRPr lang="en-US" altLang="zh-CN" sz="2800" dirty="0" smtClean="0"/>
          </a:p>
          <a:p>
            <a:pPr marL="285750" indent="-285750">
              <a:buFont typeface="Arial" charset="0"/>
              <a:buChar char="•"/>
            </a:pPr>
            <a:endParaRPr lang="en-US" altLang="zh-CN" sz="2800" dirty="0" smtClean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869161"/>
            <a:ext cx="9004130" cy="1988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499" y="4395424"/>
            <a:ext cx="2610591" cy="947473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499" y="5612926"/>
            <a:ext cx="2623630" cy="94291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40479" y="4335653"/>
            <a:ext cx="8550611" cy="25545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/>
              <a:t>基因</a:t>
            </a:r>
            <a:r>
              <a:rPr lang="zh-CN" altLang="en-US" sz="2000" dirty="0" smtClean="0"/>
              <a:t>组装，序列比对是最基本的生物数据分析工具。</a:t>
            </a:r>
            <a:endParaRPr lang="en-US" altLang="zh-CN" sz="2000" dirty="0" smtClean="0"/>
          </a:p>
          <a:p>
            <a:r>
              <a:rPr lang="zh-CN" altLang="en-US" sz="2000" dirty="0" smtClean="0"/>
              <a:t>现已有多种高可扩展的序列比对工具：</a:t>
            </a:r>
            <a:r>
              <a:rPr lang="en-US" altLang="zh-CN" sz="2000" dirty="0" err="1" smtClean="0"/>
              <a:t>mpiBLAST</a:t>
            </a:r>
            <a:r>
              <a:rPr lang="en-US" altLang="zh-CN" sz="2000" dirty="0" smtClean="0"/>
              <a:t>, SOAP2, </a:t>
            </a:r>
            <a:r>
              <a:rPr lang="zh-CN" altLang="en-US" sz="2000" dirty="0" smtClean="0"/>
              <a:t>等</a:t>
            </a:r>
            <a:r>
              <a:rPr lang="en-US" altLang="zh-CN" sz="2000" dirty="0" smtClean="0"/>
              <a:t>.  </a:t>
            </a:r>
          </a:p>
          <a:p>
            <a:r>
              <a:rPr lang="zh-CN" altLang="en-US" sz="2000" dirty="0" smtClean="0"/>
              <a:t>但唯独序列组装到现在为止都没有一个高可扩展</a:t>
            </a:r>
            <a:r>
              <a:rPr lang="en-US" altLang="zh-CN" sz="2000" dirty="0" smtClean="0"/>
              <a:t>(&gt;512</a:t>
            </a:r>
            <a:r>
              <a:rPr lang="zh-CN" altLang="en-US" sz="2000" dirty="0" smtClean="0"/>
              <a:t>核</a:t>
            </a:r>
            <a:r>
              <a:rPr lang="zh-CN" altLang="en-US" sz="2000" dirty="0"/>
              <a:t>心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的组装工具。</a:t>
            </a:r>
            <a:endParaRPr lang="en-US" altLang="zh-CN" sz="2000" dirty="0" smtClean="0"/>
          </a:p>
          <a:p>
            <a:r>
              <a:rPr lang="zh-CN" altLang="en-US" sz="2000" dirty="0" smtClean="0"/>
              <a:t>现在政府机构</a:t>
            </a:r>
            <a:r>
              <a:rPr lang="en-US" altLang="zh-CN" sz="2000" dirty="0" smtClean="0"/>
              <a:t>(DOE,JGI),  </a:t>
            </a:r>
            <a:r>
              <a:rPr lang="zh-CN" altLang="en-US" sz="2000" dirty="0" smtClean="0"/>
              <a:t>商业公司</a:t>
            </a:r>
            <a:r>
              <a:rPr lang="en-US" altLang="zh-CN" sz="2000" dirty="0" smtClean="0"/>
              <a:t>(BGI/CG, </a:t>
            </a:r>
            <a:r>
              <a:rPr lang="en-US" altLang="zh-CN" sz="2000" dirty="0" err="1" smtClean="0"/>
              <a:t>Illumina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均投入资源研发并行组装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zh-CN" altLang="en-US" sz="2000" dirty="0" smtClean="0"/>
              <a:t>此项工作旨在填补</a:t>
            </a:r>
            <a:r>
              <a:rPr lang="zh-CN" altLang="en-US" sz="2000" dirty="0"/>
              <a:t>该</a:t>
            </a:r>
            <a:r>
              <a:rPr lang="zh-CN" altLang="en-US" sz="2000" dirty="0" smtClean="0"/>
              <a:t>空白</a:t>
            </a:r>
            <a:r>
              <a:rPr lang="en-US" altLang="zh-CN" sz="2000" dirty="0" smtClean="0"/>
              <a:t>, </a:t>
            </a:r>
            <a:r>
              <a:rPr lang="zh-CN" altLang="en-US" sz="2000" dirty="0" smtClean="0"/>
              <a:t>目标是研发可扩展</a:t>
            </a:r>
            <a:r>
              <a:rPr lang="zh-CN" altLang="en-US" sz="2000" b="1" dirty="0" smtClean="0"/>
              <a:t>百万核</a:t>
            </a:r>
            <a:r>
              <a:rPr lang="zh-CN" altLang="en-US" sz="2000" dirty="0" smtClean="0"/>
              <a:t>的</a:t>
            </a:r>
            <a:r>
              <a:rPr lang="en-US" altLang="zh-CN" sz="2000" b="1" dirty="0" smtClean="0"/>
              <a:t>PB</a:t>
            </a:r>
            <a:r>
              <a:rPr lang="zh-CN" altLang="en-US" sz="2000" b="1" dirty="0" smtClean="0"/>
              <a:t>级</a:t>
            </a:r>
            <a:r>
              <a:rPr lang="zh-CN" altLang="en-US" sz="2000" dirty="0"/>
              <a:t>基因</a:t>
            </a:r>
            <a:r>
              <a:rPr lang="zh-CN" altLang="en-US" sz="2000" dirty="0" smtClean="0"/>
              <a:t>数据的组装软件。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328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/>
          </p:cNvSpPr>
          <p:nvPr/>
        </p:nvSpPr>
        <p:spPr bwMode="auto">
          <a:xfrm>
            <a:off x="2412098" y="1268412"/>
            <a:ext cx="3870091" cy="5445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数据密集</a:t>
            </a:r>
            <a:endParaRPr lang="en-US" altLang="zh-CN" sz="28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 smtClean="0"/>
              <a:t>PB</a:t>
            </a:r>
            <a:r>
              <a:rPr lang="zh-CN" altLang="en-US" sz="2400" dirty="0" smtClean="0"/>
              <a:t>级数据并行</a:t>
            </a:r>
            <a:r>
              <a:rPr lang="en-US" altLang="zh-CN" sz="2400" dirty="0" smtClean="0"/>
              <a:t>I/O</a:t>
            </a:r>
            <a:endParaRPr lang="en-US" altLang="zh-CN" sz="2400" dirty="0"/>
          </a:p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内存密集</a:t>
            </a:r>
            <a:endParaRPr lang="en-US" altLang="zh-CN" sz="28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/>
              <a:t>读入</a:t>
            </a:r>
            <a:r>
              <a:rPr lang="zh-CN" altLang="en-US" sz="2400" dirty="0" smtClean="0"/>
              <a:t>数据的</a:t>
            </a:r>
            <a:r>
              <a:rPr lang="en-US" altLang="zh-CN" sz="2400" dirty="0" smtClean="0"/>
              <a:t>50</a:t>
            </a:r>
            <a:r>
              <a:rPr lang="zh-CN" altLang="en-US" sz="2400" dirty="0" smtClean="0"/>
              <a:t>倍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高效数据结构压缩</a:t>
            </a:r>
            <a:r>
              <a:rPr lang="en-US" altLang="zh-CN" sz="2400" dirty="0" smtClean="0"/>
              <a:t>10X</a:t>
            </a:r>
          </a:p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通讯密集</a:t>
            </a:r>
            <a:endParaRPr lang="en-US" altLang="zh-CN" sz="28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大内存数据交换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 err="1" smtClean="0"/>
              <a:t>kmer</a:t>
            </a:r>
            <a:r>
              <a:rPr lang="zh-CN" altLang="en-US" sz="2400" dirty="0" smtClean="0"/>
              <a:t>谱分析</a:t>
            </a:r>
            <a:endParaRPr lang="en-US" altLang="zh-CN" sz="2400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紧耦合问题</a:t>
            </a:r>
            <a:endParaRPr lang="en-US" altLang="zh-CN" sz="28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 smtClean="0"/>
              <a:t>10P</a:t>
            </a:r>
            <a:r>
              <a:rPr lang="zh-CN" altLang="en-US" sz="2400" dirty="0" smtClean="0"/>
              <a:t>的图顶点互相通讯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图拓扑结构快速变化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顶点访问的冲突同步</a:t>
            </a:r>
            <a:endParaRPr lang="en-US" altLang="zh-CN" sz="2400" dirty="0" smtClean="0"/>
          </a:p>
        </p:txBody>
      </p:sp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研究现状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并行的挑战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8849" name="直接箭头连接符 78848"/>
          <p:cNvCxnSpPr>
            <a:stCxn id="4" idx="1"/>
            <a:endCxn id="78870" idx="3"/>
          </p:cNvCxnSpPr>
          <p:nvPr/>
        </p:nvCxnSpPr>
        <p:spPr>
          <a:xfrm flipH="1" flipV="1">
            <a:off x="5652121" y="1538616"/>
            <a:ext cx="855094" cy="292707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7" idx="1"/>
            <a:endCxn id="70" idx="3"/>
          </p:cNvCxnSpPr>
          <p:nvPr/>
        </p:nvCxnSpPr>
        <p:spPr>
          <a:xfrm flipH="1" flipV="1">
            <a:off x="5652121" y="2475783"/>
            <a:ext cx="855093" cy="300645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7" idx="1"/>
            <a:endCxn id="71" idx="3"/>
          </p:cNvCxnSpPr>
          <p:nvPr/>
        </p:nvCxnSpPr>
        <p:spPr>
          <a:xfrm flipH="1">
            <a:off x="5652121" y="2776428"/>
            <a:ext cx="855093" cy="1102622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8" idx="1"/>
            <a:endCxn id="70" idx="3"/>
          </p:cNvCxnSpPr>
          <p:nvPr/>
        </p:nvCxnSpPr>
        <p:spPr>
          <a:xfrm flipH="1" flipV="1">
            <a:off x="5652121" y="2475783"/>
            <a:ext cx="855094" cy="1245750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8" idx="1"/>
            <a:endCxn id="71" idx="3"/>
          </p:cNvCxnSpPr>
          <p:nvPr/>
        </p:nvCxnSpPr>
        <p:spPr>
          <a:xfrm flipH="1">
            <a:off x="5652121" y="3721533"/>
            <a:ext cx="855094" cy="157517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9" idx="1"/>
            <a:endCxn id="72" idx="3"/>
          </p:cNvCxnSpPr>
          <p:nvPr/>
        </p:nvCxnSpPr>
        <p:spPr>
          <a:xfrm flipH="1">
            <a:off x="5652122" y="4666638"/>
            <a:ext cx="855093" cy="562664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9" idx="1"/>
            <a:endCxn id="71" idx="3"/>
          </p:cNvCxnSpPr>
          <p:nvPr/>
        </p:nvCxnSpPr>
        <p:spPr>
          <a:xfrm flipH="1" flipV="1">
            <a:off x="5652121" y="3879050"/>
            <a:ext cx="855094" cy="787588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870" name="矩形 78869"/>
          <p:cNvSpPr/>
          <p:nvPr/>
        </p:nvSpPr>
        <p:spPr>
          <a:xfrm>
            <a:off x="2412099" y="1268412"/>
            <a:ext cx="3240022" cy="540408"/>
          </a:xfrm>
          <a:prstGeom prst="rect">
            <a:avLst/>
          </a:prstGeom>
          <a:solidFill>
            <a:schemeClr val="bg2">
              <a:lumMod val="75000"/>
              <a:alpha val="13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2412098" y="2205579"/>
            <a:ext cx="3240023" cy="540408"/>
          </a:xfrm>
          <a:prstGeom prst="rect">
            <a:avLst/>
          </a:prstGeom>
          <a:solidFill>
            <a:schemeClr val="bg2">
              <a:lumMod val="75000"/>
              <a:alpha val="13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2412098" y="3608846"/>
            <a:ext cx="3240023" cy="540408"/>
          </a:xfrm>
          <a:prstGeom prst="rect">
            <a:avLst/>
          </a:prstGeom>
          <a:solidFill>
            <a:schemeClr val="bg2">
              <a:lumMod val="75000"/>
              <a:alpha val="13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2460704" y="4959098"/>
            <a:ext cx="3191418" cy="540408"/>
          </a:xfrm>
          <a:prstGeom prst="rect">
            <a:avLst/>
          </a:prstGeom>
          <a:solidFill>
            <a:schemeClr val="bg2">
              <a:lumMod val="75000"/>
              <a:alpha val="13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3" name="直接箭头连接符 82"/>
          <p:cNvCxnSpPr>
            <a:stCxn id="11" idx="1"/>
            <a:endCxn id="72" idx="3"/>
          </p:cNvCxnSpPr>
          <p:nvPr/>
        </p:nvCxnSpPr>
        <p:spPr>
          <a:xfrm flipH="1" flipV="1">
            <a:off x="5652122" y="5229302"/>
            <a:ext cx="855093" cy="1282541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>
            <a:stCxn id="10" idx="1"/>
            <a:endCxn id="72" idx="3"/>
          </p:cNvCxnSpPr>
          <p:nvPr/>
        </p:nvCxnSpPr>
        <p:spPr>
          <a:xfrm flipH="1" flipV="1">
            <a:off x="5652122" y="5229302"/>
            <a:ext cx="855093" cy="337436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6507215" y="1538790"/>
            <a:ext cx="2205245" cy="58506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dirty="0" smtClean="0"/>
              <a:t>Input </a:t>
            </a:r>
            <a:r>
              <a:rPr lang="en-US" altLang="zh-CN" sz="1800" dirty="0" err="1" smtClean="0"/>
              <a:t>Parallelizaion</a:t>
            </a:r>
            <a:endParaRPr lang="zh-CN" altLang="en-US" sz="1800" dirty="0"/>
          </a:p>
        </p:txBody>
      </p:sp>
      <p:sp>
        <p:nvSpPr>
          <p:cNvPr id="7" name="圆角矩形 6"/>
          <p:cNvSpPr/>
          <p:nvPr/>
        </p:nvSpPr>
        <p:spPr>
          <a:xfrm>
            <a:off x="6507214" y="2483895"/>
            <a:ext cx="2205245" cy="58506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dirty="0" err="1" smtClean="0"/>
              <a:t>Kmer</a:t>
            </a:r>
            <a:r>
              <a:rPr lang="en-US" altLang="zh-CN" sz="1800" dirty="0" smtClean="0"/>
              <a:t> Graph Analysis</a:t>
            </a:r>
            <a:endParaRPr lang="zh-CN" altLang="en-US" sz="1800" dirty="0"/>
          </a:p>
        </p:txBody>
      </p:sp>
      <p:sp>
        <p:nvSpPr>
          <p:cNvPr id="8" name="圆角矩形 7"/>
          <p:cNvSpPr/>
          <p:nvPr/>
        </p:nvSpPr>
        <p:spPr>
          <a:xfrm>
            <a:off x="6507215" y="3429000"/>
            <a:ext cx="2205245" cy="58506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dirty="0" smtClean="0"/>
              <a:t>Graph </a:t>
            </a:r>
            <a:r>
              <a:rPr lang="en-US" altLang="zh-CN" sz="1800" dirty="0" err="1" smtClean="0"/>
              <a:t>Constrution</a:t>
            </a:r>
            <a:endParaRPr lang="zh-CN" altLang="en-US" sz="1800" dirty="0"/>
          </a:p>
        </p:txBody>
      </p:sp>
      <p:sp>
        <p:nvSpPr>
          <p:cNvPr id="9" name="圆角矩形 8"/>
          <p:cNvSpPr/>
          <p:nvPr/>
        </p:nvSpPr>
        <p:spPr>
          <a:xfrm>
            <a:off x="6507215" y="4374105"/>
            <a:ext cx="2205245" cy="58506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dirty="0" smtClean="0"/>
              <a:t>Edge Merging</a:t>
            </a:r>
            <a:endParaRPr lang="zh-CN" altLang="en-US" sz="1800" dirty="0"/>
          </a:p>
        </p:txBody>
      </p:sp>
      <p:sp>
        <p:nvSpPr>
          <p:cNvPr id="10" name="圆角矩形 9"/>
          <p:cNvSpPr/>
          <p:nvPr/>
        </p:nvSpPr>
        <p:spPr>
          <a:xfrm>
            <a:off x="6507215" y="5274205"/>
            <a:ext cx="2205245" cy="58506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dirty="0" err="1" smtClean="0"/>
              <a:t>Contig</a:t>
            </a:r>
            <a:r>
              <a:rPr lang="en-US" altLang="zh-CN" sz="1800" dirty="0" smtClean="0"/>
              <a:t> Generation</a:t>
            </a:r>
            <a:endParaRPr lang="zh-CN" altLang="en-US" sz="1800" dirty="0"/>
          </a:p>
        </p:txBody>
      </p:sp>
      <p:sp>
        <p:nvSpPr>
          <p:cNvPr id="11" name="圆角矩形 10"/>
          <p:cNvSpPr/>
          <p:nvPr/>
        </p:nvSpPr>
        <p:spPr>
          <a:xfrm>
            <a:off x="6507215" y="6219310"/>
            <a:ext cx="2205245" cy="58506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dirty="0" smtClean="0"/>
              <a:t>Scaffolding</a:t>
            </a:r>
            <a:endParaRPr lang="zh-CN" altLang="en-US" sz="1800" dirty="0"/>
          </a:p>
        </p:txBody>
      </p:sp>
      <p:cxnSp>
        <p:nvCxnSpPr>
          <p:cNvPr id="12" name="直接箭头连接符 11"/>
          <p:cNvCxnSpPr>
            <a:stCxn id="4" idx="2"/>
            <a:endCxn id="7" idx="0"/>
          </p:cNvCxnSpPr>
          <p:nvPr/>
        </p:nvCxnSpPr>
        <p:spPr>
          <a:xfrm flipH="1">
            <a:off x="7609837" y="2123855"/>
            <a:ext cx="1" cy="36004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2"/>
            <a:endCxn id="8" idx="0"/>
          </p:cNvCxnSpPr>
          <p:nvPr/>
        </p:nvCxnSpPr>
        <p:spPr>
          <a:xfrm>
            <a:off x="7609837" y="3068960"/>
            <a:ext cx="1" cy="36004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8" idx="2"/>
            <a:endCxn id="9" idx="0"/>
          </p:cNvCxnSpPr>
          <p:nvPr/>
        </p:nvCxnSpPr>
        <p:spPr>
          <a:xfrm>
            <a:off x="7609838" y="4014065"/>
            <a:ext cx="0" cy="36004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9" idx="2"/>
            <a:endCxn id="10" idx="0"/>
          </p:cNvCxnSpPr>
          <p:nvPr/>
        </p:nvCxnSpPr>
        <p:spPr>
          <a:xfrm>
            <a:off x="7609838" y="4959170"/>
            <a:ext cx="0" cy="315035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0" idx="2"/>
            <a:endCxn id="11" idx="0"/>
          </p:cNvCxnSpPr>
          <p:nvPr/>
        </p:nvCxnSpPr>
        <p:spPr>
          <a:xfrm>
            <a:off x="7609838" y="5859270"/>
            <a:ext cx="0" cy="36004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6372201" y="1143000"/>
            <a:ext cx="2475274" cy="5715000"/>
          </a:xfrm>
          <a:prstGeom prst="rect">
            <a:avLst/>
          </a:prstGeom>
          <a:solidFill>
            <a:schemeClr val="accent1">
              <a:alpha val="14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基因组装流程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48997" y="1538616"/>
            <a:ext cx="1777698" cy="9452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/>
              <a:t>高扩展</a:t>
            </a:r>
            <a:endParaRPr lang="en-US" altLang="zh-CN" sz="2800" dirty="0" smtClean="0"/>
          </a:p>
          <a:p>
            <a:pPr algn="ctr"/>
            <a:r>
              <a:rPr lang="en-US" altLang="zh-CN" sz="2400" dirty="0" smtClean="0"/>
              <a:t>Scale out</a:t>
            </a:r>
            <a:r>
              <a:rPr lang="zh-CN" altLang="en-US" sz="2400" dirty="0" smtClean="0"/>
              <a:t> </a:t>
            </a:r>
            <a:endParaRPr lang="zh-CN" altLang="en-US" sz="2400" dirty="0"/>
          </a:p>
        </p:txBody>
      </p:sp>
      <p:sp>
        <p:nvSpPr>
          <p:cNvPr id="30" name="圆角矩形 29"/>
          <p:cNvSpPr/>
          <p:nvPr/>
        </p:nvSpPr>
        <p:spPr>
          <a:xfrm>
            <a:off x="59971" y="3181306"/>
            <a:ext cx="1755749" cy="8779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/>
              <a:t>高效率</a:t>
            </a:r>
            <a:endParaRPr lang="en-US" altLang="zh-CN" sz="2800" dirty="0" smtClean="0"/>
          </a:p>
          <a:p>
            <a:pPr algn="ctr"/>
            <a:r>
              <a:rPr lang="en-US" altLang="zh-CN" sz="2400" dirty="0" smtClean="0"/>
              <a:t>Scale up</a:t>
            </a:r>
            <a:endParaRPr lang="zh-CN" altLang="en-US" sz="2400" dirty="0"/>
          </a:p>
        </p:txBody>
      </p:sp>
      <p:sp>
        <p:nvSpPr>
          <p:cNvPr id="32" name="圆角矩形 31"/>
          <p:cNvSpPr/>
          <p:nvPr/>
        </p:nvSpPr>
        <p:spPr>
          <a:xfrm>
            <a:off x="70946" y="4824155"/>
            <a:ext cx="1755749" cy="855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/>
              <a:t>高质量</a:t>
            </a:r>
            <a:r>
              <a:rPr lang="en-US" altLang="zh-CN" sz="2000" dirty="0" smtClean="0"/>
              <a:t>High quality</a:t>
            </a:r>
            <a:endParaRPr lang="zh-CN" altLang="en-US" sz="2000" dirty="0"/>
          </a:p>
        </p:txBody>
      </p:sp>
      <p:cxnSp>
        <p:nvCxnSpPr>
          <p:cNvPr id="33" name="直接箭头连接符 32"/>
          <p:cNvCxnSpPr>
            <a:stCxn id="78870" idx="1"/>
            <a:endCxn id="5" idx="3"/>
          </p:cNvCxnSpPr>
          <p:nvPr/>
        </p:nvCxnSpPr>
        <p:spPr>
          <a:xfrm flipH="1">
            <a:off x="1826695" y="1538616"/>
            <a:ext cx="585404" cy="472640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endCxn id="30" idx="3"/>
          </p:cNvCxnSpPr>
          <p:nvPr/>
        </p:nvCxnSpPr>
        <p:spPr>
          <a:xfrm flipH="1">
            <a:off x="1815720" y="1718991"/>
            <a:ext cx="568201" cy="1901288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70" idx="1"/>
            <a:endCxn id="30" idx="3"/>
          </p:cNvCxnSpPr>
          <p:nvPr/>
        </p:nvCxnSpPr>
        <p:spPr>
          <a:xfrm flipH="1">
            <a:off x="1815720" y="2475783"/>
            <a:ext cx="596378" cy="1144496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71" idx="1"/>
            <a:endCxn id="5" idx="3"/>
          </p:cNvCxnSpPr>
          <p:nvPr/>
        </p:nvCxnSpPr>
        <p:spPr>
          <a:xfrm flipH="1" flipV="1">
            <a:off x="1826695" y="2011256"/>
            <a:ext cx="585403" cy="1867794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72" idx="1"/>
            <a:endCxn id="5" idx="3"/>
          </p:cNvCxnSpPr>
          <p:nvPr/>
        </p:nvCxnSpPr>
        <p:spPr>
          <a:xfrm flipH="1" flipV="1">
            <a:off x="1826695" y="2011256"/>
            <a:ext cx="634009" cy="3218046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72" idx="1"/>
            <a:endCxn id="30" idx="3"/>
          </p:cNvCxnSpPr>
          <p:nvPr/>
        </p:nvCxnSpPr>
        <p:spPr>
          <a:xfrm flipH="1" flipV="1">
            <a:off x="1815720" y="3620279"/>
            <a:ext cx="644984" cy="1609023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72" idx="1"/>
            <a:endCxn id="32" idx="3"/>
          </p:cNvCxnSpPr>
          <p:nvPr/>
        </p:nvCxnSpPr>
        <p:spPr>
          <a:xfrm flipH="1">
            <a:off x="1826695" y="5229302"/>
            <a:ext cx="634009" cy="22401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64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研究现状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已发表的并行组装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296863" y="1223754"/>
            <a:ext cx="8550612" cy="5634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altLang="zh-CN" sz="2400" dirty="0" smtClean="0"/>
              <a:t>ABySS   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JT. Simpson</a:t>
            </a:r>
            <a:r>
              <a:rPr lang="en-US" altLang="zh-CN" sz="1800" dirty="0" smtClean="0"/>
              <a:t>, Genome Research/Nature Methods, 2009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贡献： 经典</a:t>
            </a:r>
            <a:r>
              <a:rPr lang="en-US" altLang="zh-CN" sz="2000" dirty="0" smtClean="0"/>
              <a:t>DBG</a:t>
            </a:r>
            <a:r>
              <a:rPr lang="zh-CN" altLang="en-US" sz="2000" dirty="0" smtClean="0"/>
              <a:t>策略在</a:t>
            </a:r>
            <a:r>
              <a:rPr lang="en-US" altLang="zh-CN" sz="2000" dirty="0" smtClean="0"/>
              <a:t>MPI</a:t>
            </a:r>
            <a:r>
              <a:rPr lang="zh-CN" altLang="en-US" sz="2000" dirty="0" smtClean="0"/>
              <a:t>通讯上的简单实现</a:t>
            </a:r>
            <a:r>
              <a:rPr lang="en-US" altLang="zh-CN" sz="2000" dirty="0" smtClean="0"/>
              <a:t> (SC 2014)</a:t>
            </a:r>
            <a:r>
              <a:rPr lang="zh-CN" altLang="en-US" sz="2000" dirty="0" smtClean="0"/>
              <a:t>，并行度不够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endParaRPr lang="en-US" altLang="zh-CN" sz="1800" dirty="0"/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 smtClean="0"/>
              <a:t>Ray/Ray-meta </a:t>
            </a:r>
            <a:r>
              <a:rPr lang="en-US" altLang="zh-CN" sz="1800" b="1" dirty="0" err="1" smtClean="0">
                <a:solidFill>
                  <a:srgbClr val="FF0000"/>
                </a:solidFill>
              </a:rPr>
              <a:t>Sebastien</a:t>
            </a:r>
            <a:r>
              <a:rPr lang="en-US" altLang="zh-CN" sz="1800" dirty="0"/>
              <a:t>, </a:t>
            </a:r>
            <a:r>
              <a:rPr lang="en-US" altLang="zh-CN" sz="1800" dirty="0" smtClean="0"/>
              <a:t>JCB/Genome Biology, </a:t>
            </a:r>
            <a:r>
              <a:rPr lang="en-US" altLang="zh-CN" sz="1800" dirty="0"/>
              <a:t>2012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贡献： 基于</a:t>
            </a:r>
            <a:r>
              <a:rPr lang="en-US" altLang="zh-CN" sz="2000" dirty="0" smtClean="0"/>
              <a:t>MPI</a:t>
            </a:r>
            <a:r>
              <a:rPr lang="zh-CN" altLang="en-US" sz="2000" dirty="0" smtClean="0"/>
              <a:t>开发的通用分布式引擎上的经典</a:t>
            </a:r>
            <a:r>
              <a:rPr lang="en-US" altLang="zh-CN" sz="2000" dirty="0" smtClean="0"/>
              <a:t>DBG</a:t>
            </a:r>
            <a:r>
              <a:rPr lang="zh-CN" altLang="en-US" sz="2000" dirty="0" smtClean="0"/>
              <a:t>策略实现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endParaRPr lang="en-US" altLang="zh-CN" sz="1800" dirty="0"/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 smtClean="0"/>
              <a:t>YAGA  </a:t>
            </a:r>
            <a:r>
              <a:rPr lang="en-US" altLang="zh-CN" sz="1800" b="1" dirty="0">
                <a:solidFill>
                  <a:srgbClr val="FF0000"/>
                </a:solidFill>
              </a:rPr>
              <a:t>BG. 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Jackson, </a:t>
            </a:r>
            <a:r>
              <a:rPr lang="en-US" altLang="zh-CN" sz="1800" b="1" dirty="0" err="1" smtClean="0">
                <a:solidFill>
                  <a:srgbClr val="FF0000"/>
                </a:solidFill>
              </a:rPr>
              <a:t>S.aluru</a:t>
            </a:r>
            <a:r>
              <a:rPr lang="en-US" altLang="zh-CN" sz="1800" dirty="0" smtClean="0"/>
              <a:t>, </a:t>
            </a:r>
            <a:r>
              <a:rPr lang="en-US" altLang="zh-CN" sz="1800" dirty="0"/>
              <a:t>ICPP /IPDPS /BMC Bioinformatics </a:t>
            </a:r>
            <a:r>
              <a:rPr lang="en-US" altLang="zh-CN" sz="1800" dirty="0" smtClean="0"/>
              <a:t>2009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贡献： 双向</a:t>
            </a:r>
            <a:r>
              <a:rPr lang="en-US" altLang="zh-CN" sz="2000" dirty="0" smtClean="0"/>
              <a:t>DBG</a:t>
            </a:r>
            <a:r>
              <a:rPr lang="zh-CN" altLang="en-US" sz="2000" dirty="0" smtClean="0"/>
              <a:t>的构建，基于</a:t>
            </a:r>
            <a:r>
              <a:rPr lang="en-US" altLang="zh-CN" sz="2000" dirty="0" smtClean="0"/>
              <a:t>List ranking </a:t>
            </a:r>
            <a:r>
              <a:rPr lang="zh-CN" altLang="en-US" sz="2000" dirty="0" smtClean="0"/>
              <a:t>路径收缩算法</a:t>
            </a:r>
            <a:r>
              <a:rPr lang="zh-CN" altLang="en-US" sz="2000" dirty="0"/>
              <a:t>复杂度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nlogn</a:t>
            </a:r>
            <a:r>
              <a:rPr lang="en-US" altLang="zh-CN" sz="2000" dirty="0" smtClean="0"/>
              <a:t>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000" dirty="0" smtClean="0"/>
              <a:t>BGI Hecate, Contrail </a:t>
            </a:r>
            <a:r>
              <a:rPr lang="zh-CN" altLang="en-US" sz="2000" b="1" dirty="0" smtClean="0"/>
              <a:t>云上组装项目</a:t>
            </a:r>
            <a:r>
              <a:rPr lang="zh-CN" altLang="en-US" sz="2000" dirty="0" smtClean="0"/>
              <a:t>的核心算法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endParaRPr lang="en-US" altLang="zh-CN" sz="1800" dirty="0"/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 smtClean="0"/>
              <a:t>PASHA </a:t>
            </a:r>
            <a:r>
              <a:rPr lang="en-US" altLang="zh-CN" sz="1800" b="1" dirty="0" err="1" smtClean="0">
                <a:solidFill>
                  <a:srgbClr val="FF0000"/>
                </a:solidFill>
              </a:rPr>
              <a:t>Yongchao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</a:rPr>
              <a:t>Liu</a:t>
            </a:r>
            <a:r>
              <a:rPr lang="en-US" altLang="zh-CN" sz="1800" dirty="0"/>
              <a:t>, BMC Bioinformatics, </a:t>
            </a:r>
            <a:r>
              <a:rPr lang="en-US" altLang="zh-CN" sz="1800" dirty="0" smtClean="0"/>
              <a:t>2011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1800" dirty="0"/>
              <a:t>贡献：在</a:t>
            </a:r>
            <a:r>
              <a:rPr lang="en-US" altLang="zh-CN" sz="1800" dirty="0" err="1"/>
              <a:t>kmer</a:t>
            </a:r>
            <a:r>
              <a:rPr lang="zh-CN" altLang="en-US" sz="1800" dirty="0"/>
              <a:t>统计 </a:t>
            </a:r>
            <a:r>
              <a:rPr lang="en-US" altLang="zh-CN" sz="1800" dirty="0"/>
              <a:t>&amp; </a:t>
            </a:r>
            <a:r>
              <a:rPr lang="zh-CN" altLang="en-US" sz="1800" dirty="0"/>
              <a:t>路径合并阶段有线程级并行，同一路径要</a:t>
            </a:r>
            <a:r>
              <a:rPr lang="zh-CN" altLang="en-US" sz="1800" dirty="0" smtClean="0"/>
              <a:t>串行</a:t>
            </a:r>
            <a:endParaRPr lang="en-US" altLang="zh-CN" sz="2400" dirty="0"/>
          </a:p>
          <a:p>
            <a:pPr marL="742950" lvl="1" indent="-285750">
              <a:buFont typeface="Arial" charset="0"/>
              <a:buChar char="•"/>
            </a:pPr>
            <a:endParaRPr lang="en-US" altLang="zh-CN" sz="2000" dirty="0" smtClean="0"/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 err="1"/>
              <a:t>HipMer</a:t>
            </a:r>
            <a:r>
              <a:rPr lang="en-US" altLang="zh-CN" sz="2000" dirty="0"/>
              <a:t> </a:t>
            </a:r>
            <a:r>
              <a:rPr lang="en-US" altLang="zh-CN" sz="1600" b="1" dirty="0">
                <a:solidFill>
                  <a:srgbClr val="FF0000"/>
                </a:solidFill>
              </a:rPr>
              <a:t>E </a:t>
            </a:r>
            <a:r>
              <a:rPr lang="en-US" altLang="zh-CN" sz="1600" b="1" dirty="0" err="1">
                <a:solidFill>
                  <a:srgbClr val="FF0000"/>
                </a:solidFill>
              </a:rPr>
              <a:t>Georganas</a:t>
            </a:r>
            <a:r>
              <a:rPr lang="en-US" altLang="zh-CN" sz="1600" b="1" dirty="0">
                <a:solidFill>
                  <a:srgbClr val="FF0000"/>
                </a:solidFill>
              </a:rPr>
              <a:t>  </a:t>
            </a:r>
            <a:r>
              <a:rPr lang="en-US" altLang="zh-CN" sz="2400" dirty="0"/>
              <a:t>SC 2015</a:t>
            </a:r>
          </a:p>
          <a:p>
            <a:pPr marL="685800" lvl="1">
              <a:buFont typeface="Arial" charset="0"/>
              <a:buChar char="•"/>
            </a:pPr>
            <a:r>
              <a:rPr lang="zh-CN" altLang="en-US" sz="1800" dirty="0" smtClean="0"/>
              <a:t>贡献： 引入</a:t>
            </a:r>
            <a:r>
              <a:rPr lang="en-US" altLang="zh-CN" sz="1800" dirty="0" smtClean="0"/>
              <a:t>Oracle </a:t>
            </a:r>
            <a:r>
              <a:rPr lang="zh-CN" altLang="en-US" sz="1800" dirty="0" smtClean="0"/>
              <a:t>图分割来对分割</a:t>
            </a:r>
            <a:r>
              <a:rPr lang="en-US" altLang="zh-CN" sz="1800" dirty="0" smtClean="0"/>
              <a:t>DBG.  </a:t>
            </a:r>
            <a:r>
              <a:rPr lang="zh-CN" altLang="en-US" sz="1800" dirty="0" smtClean="0"/>
              <a:t>他的</a:t>
            </a:r>
            <a:r>
              <a:rPr lang="en-US" altLang="zh-CN" sz="1800" dirty="0" smtClean="0"/>
              <a:t>UPC</a:t>
            </a:r>
            <a:r>
              <a:rPr lang="zh-CN" altLang="en-US" sz="1800" dirty="0" smtClean="0"/>
              <a:t>实现可以扩展到</a:t>
            </a:r>
            <a:r>
              <a:rPr lang="en-US" altLang="zh-CN" sz="1800" b="1" dirty="0" smtClean="0"/>
              <a:t>15K cores</a:t>
            </a:r>
            <a:r>
              <a:rPr lang="en-US" altLang="zh-CN" sz="1800" b="1" dirty="0"/>
              <a:t>.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771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研究现状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现有工作比较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317090"/>
              </p:ext>
            </p:extLst>
          </p:nvPr>
        </p:nvGraphicFramePr>
        <p:xfrm>
          <a:off x="113729" y="1312376"/>
          <a:ext cx="8890398" cy="4422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33"/>
                <a:gridCol w="1481733"/>
                <a:gridCol w="1481733"/>
                <a:gridCol w="1481733"/>
                <a:gridCol w="1231639"/>
                <a:gridCol w="1731827"/>
              </a:tblGrid>
              <a:tr h="55645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数学模型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算法复杂度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并行计算模型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软件扩展性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组装质量排名</a:t>
                      </a:r>
                      <a:endParaRPr lang="zh-CN" altLang="en-US" sz="1600" dirty="0"/>
                    </a:p>
                  </a:txBody>
                  <a:tcPr/>
                </a:tc>
              </a:tr>
              <a:tr h="54774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SOAPdenovo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DBG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计算 </a:t>
                      </a:r>
                      <a:r>
                        <a:rPr lang="en-US" altLang="zh-CN" sz="1400" dirty="0" smtClean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PRAM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共享内存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54774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PASHA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DBG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计算 </a:t>
                      </a:r>
                      <a:r>
                        <a:rPr lang="en-US" altLang="zh-CN" sz="1400" dirty="0" smtClean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PRAM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共享内存</a:t>
                      </a:r>
                    </a:p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无质量分析</a:t>
                      </a:r>
                      <a:endParaRPr lang="zh-CN" altLang="en-US" sz="1400" dirty="0"/>
                    </a:p>
                  </a:txBody>
                  <a:tcPr/>
                </a:tc>
              </a:tr>
              <a:tr h="54774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ABySS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DBG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计算 </a:t>
                      </a:r>
                      <a:r>
                        <a:rPr lang="en-US" altLang="zh-CN" sz="1400" dirty="0" smtClean="0"/>
                        <a:t>O(n)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通讯</a:t>
                      </a:r>
                      <a:r>
                        <a:rPr lang="zh-CN" altLang="en-US" sz="1400" baseline="0" dirty="0" smtClean="0"/>
                        <a:t> </a:t>
                      </a:r>
                      <a:r>
                        <a:rPr lang="en-US" altLang="zh-CN" sz="1400" baseline="0" dirty="0" smtClean="0"/>
                        <a:t>O(log(n))</a:t>
                      </a:r>
                      <a:endParaRPr lang="en-US" altLang="zh-CN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P2P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&lt;512</a:t>
                      </a:r>
                      <a:r>
                        <a:rPr lang="zh-CN" altLang="en-US" sz="1400" dirty="0" smtClean="0"/>
                        <a:t>核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</a:tr>
              <a:tr h="54774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Ray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DBG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P2P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&lt;512</a:t>
                      </a:r>
                      <a:r>
                        <a:rPr lang="zh-CN" altLang="en-US" sz="1400" dirty="0" smtClean="0"/>
                        <a:t>核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</a:tr>
              <a:tr h="5477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YAGA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 </a:t>
                      </a:r>
                      <a:r>
                        <a:rPr lang="zh-CN" altLang="en-US" sz="1400" dirty="0" smtClean="0"/>
                        <a:t>双向</a:t>
                      </a:r>
                      <a:r>
                        <a:rPr lang="en-US" altLang="zh-CN" sz="1400" dirty="0" smtClean="0"/>
                        <a:t>DBG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计算 </a:t>
                      </a:r>
                      <a:r>
                        <a:rPr lang="en-US" altLang="zh-CN" sz="1400" dirty="0" smtClean="0"/>
                        <a:t>O(n)</a:t>
                      </a:r>
                    </a:p>
                    <a:p>
                      <a:r>
                        <a:rPr lang="zh-CN" altLang="en-US" sz="1400" dirty="0" smtClean="0"/>
                        <a:t>通讯</a:t>
                      </a:r>
                      <a:r>
                        <a:rPr lang="zh-CN" altLang="en-US" sz="1400" baseline="0" dirty="0" smtClean="0"/>
                        <a:t> </a:t>
                      </a:r>
                      <a:r>
                        <a:rPr lang="en-US" altLang="zh-CN" sz="1400" baseline="0" dirty="0" smtClean="0"/>
                        <a:t>O(log(n))</a:t>
                      </a:r>
                      <a:endParaRPr lang="en-US" altLang="zh-CN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BSP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-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无质量分析</a:t>
                      </a:r>
                      <a:endParaRPr lang="zh-CN" altLang="en-US" sz="1400" dirty="0"/>
                    </a:p>
                  </a:txBody>
                  <a:tcPr/>
                </a:tc>
              </a:tr>
              <a:tr h="547749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HipMer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DBG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-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P2P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15,000</a:t>
                      </a:r>
                      <a:r>
                        <a:rPr lang="zh-CN" altLang="en-US" sz="1400" dirty="0" smtClean="0"/>
                        <a:t>核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-</a:t>
                      </a:r>
                      <a:endParaRPr lang="zh-CN" altLang="en-US" sz="1400" dirty="0"/>
                    </a:p>
                  </a:txBody>
                  <a:tcPr/>
                </a:tc>
              </a:tr>
              <a:tr h="54774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SWAP-Assembler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MSG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计算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O(n)</a:t>
                      </a:r>
                    </a:p>
                    <a:p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通讯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O(</a:t>
                      </a:r>
                      <a:r>
                        <a:rPr lang="en-US" altLang="zh-CN" sz="1400" b="1" dirty="0" err="1" smtClean="0">
                          <a:solidFill>
                            <a:srgbClr val="FF0000"/>
                          </a:solidFill>
                        </a:rPr>
                        <a:t>loglog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(n))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SWAP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2048</a:t>
                      </a:r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核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</a:p>
                    <a:p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128,000</a:t>
                      </a:r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核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81514" y="5880289"/>
            <a:ext cx="882261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800" dirty="0" smtClean="0"/>
              <a:t>1. Jintao </a:t>
            </a:r>
            <a:r>
              <a:rPr lang="en-US" altLang="zh-CN" sz="1800" dirty="0" err="1" smtClean="0"/>
              <a:t>Meng</a:t>
            </a:r>
            <a:r>
              <a:rPr lang="en-US" altLang="zh-CN" sz="1800" dirty="0" smtClean="0"/>
              <a:t>, etc. SWAP-Assembler</a:t>
            </a:r>
            <a:r>
              <a:rPr lang="en-US" altLang="zh-CN" sz="1800" dirty="0"/>
              <a:t>: Scalable and Efficient Genome Assembly towards Thousands of Cores, BMC Bioinformatics, </a:t>
            </a:r>
            <a:r>
              <a:rPr lang="en-US" altLang="zh-CN" sz="1800" dirty="0" smtClean="0"/>
              <a:t>2014 (JCR 1</a:t>
            </a:r>
            <a:r>
              <a:rPr lang="zh-CN" altLang="en-US" sz="1800" dirty="0" smtClean="0"/>
              <a:t>区</a:t>
            </a:r>
            <a:r>
              <a:rPr lang="en-US" altLang="zh-CN" sz="1800" dirty="0" smtClean="0"/>
              <a:t>, IF=3.0)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428456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研究现状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现有工作的问题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296863" y="1268412"/>
            <a:ext cx="8190572" cy="558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b="1" dirty="0" smtClean="0"/>
              <a:t>高扩展</a:t>
            </a:r>
            <a:endParaRPr lang="en-US" altLang="zh-CN" sz="2400" b="1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并行复杂</a:t>
            </a:r>
            <a:r>
              <a:rPr lang="zh-CN" altLang="en-US" sz="2400" dirty="0"/>
              <a:t>度     </a:t>
            </a:r>
            <a:r>
              <a:rPr lang="zh-CN" altLang="en-US" sz="2400" dirty="0" smtClean="0"/>
              <a:t>   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有</a:t>
            </a:r>
            <a:r>
              <a:rPr lang="zh-CN" altLang="en-US" sz="2000" b="1" dirty="0">
                <a:solidFill>
                  <a:srgbClr val="FF0000"/>
                </a:solidFill>
              </a:rPr>
              <a:t>改进但仍无法解耦数据依赖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1200150" lvl="2" indent="-285750">
              <a:buFont typeface="Arial" charset="0"/>
              <a:buChar char="•"/>
            </a:pPr>
            <a:r>
              <a:rPr lang="en-US" altLang="zh-CN" sz="2000" dirty="0" smtClean="0"/>
              <a:t>2001</a:t>
            </a:r>
            <a:r>
              <a:rPr lang="zh-CN" altLang="en-US" sz="2000" dirty="0" smtClean="0"/>
              <a:t>年</a:t>
            </a:r>
            <a:r>
              <a:rPr lang="en-US" altLang="zh-CN" sz="2000" dirty="0" smtClean="0"/>
              <a:t>MS Waterman</a:t>
            </a:r>
            <a:r>
              <a:rPr lang="zh-CN" altLang="en-US" sz="2000" dirty="0" smtClean="0"/>
              <a:t>提出经典</a:t>
            </a:r>
            <a:r>
              <a:rPr lang="en-US" altLang="zh-CN" sz="2000" dirty="0" smtClean="0"/>
              <a:t>DBG</a:t>
            </a:r>
            <a:r>
              <a:rPr lang="zh-CN" altLang="en-US" sz="2000" dirty="0" smtClean="0"/>
              <a:t>策略，该策略是</a:t>
            </a:r>
            <a:r>
              <a:rPr lang="en-US" altLang="zh-CN" sz="2000" dirty="0" smtClean="0"/>
              <a:t>NP</a:t>
            </a:r>
            <a:r>
              <a:rPr lang="zh-CN" altLang="en-US" sz="2000" dirty="0" smtClean="0"/>
              <a:t>难问题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扩展规模有限    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仅</a:t>
            </a:r>
            <a:r>
              <a:rPr lang="zh-CN" altLang="en-US" sz="2000" b="1" dirty="0">
                <a:solidFill>
                  <a:srgbClr val="FF0000"/>
                </a:solidFill>
              </a:rPr>
              <a:t>扩展到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百核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/>
              <a:t>共享</a:t>
            </a:r>
            <a:r>
              <a:rPr lang="zh-CN" altLang="en-US" sz="2000" dirty="0"/>
              <a:t>内存          </a:t>
            </a:r>
            <a:r>
              <a:rPr lang="en-US" altLang="zh-CN" sz="2000" dirty="0"/>
              <a:t>Velvet(1),  </a:t>
            </a:r>
            <a:r>
              <a:rPr lang="en-US" altLang="zh-CN" sz="2000" dirty="0" err="1"/>
              <a:t>SOAPdenovo&amp;PASHA</a:t>
            </a:r>
            <a:r>
              <a:rPr lang="en-US" altLang="zh-CN" sz="2000" dirty="0"/>
              <a:t> (32)</a:t>
            </a: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/>
              <a:t>分布式              </a:t>
            </a:r>
            <a:r>
              <a:rPr lang="en-US" altLang="zh-CN" sz="2000" dirty="0" err="1"/>
              <a:t>ABySS</a:t>
            </a:r>
            <a:r>
              <a:rPr lang="en-US" altLang="zh-CN" sz="2000" dirty="0"/>
              <a:t> &amp; Ray </a:t>
            </a:r>
            <a:r>
              <a:rPr lang="zh-CN" altLang="en-US" sz="2000" dirty="0" smtClean="0"/>
              <a:t>百核</a:t>
            </a:r>
            <a:endParaRPr lang="en-US" altLang="zh-CN" sz="2000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b="1" dirty="0" smtClean="0"/>
              <a:t>高效率</a:t>
            </a:r>
            <a:endParaRPr lang="en-US" altLang="zh-CN" sz="2400" b="1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并行计算模型       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  </a:t>
            </a:r>
            <a:r>
              <a:rPr lang="zh-CN" altLang="en-US" sz="2000" b="1" dirty="0">
                <a:solidFill>
                  <a:srgbClr val="FF0000"/>
                </a:solidFill>
              </a:rPr>
              <a:t>沿用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现有并行计算模型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marL="1200150" lvl="2" indent="-285750">
              <a:buFont typeface="Arial" charset="0"/>
              <a:buChar char="•"/>
            </a:pPr>
            <a:r>
              <a:rPr lang="en-US" altLang="zh-CN" sz="2000" dirty="0" smtClean="0"/>
              <a:t>P2P</a:t>
            </a:r>
            <a:r>
              <a:rPr lang="zh-CN" altLang="en-US" sz="2000" dirty="0" smtClean="0"/>
              <a:t>模型</a:t>
            </a:r>
            <a:r>
              <a:rPr lang="en-US" altLang="zh-CN" sz="2000" dirty="0" smtClean="0"/>
              <a:t>   ABySS, Ray/Ray-meta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altLang="zh-CN" sz="2000" dirty="0" smtClean="0"/>
              <a:t>BSP</a:t>
            </a:r>
            <a:r>
              <a:rPr lang="zh-CN" altLang="en-US" sz="2000" dirty="0" smtClean="0"/>
              <a:t>模型</a:t>
            </a:r>
            <a:r>
              <a:rPr lang="en-US" altLang="zh-CN" sz="2000" dirty="0" smtClean="0"/>
              <a:t>   YAGA</a:t>
            </a:r>
            <a:endParaRPr lang="en-US" altLang="zh-CN" sz="2000" dirty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b="1" dirty="0" smtClean="0"/>
              <a:t>高质量</a:t>
            </a:r>
            <a:r>
              <a:rPr lang="zh-CN" altLang="en-US" sz="2400" dirty="0" smtClean="0"/>
              <a:t>                             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并行</a:t>
            </a:r>
            <a:r>
              <a:rPr lang="zh-CN" altLang="en-US" sz="2000" b="1" dirty="0">
                <a:solidFill>
                  <a:srgbClr val="FF0000"/>
                </a:solidFill>
              </a:rPr>
              <a:t>使得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质量受损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复杂图解耦算法难并行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串行结果好于并行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208636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研究内容和目标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296863" y="1268412"/>
            <a:ext cx="5850312" cy="558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高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扩展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，高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效率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，高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质量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序列组装软件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高扩展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: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可扩展数学模型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MSG</a:t>
            </a: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可扩展计算模型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SWAP  </a:t>
            </a: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目标：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扩展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整个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Mira(768,000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核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2"/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高效率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: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高效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IO/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通讯 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(GPFS, IO Ratio)</a:t>
            </a: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低内存数据片动态调整技术 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(5D Torus)</a:t>
            </a: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目标：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释放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Mira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峰值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性能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2"/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高质量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altLang="zh-CN" sz="2000" dirty="0" err="1" smtClean="0">
                <a:latin typeface="微软雅黑" pitchFamily="34" charset="-122"/>
                <a:ea typeface="微软雅黑" pitchFamily="34" charset="-122"/>
              </a:rPr>
              <a:t>Contig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长度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(N50, N75)</a:t>
            </a:r>
          </a:p>
          <a:p>
            <a:pPr marL="1200150" lvl="2" indent="-285750" algn="just">
              <a:buFont typeface="Arial" charset="0"/>
              <a:buChar char="•"/>
            </a:pPr>
            <a:r>
              <a:rPr lang="en-US" altLang="zh-CN" sz="2000" dirty="0" err="1" smtClean="0">
                <a:latin typeface="微软雅黑" pitchFamily="34" charset="-122"/>
                <a:ea typeface="微软雅黑" pitchFamily="34" charset="-122"/>
              </a:rPr>
              <a:t>Contig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精度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错误率，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Coverage)</a:t>
            </a:r>
          </a:p>
          <a:p>
            <a:pPr marL="1200150" lvl="2" indent="-285750" algn="just">
              <a:buFont typeface="Arial" charset="0"/>
              <a:buChar char="•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目标：延长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长度保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精度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SOAPdenovo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185" y="1255577"/>
            <a:ext cx="2766944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237185" y="2646227"/>
            <a:ext cx="27669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Microbes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185" y="3158970"/>
            <a:ext cx="2766944" cy="137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13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185" y="5004175"/>
            <a:ext cx="2766944" cy="1377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6237185" y="4509120"/>
            <a:ext cx="27669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Communities</a:t>
            </a:r>
          </a:p>
        </p:txBody>
      </p:sp>
      <p:sp>
        <p:nvSpPr>
          <p:cNvPr id="6" name="矩形 5"/>
          <p:cNvSpPr/>
          <p:nvPr/>
        </p:nvSpPr>
        <p:spPr>
          <a:xfrm>
            <a:off x="6237186" y="6314628"/>
            <a:ext cx="27669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Plants</a:t>
            </a:r>
          </a:p>
        </p:txBody>
      </p:sp>
    </p:spTree>
    <p:extLst>
      <p:ext uri="{BB962C8B-B14F-4D97-AF65-F5344CB8AC3E}">
        <p14:creationId xmlns:p14="http://schemas.microsoft.com/office/powerpoint/2010/main" val="61888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拟解决关键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问题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Content Placeholder 2"/>
          <p:cNvSpPr>
            <a:spLocks/>
          </p:cNvSpPr>
          <p:nvPr/>
        </p:nvSpPr>
        <p:spPr bwMode="auto">
          <a:xfrm>
            <a:off x="296863" y="1268412"/>
            <a:ext cx="8190572" cy="558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高扩展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000" dirty="0" smtClean="0"/>
              <a:t>DBG</a:t>
            </a:r>
            <a:r>
              <a:rPr lang="zh-CN" altLang="en-US" sz="2000" dirty="0" smtClean="0"/>
              <a:t>组装策略</a:t>
            </a:r>
            <a:r>
              <a:rPr lang="zh-CN" altLang="en-US" sz="2000" dirty="0"/>
              <a:t>提高</a:t>
            </a:r>
            <a:r>
              <a:rPr lang="zh-CN" altLang="en-US" sz="2000" dirty="0" smtClean="0"/>
              <a:t>并行度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数据依赖</a:t>
            </a:r>
            <a:r>
              <a:rPr lang="en-US" altLang="zh-CN" sz="2000" dirty="0" smtClean="0"/>
              <a:t>)     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-&gt;</a:t>
            </a:r>
            <a:r>
              <a:rPr lang="en-US" altLang="zh-CN" sz="2000" dirty="0" smtClean="0"/>
              <a:t>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如何解耦数据依赖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现有计算模型上</a:t>
            </a:r>
            <a:r>
              <a:rPr lang="en-US" altLang="zh-CN" sz="2000" dirty="0" smtClean="0"/>
              <a:t>DBG</a:t>
            </a:r>
            <a:r>
              <a:rPr lang="zh-CN" altLang="en-US" sz="2000" dirty="0" smtClean="0"/>
              <a:t>难扩展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                      -&gt;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适合图算法计算模型</a:t>
            </a:r>
            <a:endParaRPr lang="en-US" altLang="zh-CN" sz="2000" dirty="0" smtClean="0"/>
          </a:p>
          <a:p>
            <a:pPr lvl="1"/>
            <a:endParaRPr lang="en-US" altLang="zh-CN" sz="2000" b="1" dirty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高效率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内存消耗</a:t>
            </a:r>
            <a:r>
              <a:rPr lang="en-US" altLang="zh-CN" sz="2000" dirty="0" smtClean="0"/>
              <a:t>IO</a:t>
            </a:r>
            <a:r>
              <a:rPr lang="zh-CN" altLang="en-US" sz="2000" dirty="0" smtClean="0"/>
              <a:t>数据</a:t>
            </a:r>
            <a:r>
              <a:rPr lang="zh-CN" altLang="en-US" sz="2000" dirty="0"/>
              <a:t>通讯大 </a:t>
            </a:r>
            <a:r>
              <a:rPr lang="zh-CN" altLang="en-US" sz="2000" dirty="0" smtClean="0"/>
              <a:t>            </a:t>
            </a:r>
            <a:r>
              <a:rPr lang="en-US" altLang="zh-CN" sz="2000" b="1" dirty="0">
                <a:solidFill>
                  <a:srgbClr val="FF0000"/>
                </a:solidFill>
              </a:rPr>
              <a:t>-&gt;</a:t>
            </a:r>
            <a:r>
              <a:rPr lang="en-US" altLang="zh-CN" sz="2000" dirty="0"/>
              <a:t> </a:t>
            </a:r>
            <a:r>
              <a:rPr lang="zh-CN" altLang="en-US" sz="2000" b="1" dirty="0">
                <a:solidFill>
                  <a:srgbClr val="FF0000"/>
                </a:solidFill>
              </a:rPr>
              <a:t>如何压缩内存释放</a:t>
            </a:r>
            <a:r>
              <a:rPr lang="en-US" altLang="zh-CN" sz="2000" b="1" dirty="0">
                <a:solidFill>
                  <a:srgbClr val="FF0000"/>
                </a:solidFill>
              </a:rPr>
              <a:t>IO/</a:t>
            </a:r>
            <a:r>
              <a:rPr lang="zh-CN" altLang="en-US" sz="2000" b="1" dirty="0">
                <a:solidFill>
                  <a:srgbClr val="FF0000"/>
                </a:solidFill>
              </a:rPr>
              <a:t>通讯峰值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000" dirty="0"/>
              <a:t>SWAP</a:t>
            </a:r>
            <a:r>
              <a:rPr lang="zh-CN" altLang="en-US" sz="2000" dirty="0"/>
              <a:t>通讯协议空闲时间增加  </a:t>
            </a:r>
            <a:r>
              <a:rPr lang="en-US" altLang="zh-CN" sz="2000" b="1" dirty="0">
                <a:solidFill>
                  <a:srgbClr val="FF0000"/>
                </a:solidFill>
              </a:rPr>
              <a:t>-&gt;</a:t>
            </a:r>
            <a:r>
              <a:rPr lang="en-US" altLang="zh-CN" sz="2000" dirty="0"/>
              <a:t>  </a:t>
            </a:r>
            <a:r>
              <a:rPr lang="zh-CN" altLang="en-US" sz="2000" b="1" dirty="0">
                <a:solidFill>
                  <a:srgbClr val="FF0000"/>
                </a:solidFill>
              </a:rPr>
              <a:t>如何提高并保持通讯效率 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endParaRPr lang="en-US" altLang="zh-CN" sz="2400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高质量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/>
              <a:t>组装结果的质量</a:t>
            </a:r>
            <a:r>
              <a:rPr lang="en-US" altLang="zh-CN" sz="2000" dirty="0"/>
              <a:t>(N50</a:t>
            </a:r>
            <a:r>
              <a:rPr lang="zh-CN" altLang="en-US" sz="2000" dirty="0"/>
              <a:t>长度</a:t>
            </a:r>
            <a:r>
              <a:rPr lang="en-US" altLang="zh-CN" sz="2000" dirty="0"/>
              <a:t>)</a:t>
            </a:r>
            <a:r>
              <a:rPr lang="zh-CN" altLang="en-US" sz="2000" dirty="0"/>
              <a:t>和精度</a:t>
            </a:r>
            <a:r>
              <a:rPr lang="en-US" altLang="zh-CN" sz="2000" dirty="0"/>
              <a:t>(</a:t>
            </a:r>
            <a:r>
              <a:rPr lang="en-US" altLang="zh-CN" sz="2000" dirty="0" err="1"/>
              <a:t>contig</a:t>
            </a:r>
            <a:r>
              <a:rPr lang="zh-CN" altLang="en-US" sz="2000" dirty="0"/>
              <a:t>错配率</a:t>
            </a:r>
            <a:r>
              <a:rPr lang="en-US" altLang="zh-CN" sz="2000" dirty="0"/>
              <a:t>)</a:t>
            </a:r>
            <a:r>
              <a:rPr lang="zh-CN" altLang="en-US" sz="2000" dirty="0"/>
              <a:t>是衡量组装结果好坏的重要指标。但是这两个指标很难同时提高，现有软件基本是做</a:t>
            </a:r>
            <a:r>
              <a:rPr lang="en-US" altLang="zh-CN" sz="2000" dirty="0"/>
              <a:t>tradeoff.  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是否存在</a:t>
            </a:r>
            <a:r>
              <a:rPr lang="en-US" altLang="zh-CN" sz="2000" dirty="0" smtClean="0"/>
              <a:t>No tradeoff </a:t>
            </a:r>
            <a:r>
              <a:rPr lang="zh-CN" altLang="en-US" sz="2000" dirty="0" smtClean="0"/>
              <a:t>策略</a:t>
            </a:r>
            <a:r>
              <a:rPr lang="en-US" altLang="zh-CN" sz="2000" dirty="0" smtClean="0"/>
              <a:t>)</a:t>
            </a:r>
            <a:endParaRPr lang="en-US" altLang="zh-CN" sz="2000" dirty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</a:rPr>
              <a:t>如何保证精度的情况下提高质量</a:t>
            </a:r>
            <a:r>
              <a:rPr lang="en-US" altLang="zh-CN" sz="2000" b="1" dirty="0">
                <a:solidFill>
                  <a:srgbClr val="FF0000"/>
                </a:solidFill>
              </a:rPr>
              <a:t>(N50</a:t>
            </a:r>
            <a:r>
              <a:rPr lang="zh-CN" altLang="en-US" sz="2000" b="1" dirty="0">
                <a:solidFill>
                  <a:srgbClr val="FF0000"/>
                </a:solidFill>
              </a:rPr>
              <a:t>长度</a:t>
            </a:r>
            <a:r>
              <a:rPr lang="en-US" altLang="zh-CN" sz="2000" b="1" dirty="0">
                <a:solidFill>
                  <a:srgbClr val="FF0000"/>
                </a:solidFill>
              </a:rPr>
              <a:t>)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endParaRPr lang="en-US" altLang="zh-CN" sz="2400" dirty="0"/>
          </a:p>
          <a:p>
            <a:pPr marL="742950" lvl="1" indent="-285750">
              <a:buFont typeface="Arial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charset="0"/>
              <a:buChar char="•"/>
            </a:pP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endParaRPr lang="en-US" altLang="zh-C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35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拟采取的技术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方案</a:t>
            </a:r>
            <a:r>
              <a:rPr lang="en-US" altLang="zh-CN" sz="3600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>
                <a:latin typeface="微软雅黑" pitchFamily="34" charset="-122"/>
                <a:ea typeface="微软雅黑" pitchFamily="34" charset="-122"/>
              </a:rPr>
              <a:t>高扩展</a:t>
            </a:r>
          </a:p>
        </p:txBody>
      </p:sp>
      <p:sp>
        <p:nvSpPr>
          <p:cNvPr id="5" name="Content Placeholder 2"/>
          <p:cNvSpPr>
            <a:spLocks/>
          </p:cNvSpPr>
          <p:nvPr/>
        </p:nvSpPr>
        <p:spPr bwMode="auto">
          <a:xfrm>
            <a:off x="296863" y="1268413"/>
            <a:ext cx="8707266" cy="283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dirty="0"/>
              <a:t>高</a:t>
            </a:r>
            <a:r>
              <a:rPr lang="zh-CN" altLang="en-US" sz="2400" dirty="0" smtClean="0"/>
              <a:t>扩展   </a:t>
            </a:r>
            <a:r>
              <a:rPr lang="en-US" altLang="zh-CN" sz="2400" dirty="0" smtClean="0"/>
              <a:t>(</a:t>
            </a:r>
            <a:r>
              <a:rPr lang="zh-CN" altLang="en-US" sz="2400" dirty="0" smtClean="0">
                <a:solidFill>
                  <a:srgbClr val="669900"/>
                </a:solidFill>
              </a:rPr>
              <a:t>目标：任务并行化</a:t>
            </a:r>
            <a:r>
              <a:rPr lang="en-US" altLang="zh-CN" sz="2400" dirty="0" smtClean="0"/>
              <a:t>)</a:t>
            </a:r>
            <a:endParaRPr lang="en-US" altLang="zh-CN" sz="2400" dirty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000" dirty="0"/>
              <a:t>DBG</a:t>
            </a:r>
            <a:r>
              <a:rPr lang="zh-CN" altLang="en-US" sz="2000" dirty="0"/>
              <a:t>组装策略无法并行</a:t>
            </a:r>
            <a:r>
              <a:rPr lang="en-US" altLang="zh-CN" sz="2000" dirty="0"/>
              <a:t>(</a:t>
            </a:r>
            <a:r>
              <a:rPr lang="zh-CN" altLang="en-US" sz="2000" dirty="0"/>
              <a:t>数据依赖</a:t>
            </a:r>
            <a:r>
              <a:rPr lang="en-US" altLang="zh-CN" sz="2000" dirty="0"/>
              <a:t>) </a:t>
            </a:r>
            <a:r>
              <a:rPr lang="en-US" altLang="zh-CN" sz="2000" dirty="0" smtClean="0"/>
              <a:t>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-&gt;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可扩展的数学模型</a:t>
            </a:r>
            <a:r>
              <a:rPr lang="en-US" altLang="zh-CN" sz="2000" b="1" dirty="0" smtClean="0">
                <a:solidFill>
                  <a:srgbClr val="3333CC"/>
                </a:solidFill>
              </a:rPr>
              <a:t>MSG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altLang="zh-CN" sz="2000" dirty="0" smtClean="0">
                <a:solidFill>
                  <a:srgbClr val="FF0000"/>
                </a:solidFill>
              </a:rPr>
              <a:t>MSG</a:t>
            </a:r>
            <a:r>
              <a:rPr lang="zh-CN" altLang="en-US" sz="2000" dirty="0" smtClean="0">
                <a:solidFill>
                  <a:srgbClr val="FF0000"/>
                </a:solidFill>
              </a:rPr>
              <a:t>组装策略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(</a:t>
            </a:r>
            <a:r>
              <a:rPr lang="zh-CN" altLang="en-US" sz="2000" dirty="0" smtClean="0">
                <a:solidFill>
                  <a:srgbClr val="FF0000"/>
                </a:solidFill>
              </a:rPr>
              <a:t>数据依赖解耦</a:t>
            </a:r>
            <a:r>
              <a:rPr lang="en-US" altLang="zh-CN" sz="2000" dirty="0" smtClean="0">
                <a:solidFill>
                  <a:srgbClr val="FF0000"/>
                </a:solidFill>
              </a:rPr>
              <a:t>,  NP</a:t>
            </a:r>
            <a:r>
              <a:rPr lang="zh-CN" altLang="en-US" sz="2000" dirty="0" smtClean="0">
                <a:solidFill>
                  <a:srgbClr val="FF0000"/>
                </a:solidFill>
              </a:rPr>
              <a:t>难问题近似解</a:t>
            </a:r>
            <a:r>
              <a:rPr lang="en-US" altLang="zh-CN" sz="2000" dirty="0" smtClean="0">
                <a:solidFill>
                  <a:srgbClr val="FF0000"/>
                </a:solidFill>
              </a:rPr>
              <a:t>)</a:t>
            </a:r>
            <a:endParaRPr lang="en-US" altLang="zh-CN" sz="2000" dirty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/>
              <a:t>现有计算模型上</a:t>
            </a:r>
            <a:r>
              <a:rPr lang="en-US" altLang="zh-CN" sz="2000" dirty="0"/>
              <a:t>DBG</a:t>
            </a:r>
            <a:r>
              <a:rPr lang="zh-CN" altLang="en-US" sz="2000" dirty="0"/>
              <a:t>难扩展 </a:t>
            </a:r>
            <a:r>
              <a:rPr lang="zh-CN" altLang="en-US" sz="2000" dirty="0" smtClean="0"/>
              <a:t>           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-</a:t>
            </a:r>
            <a:r>
              <a:rPr lang="en-US" altLang="zh-CN" sz="2000" dirty="0" smtClean="0"/>
              <a:t>&gt;   </a:t>
            </a:r>
            <a:r>
              <a:rPr lang="zh-CN" altLang="en-US" sz="2000" dirty="0"/>
              <a:t>可扩展的计算模型</a:t>
            </a:r>
            <a:r>
              <a:rPr lang="en-US" altLang="zh-CN" sz="2000" b="1" dirty="0">
                <a:solidFill>
                  <a:srgbClr val="3333CC"/>
                </a:solidFill>
              </a:rPr>
              <a:t>SWAP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altLang="zh-CN" sz="2000" dirty="0" smtClean="0">
                <a:solidFill>
                  <a:srgbClr val="FF0000"/>
                </a:solidFill>
              </a:rPr>
              <a:t>SWAP</a:t>
            </a:r>
            <a:r>
              <a:rPr lang="zh-CN" altLang="en-US" sz="2000" dirty="0" smtClean="0">
                <a:solidFill>
                  <a:srgbClr val="FF0000"/>
                </a:solidFill>
              </a:rPr>
              <a:t>计算模型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(</a:t>
            </a:r>
            <a:r>
              <a:rPr lang="zh-CN" altLang="en-US" sz="2000" dirty="0" smtClean="0">
                <a:solidFill>
                  <a:srgbClr val="FF0000"/>
                </a:solidFill>
              </a:rPr>
              <a:t>图算法计算</a:t>
            </a:r>
            <a:r>
              <a:rPr lang="zh-CN" altLang="en-US" sz="2000" dirty="0">
                <a:solidFill>
                  <a:srgbClr val="FF0000"/>
                </a:solidFill>
              </a:rPr>
              <a:t>轻， 访问随机，通讯频繁 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并行系统设计与算法优化                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-</a:t>
            </a:r>
            <a:r>
              <a:rPr lang="en-US" altLang="zh-CN" sz="2000" dirty="0" smtClean="0"/>
              <a:t>&gt;    </a:t>
            </a:r>
            <a:r>
              <a:rPr lang="zh-CN" altLang="en-US" sz="2000" dirty="0" smtClean="0"/>
              <a:t>复杂度最低</a:t>
            </a:r>
            <a:endParaRPr lang="en-US" altLang="zh-CN" sz="2000" dirty="0" smtClean="0"/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solidFill>
                  <a:srgbClr val="FF0000"/>
                </a:solidFill>
              </a:rPr>
              <a:t>并行化</a:t>
            </a:r>
            <a:r>
              <a:rPr lang="zh-CN" altLang="en-US" sz="2000" dirty="0">
                <a:solidFill>
                  <a:srgbClr val="FF0000"/>
                </a:solidFill>
              </a:rPr>
              <a:t>所有</a:t>
            </a:r>
            <a:r>
              <a:rPr lang="zh-CN" altLang="en-US" sz="2000" dirty="0" smtClean="0">
                <a:solidFill>
                  <a:srgbClr val="FF0000"/>
                </a:solidFill>
              </a:rPr>
              <a:t>模块  </a:t>
            </a:r>
            <a:r>
              <a:rPr lang="en-US" altLang="zh-CN" sz="2000" dirty="0" smtClean="0">
                <a:solidFill>
                  <a:srgbClr val="FF0000"/>
                </a:solidFill>
              </a:rPr>
              <a:t>(</a:t>
            </a:r>
            <a:r>
              <a:rPr lang="zh-CN" altLang="en-US" sz="2000" dirty="0" smtClean="0">
                <a:solidFill>
                  <a:srgbClr val="FF0000"/>
                </a:solidFill>
              </a:rPr>
              <a:t>复杂度，通讯轮数比其他软件低</a:t>
            </a:r>
            <a:r>
              <a:rPr lang="en-US" altLang="zh-CN" sz="2000" dirty="0" smtClean="0">
                <a:solidFill>
                  <a:srgbClr val="FF0000"/>
                </a:solidFill>
              </a:rPr>
              <a:t>)</a:t>
            </a:r>
          </a:p>
        </p:txBody>
      </p:sp>
      <p:grpSp>
        <p:nvGrpSpPr>
          <p:cNvPr id="129" name="组合 128"/>
          <p:cNvGrpSpPr/>
          <p:nvPr/>
        </p:nvGrpSpPr>
        <p:grpSpPr>
          <a:xfrm>
            <a:off x="1701917" y="4062859"/>
            <a:ext cx="6295828" cy="2619435"/>
            <a:chOff x="1460862" y="3876441"/>
            <a:chExt cx="6295828" cy="2619435"/>
          </a:xfrm>
        </p:grpSpPr>
        <p:sp>
          <p:nvSpPr>
            <p:cNvPr id="9" name="TextBox 8"/>
            <p:cNvSpPr txBox="1"/>
            <p:nvPr/>
          </p:nvSpPr>
          <p:spPr>
            <a:xfrm>
              <a:off x="1460862" y="6095766"/>
              <a:ext cx="6295828" cy="40011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 dirty="0" smtClean="0"/>
                <a:t>在</a:t>
              </a:r>
              <a:r>
                <a:rPr lang="en-US" altLang="zh-CN" sz="2000" dirty="0" smtClean="0"/>
                <a:t>MSG</a:t>
              </a:r>
              <a:r>
                <a:rPr lang="zh-CN" altLang="en-US" sz="2000" dirty="0" smtClean="0"/>
                <a:t>策略中， 组装问题可解耦为边合并的原子操作</a:t>
              </a:r>
              <a:endParaRPr lang="zh-CN" altLang="en-US" sz="2000" dirty="0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2667" y="3876441"/>
              <a:ext cx="4914900" cy="2219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31" name="组合 130"/>
          <p:cNvGrpSpPr/>
          <p:nvPr/>
        </p:nvGrpSpPr>
        <p:grpSpPr>
          <a:xfrm>
            <a:off x="157110" y="4050701"/>
            <a:ext cx="8731250" cy="2631593"/>
            <a:chOff x="196966" y="3865006"/>
            <a:chExt cx="8731250" cy="2631593"/>
          </a:xfrm>
        </p:grpSpPr>
        <p:grpSp>
          <p:nvGrpSpPr>
            <p:cNvPr id="130" name="组合 129"/>
            <p:cNvGrpSpPr/>
            <p:nvPr/>
          </p:nvGrpSpPr>
          <p:grpSpPr>
            <a:xfrm>
              <a:off x="196966" y="3865006"/>
              <a:ext cx="8731250" cy="2214562"/>
              <a:chOff x="303954" y="1845235"/>
              <a:chExt cx="8731250" cy="2214562"/>
            </a:xfrm>
          </p:grpSpPr>
          <p:sp>
            <p:nvSpPr>
              <p:cNvPr id="10" name="AutoShape 405"/>
              <p:cNvSpPr>
                <a:spLocks noChangeArrowheads="1"/>
              </p:cNvSpPr>
              <p:nvPr/>
            </p:nvSpPr>
            <p:spPr bwMode="auto">
              <a:xfrm>
                <a:off x="303954" y="1845235"/>
                <a:ext cx="8731250" cy="2214562"/>
              </a:xfrm>
              <a:prstGeom prst="roundRect">
                <a:avLst>
                  <a:gd name="adj" fmla="val 16667"/>
                </a:avLst>
              </a:prstGeom>
              <a:solidFill>
                <a:srgbClr val="D8E4F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342900" indent="-342900" algn="ctr"/>
                <a:endParaRPr lang="zh-CN" altLang="en-US"/>
              </a:p>
            </p:txBody>
          </p:sp>
          <p:sp>
            <p:nvSpPr>
              <p:cNvPr id="11" name="Oval 114"/>
              <p:cNvSpPr/>
              <p:nvPr/>
            </p:nvSpPr>
            <p:spPr>
              <a:xfrm>
                <a:off x="3004292" y="1891272"/>
                <a:ext cx="1890712" cy="1611313"/>
              </a:xfrm>
              <a:custGeom>
                <a:avLst/>
                <a:gdLst>
                  <a:gd name="connsiteX0" fmla="*/ 0 w 1957294"/>
                  <a:gd name="connsiteY0" fmla="*/ 824283 h 1648565"/>
                  <a:gd name="connsiteX1" fmla="*/ 978647 w 1957294"/>
                  <a:gd name="connsiteY1" fmla="*/ 0 h 1648565"/>
                  <a:gd name="connsiteX2" fmla="*/ 1957294 w 1957294"/>
                  <a:gd name="connsiteY2" fmla="*/ 824283 h 1648565"/>
                  <a:gd name="connsiteX3" fmla="*/ 978647 w 1957294"/>
                  <a:gd name="connsiteY3" fmla="*/ 1648566 h 1648565"/>
                  <a:gd name="connsiteX4" fmla="*/ 0 w 1957294"/>
                  <a:gd name="connsiteY4" fmla="*/ 824283 h 1648565"/>
                  <a:gd name="connsiteX0" fmla="*/ 0 w 1983425"/>
                  <a:gd name="connsiteY0" fmla="*/ 856857 h 1681140"/>
                  <a:gd name="connsiteX1" fmla="*/ 978647 w 1983425"/>
                  <a:gd name="connsiteY1" fmla="*/ 32574 h 1681140"/>
                  <a:gd name="connsiteX2" fmla="*/ 1643529 w 1983425"/>
                  <a:gd name="connsiteY2" fmla="*/ 232493 h 1681140"/>
                  <a:gd name="connsiteX3" fmla="*/ 1957294 w 1983425"/>
                  <a:gd name="connsiteY3" fmla="*/ 856857 h 1681140"/>
                  <a:gd name="connsiteX4" fmla="*/ 978647 w 1983425"/>
                  <a:gd name="connsiteY4" fmla="*/ 1681140 h 1681140"/>
                  <a:gd name="connsiteX5" fmla="*/ 0 w 1983425"/>
                  <a:gd name="connsiteY5" fmla="*/ 856857 h 1681140"/>
                  <a:gd name="connsiteX0" fmla="*/ 22049 w 2005474"/>
                  <a:gd name="connsiteY0" fmla="*/ 824998 h 1649281"/>
                  <a:gd name="connsiteX1" fmla="*/ 373166 w 2005474"/>
                  <a:gd name="connsiteY1" fmla="*/ 252927 h 1649281"/>
                  <a:gd name="connsiteX2" fmla="*/ 1000696 w 2005474"/>
                  <a:gd name="connsiteY2" fmla="*/ 715 h 1649281"/>
                  <a:gd name="connsiteX3" fmla="*/ 1665578 w 2005474"/>
                  <a:gd name="connsiteY3" fmla="*/ 200634 h 1649281"/>
                  <a:gd name="connsiteX4" fmla="*/ 1979343 w 2005474"/>
                  <a:gd name="connsiteY4" fmla="*/ 824998 h 1649281"/>
                  <a:gd name="connsiteX5" fmla="*/ 1000696 w 2005474"/>
                  <a:gd name="connsiteY5" fmla="*/ 1649281 h 1649281"/>
                  <a:gd name="connsiteX6" fmla="*/ 22049 w 2005474"/>
                  <a:gd name="connsiteY6" fmla="*/ 824998 h 1649281"/>
                  <a:gd name="connsiteX0" fmla="*/ 61 w 1983486"/>
                  <a:gd name="connsiteY0" fmla="*/ 824998 h 1674201"/>
                  <a:gd name="connsiteX1" fmla="*/ 351178 w 1983486"/>
                  <a:gd name="connsiteY1" fmla="*/ 252927 h 1674201"/>
                  <a:gd name="connsiteX2" fmla="*/ 978708 w 1983486"/>
                  <a:gd name="connsiteY2" fmla="*/ 715 h 1674201"/>
                  <a:gd name="connsiteX3" fmla="*/ 1643590 w 1983486"/>
                  <a:gd name="connsiteY3" fmla="*/ 200634 h 1674201"/>
                  <a:gd name="connsiteX4" fmla="*/ 1957355 w 1983486"/>
                  <a:gd name="connsiteY4" fmla="*/ 824998 h 1674201"/>
                  <a:gd name="connsiteX5" fmla="*/ 978708 w 1983486"/>
                  <a:gd name="connsiteY5" fmla="*/ 1649281 h 1674201"/>
                  <a:gd name="connsiteX6" fmla="*/ 328767 w 1983486"/>
                  <a:gd name="connsiteY6" fmla="*/ 1403397 h 1674201"/>
                  <a:gd name="connsiteX7" fmla="*/ 61 w 1983486"/>
                  <a:gd name="connsiteY7" fmla="*/ 824998 h 1674201"/>
                  <a:gd name="connsiteX0" fmla="*/ 61 w 1959522"/>
                  <a:gd name="connsiteY0" fmla="*/ 824998 h 1649328"/>
                  <a:gd name="connsiteX1" fmla="*/ 351178 w 1959522"/>
                  <a:gd name="connsiteY1" fmla="*/ 252927 h 1649328"/>
                  <a:gd name="connsiteX2" fmla="*/ 978708 w 1959522"/>
                  <a:gd name="connsiteY2" fmla="*/ 715 h 1649328"/>
                  <a:gd name="connsiteX3" fmla="*/ 1643590 w 1959522"/>
                  <a:gd name="connsiteY3" fmla="*/ 200634 h 1649328"/>
                  <a:gd name="connsiteX4" fmla="*/ 1957355 w 1959522"/>
                  <a:gd name="connsiteY4" fmla="*/ 824998 h 1649328"/>
                  <a:gd name="connsiteX5" fmla="*/ 1606237 w 1959522"/>
                  <a:gd name="connsiteY5" fmla="*/ 1418339 h 1649328"/>
                  <a:gd name="connsiteX6" fmla="*/ 978708 w 1959522"/>
                  <a:gd name="connsiteY6" fmla="*/ 1649281 h 1649328"/>
                  <a:gd name="connsiteX7" fmla="*/ 328767 w 1959522"/>
                  <a:gd name="connsiteY7" fmla="*/ 1403397 h 1649328"/>
                  <a:gd name="connsiteX8" fmla="*/ 61 w 1959522"/>
                  <a:gd name="connsiteY8" fmla="*/ 824998 h 1649328"/>
                  <a:gd name="connsiteX0" fmla="*/ 61 w 1958869"/>
                  <a:gd name="connsiteY0" fmla="*/ 824998 h 1649311"/>
                  <a:gd name="connsiteX1" fmla="*/ 351178 w 1958869"/>
                  <a:gd name="connsiteY1" fmla="*/ 252927 h 1649311"/>
                  <a:gd name="connsiteX2" fmla="*/ 978708 w 1958869"/>
                  <a:gd name="connsiteY2" fmla="*/ 715 h 1649311"/>
                  <a:gd name="connsiteX3" fmla="*/ 1643590 w 1958869"/>
                  <a:gd name="connsiteY3" fmla="*/ 200634 h 1649311"/>
                  <a:gd name="connsiteX4" fmla="*/ 1957355 w 1958869"/>
                  <a:gd name="connsiteY4" fmla="*/ 824998 h 1649311"/>
                  <a:gd name="connsiteX5" fmla="*/ 1471767 w 1958869"/>
                  <a:gd name="connsiteY5" fmla="*/ 992515 h 1649311"/>
                  <a:gd name="connsiteX6" fmla="*/ 1606237 w 1958869"/>
                  <a:gd name="connsiteY6" fmla="*/ 1418339 h 1649311"/>
                  <a:gd name="connsiteX7" fmla="*/ 978708 w 1958869"/>
                  <a:gd name="connsiteY7" fmla="*/ 1649281 h 1649311"/>
                  <a:gd name="connsiteX8" fmla="*/ 328767 w 1958869"/>
                  <a:gd name="connsiteY8" fmla="*/ 1403397 h 1649311"/>
                  <a:gd name="connsiteX9" fmla="*/ 61 w 1958869"/>
                  <a:gd name="connsiteY9" fmla="*/ 824998 h 1649311"/>
                  <a:gd name="connsiteX0" fmla="*/ 61 w 1958869"/>
                  <a:gd name="connsiteY0" fmla="*/ 824998 h 1653105"/>
                  <a:gd name="connsiteX1" fmla="*/ 351178 w 1958869"/>
                  <a:gd name="connsiteY1" fmla="*/ 252927 h 1653105"/>
                  <a:gd name="connsiteX2" fmla="*/ 978708 w 1958869"/>
                  <a:gd name="connsiteY2" fmla="*/ 715 h 1653105"/>
                  <a:gd name="connsiteX3" fmla="*/ 1643590 w 1958869"/>
                  <a:gd name="connsiteY3" fmla="*/ 200634 h 1653105"/>
                  <a:gd name="connsiteX4" fmla="*/ 1957355 w 1958869"/>
                  <a:gd name="connsiteY4" fmla="*/ 824998 h 1653105"/>
                  <a:gd name="connsiteX5" fmla="*/ 1471767 w 1958869"/>
                  <a:gd name="connsiteY5" fmla="*/ 992515 h 1653105"/>
                  <a:gd name="connsiteX6" fmla="*/ 1606237 w 1958869"/>
                  <a:gd name="connsiteY6" fmla="*/ 1418339 h 1653105"/>
                  <a:gd name="connsiteX7" fmla="*/ 1172944 w 1958869"/>
                  <a:gd name="connsiteY7" fmla="*/ 1231575 h 1653105"/>
                  <a:gd name="connsiteX8" fmla="*/ 978708 w 1958869"/>
                  <a:gd name="connsiteY8" fmla="*/ 1649281 h 1653105"/>
                  <a:gd name="connsiteX9" fmla="*/ 328767 w 1958869"/>
                  <a:gd name="connsiteY9" fmla="*/ 1403397 h 1653105"/>
                  <a:gd name="connsiteX10" fmla="*/ 61 w 1958869"/>
                  <a:gd name="connsiteY10" fmla="*/ 824998 h 1653105"/>
                  <a:gd name="connsiteX0" fmla="*/ 61 w 1958869"/>
                  <a:gd name="connsiteY0" fmla="*/ 824998 h 1649425"/>
                  <a:gd name="connsiteX1" fmla="*/ 351178 w 1958869"/>
                  <a:gd name="connsiteY1" fmla="*/ 252927 h 1649425"/>
                  <a:gd name="connsiteX2" fmla="*/ 978708 w 1958869"/>
                  <a:gd name="connsiteY2" fmla="*/ 715 h 1649425"/>
                  <a:gd name="connsiteX3" fmla="*/ 1643590 w 1958869"/>
                  <a:gd name="connsiteY3" fmla="*/ 200634 h 1649425"/>
                  <a:gd name="connsiteX4" fmla="*/ 1957355 w 1958869"/>
                  <a:gd name="connsiteY4" fmla="*/ 824998 h 1649425"/>
                  <a:gd name="connsiteX5" fmla="*/ 1471767 w 1958869"/>
                  <a:gd name="connsiteY5" fmla="*/ 992515 h 1649425"/>
                  <a:gd name="connsiteX6" fmla="*/ 1606237 w 1958869"/>
                  <a:gd name="connsiteY6" fmla="*/ 1418339 h 1649425"/>
                  <a:gd name="connsiteX7" fmla="*/ 1172944 w 1958869"/>
                  <a:gd name="connsiteY7" fmla="*/ 1231575 h 1649425"/>
                  <a:gd name="connsiteX8" fmla="*/ 978708 w 1958869"/>
                  <a:gd name="connsiteY8" fmla="*/ 1649281 h 1649425"/>
                  <a:gd name="connsiteX9" fmla="*/ 814356 w 1958869"/>
                  <a:gd name="connsiteY9" fmla="*/ 1179281 h 1649425"/>
                  <a:gd name="connsiteX10" fmla="*/ 328767 w 1958869"/>
                  <a:gd name="connsiteY10" fmla="*/ 1403397 h 1649425"/>
                  <a:gd name="connsiteX11" fmla="*/ 61 w 1958869"/>
                  <a:gd name="connsiteY11" fmla="*/ 824998 h 1649425"/>
                  <a:gd name="connsiteX0" fmla="*/ 1821 w 1960629"/>
                  <a:gd name="connsiteY0" fmla="*/ 824998 h 1649425"/>
                  <a:gd name="connsiteX1" fmla="*/ 352938 w 1960629"/>
                  <a:gd name="connsiteY1" fmla="*/ 252927 h 1649425"/>
                  <a:gd name="connsiteX2" fmla="*/ 980468 w 1960629"/>
                  <a:gd name="connsiteY2" fmla="*/ 715 h 1649425"/>
                  <a:gd name="connsiteX3" fmla="*/ 1645350 w 1960629"/>
                  <a:gd name="connsiteY3" fmla="*/ 200634 h 1649425"/>
                  <a:gd name="connsiteX4" fmla="*/ 1959115 w 1960629"/>
                  <a:gd name="connsiteY4" fmla="*/ 824998 h 1649425"/>
                  <a:gd name="connsiteX5" fmla="*/ 1473527 w 1960629"/>
                  <a:gd name="connsiteY5" fmla="*/ 992515 h 1649425"/>
                  <a:gd name="connsiteX6" fmla="*/ 1607997 w 1960629"/>
                  <a:gd name="connsiteY6" fmla="*/ 1418339 h 1649425"/>
                  <a:gd name="connsiteX7" fmla="*/ 1174704 w 1960629"/>
                  <a:gd name="connsiteY7" fmla="*/ 1231575 h 1649425"/>
                  <a:gd name="connsiteX8" fmla="*/ 980468 w 1960629"/>
                  <a:gd name="connsiteY8" fmla="*/ 1649281 h 1649425"/>
                  <a:gd name="connsiteX9" fmla="*/ 816116 w 1960629"/>
                  <a:gd name="connsiteY9" fmla="*/ 1179281 h 1649425"/>
                  <a:gd name="connsiteX10" fmla="*/ 330527 w 1960629"/>
                  <a:gd name="connsiteY10" fmla="*/ 1403397 h 1649425"/>
                  <a:gd name="connsiteX11" fmla="*/ 494881 w 1960629"/>
                  <a:gd name="connsiteY11" fmla="*/ 992516 h 1649425"/>
                  <a:gd name="connsiteX12" fmla="*/ 1821 w 1960629"/>
                  <a:gd name="connsiteY12" fmla="*/ 824998 h 1649425"/>
                  <a:gd name="connsiteX0" fmla="*/ 3 w 1958811"/>
                  <a:gd name="connsiteY0" fmla="*/ 824998 h 1649425"/>
                  <a:gd name="connsiteX1" fmla="*/ 485592 w 1958811"/>
                  <a:gd name="connsiteY1" fmla="*/ 663810 h 1649425"/>
                  <a:gd name="connsiteX2" fmla="*/ 351120 w 1958811"/>
                  <a:gd name="connsiteY2" fmla="*/ 252927 h 1649425"/>
                  <a:gd name="connsiteX3" fmla="*/ 978650 w 1958811"/>
                  <a:gd name="connsiteY3" fmla="*/ 715 h 1649425"/>
                  <a:gd name="connsiteX4" fmla="*/ 1643532 w 1958811"/>
                  <a:gd name="connsiteY4" fmla="*/ 200634 h 1649425"/>
                  <a:gd name="connsiteX5" fmla="*/ 1957297 w 1958811"/>
                  <a:gd name="connsiteY5" fmla="*/ 824998 h 1649425"/>
                  <a:gd name="connsiteX6" fmla="*/ 1471709 w 1958811"/>
                  <a:gd name="connsiteY6" fmla="*/ 992515 h 1649425"/>
                  <a:gd name="connsiteX7" fmla="*/ 1606179 w 1958811"/>
                  <a:gd name="connsiteY7" fmla="*/ 1418339 h 1649425"/>
                  <a:gd name="connsiteX8" fmla="*/ 1172886 w 1958811"/>
                  <a:gd name="connsiteY8" fmla="*/ 1231575 h 1649425"/>
                  <a:gd name="connsiteX9" fmla="*/ 978650 w 1958811"/>
                  <a:gd name="connsiteY9" fmla="*/ 1649281 h 1649425"/>
                  <a:gd name="connsiteX10" fmla="*/ 814298 w 1958811"/>
                  <a:gd name="connsiteY10" fmla="*/ 1179281 h 1649425"/>
                  <a:gd name="connsiteX11" fmla="*/ 328709 w 1958811"/>
                  <a:gd name="connsiteY11" fmla="*/ 1403397 h 1649425"/>
                  <a:gd name="connsiteX12" fmla="*/ 493063 w 1958811"/>
                  <a:gd name="connsiteY12" fmla="*/ 992516 h 1649425"/>
                  <a:gd name="connsiteX13" fmla="*/ 3 w 1958811"/>
                  <a:gd name="connsiteY13" fmla="*/ 824998 h 1649425"/>
                  <a:gd name="connsiteX0" fmla="*/ 3 w 1958811"/>
                  <a:gd name="connsiteY0" fmla="*/ 835454 h 1659881"/>
                  <a:gd name="connsiteX1" fmla="*/ 485592 w 1958811"/>
                  <a:gd name="connsiteY1" fmla="*/ 674266 h 1659881"/>
                  <a:gd name="connsiteX2" fmla="*/ 351120 w 1958811"/>
                  <a:gd name="connsiteY2" fmla="*/ 263383 h 1659881"/>
                  <a:gd name="connsiteX3" fmla="*/ 814298 w 1958811"/>
                  <a:gd name="connsiteY3" fmla="*/ 494972 h 1659881"/>
                  <a:gd name="connsiteX4" fmla="*/ 978650 w 1958811"/>
                  <a:gd name="connsiteY4" fmla="*/ 11171 h 1659881"/>
                  <a:gd name="connsiteX5" fmla="*/ 1643532 w 1958811"/>
                  <a:gd name="connsiteY5" fmla="*/ 211090 h 1659881"/>
                  <a:gd name="connsiteX6" fmla="*/ 1957297 w 1958811"/>
                  <a:gd name="connsiteY6" fmla="*/ 835454 h 1659881"/>
                  <a:gd name="connsiteX7" fmla="*/ 1471709 w 1958811"/>
                  <a:gd name="connsiteY7" fmla="*/ 1002971 h 1659881"/>
                  <a:gd name="connsiteX8" fmla="*/ 1606179 w 1958811"/>
                  <a:gd name="connsiteY8" fmla="*/ 1428795 h 1659881"/>
                  <a:gd name="connsiteX9" fmla="*/ 1172886 w 1958811"/>
                  <a:gd name="connsiteY9" fmla="*/ 1242031 h 1659881"/>
                  <a:gd name="connsiteX10" fmla="*/ 978650 w 1958811"/>
                  <a:gd name="connsiteY10" fmla="*/ 1659737 h 1659881"/>
                  <a:gd name="connsiteX11" fmla="*/ 814298 w 1958811"/>
                  <a:gd name="connsiteY11" fmla="*/ 1189737 h 1659881"/>
                  <a:gd name="connsiteX12" fmla="*/ 328709 w 1958811"/>
                  <a:gd name="connsiteY12" fmla="*/ 1413853 h 1659881"/>
                  <a:gd name="connsiteX13" fmla="*/ 493063 w 1958811"/>
                  <a:gd name="connsiteY13" fmla="*/ 1002972 h 1659881"/>
                  <a:gd name="connsiteX14" fmla="*/ 3 w 1958811"/>
                  <a:gd name="connsiteY14" fmla="*/ 835454 h 1659881"/>
                  <a:gd name="connsiteX0" fmla="*/ 3 w 1958811"/>
                  <a:gd name="connsiteY0" fmla="*/ 824327 h 1648754"/>
                  <a:gd name="connsiteX1" fmla="*/ 485592 w 1958811"/>
                  <a:gd name="connsiteY1" fmla="*/ 663139 h 1648754"/>
                  <a:gd name="connsiteX2" fmla="*/ 351120 w 1958811"/>
                  <a:gd name="connsiteY2" fmla="*/ 252256 h 1648754"/>
                  <a:gd name="connsiteX3" fmla="*/ 814298 w 1958811"/>
                  <a:gd name="connsiteY3" fmla="*/ 483845 h 1648754"/>
                  <a:gd name="connsiteX4" fmla="*/ 978650 w 1958811"/>
                  <a:gd name="connsiteY4" fmla="*/ 44 h 1648754"/>
                  <a:gd name="connsiteX5" fmla="*/ 1180357 w 1958811"/>
                  <a:gd name="connsiteY5" fmla="*/ 453963 h 1648754"/>
                  <a:gd name="connsiteX6" fmla="*/ 1643532 w 1958811"/>
                  <a:gd name="connsiteY6" fmla="*/ 199963 h 1648754"/>
                  <a:gd name="connsiteX7" fmla="*/ 1957297 w 1958811"/>
                  <a:gd name="connsiteY7" fmla="*/ 824327 h 1648754"/>
                  <a:gd name="connsiteX8" fmla="*/ 1471709 w 1958811"/>
                  <a:gd name="connsiteY8" fmla="*/ 991844 h 1648754"/>
                  <a:gd name="connsiteX9" fmla="*/ 1606179 w 1958811"/>
                  <a:gd name="connsiteY9" fmla="*/ 1417668 h 1648754"/>
                  <a:gd name="connsiteX10" fmla="*/ 1172886 w 1958811"/>
                  <a:gd name="connsiteY10" fmla="*/ 1230904 h 1648754"/>
                  <a:gd name="connsiteX11" fmla="*/ 978650 w 1958811"/>
                  <a:gd name="connsiteY11" fmla="*/ 1648610 h 1648754"/>
                  <a:gd name="connsiteX12" fmla="*/ 814298 w 1958811"/>
                  <a:gd name="connsiteY12" fmla="*/ 1178610 h 1648754"/>
                  <a:gd name="connsiteX13" fmla="*/ 328709 w 1958811"/>
                  <a:gd name="connsiteY13" fmla="*/ 1402726 h 1648754"/>
                  <a:gd name="connsiteX14" fmla="*/ 493063 w 1958811"/>
                  <a:gd name="connsiteY14" fmla="*/ 991845 h 1648754"/>
                  <a:gd name="connsiteX15" fmla="*/ 3 w 1958811"/>
                  <a:gd name="connsiteY15" fmla="*/ 824327 h 1648754"/>
                  <a:gd name="connsiteX0" fmla="*/ 3 w 1962531"/>
                  <a:gd name="connsiteY0" fmla="*/ 824327 h 1648754"/>
                  <a:gd name="connsiteX1" fmla="*/ 485592 w 1962531"/>
                  <a:gd name="connsiteY1" fmla="*/ 663139 h 1648754"/>
                  <a:gd name="connsiteX2" fmla="*/ 351120 w 1962531"/>
                  <a:gd name="connsiteY2" fmla="*/ 252256 h 1648754"/>
                  <a:gd name="connsiteX3" fmla="*/ 814298 w 1962531"/>
                  <a:gd name="connsiteY3" fmla="*/ 483845 h 1648754"/>
                  <a:gd name="connsiteX4" fmla="*/ 978650 w 1962531"/>
                  <a:gd name="connsiteY4" fmla="*/ 44 h 1648754"/>
                  <a:gd name="connsiteX5" fmla="*/ 1180357 w 1962531"/>
                  <a:gd name="connsiteY5" fmla="*/ 453963 h 1648754"/>
                  <a:gd name="connsiteX6" fmla="*/ 1643532 w 1962531"/>
                  <a:gd name="connsiteY6" fmla="*/ 199963 h 1648754"/>
                  <a:gd name="connsiteX7" fmla="*/ 1494121 w 1962531"/>
                  <a:gd name="connsiteY7" fmla="*/ 648197 h 1648754"/>
                  <a:gd name="connsiteX8" fmla="*/ 1957297 w 1962531"/>
                  <a:gd name="connsiteY8" fmla="*/ 824327 h 1648754"/>
                  <a:gd name="connsiteX9" fmla="*/ 1471709 w 1962531"/>
                  <a:gd name="connsiteY9" fmla="*/ 991844 h 1648754"/>
                  <a:gd name="connsiteX10" fmla="*/ 1606179 w 1962531"/>
                  <a:gd name="connsiteY10" fmla="*/ 1417668 h 1648754"/>
                  <a:gd name="connsiteX11" fmla="*/ 1172886 w 1962531"/>
                  <a:gd name="connsiteY11" fmla="*/ 1230904 h 1648754"/>
                  <a:gd name="connsiteX12" fmla="*/ 978650 w 1962531"/>
                  <a:gd name="connsiteY12" fmla="*/ 1648610 h 1648754"/>
                  <a:gd name="connsiteX13" fmla="*/ 814298 w 1962531"/>
                  <a:gd name="connsiteY13" fmla="*/ 1178610 h 1648754"/>
                  <a:gd name="connsiteX14" fmla="*/ 328709 w 1962531"/>
                  <a:gd name="connsiteY14" fmla="*/ 1402726 h 1648754"/>
                  <a:gd name="connsiteX15" fmla="*/ 493063 w 1962531"/>
                  <a:gd name="connsiteY15" fmla="*/ 991845 h 1648754"/>
                  <a:gd name="connsiteX16" fmla="*/ 3 w 1962531"/>
                  <a:gd name="connsiteY16" fmla="*/ 824327 h 1648754"/>
                  <a:gd name="connsiteX0" fmla="*/ 3 w 1962531"/>
                  <a:gd name="connsiteY0" fmla="*/ 824327 h 1648754"/>
                  <a:gd name="connsiteX1" fmla="*/ 485592 w 1962531"/>
                  <a:gd name="connsiteY1" fmla="*/ 663139 h 1648754"/>
                  <a:gd name="connsiteX2" fmla="*/ 351120 w 1962531"/>
                  <a:gd name="connsiteY2" fmla="*/ 252256 h 1648754"/>
                  <a:gd name="connsiteX3" fmla="*/ 814298 w 1962531"/>
                  <a:gd name="connsiteY3" fmla="*/ 483845 h 1648754"/>
                  <a:gd name="connsiteX4" fmla="*/ 978650 w 1962531"/>
                  <a:gd name="connsiteY4" fmla="*/ 44 h 1648754"/>
                  <a:gd name="connsiteX5" fmla="*/ 1180357 w 1962531"/>
                  <a:gd name="connsiteY5" fmla="*/ 453963 h 1648754"/>
                  <a:gd name="connsiteX6" fmla="*/ 1643532 w 1962531"/>
                  <a:gd name="connsiteY6" fmla="*/ 199963 h 1648754"/>
                  <a:gd name="connsiteX7" fmla="*/ 1494121 w 1962531"/>
                  <a:gd name="connsiteY7" fmla="*/ 648197 h 1648754"/>
                  <a:gd name="connsiteX8" fmla="*/ 1957297 w 1962531"/>
                  <a:gd name="connsiteY8" fmla="*/ 824327 h 1648754"/>
                  <a:gd name="connsiteX9" fmla="*/ 1471709 w 1962531"/>
                  <a:gd name="connsiteY9" fmla="*/ 991844 h 1648754"/>
                  <a:gd name="connsiteX10" fmla="*/ 1606179 w 1962531"/>
                  <a:gd name="connsiteY10" fmla="*/ 1417668 h 1648754"/>
                  <a:gd name="connsiteX11" fmla="*/ 1172886 w 1962531"/>
                  <a:gd name="connsiteY11" fmla="*/ 1230904 h 1648754"/>
                  <a:gd name="connsiteX12" fmla="*/ 978650 w 1962531"/>
                  <a:gd name="connsiteY12" fmla="*/ 1648610 h 1648754"/>
                  <a:gd name="connsiteX13" fmla="*/ 814298 w 1962531"/>
                  <a:gd name="connsiteY13" fmla="*/ 1178610 h 1648754"/>
                  <a:gd name="connsiteX14" fmla="*/ 328709 w 1962531"/>
                  <a:gd name="connsiteY14" fmla="*/ 1402726 h 1648754"/>
                  <a:gd name="connsiteX15" fmla="*/ 493063 w 1962531"/>
                  <a:gd name="connsiteY15" fmla="*/ 991845 h 1648754"/>
                  <a:gd name="connsiteX16" fmla="*/ 3 w 1962531"/>
                  <a:gd name="connsiteY16" fmla="*/ 824327 h 1648754"/>
                  <a:gd name="connsiteX0" fmla="*/ 3 w 1962531"/>
                  <a:gd name="connsiteY0" fmla="*/ 824327 h 1648754"/>
                  <a:gd name="connsiteX1" fmla="*/ 485592 w 1962531"/>
                  <a:gd name="connsiteY1" fmla="*/ 663139 h 1648754"/>
                  <a:gd name="connsiteX2" fmla="*/ 351120 w 1962531"/>
                  <a:gd name="connsiteY2" fmla="*/ 252256 h 1648754"/>
                  <a:gd name="connsiteX3" fmla="*/ 814298 w 1962531"/>
                  <a:gd name="connsiteY3" fmla="*/ 483845 h 1648754"/>
                  <a:gd name="connsiteX4" fmla="*/ 978650 w 1962531"/>
                  <a:gd name="connsiteY4" fmla="*/ 44 h 1648754"/>
                  <a:gd name="connsiteX5" fmla="*/ 1180357 w 1962531"/>
                  <a:gd name="connsiteY5" fmla="*/ 453963 h 1648754"/>
                  <a:gd name="connsiteX6" fmla="*/ 1643532 w 1962531"/>
                  <a:gd name="connsiteY6" fmla="*/ 199963 h 1648754"/>
                  <a:gd name="connsiteX7" fmla="*/ 1494121 w 1962531"/>
                  <a:gd name="connsiteY7" fmla="*/ 648197 h 1648754"/>
                  <a:gd name="connsiteX8" fmla="*/ 1957297 w 1962531"/>
                  <a:gd name="connsiteY8" fmla="*/ 824327 h 1648754"/>
                  <a:gd name="connsiteX9" fmla="*/ 1471709 w 1962531"/>
                  <a:gd name="connsiteY9" fmla="*/ 991844 h 1648754"/>
                  <a:gd name="connsiteX10" fmla="*/ 1606179 w 1962531"/>
                  <a:gd name="connsiteY10" fmla="*/ 1417668 h 1648754"/>
                  <a:gd name="connsiteX11" fmla="*/ 1172886 w 1962531"/>
                  <a:gd name="connsiteY11" fmla="*/ 1230904 h 1648754"/>
                  <a:gd name="connsiteX12" fmla="*/ 978650 w 1962531"/>
                  <a:gd name="connsiteY12" fmla="*/ 1648610 h 1648754"/>
                  <a:gd name="connsiteX13" fmla="*/ 814298 w 1962531"/>
                  <a:gd name="connsiteY13" fmla="*/ 1178610 h 1648754"/>
                  <a:gd name="connsiteX14" fmla="*/ 328709 w 1962531"/>
                  <a:gd name="connsiteY14" fmla="*/ 1402726 h 1648754"/>
                  <a:gd name="connsiteX15" fmla="*/ 493063 w 1962531"/>
                  <a:gd name="connsiteY15" fmla="*/ 991845 h 1648754"/>
                  <a:gd name="connsiteX16" fmla="*/ 3 w 1962531"/>
                  <a:gd name="connsiteY16" fmla="*/ 824327 h 1648754"/>
                  <a:gd name="connsiteX0" fmla="*/ 3 w 1962531"/>
                  <a:gd name="connsiteY0" fmla="*/ 824327 h 1648754"/>
                  <a:gd name="connsiteX1" fmla="*/ 485592 w 1962531"/>
                  <a:gd name="connsiteY1" fmla="*/ 663139 h 1648754"/>
                  <a:gd name="connsiteX2" fmla="*/ 351120 w 1962531"/>
                  <a:gd name="connsiteY2" fmla="*/ 252256 h 1648754"/>
                  <a:gd name="connsiteX3" fmla="*/ 814298 w 1962531"/>
                  <a:gd name="connsiteY3" fmla="*/ 483845 h 1648754"/>
                  <a:gd name="connsiteX4" fmla="*/ 978650 w 1962531"/>
                  <a:gd name="connsiteY4" fmla="*/ 44 h 1648754"/>
                  <a:gd name="connsiteX5" fmla="*/ 1180357 w 1962531"/>
                  <a:gd name="connsiteY5" fmla="*/ 453963 h 1648754"/>
                  <a:gd name="connsiteX6" fmla="*/ 1636061 w 1962531"/>
                  <a:gd name="connsiteY6" fmla="*/ 244787 h 1648754"/>
                  <a:gd name="connsiteX7" fmla="*/ 1494121 w 1962531"/>
                  <a:gd name="connsiteY7" fmla="*/ 648197 h 1648754"/>
                  <a:gd name="connsiteX8" fmla="*/ 1957297 w 1962531"/>
                  <a:gd name="connsiteY8" fmla="*/ 824327 h 1648754"/>
                  <a:gd name="connsiteX9" fmla="*/ 1471709 w 1962531"/>
                  <a:gd name="connsiteY9" fmla="*/ 991844 h 1648754"/>
                  <a:gd name="connsiteX10" fmla="*/ 1606179 w 1962531"/>
                  <a:gd name="connsiteY10" fmla="*/ 1417668 h 1648754"/>
                  <a:gd name="connsiteX11" fmla="*/ 1172886 w 1962531"/>
                  <a:gd name="connsiteY11" fmla="*/ 1230904 h 1648754"/>
                  <a:gd name="connsiteX12" fmla="*/ 978650 w 1962531"/>
                  <a:gd name="connsiteY12" fmla="*/ 1648610 h 1648754"/>
                  <a:gd name="connsiteX13" fmla="*/ 814298 w 1962531"/>
                  <a:gd name="connsiteY13" fmla="*/ 1178610 h 1648754"/>
                  <a:gd name="connsiteX14" fmla="*/ 328709 w 1962531"/>
                  <a:gd name="connsiteY14" fmla="*/ 1402726 h 1648754"/>
                  <a:gd name="connsiteX15" fmla="*/ 493063 w 1962531"/>
                  <a:gd name="connsiteY15" fmla="*/ 991845 h 1648754"/>
                  <a:gd name="connsiteX16" fmla="*/ 3 w 1962531"/>
                  <a:gd name="connsiteY16" fmla="*/ 824327 h 1648754"/>
                  <a:gd name="connsiteX0" fmla="*/ 3 w 1962531"/>
                  <a:gd name="connsiteY0" fmla="*/ 824327 h 1648754"/>
                  <a:gd name="connsiteX1" fmla="*/ 485592 w 1962531"/>
                  <a:gd name="connsiteY1" fmla="*/ 663139 h 1648754"/>
                  <a:gd name="connsiteX2" fmla="*/ 351120 w 1962531"/>
                  <a:gd name="connsiteY2" fmla="*/ 252256 h 1648754"/>
                  <a:gd name="connsiteX3" fmla="*/ 814298 w 1962531"/>
                  <a:gd name="connsiteY3" fmla="*/ 483845 h 1648754"/>
                  <a:gd name="connsiteX4" fmla="*/ 978650 w 1962531"/>
                  <a:gd name="connsiteY4" fmla="*/ 44 h 1648754"/>
                  <a:gd name="connsiteX5" fmla="*/ 1180357 w 1962531"/>
                  <a:gd name="connsiteY5" fmla="*/ 453963 h 1648754"/>
                  <a:gd name="connsiteX6" fmla="*/ 1636061 w 1962531"/>
                  <a:gd name="connsiteY6" fmla="*/ 244787 h 1648754"/>
                  <a:gd name="connsiteX7" fmla="*/ 1494121 w 1962531"/>
                  <a:gd name="connsiteY7" fmla="*/ 648197 h 1648754"/>
                  <a:gd name="connsiteX8" fmla="*/ 1957297 w 1962531"/>
                  <a:gd name="connsiteY8" fmla="*/ 824327 h 1648754"/>
                  <a:gd name="connsiteX9" fmla="*/ 1471709 w 1962531"/>
                  <a:gd name="connsiteY9" fmla="*/ 991844 h 1648754"/>
                  <a:gd name="connsiteX10" fmla="*/ 1606179 w 1962531"/>
                  <a:gd name="connsiteY10" fmla="*/ 1417668 h 1648754"/>
                  <a:gd name="connsiteX11" fmla="*/ 1172886 w 1962531"/>
                  <a:gd name="connsiteY11" fmla="*/ 1230904 h 1648754"/>
                  <a:gd name="connsiteX12" fmla="*/ 978650 w 1962531"/>
                  <a:gd name="connsiteY12" fmla="*/ 1648610 h 1648754"/>
                  <a:gd name="connsiteX13" fmla="*/ 814298 w 1962531"/>
                  <a:gd name="connsiteY13" fmla="*/ 1178610 h 1648754"/>
                  <a:gd name="connsiteX14" fmla="*/ 328709 w 1962531"/>
                  <a:gd name="connsiteY14" fmla="*/ 1402726 h 1648754"/>
                  <a:gd name="connsiteX15" fmla="*/ 493063 w 1962531"/>
                  <a:gd name="connsiteY15" fmla="*/ 991845 h 1648754"/>
                  <a:gd name="connsiteX16" fmla="*/ 3 w 1962531"/>
                  <a:gd name="connsiteY16" fmla="*/ 824327 h 1648754"/>
                  <a:gd name="connsiteX0" fmla="*/ 3 w 1962531"/>
                  <a:gd name="connsiteY0" fmla="*/ 824327 h 1648754"/>
                  <a:gd name="connsiteX1" fmla="*/ 485592 w 1962531"/>
                  <a:gd name="connsiteY1" fmla="*/ 663139 h 1648754"/>
                  <a:gd name="connsiteX2" fmla="*/ 351120 w 1962531"/>
                  <a:gd name="connsiteY2" fmla="*/ 252256 h 1648754"/>
                  <a:gd name="connsiteX3" fmla="*/ 814298 w 1962531"/>
                  <a:gd name="connsiteY3" fmla="*/ 483845 h 1648754"/>
                  <a:gd name="connsiteX4" fmla="*/ 978650 w 1962531"/>
                  <a:gd name="connsiteY4" fmla="*/ 44 h 1648754"/>
                  <a:gd name="connsiteX5" fmla="*/ 1180357 w 1962531"/>
                  <a:gd name="connsiteY5" fmla="*/ 453963 h 1648754"/>
                  <a:gd name="connsiteX6" fmla="*/ 1636061 w 1962531"/>
                  <a:gd name="connsiteY6" fmla="*/ 244787 h 1648754"/>
                  <a:gd name="connsiteX7" fmla="*/ 1494121 w 1962531"/>
                  <a:gd name="connsiteY7" fmla="*/ 648197 h 1648754"/>
                  <a:gd name="connsiteX8" fmla="*/ 1957297 w 1962531"/>
                  <a:gd name="connsiteY8" fmla="*/ 824327 h 1648754"/>
                  <a:gd name="connsiteX9" fmla="*/ 1471709 w 1962531"/>
                  <a:gd name="connsiteY9" fmla="*/ 991844 h 1648754"/>
                  <a:gd name="connsiteX10" fmla="*/ 1606179 w 1962531"/>
                  <a:gd name="connsiteY10" fmla="*/ 1417668 h 1648754"/>
                  <a:gd name="connsiteX11" fmla="*/ 1172886 w 1962531"/>
                  <a:gd name="connsiteY11" fmla="*/ 1230904 h 1648754"/>
                  <a:gd name="connsiteX12" fmla="*/ 978650 w 1962531"/>
                  <a:gd name="connsiteY12" fmla="*/ 1648610 h 1648754"/>
                  <a:gd name="connsiteX13" fmla="*/ 814298 w 1962531"/>
                  <a:gd name="connsiteY13" fmla="*/ 1178610 h 1648754"/>
                  <a:gd name="connsiteX14" fmla="*/ 328709 w 1962531"/>
                  <a:gd name="connsiteY14" fmla="*/ 1402726 h 1648754"/>
                  <a:gd name="connsiteX15" fmla="*/ 493063 w 1962531"/>
                  <a:gd name="connsiteY15" fmla="*/ 991845 h 1648754"/>
                  <a:gd name="connsiteX16" fmla="*/ 3 w 1962531"/>
                  <a:gd name="connsiteY16" fmla="*/ 824327 h 1648754"/>
                  <a:gd name="connsiteX0" fmla="*/ 3 w 1962531"/>
                  <a:gd name="connsiteY0" fmla="*/ 824327 h 1648754"/>
                  <a:gd name="connsiteX1" fmla="*/ 485592 w 1962531"/>
                  <a:gd name="connsiteY1" fmla="*/ 663139 h 1648754"/>
                  <a:gd name="connsiteX2" fmla="*/ 351120 w 1962531"/>
                  <a:gd name="connsiteY2" fmla="*/ 252256 h 1648754"/>
                  <a:gd name="connsiteX3" fmla="*/ 814298 w 1962531"/>
                  <a:gd name="connsiteY3" fmla="*/ 483845 h 1648754"/>
                  <a:gd name="connsiteX4" fmla="*/ 978650 w 1962531"/>
                  <a:gd name="connsiteY4" fmla="*/ 44 h 1648754"/>
                  <a:gd name="connsiteX5" fmla="*/ 1180357 w 1962531"/>
                  <a:gd name="connsiteY5" fmla="*/ 453963 h 1648754"/>
                  <a:gd name="connsiteX6" fmla="*/ 1636061 w 1962531"/>
                  <a:gd name="connsiteY6" fmla="*/ 244787 h 1648754"/>
                  <a:gd name="connsiteX7" fmla="*/ 1494121 w 1962531"/>
                  <a:gd name="connsiteY7" fmla="*/ 648197 h 1648754"/>
                  <a:gd name="connsiteX8" fmla="*/ 1957297 w 1962531"/>
                  <a:gd name="connsiteY8" fmla="*/ 824327 h 1648754"/>
                  <a:gd name="connsiteX9" fmla="*/ 1471709 w 1962531"/>
                  <a:gd name="connsiteY9" fmla="*/ 991844 h 1648754"/>
                  <a:gd name="connsiteX10" fmla="*/ 1606179 w 1962531"/>
                  <a:gd name="connsiteY10" fmla="*/ 1417668 h 1648754"/>
                  <a:gd name="connsiteX11" fmla="*/ 1172886 w 1962531"/>
                  <a:gd name="connsiteY11" fmla="*/ 1230904 h 1648754"/>
                  <a:gd name="connsiteX12" fmla="*/ 978650 w 1962531"/>
                  <a:gd name="connsiteY12" fmla="*/ 1648610 h 1648754"/>
                  <a:gd name="connsiteX13" fmla="*/ 814298 w 1962531"/>
                  <a:gd name="connsiteY13" fmla="*/ 1178610 h 1648754"/>
                  <a:gd name="connsiteX14" fmla="*/ 328709 w 1962531"/>
                  <a:gd name="connsiteY14" fmla="*/ 1402726 h 1648754"/>
                  <a:gd name="connsiteX15" fmla="*/ 493063 w 1962531"/>
                  <a:gd name="connsiteY15" fmla="*/ 991845 h 1648754"/>
                  <a:gd name="connsiteX16" fmla="*/ 3 w 1962531"/>
                  <a:gd name="connsiteY16" fmla="*/ 824327 h 1648754"/>
                  <a:gd name="connsiteX0" fmla="*/ 3 w 1957297"/>
                  <a:gd name="connsiteY0" fmla="*/ 824327 h 1648754"/>
                  <a:gd name="connsiteX1" fmla="*/ 485592 w 1957297"/>
                  <a:gd name="connsiteY1" fmla="*/ 663139 h 1648754"/>
                  <a:gd name="connsiteX2" fmla="*/ 351120 w 1957297"/>
                  <a:gd name="connsiteY2" fmla="*/ 252256 h 1648754"/>
                  <a:gd name="connsiteX3" fmla="*/ 814298 w 1957297"/>
                  <a:gd name="connsiteY3" fmla="*/ 483845 h 1648754"/>
                  <a:gd name="connsiteX4" fmla="*/ 978650 w 1957297"/>
                  <a:gd name="connsiteY4" fmla="*/ 44 h 1648754"/>
                  <a:gd name="connsiteX5" fmla="*/ 1180357 w 1957297"/>
                  <a:gd name="connsiteY5" fmla="*/ 453963 h 1648754"/>
                  <a:gd name="connsiteX6" fmla="*/ 1636061 w 1957297"/>
                  <a:gd name="connsiteY6" fmla="*/ 244787 h 1648754"/>
                  <a:gd name="connsiteX7" fmla="*/ 1494121 w 1957297"/>
                  <a:gd name="connsiteY7" fmla="*/ 648197 h 1648754"/>
                  <a:gd name="connsiteX8" fmla="*/ 1957297 w 1957297"/>
                  <a:gd name="connsiteY8" fmla="*/ 824327 h 1648754"/>
                  <a:gd name="connsiteX9" fmla="*/ 1471709 w 1957297"/>
                  <a:gd name="connsiteY9" fmla="*/ 991844 h 1648754"/>
                  <a:gd name="connsiteX10" fmla="*/ 1606179 w 1957297"/>
                  <a:gd name="connsiteY10" fmla="*/ 1417668 h 1648754"/>
                  <a:gd name="connsiteX11" fmla="*/ 1172886 w 1957297"/>
                  <a:gd name="connsiteY11" fmla="*/ 1230904 h 1648754"/>
                  <a:gd name="connsiteX12" fmla="*/ 978650 w 1957297"/>
                  <a:gd name="connsiteY12" fmla="*/ 1648610 h 1648754"/>
                  <a:gd name="connsiteX13" fmla="*/ 814298 w 1957297"/>
                  <a:gd name="connsiteY13" fmla="*/ 1178610 h 1648754"/>
                  <a:gd name="connsiteX14" fmla="*/ 328709 w 1957297"/>
                  <a:gd name="connsiteY14" fmla="*/ 1402726 h 1648754"/>
                  <a:gd name="connsiteX15" fmla="*/ 493063 w 1957297"/>
                  <a:gd name="connsiteY15" fmla="*/ 991845 h 1648754"/>
                  <a:gd name="connsiteX16" fmla="*/ 3 w 1957297"/>
                  <a:gd name="connsiteY16" fmla="*/ 824327 h 1648754"/>
                  <a:gd name="connsiteX0" fmla="*/ 3 w 1957297"/>
                  <a:gd name="connsiteY0" fmla="*/ 824327 h 1648754"/>
                  <a:gd name="connsiteX1" fmla="*/ 485592 w 1957297"/>
                  <a:gd name="connsiteY1" fmla="*/ 663139 h 1648754"/>
                  <a:gd name="connsiteX2" fmla="*/ 351120 w 1957297"/>
                  <a:gd name="connsiteY2" fmla="*/ 252256 h 1648754"/>
                  <a:gd name="connsiteX3" fmla="*/ 814298 w 1957297"/>
                  <a:gd name="connsiteY3" fmla="*/ 483845 h 1648754"/>
                  <a:gd name="connsiteX4" fmla="*/ 978650 w 1957297"/>
                  <a:gd name="connsiteY4" fmla="*/ 44 h 1648754"/>
                  <a:gd name="connsiteX5" fmla="*/ 1180357 w 1957297"/>
                  <a:gd name="connsiteY5" fmla="*/ 453963 h 1648754"/>
                  <a:gd name="connsiteX6" fmla="*/ 1636061 w 1957297"/>
                  <a:gd name="connsiteY6" fmla="*/ 244787 h 1648754"/>
                  <a:gd name="connsiteX7" fmla="*/ 1494121 w 1957297"/>
                  <a:gd name="connsiteY7" fmla="*/ 648197 h 1648754"/>
                  <a:gd name="connsiteX8" fmla="*/ 1957297 w 1957297"/>
                  <a:gd name="connsiteY8" fmla="*/ 824327 h 1648754"/>
                  <a:gd name="connsiteX9" fmla="*/ 1471709 w 1957297"/>
                  <a:gd name="connsiteY9" fmla="*/ 991844 h 1648754"/>
                  <a:gd name="connsiteX10" fmla="*/ 1606179 w 1957297"/>
                  <a:gd name="connsiteY10" fmla="*/ 1417668 h 1648754"/>
                  <a:gd name="connsiteX11" fmla="*/ 1172886 w 1957297"/>
                  <a:gd name="connsiteY11" fmla="*/ 1230904 h 1648754"/>
                  <a:gd name="connsiteX12" fmla="*/ 978650 w 1957297"/>
                  <a:gd name="connsiteY12" fmla="*/ 1648610 h 1648754"/>
                  <a:gd name="connsiteX13" fmla="*/ 814298 w 1957297"/>
                  <a:gd name="connsiteY13" fmla="*/ 1178610 h 1648754"/>
                  <a:gd name="connsiteX14" fmla="*/ 328709 w 1957297"/>
                  <a:gd name="connsiteY14" fmla="*/ 1402726 h 1648754"/>
                  <a:gd name="connsiteX15" fmla="*/ 493063 w 1957297"/>
                  <a:gd name="connsiteY15" fmla="*/ 991845 h 1648754"/>
                  <a:gd name="connsiteX16" fmla="*/ 3 w 1957297"/>
                  <a:gd name="connsiteY16" fmla="*/ 824327 h 1648754"/>
                  <a:gd name="connsiteX0" fmla="*/ 3 w 1957297"/>
                  <a:gd name="connsiteY0" fmla="*/ 824327 h 1648754"/>
                  <a:gd name="connsiteX1" fmla="*/ 485592 w 1957297"/>
                  <a:gd name="connsiteY1" fmla="*/ 663139 h 1648754"/>
                  <a:gd name="connsiteX2" fmla="*/ 351120 w 1957297"/>
                  <a:gd name="connsiteY2" fmla="*/ 252256 h 1648754"/>
                  <a:gd name="connsiteX3" fmla="*/ 814298 w 1957297"/>
                  <a:gd name="connsiteY3" fmla="*/ 483845 h 1648754"/>
                  <a:gd name="connsiteX4" fmla="*/ 978650 w 1957297"/>
                  <a:gd name="connsiteY4" fmla="*/ 44 h 1648754"/>
                  <a:gd name="connsiteX5" fmla="*/ 1180357 w 1957297"/>
                  <a:gd name="connsiteY5" fmla="*/ 453963 h 1648754"/>
                  <a:gd name="connsiteX6" fmla="*/ 1636061 w 1957297"/>
                  <a:gd name="connsiteY6" fmla="*/ 244787 h 1648754"/>
                  <a:gd name="connsiteX7" fmla="*/ 1494121 w 1957297"/>
                  <a:gd name="connsiteY7" fmla="*/ 648197 h 1648754"/>
                  <a:gd name="connsiteX8" fmla="*/ 1957297 w 1957297"/>
                  <a:gd name="connsiteY8" fmla="*/ 824327 h 1648754"/>
                  <a:gd name="connsiteX9" fmla="*/ 1471709 w 1957297"/>
                  <a:gd name="connsiteY9" fmla="*/ 991844 h 1648754"/>
                  <a:gd name="connsiteX10" fmla="*/ 1606179 w 1957297"/>
                  <a:gd name="connsiteY10" fmla="*/ 1417668 h 1648754"/>
                  <a:gd name="connsiteX11" fmla="*/ 1172886 w 1957297"/>
                  <a:gd name="connsiteY11" fmla="*/ 1230904 h 1648754"/>
                  <a:gd name="connsiteX12" fmla="*/ 978650 w 1957297"/>
                  <a:gd name="connsiteY12" fmla="*/ 1648610 h 1648754"/>
                  <a:gd name="connsiteX13" fmla="*/ 814298 w 1957297"/>
                  <a:gd name="connsiteY13" fmla="*/ 1178610 h 1648754"/>
                  <a:gd name="connsiteX14" fmla="*/ 328709 w 1957297"/>
                  <a:gd name="connsiteY14" fmla="*/ 1402726 h 1648754"/>
                  <a:gd name="connsiteX15" fmla="*/ 493063 w 1957297"/>
                  <a:gd name="connsiteY15" fmla="*/ 991845 h 1648754"/>
                  <a:gd name="connsiteX16" fmla="*/ 3 w 1957297"/>
                  <a:gd name="connsiteY16" fmla="*/ 824327 h 1648754"/>
                  <a:gd name="connsiteX0" fmla="*/ 3 w 1957297"/>
                  <a:gd name="connsiteY0" fmla="*/ 824327 h 1648754"/>
                  <a:gd name="connsiteX1" fmla="*/ 485592 w 1957297"/>
                  <a:gd name="connsiteY1" fmla="*/ 663139 h 1648754"/>
                  <a:gd name="connsiteX2" fmla="*/ 351120 w 1957297"/>
                  <a:gd name="connsiteY2" fmla="*/ 252256 h 1648754"/>
                  <a:gd name="connsiteX3" fmla="*/ 814298 w 1957297"/>
                  <a:gd name="connsiteY3" fmla="*/ 483845 h 1648754"/>
                  <a:gd name="connsiteX4" fmla="*/ 978650 w 1957297"/>
                  <a:gd name="connsiteY4" fmla="*/ 44 h 1648754"/>
                  <a:gd name="connsiteX5" fmla="*/ 1180357 w 1957297"/>
                  <a:gd name="connsiteY5" fmla="*/ 453963 h 1648754"/>
                  <a:gd name="connsiteX6" fmla="*/ 1636061 w 1957297"/>
                  <a:gd name="connsiteY6" fmla="*/ 244787 h 1648754"/>
                  <a:gd name="connsiteX7" fmla="*/ 1494121 w 1957297"/>
                  <a:gd name="connsiteY7" fmla="*/ 648197 h 1648754"/>
                  <a:gd name="connsiteX8" fmla="*/ 1957297 w 1957297"/>
                  <a:gd name="connsiteY8" fmla="*/ 824327 h 1648754"/>
                  <a:gd name="connsiteX9" fmla="*/ 1471709 w 1957297"/>
                  <a:gd name="connsiteY9" fmla="*/ 991844 h 1648754"/>
                  <a:gd name="connsiteX10" fmla="*/ 1606179 w 1957297"/>
                  <a:gd name="connsiteY10" fmla="*/ 1417668 h 1648754"/>
                  <a:gd name="connsiteX11" fmla="*/ 1172886 w 1957297"/>
                  <a:gd name="connsiteY11" fmla="*/ 1230904 h 1648754"/>
                  <a:gd name="connsiteX12" fmla="*/ 978650 w 1957297"/>
                  <a:gd name="connsiteY12" fmla="*/ 1648610 h 1648754"/>
                  <a:gd name="connsiteX13" fmla="*/ 814298 w 1957297"/>
                  <a:gd name="connsiteY13" fmla="*/ 1178610 h 1648754"/>
                  <a:gd name="connsiteX14" fmla="*/ 328709 w 1957297"/>
                  <a:gd name="connsiteY14" fmla="*/ 1402726 h 1648754"/>
                  <a:gd name="connsiteX15" fmla="*/ 493063 w 1957297"/>
                  <a:gd name="connsiteY15" fmla="*/ 991845 h 1648754"/>
                  <a:gd name="connsiteX16" fmla="*/ 3 w 1957297"/>
                  <a:gd name="connsiteY16" fmla="*/ 824327 h 1648754"/>
                  <a:gd name="connsiteX0" fmla="*/ 3 w 1957297"/>
                  <a:gd name="connsiteY0" fmla="*/ 824327 h 1648754"/>
                  <a:gd name="connsiteX1" fmla="*/ 485592 w 1957297"/>
                  <a:gd name="connsiteY1" fmla="*/ 663139 h 1648754"/>
                  <a:gd name="connsiteX2" fmla="*/ 351120 w 1957297"/>
                  <a:gd name="connsiteY2" fmla="*/ 252256 h 1648754"/>
                  <a:gd name="connsiteX3" fmla="*/ 814298 w 1957297"/>
                  <a:gd name="connsiteY3" fmla="*/ 483845 h 1648754"/>
                  <a:gd name="connsiteX4" fmla="*/ 978650 w 1957297"/>
                  <a:gd name="connsiteY4" fmla="*/ 44 h 1648754"/>
                  <a:gd name="connsiteX5" fmla="*/ 1180357 w 1957297"/>
                  <a:gd name="connsiteY5" fmla="*/ 453963 h 1648754"/>
                  <a:gd name="connsiteX6" fmla="*/ 1636061 w 1957297"/>
                  <a:gd name="connsiteY6" fmla="*/ 244787 h 1648754"/>
                  <a:gd name="connsiteX7" fmla="*/ 1494121 w 1957297"/>
                  <a:gd name="connsiteY7" fmla="*/ 648197 h 1648754"/>
                  <a:gd name="connsiteX8" fmla="*/ 1957297 w 1957297"/>
                  <a:gd name="connsiteY8" fmla="*/ 824327 h 1648754"/>
                  <a:gd name="connsiteX9" fmla="*/ 1471709 w 1957297"/>
                  <a:gd name="connsiteY9" fmla="*/ 991844 h 1648754"/>
                  <a:gd name="connsiteX10" fmla="*/ 1606179 w 1957297"/>
                  <a:gd name="connsiteY10" fmla="*/ 1417668 h 1648754"/>
                  <a:gd name="connsiteX11" fmla="*/ 1172886 w 1957297"/>
                  <a:gd name="connsiteY11" fmla="*/ 1230904 h 1648754"/>
                  <a:gd name="connsiteX12" fmla="*/ 978650 w 1957297"/>
                  <a:gd name="connsiteY12" fmla="*/ 1648610 h 1648754"/>
                  <a:gd name="connsiteX13" fmla="*/ 814298 w 1957297"/>
                  <a:gd name="connsiteY13" fmla="*/ 1178610 h 1648754"/>
                  <a:gd name="connsiteX14" fmla="*/ 328709 w 1957297"/>
                  <a:gd name="connsiteY14" fmla="*/ 1402726 h 1648754"/>
                  <a:gd name="connsiteX15" fmla="*/ 493063 w 1957297"/>
                  <a:gd name="connsiteY15" fmla="*/ 991845 h 1648754"/>
                  <a:gd name="connsiteX16" fmla="*/ 3 w 1957297"/>
                  <a:gd name="connsiteY16" fmla="*/ 824327 h 1648754"/>
                  <a:gd name="connsiteX0" fmla="*/ 3 w 1957297"/>
                  <a:gd name="connsiteY0" fmla="*/ 824327 h 1611416"/>
                  <a:gd name="connsiteX1" fmla="*/ 485592 w 1957297"/>
                  <a:gd name="connsiteY1" fmla="*/ 663139 h 1611416"/>
                  <a:gd name="connsiteX2" fmla="*/ 351120 w 1957297"/>
                  <a:gd name="connsiteY2" fmla="*/ 252256 h 1611416"/>
                  <a:gd name="connsiteX3" fmla="*/ 814298 w 1957297"/>
                  <a:gd name="connsiteY3" fmla="*/ 483845 h 1611416"/>
                  <a:gd name="connsiteX4" fmla="*/ 978650 w 1957297"/>
                  <a:gd name="connsiteY4" fmla="*/ 44 h 1611416"/>
                  <a:gd name="connsiteX5" fmla="*/ 1180357 w 1957297"/>
                  <a:gd name="connsiteY5" fmla="*/ 453963 h 1611416"/>
                  <a:gd name="connsiteX6" fmla="*/ 1636061 w 1957297"/>
                  <a:gd name="connsiteY6" fmla="*/ 244787 h 1611416"/>
                  <a:gd name="connsiteX7" fmla="*/ 1494121 w 1957297"/>
                  <a:gd name="connsiteY7" fmla="*/ 648197 h 1611416"/>
                  <a:gd name="connsiteX8" fmla="*/ 1957297 w 1957297"/>
                  <a:gd name="connsiteY8" fmla="*/ 824327 h 1611416"/>
                  <a:gd name="connsiteX9" fmla="*/ 1471709 w 1957297"/>
                  <a:gd name="connsiteY9" fmla="*/ 991844 h 1611416"/>
                  <a:gd name="connsiteX10" fmla="*/ 1606179 w 1957297"/>
                  <a:gd name="connsiteY10" fmla="*/ 1417668 h 1611416"/>
                  <a:gd name="connsiteX11" fmla="*/ 1172886 w 1957297"/>
                  <a:gd name="connsiteY11" fmla="*/ 1230904 h 1611416"/>
                  <a:gd name="connsiteX12" fmla="*/ 963709 w 1957297"/>
                  <a:gd name="connsiteY12" fmla="*/ 1611257 h 1611416"/>
                  <a:gd name="connsiteX13" fmla="*/ 814298 w 1957297"/>
                  <a:gd name="connsiteY13" fmla="*/ 1178610 h 1611416"/>
                  <a:gd name="connsiteX14" fmla="*/ 328709 w 1957297"/>
                  <a:gd name="connsiteY14" fmla="*/ 1402726 h 1611416"/>
                  <a:gd name="connsiteX15" fmla="*/ 493063 w 1957297"/>
                  <a:gd name="connsiteY15" fmla="*/ 991845 h 1611416"/>
                  <a:gd name="connsiteX16" fmla="*/ 3 w 1957297"/>
                  <a:gd name="connsiteY16" fmla="*/ 824327 h 1611416"/>
                  <a:gd name="connsiteX0" fmla="*/ 3 w 1957297"/>
                  <a:gd name="connsiteY0" fmla="*/ 824327 h 1611416"/>
                  <a:gd name="connsiteX1" fmla="*/ 485592 w 1957297"/>
                  <a:gd name="connsiteY1" fmla="*/ 663139 h 1611416"/>
                  <a:gd name="connsiteX2" fmla="*/ 351120 w 1957297"/>
                  <a:gd name="connsiteY2" fmla="*/ 252256 h 1611416"/>
                  <a:gd name="connsiteX3" fmla="*/ 814298 w 1957297"/>
                  <a:gd name="connsiteY3" fmla="*/ 483845 h 1611416"/>
                  <a:gd name="connsiteX4" fmla="*/ 978650 w 1957297"/>
                  <a:gd name="connsiteY4" fmla="*/ 44 h 1611416"/>
                  <a:gd name="connsiteX5" fmla="*/ 1180357 w 1957297"/>
                  <a:gd name="connsiteY5" fmla="*/ 453963 h 1611416"/>
                  <a:gd name="connsiteX6" fmla="*/ 1636061 w 1957297"/>
                  <a:gd name="connsiteY6" fmla="*/ 244787 h 1611416"/>
                  <a:gd name="connsiteX7" fmla="*/ 1494121 w 1957297"/>
                  <a:gd name="connsiteY7" fmla="*/ 648197 h 1611416"/>
                  <a:gd name="connsiteX8" fmla="*/ 1957297 w 1957297"/>
                  <a:gd name="connsiteY8" fmla="*/ 824327 h 1611416"/>
                  <a:gd name="connsiteX9" fmla="*/ 1471709 w 1957297"/>
                  <a:gd name="connsiteY9" fmla="*/ 991844 h 1611416"/>
                  <a:gd name="connsiteX10" fmla="*/ 1606179 w 1957297"/>
                  <a:gd name="connsiteY10" fmla="*/ 1417668 h 1611416"/>
                  <a:gd name="connsiteX11" fmla="*/ 1172886 w 1957297"/>
                  <a:gd name="connsiteY11" fmla="*/ 1230904 h 1611416"/>
                  <a:gd name="connsiteX12" fmla="*/ 963709 w 1957297"/>
                  <a:gd name="connsiteY12" fmla="*/ 1611257 h 1611416"/>
                  <a:gd name="connsiteX13" fmla="*/ 814298 w 1957297"/>
                  <a:gd name="connsiteY13" fmla="*/ 1178610 h 1611416"/>
                  <a:gd name="connsiteX14" fmla="*/ 328709 w 1957297"/>
                  <a:gd name="connsiteY14" fmla="*/ 1402726 h 1611416"/>
                  <a:gd name="connsiteX15" fmla="*/ 493063 w 1957297"/>
                  <a:gd name="connsiteY15" fmla="*/ 991845 h 1611416"/>
                  <a:gd name="connsiteX16" fmla="*/ 3 w 1957297"/>
                  <a:gd name="connsiteY16" fmla="*/ 824327 h 1611416"/>
                  <a:gd name="connsiteX0" fmla="*/ 3 w 1957297"/>
                  <a:gd name="connsiteY0" fmla="*/ 824327 h 1611416"/>
                  <a:gd name="connsiteX1" fmla="*/ 485592 w 1957297"/>
                  <a:gd name="connsiteY1" fmla="*/ 663139 h 1611416"/>
                  <a:gd name="connsiteX2" fmla="*/ 351120 w 1957297"/>
                  <a:gd name="connsiteY2" fmla="*/ 252256 h 1611416"/>
                  <a:gd name="connsiteX3" fmla="*/ 814298 w 1957297"/>
                  <a:gd name="connsiteY3" fmla="*/ 483845 h 1611416"/>
                  <a:gd name="connsiteX4" fmla="*/ 978650 w 1957297"/>
                  <a:gd name="connsiteY4" fmla="*/ 44 h 1611416"/>
                  <a:gd name="connsiteX5" fmla="*/ 1180357 w 1957297"/>
                  <a:gd name="connsiteY5" fmla="*/ 453963 h 1611416"/>
                  <a:gd name="connsiteX6" fmla="*/ 1636061 w 1957297"/>
                  <a:gd name="connsiteY6" fmla="*/ 244787 h 1611416"/>
                  <a:gd name="connsiteX7" fmla="*/ 1494121 w 1957297"/>
                  <a:gd name="connsiteY7" fmla="*/ 648197 h 1611416"/>
                  <a:gd name="connsiteX8" fmla="*/ 1957297 w 1957297"/>
                  <a:gd name="connsiteY8" fmla="*/ 824327 h 1611416"/>
                  <a:gd name="connsiteX9" fmla="*/ 1471709 w 1957297"/>
                  <a:gd name="connsiteY9" fmla="*/ 991844 h 1611416"/>
                  <a:gd name="connsiteX10" fmla="*/ 1606179 w 1957297"/>
                  <a:gd name="connsiteY10" fmla="*/ 1417668 h 1611416"/>
                  <a:gd name="connsiteX11" fmla="*/ 1172886 w 1957297"/>
                  <a:gd name="connsiteY11" fmla="*/ 1230904 h 1611416"/>
                  <a:gd name="connsiteX12" fmla="*/ 963709 w 1957297"/>
                  <a:gd name="connsiteY12" fmla="*/ 1611257 h 1611416"/>
                  <a:gd name="connsiteX13" fmla="*/ 814298 w 1957297"/>
                  <a:gd name="connsiteY13" fmla="*/ 1178610 h 1611416"/>
                  <a:gd name="connsiteX14" fmla="*/ 328709 w 1957297"/>
                  <a:gd name="connsiteY14" fmla="*/ 1402726 h 1611416"/>
                  <a:gd name="connsiteX15" fmla="*/ 493063 w 1957297"/>
                  <a:gd name="connsiteY15" fmla="*/ 991845 h 1611416"/>
                  <a:gd name="connsiteX16" fmla="*/ 3 w 1957297"/>
                  <a:gd name="connsiteY16" fmla="*/ 824327 h 1611416"/>
                  <a:gd name="connsiteX0" fmla="*/ 3 w 1957297"/>
                  <a:gd name="connsiteY0" fmla="*/ 824327 h 1611416"/>
                  <a:gd name="connsiteX1" fmla="*/ 485592 w 1957297"/>
                  <a:gd name="connsiteY1" fmla="*/ 663139 h 1611416"/>
                  <a:gd name="connsiteX2" fmla="*/ 351120 w 1957297"/>
                  <a:gd name="connsiteY2" fmla="*/ 252256 h 1611416"/>
                  <a:gd name="connsiteX3" fmla="*/ 814298 w 1957297"/>
                  <a:gd name="connsiteY3" fmla="*/ 483845 h 1611416"/>
                  <a:gd name="connsiteX4" fmla="*/ 978650 w 1957297"/>
                  <a:gd name="connsiteY4" fmla="*/ 44 h 1611416"/>
                  <a:gd name="connsiteX5" fmla="*/ 1180357 w 1957297"/>
                  <a:gd name="connsiteY5" fmla="*/ 453963 h 1611416"/>
                  <a:gd name="connsiteX6" fmla="*/ 1636061 w 1957297"/>
                  <a:gd name="connsiteY6" fmla="*/ 244787 h 1611416"/>
                  <a:gd name="connsiteX7" fmla="*/ 1494121 w 1957297"/>
                  <a:gd name="connsiteY7" fmla="*/ 648197 h 1611416"/>
                  <a:gd name="connsiteX8" fmla="*/ 1957297 w 1957297"/>
                  <a:gd name="connsiteY8" fmla="*/ 824327 h 1611416"/>
                  <a:gd name="connsiteX9" fmla="*/ 1471709 w 1957297"/>
                  <a:gd name="connsiteY9" fmla="*/ 991844 h 1611416"/>
                  <a:gd name="connsiteX10" fmla="*/ 1606179 w 1957297"/>
                  <a:gd name="connsiteY10" fmla="*/ 1417668 h 1611416"/>
                  <a:gd name="connsiteX11" fmla="*/ 1172886 w 1957297"/>
                  <a:gd name="connsiteY11" fmla="*/ 1230904 h 1611416"/>
                  <a:gd name="connsiteX12" fmla="*/ 963709 w 1957297"/>
                  <a:gd name="connsiteY12" fmla="*/ 1611257 h 1611416"/>
                  <a:gd name="connsiteX13" fmla="*/ 814298 w 1957297"/>
                  <a:gd name="connsiteY13" fmla="*/ 1178610 h 1611416"/>
                  <a:gd name="connsiteX14" fmla="*/ 373532 w 1957297"/>
                  <a:gd name="connsiteY14" fmla="*/ 1410196 h 1611416"/>
                  <a:gd name="connsiteX15" fmla="*/ 493063 w 1957297"/>
                  <a:gd name="connsiteY15" fmla="*/ 991845 h 1611416"/>
                  <a:gd name="connsiteX16" fmla="*/ 3 w 1957297"/>
                  <a:gd name="connsiteY16" fmla="*/ 824327 h 1611416"/>
                  <a:gd name="connsiteX0" fmla="*/ 3 w 1957297"/>
                  <a:gd name="connsiteY0" fmla="*/ 824327 h 1611416"/>
                  <a:gd name="connsiteX1" fmla="*/ 485592 w 1957297"/>
                  <a:gd name="connsiteY1" fmla="*/ 663139 h 1611416"/>
                  <a:gd name="connsiteX2" fmla="*/ 351120 w 1957297"/>
                  <a:gd name="connsiteY2" fmla="*/ 252256 h 1611416"/>
                  <a:gd name="connsiteX3" fmla="*/ 814298 w 1957297"/>
                  <a:gd name="connsiteY3" fmla="*/ 483845 h 1611416"/>
                  <a:gd name="connsiteX4" fmla="*/ 978650 w 1957297"/>
                  <a:gd name="connsiteY4" fmla="*/ 44 h 1611416"/>
                  <a:gd name="connsiteX5" fmla="*/ 1180357 w 1957297"/>
                  <a:gd name="connsiteY5" fmla="*/ 453963 h 1611416"/>
                  <a:gd name="connsiteX6" fmla="*/ 1636061 w 1957297"/>
                  <a:gd name="connsiteY6" fmla="*/ 244787 h 1611416"/>
                  <a:gd name="connsiteX7" fmla="*/ 1494121 w 1957297"/>
                  <a:gd name="connsiteY7" fmla="*/ 648197 h 1611416"/>
                  <a:gd name="connsiteX8" fmla="*/ 1957297 w 1957297"/>
                  <a:gd name="connsiteY8" fmla="*/ 824327 h 1611416"/>
                  <a:gd name="connsiteX9" fmla="*/ 1471709 w 1957297"/>
                  <a:gd name="connsiteY9" fmla="*/ 991844 h 1611416"/>
                  <a:gd name="connsiteX10" fmla="*/ 1606179 w 1957297"/>
                  <a:gd name="connsiteY10" fmla="*/ 1417668 h 1611416"/>
                  <a:gd name="connsiteX11" fmla="*/ 1172886 w 1957297"/>
                  <a:gd name="connsiteY11" fmla="*/ 1230904 h 1611416"/>
                  <a:gd name="connsiteX12" fmla="*/ 963709 w 1957297"/>
                  <a:gd name="connsiteY12" fmla="*/ 1611257 h 1611416"/>
                  <a:gd name="connsiteX13" fmla="*/ 814298 w 1957297"/>
                  <a:gd name="connsiteY13" fmla="*/ 1178610 h 1611416"/>
                  <a:gd name="connsiteX14" fmla="*/ 373532 w 1957297"/>
                  <a:gd name="connsiteY14" fmla="*/ 1410196 h 1611416"/>
                  <a:gd name="connsiteX15" fmla="*/ 493063 w 1957297"/>
                  <a:gd name="connsiteY15" fmla="*/ 991845 h 1611416"/>
                  <a:gd name="connsiteX16" fmla="*/ 3 w 1957297"/>
                  <a:gd name="connsiteY16" fmla="*/ 824327 h 1611416"/>
                  <a:gd name="connsiteX0" fmla="*/ 3 w 1957297"/>
                  <a:gd name="connsiteY0" fmla="*/ 824327 h 1611416"/>
                  <a:gd name="connsiteX1" fmla="*/ 485592 w 1957297"/>
                  <a:gd name="connsiteY1" fmla="*/ 663139 h 1611416"/>
                  <a:gd name="connsiteX2" fmla="*/ 351120 w 1957297"/>
                  <a:gd name="connsiteY2" fmla="*/ 252256 h 1611416"/>
                  <a:gd name="connsiteX3" fmla="*/ 814298 w 1957297"/>
                  <a:gd name="connsiteY3" fmla="*/ 483845 h 1611416"/>
                  <a:gd name="connsiteX4" fmla="*/ 978650 w 1957297"/>
                  <a:gd name="connsiteY4" fmla="*/ 44 h 1611416"/>
                  <a:gd name="connsiteX5" fmla="*/ 1180357 w 1957297"/>
                  <a:gd name="connsiteY5" fmla="*/ 453963 h 1611416"/>
                  <a:gd name="connsiteX6" fmla="*/ 1636061 w 1957297"/>
                  <a:gd name="connsiteY6" fmla="*/ 244787 h 1611416"/>
                  <a:gd name="connsiteX7" fmla="*/ 1494121 w 1957297"/>
                  <a:gd name="connsiteY7" fmla="*/ 648197 h 1611416"/>
                  <a:gd name="connsiteX8" fmla="*/ 1957297 w 1957297"/>
                  <a:gd name="connsiteY8" fmla="*/ 824327 h 1611416"/>
                  <a:gd name="connsiteX9" fmla="*/ 1471709 w 1957297"/>
                  <a:gd name="connsiteY9" fmla="*/ 991844 h 1611416"/>
                  <a:gd name="connsiteX10" fmla="*/ 1606179 w 1957297"/>
                  <a:gd name="connsiteY10" fmla="*/ 1417668 h 1611416"/>
                  <a:gd name="connsiteX11" fmla="*/ 1172886 w 1957297"/>
                  <a:gd name="connsiteY11" fmla="*/ 1230904 h 1611416"/>
                  <a:gd name="connsiteX12" fmla="*/ 963709 w 1957297"/>
                  <a:gd name="connsiteY12" fmla="*/ 1611257 h 1611416"/>
                  <a:gd name="connsiteX13" fmla="*/ 814298 w 1957297"/>
                  <a:gd name="connsiteY13" fmla="*/ 1178610 h 1611416"/>
                  <a:gd name="connsiteX14" fmla="*/ 373532 w 1957297"/>
                  <a:gd name="connsiteY14" fmla="*/ 1410196 h 1611416"/>
                  <a:gd name="connsiteX15" fmla="*/ 493063 w 1957297"/>
                  <a:gd name="connsiteY15" fmla="*/ 991845 h 1611416"/>
                  <a:gd name="connsiteX16" fmla="*/ 3 w 1957297"/>
                  <a:gd name="connsiteY16" fmla="*/ 824327 h 1611416"/>
                  <a:gd name="connsiteX0" fmla="*/ 3 w 1957297"/>
                  <a:gd name="connsiteY0" fmla="*/ 824327 h 1611416"/>
                  <a:gd name="connsiteX1" fmla="*/ 485592 w 1957297"/>
                  <a:gd name="connsiteY1" fmla="*/ 663139 h 1611416"/>
                  <a:gd name="connsiteX2" fmla="*/ 351120 w 1957297"/>
                  <a:gd name="connsiteY2" fmla="*/ 252256 h 1611416"/>
                  <a:gd name="connsiteX3" fmla="*/ 814298 w 1957297"/>
                  <a:gd name="connsiteY3" fmla="*/ 483845 h 1611416"/>
                  <a:gd name="connsiteX4" fmla="*/ 978650 w 1957297"/>
                  <a:gd name="connsiteY4" fmla="*/ 44 h 1611416"/>
                  <a:gd name="connsiteX5" fmla="*/ 1180357 w 1957297"/>
                  <a:gd name="connsiteY5" fmla="*/ 453963 h 1611416"/>
                  <a:gd name="connsiteX6" fmla="*/ 1636061 w 1957297"/>
                  <a:gd name="connsiteY6" fmla="*/ 244787 h 1611416"/>
                  <a:gd name="connsiteX7" fmla="*/ 1494121 w 1957297"/>
                  <a:gd name="connsiteY7" fmla="*/ 648197 h 1611416"/>
                  <a:gd name="connsiteX8" fmla="*/ 1957297 w 1957297"/>
                  <a:gd name="connsiteY8" fmla="*/ 824327 h 1611416"/>
                  <a:gd name="connsiteX9" fmla="*/ 1471709 w 1957297"/>
                  <a:gd name="connsiteY9" fmla="*/ 991844 h 1611416"/>
                  <a:gd name="connsiteX10" fmla="*/ 1606179 w 1957297"/>
                  <a:gd name="connsiteY10" fmla="*/ 1417668 h 1611416"/>
                  <a:gd name="connsiteX11" fmla="*/ 1172886 w 1957297"/>
                  <a:gd name="connsiteY11" fmla="*/ 1230904 h 1611416"/>
                  <a:gd name="connsiteX12" fmla="*/ 963709 w 1957297"/>
                  <a:gd name="connsiteY12" fmla="*/ 1611257 h 1611416"/>
                  <a:gd name="connsiteX13" fmla="*/ 814298 w 1957297"/>
                  <a:gd name="connsiteY13" fmla="*/ 1178610 h 1611416"/>
                  <a:gd name="connsiteX14" fmla="*/ 373532 w 1957297"/>
                  <a:gd name="connsiteY14" fmla="*/ 1410196 h 1611416"/>
                  <a:gd name="connsiteX15" fmla="*/ 493063 w 1957297"/>
                  <a:gd name="connsiteY15" fmla="*/ 991845 h 1611416"/>
                  <a:gd name="connsiteX16" fmla="*/ 3 w 1957297"/>
                  <a:gd name="connsiteY16" fmla="*/ 824327 h 1611416"/>
                  <a:gd name="connsiteX0" fmla="*/ 3 w 1919944"/>
                  <a:gd name="connsiteY0" fmla="*/ 824327 h 1611416"/>
                  <a:gd name="connsiteX1" fmla="*/ 448239 w 1919944"/>
                  <a:gd name="connsiteY1" fmla="*/ 663139 h 1611416"/>
                  <a:gd name="connsiteX2" fmla="*/ 313767 w 1919944"/>
                  <a:gd name="connsiteY2" fmla="*/ 252256 h 1611416"/>
                  <a:gd name="connsiteX3" fmla="*/ 776945 w 1919944"/>
                  <a:gd name="connsiteY3" fmla="*/ 483845 h 1611416"/>
                  <a:gd name="connsiteX4" fmla="*/ 941297 w 1919944"/>
                  <a:gd name="connsiteY4" fmla="*/ 44 h 1611416"/>
                  <a:gd name="connsiteX5" fmla="*/ 1143004 w 1919944"/>
                  <a:gd name="connsiteY5" fmla="*/ 453963 h 1611416"/>
                  <a:gd name="connsiteX6" fmla="*/ 1598708 w 1919944"/>
                  <a:gd name="connsiteY6" fmla="*/ 244787 h 1611416"/>
                  <a:gd name="connsiteX7" fmla="*/ 1456768 w 1919944"/>
                  <a:gd name="connsiteY7" fmla="*/ 648197 h 1611416"/>
                  <a:gd name="connsiteX8" fmla="*/ 1919944 w 1919944"/>
                  <a:gd name="connsiteY8" fmla="*/ 824327 h 1611416"/>
                  <a:gd name="connsiteX9" fmla="*/ 1434356 w 1919944"/>
                  <a:gd name="connsiteY9" fmla="*/ 991844 h 1611416"/>
                  <a:gd name="connsiteX10" fmla="*/ 1568826 w 1919944"/>
                  <a:gd name="connsiteY10" fmla="*/ 1417668 h 1611416"/>
                  <a:gd name="connsiteX11" fmla="*/ 1135533 w 1919944"/>
                  <a:gd name="connsiteY11" fmla="*/ 1230904 h 1611416"/>
                  <a:gd name="connsiteX12" fmla="*/ 926356 w 1919944"/>
                  <a:gd name="connsiteY12" fmla="*/ 1611257 h 1611416"/>
                  <a:gd name="connsiteX13" fmla="*/ 776945 w 1919944"/>
                  <a:gd name="connsiteY13" fmla="*/ 1178610 h 1611416"/>
                  <a:gd name="connsiteX14" fmla="*/ 336179 w 1919944"/>
                  <a:gd name="connsiteY14" fmla="*/ 1410196 h 1611416"/>
                  <a:gd name="connsiteX15" fmla="*/ 455710 w 1919944"/>
                  <a:gd name="connsiteY15" fmla="*/ 991845 h 1611416"/>
                  <a:gd name="connsiteX16" fmla="*/ 3 w 1919944"/>
                  <a:gd name="connsiteY16" fmla="*/ 824327 h 1611416"/>
                  <a:gd name="connsiteX0" fmla="*/ 3 w 1919944"/>
                  <a:gd name="connsiteY0" fmla="*/ 824327 h 1611416"/>
                  <a:gd name="connsiteX1" fmla="*/ 448239 w 1919944"/>
                  <a:gd name="connsiteY1" fmla="*/ 663139 h 1611416"/>
                  <a:gd name="connsiteX2" fmla="*/ 313767 w 1919944"/>
                  <a:gd name="connsiteY2" fmla="*/ 252256 h 1611416"/>
                  <a:gd name="connsiteX3" fmla="*/ 776945 w 1919944"/>
                  <a:gd name="connsiteY3" fmla="*/ 483845 h 1611416"/>
                  <a:gd name="connsiteX4" fmla="*/ 941297 w 1919944"/>
                  <a:gd name="connsiteY4" fmla="*/ 44 h 1611416"/>
                  <a:gd name="connsiteX5" fmla="*/ 1143004 w 1919944"/>
                  <a:gd name="connsiteY5" fmla="*/ 453963 h 1611416"/>
                  <a:gd name="connsiteX6" fmla="*/ 1598708 w 1919944"/>
                  <a:gd name="connsiteY6" fmla="*/ 244787 h 1611416"/>
                  <a:gd name="connsiteX7" fmla="*/ 1456768 w 1919944"/>
                  <a:gd name="connsiteY7" fmla="*/ 648197 h 1611416"/>
                  <a:gd name="connsiteX8" fmla="*/ 1919944 w 1919944"/>
                  <a:gd name="connsiteY8" fmla="*/ 824327 h 1611416"/>
                  <a:gd name="connsiteX9" fmla="*/ 1434356 w 1919944"/>
                  <a:gd name="connsiteY9" fmla="*/ 991844 h 1611416"/>
                  <a:gd name="connsiteX10" fmla="*/ 1568826 w 1919944"/>
                  <a:gd name="connsiteY10" fmla="*/ 1417668 h 1611416"/>
                  <a:gd name="connsiteX11" fmla="*/ 1135533 w 1919944"/>
                  <a:gd name="connsiteY11" fmla="*/ 1230904 h 1611416"/>
                  <a:gd name="connsiteX12" fmla="*/ 926356 w 1919944"/>
                  <a:gd name="connsiteY12" fmla="*/ 1611257 h 1611416"/>
                  <a:gd name="connsiteX13" fmla="*/ 776945 w 1919944"/>
                  <a:gd name="connsiteY13" fmla="*/ 1178610 h 1611416"/>
                  <a:gd name="connsiteX14" fmla="*/ 336179 w 1919944"/>
                  <a:gd name="connsiteY14" fmla="*/ 1410196 h 1611416"/>
                  <a:gd name="connsiteX15" fmla="*/ 455710 w 1919944"/>
                  <a:gd name="connsiteY15" fmla="*/ 991845 h 1611416"/>
                  <a:gd name="connsiteX16" fmla="*/ 3 w 1919944"/>
                  <a:gd name="connsiteY16" fmla="*/ 824327 h 1611416"/>
                  <a:gd name="connsiteX0" fmla="*/ 3 w 1919944"/>
                  <a:gd name="connsiteY0" fmla="*/ 824327 h 1611416"/>
                  <a:gd name="connsiteX1" fmla="*/ 448239 w 1919944"/>
                  <a:gd name="connsiteY1" fmla="*/ 663139 h 1611416"/>
                  <a:gd name="connsiteX2" fmla="*/ 313767 w 1919944"/>
                  <a:gd name="connsiteY2" fmla="*/ 252256 h 1611416"/>
                  <a:gd name="connsiteX3" fmla="*/ 776945 w 1919944"/>
                  <a:gd name="connsiteY3" fmla="*/ 483845 h 1611416"/>
                  <a:gd name="connsiteX4" fmla="*/ 941297 w 1919944"/>
                  <a:gd name="connsiteY4" fmla="*/ 44 h 1611416"/>
                  <a:gd name="connsiteX5" fmla="*/ 1143004 w 1919944"/>
                  <a:gd name="connsiteY5" fmla="*/ 453963 h 1611416"/>
                  <a:gd name="connsiteX6" fmla="*/ 1598708 w 1919944"/>
                  <a:gd name="connsiteY6" fmla="*/ 244787 h 1611416"/>
                  <a:gd name="connsiteX7" fmla="*/ 1456768 w 1919944"/>
                  <a:gd name="connsiteY7" fmla="*/ 648197 h 1611416"/>
                  <a:gd name="connsiteX8" fmla="*/ 1919944 w 1919944"/>
                  <a:gd name="connsiteY8" fmla="*/ 824327 h 1611416"/>
                  <a:gd name="connsiteX9" fmla="*/ 1434356 w 1919944"/>
                  <a:gd name="connsiteY9" fmla="*/ 991844 h 1611416"/>
                  <a:gd name="connsiteX10" fmla="*/ 1568826 w 1919944"/>
                  <a:gd name="connsiteY10" fmla="*/ 1417668 h 1611416"/>
                  <a:gd name="connsiteX11" fmla="*/ 1135533 w 1919944"/>
                  <a:gd name="connsiteY11" fmla="*/ 1230904 h 1611416"/>
                  <a:gd name="connsiteX12" fmla="*/ 926356 w 1919944"/>
                  <a:gd name="connsiteY12" fmla="*/ 1611257 h 1611416"/>
                  <a:gd name="connsiteX13" fmla="*/ 776945 w 1919944"/>
                  <a:gd name="connsiteY13" fmla="*/ 1178610 h 1611416"/>
                  <a:gd name="connsiteX14" fmla="*/ 336179 w 1919944"/>
                  <a:gd name="connsiteY14" fmla="*/ 1410196 h 1611416"/>
                  <a:gd name="connsiteX15" fmla="*/ 455710 w 1919944"/>
                  <a:gd name="connsiteY15" fmla="*/ 991845 h 1611416"/>
                  <a:gd name="connsiteX16" fmla="*/ 3 w 1919944"/>
                  <a:gd name="connsiteY16" fmla="*/ 824327 h 1611416"/>
                  <a:gd name="connsiteX0" fmla="*/ 3 w 1919944"/>
                  <a:gd name="connsiteY0" fmla="*/ 824327 h 1611416"/>
                  <a:gd name="connsiteX1" fmla="*/ 448239 w 1919944"/>
                  <a:gd name="connsiteY1" fmla="*/ 663139 h 1611416"/>
                  <a:gd name="connsiteX2" fmla="*/ 351119 w 1919944"/>
                  <a:gd name="connsiteY2" fmla="*/ 237315 h 1611416"/>
                  <a:gd name="connsiteX3" fmla="*/ 776945 w 1919944"/>
                  <a:gd name="connsiteY3" fmla="*/ 483845 h 1611416"/>
                  <a:gd name="connsiteX4" fmla="*/ 941297 w 1919944"/>
                  <a:gd name="connsiteY4" fmla="*/ 44 h 1611416"/>
                  <a:gd name="connsiteX5" fmla="*/ 1143004 w 1919944"/>
                  <a:gd name="connsiteY5" fmla="*/ 453963 h 1611416"/>
                  <a:gd name="connsiteX6" fmla="*/ 1598708 w 1919944"/>
                  <a:gd name="connsiteY6" fmla="*/ 244787 h 1611416"/>
                  <a:gd name="connsiteX7" fmla="*/ 1456768 w 1919944"/>
                  <a:gd name="connsiteY7" fmla="*/ 648197 h 1611416"/>
                  <a:gd name="connsiteX8" fmla="*/ 1919944 w 1919944"/>
                  <a:gd name="connsiteY8" fmla="*/ 824327 h 1611416"/>
                  <a:gd name="connsiteX9" fmla="*/ 1434356 w 1919944"/>
                  <a:gd name="connsiteY9" fmla="*/ 991844 h 1611416"/>
                  <a:gd name="connsiteX10" fmla="*/ 1568826 w 1919944"/>
                  <a:gd name="connsiteY10" fmla="*/ 1417668 h 1611416"/>
                  <a:gd name="connsiteX11" fmla="*/ 1135533 w 1919944"/>
                  <a:gd name="connsiteY11" fmla="*/ 1230904 h 1611416"/>
                  <a:gd name="connsiteX12" fmla="*/ 926356 w 1919944"/>
                  <a:gd name="connsiteY12" fmla="*/ 1611257 h 1611416"/>
                  <a:gd name="connsiteX13" fmla="*/ 776945 w 1919944"/>
                  <a:gd name="connsiteY13" fmla="*/ 1178610 h 1611416"/>
                  <a:gd name="connsiteX14" fmla="*/ 336179 w 1919944"/>
                  <a:gd name="connsiteY14" fmla="*/ 1410196 h 1611416"/>
                  <a:gd name="connsiteX15" fmla="*/ 455710 w 1919944"/>
                  <a:gd name="connsiteY15" fmla="*/ 991845 h 1611416"/>
                  <a:gd name="connsiteX16" fmla="*/ 3 w 1919944"/>
                  <a:gd name="connsiteY16" fmla="*/ 824327 h 1611416"/>
                  <a:gd name="connsiteX0" fmla="*/ 3 w 1919944"/>
                  <a:gd name="connsiteY0" fmla="*/ 824327 h 1611416"/>
                  <a:gd name="connsiteX1" fmla="*/ 448239 w 1919944"/>
                  <a:gd name="connsiteY1" fmla="*/ 663139 h 1611416"/>
                  <a:gd name="connsiteX2" fmla="*/ 351119 w 1919944"/>
                  <a:gd name="connsiteY2" fmla="*/ 237315 h 1611416"/>
                  <a:gd name="connsiteX3" fmla="*/ 776945 w 1919944"/>
                  <a:gd name="connsiteY3" fmla="*/ 483845 h 1611416"/>
                  <a:gd name="connsiteX4" fmla="*/ 941297 w 1919944"/>
                  <a:gd name="connsiteY4" fmla="*/ 44 h 1611416"/>
                  <a:gd name="connsiteX5" fmla="*/ 1143004 w 1919944"/>
                  <a:gd name="connsiteY5" fmla="*/ 453963 h 1611416"/>
                  <a:gd name="connsiteX6" fmla="*/ 1598708 w 1919944"/>
                  <a:gd name="connsiteY6" fmla="*/ 244787 h 1611416"/>
                  <a:gd name="connsiteX7" fmla="*/ 1456768 w 1919944"/>
                  <a:gd name="connsiteY7" fmla="*/ 648197 h 1611416"/>
                  <a:gd name="connsiteX8" fmla="*/ 1919944 w 1919944"/>
                  <a:gd name="connsiteY8" fmla="*/ 824327 h 1611416"/>
                  <a:gd name="connsiteX9" fmla="*/ 1434356 w 1919944"/>
                  <a:gd name="connsiteY9" fmla="*/ 991844 h 1611416"/>
                  <a:gd name="connsiteX10" fmla="*/ 1568826 w 1919944"/>
                  <a:gd name="connsiteY10" fmla="*/ 1417668 h 1611416"/>
                  <a:gd name="connsiteX11" fmla="*/ 1135533 w 1919944"/>
                  <a:gd name="connsiteY11" fmla="*/ 1230904 h 1611416"/>
                  <a:gd name="connsiteX12" fmla="*/ 926356 w 1919944"/>
                  <a:gd name="connsiteY12" fmla="*/ 1611257 h 1611416"/>
                  <a:gd name="connsiteX13" fmla="*/ 776945 w 1919944"/>
                  <a:gd name="connsiteY13" fmla="*/ 1178610 h 1611416"/>
                  <a:gd name="connsiteX14" fmla="*/ 336179 w 1919944"/>
                  <a:gd name="connsiteY14" fmla="*/ 1410196 h 1611416"/>
                  <a:gd name="connsiteX15" fmla="*/ 455710 w 1919944"/>
                  <a:gd name="connsiteY15" fmla="*/ 991845 h 1611416"/>
                  <a:gd name="connsiteX16" fmla="*/ 3 w 1919944"/>
                  <a:gd name="connsiteY16" fmla="*/ 824327 h 1611416"/>
                  <a:gd name="connsiteX0" fmla="*/ 3 w 1890061"/>
                  <a:gd name="connsiteY0" fmla="*/ 824327 h 1611416"/>
                  <a:gd name="connsiteX1" fmla="*/ 448239 w 1890061"/>
                  <a:gd name="connsiteY1" fmla="*/ 663139 h 1611416"/>
                  <a:gd name="connsiteX2" fmla="*/ 351119 w 1890061"/>
                  <a:gd name="connsiteY2" fmla="*/ 237315 h 1611416"/>
                  <a:gd name="connsiteX3" fmla="*/ 776945 w 1890061"/>
                  <a:gd name="connsiteY3" fmla="*/ 483845 h 1611416"/>
                  <a:gd name="connsiteX4" fmla="*/ 941297 w 1890061"/>
                  <a:gd name="connsiteY4" fmla="*/ 44 h 1611416"/>
                  <a:gd name="connsiteX5" fmla="*/ 1143004 w 1890061"/>
                  <a:gd name="connsiteY5" fmla="*/ 453963 h 1611416"/>
                  <a:gd name="connsiteX6" fmla="*/ 1598708 w 1890061"/>
                  <a:gd name="connsiteY6" fmla="*/ 244787 h 1611416"/>
                  <a:gd name="connsiteX7" fmla="*/ 1456768 w 1890061"/>
                  <a:gd name="connsiteY7" fmla="*/ 648197 h 1611416"/>
                  <a:gd name="connsiteX8" fmla="*/ 1890061 w 1890061"/>
                  <a:gd name="connsiteY8" fmla="*/ 824327 h 1611416"/>
                  <a:gd name="connsiteX9" fmla="*/ 1434356 w 1890061"/>
                  <a:gd name="connsiteY9" fmla="*/ 991844 h 1611416"/>
                  <a:gd name="connsiteX10" fmla="*/ 1568826 w 1890061"/>
                  <a:gd name="connsiteY10" fmla="*/ 1417668 h 1611416"/>
                  <a:gd name="connsiteX11" fmla="*/ 1135533 w 1890061"/>
                  <a:gd name="connsiteY11" fmla="*/ 1230904 h 1611416"/>
                  <a:gd name="connsiteX12" fmla="*/ 926356 w 1890061"/>
                  <a:gd name="connsiteY12" fmla="*/ 1611257 h 1611416"/>
                  <a:gd name="connsiteX13" fmla="*/ 776945 w 1890061"/>
                  <a:gd name="connsiteY13" fmla="*/ 1178610 h 1611416"/>
                  <a:gd name="connsiteX14" fmla="*/ 336179 w 1890061"/>
                  <a:gd name="connsiteY14" fmla="*/ 1410196 h 1611416"/>
                  <a:gd name="connsiteX15" fmla="*/ 455710 w 1890061"/>
                  <a:gd name="connsiteY15" fmla="*/ 991845 h 1611416"/>
                  <a:gd name="connsiteX16" fmla="*/ 3 w 1890061"/>
                  <a:gd name="connsiteY16" fmla="*/ 824327 h 1611416"/>
                  <a:gd name="connsiteX0" fmla="*/ 3 w 1890061"/>
                  <a:gd name="connsiteY0" fmla="*/ 824327 h 1611416"/>
                  <a:gd name="connsiteX1" fmla="*/ 448239 w 1890061"/>
                  <a:gd name="connsiteY1" fmla="*/ 663139 h 1611416"/>
                  <a:gd name="connsiteX2" fmla="*/ 351119 w 1890061"/>
                  <a:gd name="connsiteY2" fmla="*/ 237315 h 1611416"/>
                  <a:gd name="connsiteX3" fmla="*/ 776945 w 1890061"/>
                  <a:gd name="connsiteY3" fmla="*/ 483845 h 1611416"/>
                  <a:gd name="connsiteX4" fmla="*/ 941297 w 1890061"/>
                  <a:gd name="connsiteY4" fmla="*/ 44 h 1611416"/>
                  <a:gd name="connsiteX5" fmla="*/ 1143004 w 1890061"/>
                  <a:gd name="connsiteY5" fmla="*/ 453963 h 1611416"/>
                  <a:gd name="connsiteX6" fmla="*/ 1598708 w 1890061"/>
                  <a:gd name="connsiteY6" fmla="*/ 244787 h 1611416"/>
                  <a:gd name="connsiteX7" fmla="*/ 1456768 w 1890061"/>
                  <a:gd name="connsiteY7" fmla="*/ 648197 h 1611416"/>
                  <a:gd name="connsiteX8" fmla="*/ 1890061 w 1890061"/>
                  <a:gd name="connsiteY8" fmla="*/ 824327 h 1611416"/>
                  <a:gd name="connsiteX9" fmla="*/ 1434356 w 1890061"/>
                  <a:gd name="connsiteY9" fmla="*/ 991844 h 1611416"/>
                  <a:gd name="connsiteX10" fmla="*/ 1568826 w 1890061"/>
                  <a:gd name="connsiteY10" fmla="*/ 1417668 h 1611416"/>
                  <a:gd name="connsiteX11" fmla="*/ 1135533 w 1890061"/>
                  <a:gd name="connsiteY11" fmla="*/ 1230904 h 1611416"/>
                  <a:gd name="connsiteX12" fmla="*/ 926356 w 1890061"/>
                  <a:gd name="connsiteY12" fmla="*/ 1611257 h 1611416"/>
                  <a:gd name="connsiteX13" fmla="*/ 776945 w 1890061"/>
                  <a:gd name="connsiteY13" fmla="*/ 1178610 h 1611416"/>
                  <a:gd name="connsiteX14" fmla="*/ 336179 w 1890061"/>
                  <a:gd name="connsiteY14" fmla="*/ 1410196 h 1611416"/>
                  <a:gd name="connsiteX15" fmla="*/ 455710 w 1890061"/>
                  <a:gd name="connsiteY15" fmla="*/ 991845 h 1611416"/>
                  <a:gd name="connsiteX16" fmla="*/ 3 w 1890061"/>
                  <a:gd name="connsiteY16" fmla="*/ 824327 h 1611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90061" h="1611416">
                    <a:moveTo>
                      <a:pt x="3" y="824327"/>
                    </a:moveTo>
                    <a:cubicBezTo>
                      <a:pt x="-1242" y="523013"/>
                      <a:pt x="389720" y="758484"/>
                      <a:pt x="448239" y="663139"/>
                    </a:cubicBezTo>
                    <a:cubicBezTo>
                      <a:pt x="506758" y="567794"/>
                      <a:pt x="144433" y="415363"/>
                      <a:pt x="351119" y="237315"/>
                    </a:cubicBezTo>
                    <a:cubicBezTo>
                      <a:pt x="557805" y="59267"/>
                      <a:pt x="672357" y="525880"/>
                      <a:pt x="776945" y="483845"/>
                    </a:cubicBezTo>
                    <a:cubicBezTo>
                      <a:pt x="881533" y="441810"/>
                      <a:pt x="678581" y="5024"/>
                      <a:pt x="941297" y="44"/>
                    </a:cubicBezTo>
                    <a:cubicBezTo>
                      <a:pt x="1204013" y="-4936"/>
                      <a:pt x="1032190" y="420643"/>
                      <a:pt x="1143004" y="453963"/>
                    </a:cubicBezTo>
                    <a:cubicBezTo>
                      <a:pt x="1253818" y="487283"/>
                      <a:pt x="1378325" y="26895"/>
                      <a:pt x="1598708" y="244787"/>
                    </a:cubicBezTo>
                    <a:cubicBezTo>
                      <a:pt x="1819091" y="462679"/>
                      <a:pt x="1404474" y="544136"/>
                      <a:pt x="1456768" y="648197"/>
                    </a:cubicBezTo>
                    <a:cubicBezTo>
                      <a:pt x="1509062" y="752258"/>
                      <a:pt x="1890061" y="504337"/>
                      <a:pt x="1890061" y="824327"/>
                    </a:cubicBezTo>
                    <a:cubicBezTo>
                      <a:pt x="1890061" y="1144317"/>
                      <a:pt x="1492876" y="892954"/>
                      <a:pt x="1434356" y="991844"/>
                    </a:cubicBezTo>
                    <a:cubicBezTo>
                      <a:pt x="1375836" y="1090734"/>
                      <a:pt x="1750611" y="1204757"/>
                      <a:pt x="1568826" y="1417668"/>
                    </a:cubicBezTo>
                    <a:cubicBezTo>
                      <a:pt x="1387041" y="1630579"/>
                      <a:pt x="1240121" y="1192414"/>
                      <a:pt x="1135533" y="1230904"/>
                    </a:cubicBezTo>
                    <a:cubicBezTo>
                      <a:pt x="1030945" y="1269394"/>
                      <a:pt x="1217710" y="1619973"/>
                      <a:pt x="926356" y="1611257"/>
                    </a:cubicBezTo>
                    <a:cubicBezTo>
                      <a:pt x="635002" y="1602541"/>
                      <a:pt x="885268" y="1219591"/>
                      <a:pt x="776945" y="1178610"/>
                    </a:cubicBezTo>
                    <a:cubicBezTo>
                      <a:pt x="668622" y="1137629"/>
                      <a:pt x="514228" y="1594470"/>
                      <a:pt x="336179" y="1410196"/>
                    </a:cubicBezTo>
                    <a:cubicBezTo>
                      <a:pt x="158130" y="1225922"/>
                      <a:pt x="510494" y="1088245"/>
                      <a:pt x="455710" y="991845"/>
                    </a:cubicBezTo>
                    <a:cubicBezTo>
                      <a:pt x="400926" y="895445"/>
                      <a:pt x="1248" y="1125641"/>
                      <a:pt x="3" y="824327"/>
                    </a:cubicBezTo>
                    <a:close/>
                  </a:path>
                </a:pathLst>
              </a:cu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grpSp>
            <p:nvGrpSpPr>
              <p:cNvPr id="12" name="Group 10"/>
              <p:cNvGrpSpPr>
                <a:grpSpLocks/>
              </p:cNvGrpSpPr>
              <p:nvPr/>
            </p:nvGrpSpPr>
            <p:grpSpPr bwMode="auto">
              <a:xfrm>
                <a:off x="3066204" y="1984935"/>
                <a:ext cx="1768475" cy="2074862"/>
                <a:chOff x="4808059" y="1455201"/>
                <a:chExt cx="1769669" cy="2075896"/>
              </a:xfrm>
            </p:grpSpPr>
            <p:sp>
              <p:nvSpPr>
                <p:cNvPr id="13" name="Oval 4"/>
                <p:cNvSpPr/>
                <p:nvPr/>
              </p:nvSpPr>
              <p:spPr>
                <a:xfrm>
                  <a:off x="5494322" y="1995220"/>
                  <a:ext cx="392378" cy="392307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endParaRPr lang="en-US" sz="1800"/>
                </a:p>
              </p:txBody>
            </p:sp>
            <p:grpSp>
              <p:nvGrpSpPr>
                <p:cNvPr id="14" name="Group 17"/>
                <p:cNvGrpSpPr>
                  <a:grpSpLocks/>
                </p:cNvGrpSpPr>
                <p:nvPr/>
              </p:nvGrpSpPr>
              <p:grpSpPr bwMode="auto">
                <a:xfrm>
                  <a:off x="4808059" y="1455201"/>
                  <a:ext cx="1769669" cy="1464869"/>
                  <a:chOff x="548131" y="3676332"/>
                  <a:chExt cx="1769669" cy="1464869"/>
                </a:xfrm>
              </p:grpSpPr>
              <p:cxnSp>
                <p:nvCxnSpPr>
                  <p:cNvPr id="16" name="Straight Connector 18"/>
                  <p:cNvCxnSpPr>
                    <a:stCxn id="28" idx="5"/>
                    <a:endCxn id="24" idx="1"/>
                  </p:cNvCxnSpPr>
                  <p:nvPr/>
                </p:nvCxnSpPr>
                <p:spPr>
                  <a:xfrm>
                    <a:off x="1032646" y="4054345"/>
                    <a:ext cx="322480" cy="28589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9"/>
                  <p:cNvCxnSpPr>
                    <a:stCxn id="24" idx="7"/>
                    <a:endCxn id="32" idx="3"/>
                  </p:cNvCxnSpPr>
                  <p:nvPr/>
                </p:nvCxnSpPr>
                <p:spPr>
                  <a:xfrm flipV="1">
                    <a:off x="1510806" y="4054345"/>
                    <a:ext cx="360606" cy="28589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20"/>
                  <p:cNvCxnSpPr>
                    <a:stCxn id="25" idx="4"/>
                    <a:endCxn id="24" idx="0"/>
                  </p:cNvCxnSpPr>
                  <p:nvPr/>
                </p:nvCxnSpPr>
                <p:spPr>
                  <a:xfrm flipH="1">
                    <a:off x="1432966" y="3898693"/>
                    <a:ext cx="1588" cy="40977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21"/>
                  <p:cNvCxnSpPr>
                    <a:stCxn id="24" idx="6"/>
                    <a:endCxn id="31" idx="2"/>
                  </p:cNvCxnSpPr>
                  <p:nvPr/>
                </p:nvCxnSpPr>
                <p:spPr>
                  <a:xfrm>
                    <a:off x="1544166" y="4418064"/>
                    <a:ext cx="551234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22"/>
                  <p:cNvCxnSpPr>
                    <a:stCxn id="27" idx="6"/>
                    <a:endCxn id="24" idx="2"/>
                  </p:cNvCxnSpPr>
                  <p:nvPr/>
                </p:nvCxnSpPr>
                <p:spPr>
                  <a:xfrm>
                    <a:off x="770531" y="4418064"/>
                    <a:ext cx="551235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3"/>
                  <p:cNvCxnSpPr>
                    <a:stCxn id="24" idx="4"/>
                    <a:endCxn id="26" idx="0"/>
                  </p:cNvCxnSpPr>
                  <p:nvPr/>
                </p:nvCxnSpPr>
                <p:spPr>
                  <a:xfrm>
                    <a:off x="1432966" y="4529244"/>
                    <a:ext cx="1588" cy="38913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4"/>
                  <p:cNvCxnSpPr>
                    <a:stCxn id="24" idx="3"/>
                    <a:endCxn id="29" idx="7"/>
                  </p:cNvCxnSpPr>
                  <p:nvPr/>
                </p:nvCxnSpPr>
                <p:spPr>
                  <a:xfrm flipH="1">
                    <a:off x="1032646" y="4497478"/>
                    <a:ext cx="322480" cy="28589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5"/>
                  <p:cNvCxnSpPr>
                    <a:stCxn id="24" idx="5"/>
                    <a:endCxn id="30" idx="1"/>
                  </p:cNvCxnSpPr>
                  <p:nvPr/>
                </p:nvCxnSpPr>
                <p:spPr>
                  <a:xfrm>
                    <a:off x="1510806" y="4497478"/>
                    <a:ext cx="360606" cy="312894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Oval 26"/>
                  <p:cNvSpPr/>
                  <p:nvPr/>
                </p:nvSpPr>
                <p:spPr>
                  <a:xfrm>
                    <a:off x="1321766" y="4308472"/>
                    <a:ext cx="222400" cy="220772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25" name="Oval 27"/>
                  <p:cNvSpPr/>
                  <p:nvPr/>
                </p:nvSpPr>
                <p:spPr>
                  <a:xfrm>
                    <a:off x="1323354" y="3676332"/>
                    <a:ext cx="222400" cy="222361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26" name="Oval 28"/>
                  <p:cNvSpPr/>
                  <p:nvPr/>
                </p:nvSpPr>
                <p:spPr>
                  <a:xfrm>
                    <a:off x="1323354" y="4918376"/>
                    <a:ext cx="222400" cy="222361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27" name="Oval 29"/>
                  <p:cNvSpPr/>
                  <p:nvPr/>
                </p:nvSpPr>
                <p:spPr>
                  <a:xfrm>
                    <a:off x="548131" y="4308472"/>
                    <a:ext cx="222400" cy="220772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28" name="Oval 30"/>
                  <p:cNvSpPr/>
                  <p:nvPr/>
                </p:nvSpPr>
                <p:spPr>
                  <a:xfrm>
                    <a:off x="842017" y="3865338"/>
                    <a:ext cx="222400" cy="220773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29" name="Oval 31"/>
                  <p:cNvSpPr/>
                  <p:nvPr/>
                </p:nvSpPr>
                <p:spPr>
                  <a:xfrm>
                    <a:off x="842017" y="4750017"/>
                    <a:ext cx="222400" cy="222361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30" name="Oval 32"/>
                  <p:cNvSpPr/>
                  <p:nvPr/>
                </p:nvSpPr>
                <p:spPr>
                  <a:xfrm>
                    <a:off x="1839640" y="4777018"/>
                    <a:ext cx="220811" cy="222361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31" name="Oval 33"/>
                  <p:cNvSpPr/>
                  <p:nvPr/>
                </p:nvSpPr>
                <p:spPr>
                  <a:xfrm>
                    <a:off x="2095400" y="4308472"/>
                    <a:ext cx="222400" cy="220772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32" name="Oval 34"/>
                  <p:cNvSpPr/>
                  <p:nvPr/>
                </p:nvSpPr>
                <p:spPr>
                  <a:xfrm>
                    <a:off x="1839640" y="3865338"/>
                    <a:ext cx="220811" cy="220773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</p:grpSp>
            <p:sp>
              <p:nvSpPr>
                <p:cNvPr id="15" name="TextBox 104"/>
                <p:cNvSpPr txBox="1">
                  <a:spLocks noChangeArrowheads="1"/>
                </p:cNvSpPr>
                <p:nvPr/>
              </p:nvSpPr>
              <p:spPr bwMode="auto">
                <a:xfrm>
                  <a:off x="5171842" y="3164202"/>
                  <a:ext cx="1042103" cy="3668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dirty="0"/>
                    <a:t>Compute</a:t>
                  </a:r>
                </a:p>
              </p:txBody>
            </p:sp>
          </p:grpSp>
          <p:grpSp>
            <p:nvGrpSpPr>
              <p:cNvPr id="33" name="Group 9"/>
              <p:cNvGrpSpPr>
                <a:grpSpLocks/>
              </p:cNvGrpSpPr>
              <p:nvPr/>
            </p:nvGrpSpPr>
            <p:grpSpPr bwMode="auto">
              <a:xfrm>
                <a:off x="953242" y="1976997"/>
                <a:ext cx="1768475" cy="2082800"/>
                <a:chOff x="2695043" y="1447800"/>
                <a:chExt cx="1769669" cy="2083411"/>
              </a:xfrm>
            </p:grpSpPr>
            <p:sp>
              <p:nvSpPr>
                <p:cNvPr id="34" name="Oval 49"/>
                <p:cNvSpPr/>
                <p:nvPr/>
              </p:nvSpPr>
              <p:spPr>
                <a:xfrm>
                  <a:off x="3381306" y="1987708"/>
                  <a:ext cx="392377" cy="392228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endParaRPr lang="en-US" sz="1800"/>
                </a:p>
              </p:txBody>
            </p:sp>
            <p:grpSp>
              <p:nvGrpSpPr>
                <p:cNvPr id="35" name="Group 7"/>
                <p:cNvGrpSpPr>
                  <a:grpSpLocks/>
                </p:cNvGrpSpPr>
                <p:nvPr/>
              </p:nvGrpSpPr>
              <p:grpSpPr bwMode="auto">
                <a:xfrm>
                  <a:off x="2695043" y="1447800"/>
                  <a:ext cx="1769669" cy="2083411"/>
                  <a:chOff x="2695043" y="1447800"/>
                  <a:chExt cx="1769669" cy="2083411"/>
                </a:xfrm>
              </p:grpSpPr>
              <p:sp>
                <p:nvSpPr>
                  <p:cNvPr id="36" name="TextBox 5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79637" y="3164391"/>
                    <a:ext cx="602069" cy="36682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1pPr>
                    <a:lvl2pPr marL="742950" indent="-285750"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2pPr>
                    <a:lvl3pPr marL="1143000" indent="-228600"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3pPr>
                    <a:lvl4pPr marL="1600200" indent="-228600"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4pPr>
                    <a:lvl5pPr marL="2057400" indent="-228600"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charset="0"/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charset="0"/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charset="0"/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charset="0"/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800"/>
                      <a:t>Lock</a:t>
                    </a:r>
                  </a:p>
                </p:txBody>
              </p:sp>
              <p:grpSp>
                <p:nvGrpSpPr>
                  <p:cNvPr id="37" name="Group 17"/>
                  <p:cNvGrpSpPr>
                    <a:grpSpLocks/>
                  </p:cNvGrpSpPr>
                  <p:nvPr/>
                </p:nvGrpSpPr>
                <p:grpSpPr bwMode="auto">
                  <a:xfrm>
                    <a:off x="2695043" y="1447800"/>
                    <a:ext cx="1769669" cy="1464869"/>
                    <a:chOff x="548131" y="3676332"/>
                    <a:chExt cx="1769669" cy="1464869"/>
                  </a:xfrm>
                </p:grpSpPr>
                <p:cxnSp>
                  <p:nvCxnSpPr>
                    <p:cNvPr id="38" name="Straight Connector 52"/>
                    <p:cNvCxnSpPr>
                      <a:stCxn id="50" idx="5"/>
                      <a:endCxn id="46" idx="1"/>
                    </p:cNvCxnSpPr>
                    <p:nvPr/>
                  </p:nvCxnSpPr>
                  <p:spPr>
                    <a:xfrm>
                      <a:off x="1032645" y="4054268"/>
                      <a:ext cx="322481" cy="285834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Straight Connector 53"/>
                    <p:cNvCxnSpPr>
                      <a:stCxn id="46" idx="7"/>
                      <a:endCxn id="54" idx="3"/>
                    </p:cNvCxnSpPr>
                    <p:nvPr/>
                  </p:nvCxnSpPr>
                  <p:spPr>
                    <a:xfrm flipV="1">
                      <a:off x="1510806" y="4054268"/>
                      <a:ext cx="360605" cy="285834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Straight Connector 54"/>
                    <p:cNvCxnSpPr>
                      <a:stCxn id="47" idx="4"/>
                      <a:endCxn id="46" idx="0"/>
                    </p:cNvCxnSpPr>
                    <p:nvPr/>
                  </p:nvCxnSpPr>
                  <p:spPr>
                    <a:xfrm flipH="1">
                      <a:off x="1432965" y="3898647"/>
                      <a:ext cx="1589" cy="409695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Straight Connector 72"/>
                    <p:cNvCxnSpPr>
                      <a:stCxn id="46" idx="6"/>
                      <a:endCxn id="53" idx="2"/>
                    </p:cNvCxnSpPr>
                    <p:nvPr/>
                  </p:nvCxnSpPr>
                  <p:spPr>
                    <a:xfrm>
                      <a:off x="1544165" y="4417913"/>
                      <a:ext cx="551235" cy="0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Straight Connector 73"/>
                    <p:cNvCxnSpPr>
                      <a:stCxn id="49" idx="6"/>
                      <a:endCxn id="46" idx="2"/>
                    </p:cNvCxnSpPr>
                    <p:nvPr/>
                  </p:nvCxnSpPr>
                  <p:spPr>
                    <a:xfrm>
                      <a:off x="770531" y="4417913"/>
                      <a:ext cx="551234" cy="0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Straight Connector 74"/>
                    <p:cNvCxnSpPr>
                      <a:stCxn id="46" idx="4"/>
                      <a:endCxn id="48" idx="0"/>
                    </p:cNvCxnSpPr>
                    <p:nvPr/>
                  </p:nvCxnSpPr>
                  <p:spPr>
                    <a:xfrm>
                      <a:off x="1432965" y="4529070"/>
                      <a:ext cx="1589" cy="38905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" name="Straight Connector 75"/>
                    <p:cNvCxnSpPr>
                      <a:stCxn id="46" idx="3"/>
                      <a:endCxn id="51" idx="7"/>
                    </p:cNvCxnSpPr>
                    <p:nvPr/>
                  </p:nvCxnSpPr>
                  <p:spPr>
                    <a:xfrm flipH="1">
                      <a:off x="1032645" y="4497311"/>
                      <a:ext cx="322481" cy="285834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" name="Straight Connector 76"/>
                    <p:cNvCxnSpPr>
                      <a:stCxn id="46" idx="5"/>
                      <a:endCxn id="52" idx="1"/>
                    </p:cNvCxnSpPr>
                    <p:nvPr/>
                  </p:nvCxnSpPr>
                  <p:spPr>
                    <a:xfrm>
                      <a:off x="1510806" y="4497311"/>
                      <a:ext cx="360605" cy="312829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6" name="Oval 77"/>
                    <p:cNvSpPr/>
                    <p:nvPr/>
                  </p:nvSpPr>
                  <p:spPr>
                    <a:xfrm>
                      <a:off x="1321765" y="4308343"/>
                      <a:ext cx="222400" cy="22072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47" name="Oval 78"/>
                    <p:cNvSpPr/>
                    <p:nvPr/>
                  </p:nvSpPr>
                  <p:spPr>
                    <a:xfrm>
                      <a:off x="1323354" y="3676332"/>
                      <a:ext cx="222400" cy="222315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48" name="Oval 79"/>
                    <p:cNvSpPr/>
                    <p:nvPr/>
                  </p:nvSpPr>
                  <p:spPr>
                    <a:xfrm>
                      <a:off x="1323354" y="4918122"/>
                      <a:ext cx="222400" cy="222315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49" name="Oval 80"/>
                    <p:cNvSpPr/>
                    <p:nvPr/>
                  </p:nvSpPr>
                  <p:spPr>
                    <a:xfrm>
                      <a:off x="548131" y="4308343"/>
                      <a:ext cx="222400" cy="22072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50" name="Oval 81"/>
                    <p:cNvSpPr/>
                    <p:nvPr/>
                  </p:nvSpPr>
                  <p:spPr>
                    <a:xfrm>
                      <a:off x="842016" y="3865300"/>
                      <a:ext cx="222400" cy="220727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51" name="Oval 82"/>
                    <p:cNvSpPr/>
                    <p:nvPr/>
                  </p:nvSpPr>
                  <p:spPr>
                    <a:xfrm>
                      <a:off x="842016" y="4749797"/>
                      <a:ext cx="222400" cy="222315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52" name="Oval 83"/>
                    <p:cNvSpPr/>
                    <p:nvPr/>
                  </p:nvSpPr>
                  <p:spPr>
                    <a:xfrm>
                      <a:off x="1839639" y="4776793"/>
                      <a:ext cx="220812" cy="222315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53" name="Oval 84"/>
                    <p:cNvSpPr/>
                    <p:nvPr/>
                  </p:nvSpPr>
                  <p:spPr>
                    <a:xfrm>
                      <a:off x="2095400" y="4308343"/>
                      <a:ext cx="222400" cy="22072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54" name="Oval 85"/>
                    <p:cNvSpPr/>
                    <p:nvPr/>
                  </p:nvSpPr>
                  <p:spPr>
                    <a:xfrm>
                      <a:off x="1839639" y="3865300"/>
                      <a:ext cx="220812" cy="220727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</p:grpSp>
            </p:grpSp>
          </p:grpSp>
          <p:grpSp>
            <p:nvGrpSpPr>
              <p:cNvPr id="55" name="Group 8"/>
              <p:cNvGrpSpPr>
                <a:grpSpLocks/>
              </p:cNvGrpSpPr>
              <p:nvPr/>
            </p:nvGrpSpPr>
            <p:grpSpPr bwMode="auto">
              <a:xfrm>
                <a:off x="1194542" y="2137335"/>
                <a:ext cx="1304925" cy="1143000"/>
                <a:chOff x="2937065" y="1608563"/>
                <a:chExt cx="1304544" cy="1143001"/>
              </a:xfrm>
            </p:grpSpPr>
            <p:grpSp>
              <p:nvGrpSpPr>
                <p:cNvPr id="56" name="Group 52"/>
                <p:cNvGrpSpPr>
                  <a:grpSpLocks/>
                </p:cNvGrpSpPr>
                <p:nvPr/>
              </p:nvGrpSpPr>
              <p:grpSpPr bwMode="auto">
                <a:xfrm>
                  <a:off x="3860609" y="2065763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92" name="Straight Arrow Connector 101"/>
                  <p:cNvCxnSpPr/>
                  <p:nvPr/>
                </p:nvCxnSpPr>
                <p:spPr bwMode="auto">
                  <a:xfrm>
                    <a:off x="1219015" y="4877435"/>
                    <a:ext cx="457385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3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94" name="Rectangle 103"/>
                    <p:cNvSpPr/>
                    <p:nvPr/>
                  </p:nvSpPr>
                  <p:spPr bwMode="auto">
                    <a:xfrm>
                      <a:off x="762537" y="2971800"/>
                      <a:ext cx="837256" cy="384172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95" name="Isosceles Triangle 105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62537" y="2971800"/>
                      <a:ext cx="837256" cy="15367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  <p:grpSp>
              <p:nvGrpSpPr>
                <p:cNvPr id="57" name="Group 52"/>
                <p:cNvGrpSpPr>
                  <a:grpSpLocks/>
                </p:cNvGrpSpPr>
                <p:nvPr/>
              </p:nvGrpSpPr>
              <p:grpSpPr bwMode="auto">
                <a:xfrm rot="-2306177">
                  <a:off x="3646375" y="1793805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88" name="Straight Arrow Connector 109"/>
                  <p:cNvCxnSpPr/>
                  <p:nvPr/>
                </p:nvCxnSpPr>
                <p:spPr bwMode="auto">
                  <a:xfrm>
                    <a:off x="1217967" y="4868001"/>
                    <a:ext cx="457385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9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90" name="Rectangle 111"/>
                    <p:cNvSpPr/>
                    <p:nvPr/>
                  </p:nvSpPr>
                  <p:spPr bwMode="auto">
                    <a:xfrm>
                      <a:off x="766877" y="2970016"/>
                      <a:ext cx="837261" cy="370207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91" name="Isosceles Triangle 112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66396" y="2966472"/>
                      <a:ext cx="837261" cy="15367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  <p:grpSp>
              <p:nvGrpSpPr>
                <p:cNvPr id="58" name="Group 52"/>
                <p:cNvGrpSpPr>
                  <a:grpSpLocks/>
                </p:cNvGrpSpPr>
                <p:nvPr/>
              </p:nvGrpSpPr>
              <p:grpSpPr bwMode="auto">
                <a:xfrm rot="-5400000">
                  <a:off x="3256205" y="1755767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84" name="Straight Arrow Connector 114"/>
                  <p:cNvCxnSpPr/>
                  <p:nvPr/>
                </p:nvCxnSpPr>
                <p:spPr bwMode="auto">
                  <a:xfrm>
                    <a:off x="1225866" y="4877949"/>
                    <a:ext cx="457516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5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86" name="Rectangle 1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69681" y="2972873"/>
                      <a:ext cx="837498" cy="377081"/>
                    </a:xfrm>
                    <a:prstGeom prst="rect">
                      <a:avLst/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vert="eaVert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87" name="Isosceles Triangle 117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69681" y="2972873"/>
                      <a:ext cx="837498" cy="153625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vert="eaVert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  <p:grpSp>
              <p:nvGrpSpPr>
                <p:cNvPr id="59" name="Group 52"/>
                <p:cNvGrpSpPr>
                  <a:grpSpLocks/>
                </p:cNvGrpSpPr>
                <p:nvPr/>
              </p:nvGrpSpPr>
              <p:grpSpPr bwMode="auto">
                <a:xfrm rot="13119278" flipV="1">
                  <a:off x="2997228" y="1959185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80" name="Straight Arrow Connector 119"/>
                  <p:cNvCxnSpPr/>
                  <p:nvPr/>
                </p:nvCxnSpPr>
                <p:spPr bwMode="auto">
                  <a:xfrm>
                    <a:off x="1227345" y="4878428"/>
                    <a:ext cx="453893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1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82" name="Rectangle 121"/>
                    <p:cNvSpPr/>
                    <p:nvPr/>
                  </p:nvSpPr>
                  <p:spPr bwMode="auto">
                    <a:xfrm>
                      <a:off x="798464" y="2972751"/>
                      <a:ext cx="837261" cy="37719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83" name="Isosceles Triangle 122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85259" y="2976518"/>
                      <a:ext cx="837256" cy="15367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  <p:grpSp>
              <p:nvGrpSpPr>
                <p:cNvPr id="60" name="Group 52"/>
                <p:cNvGrpSpPr>
                  <a:grpSpLocks/>
                </p:cNvGrpSpPr>
                <p:nvPr/>
              </p:nvGrpSpPr>
              <p:grpSpPr bwMode="auto">
                <a:xfrm rot="10800000" flipV="1">
                  <a:off x="2937065" y="2265102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76" name="Straight Arrow Connector 124"/>
                  <p:cNvCxnSpPr/>
                  <p:nvPr/>
                </p:nvCxnSpPr>
                <p:spPr bwMode="auto">
                  <a:xfrm>
                    <a:off x="1226000" y="4878946"/>
                    <a:ext cx="457383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7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78" name="Rectangle 126"/>
                    <p:cNvSpPr/>
                    <p:nvPr/>
                  </p:nvSpPr>
                  <p:spPr bwMode="auto">
                    <a:xfrm>
                      <a:off x="777900" y="2974823"/>
                      <a:ext cx="837261" cy="37719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79" name="Isosceles Triangle 127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70221" y="2974823"/>
                      <a:ext cx="837256" cy="15367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  <p:grpSp>
              <p:nvGrpSpPr>
                <p:cNvPr id="61" name="Group 52"/>
                <p:cNvGrpSpPr>
                  <a:grpSpLocks/>
                </p:cNvGrpSpPr>
                <p:nvPr/>
              </p:nvGrpSpPr>
              <p:grpSpPr bwMode="auto">
                <a:xfrm rot="8446622" flipV="1">
                  <a:off x="3190352" y="2477724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72" name="Straight Arrow Connector 129"/>
                  <p:cNvCxnSpPr/>
                  <p:nvPr/>
                </p:nvCxnSpPr>
                <p:spPr bwMode="auto">
                  <a:xfrm>
                    <a:off x="1222822" y="4873536"/>
                    <a:ext cx="457385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3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74" name="Rectangle 131"/>
                    <p:cNvSpPr/>
                    <p:nvPr/>
                  </p:nvSpPr>
                  <p:spPr bwMode="auto">
                    <a:xfrm>
                      <a:off x="766832" y="2958081"/>
                      <a:ext cx="837256" cy="37719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75" name="Isosceles Triangle 132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68052" y="2960738"/>
                      <a:ext cx="837256" cy="15367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  <p:grpSp>
              <p:nvGrpSpPr>
                <p:cNvPr id="62" name="Group 52"/>
                <p:cNvGrpSpPr>
                  <a:grpSpLocks/>
                </p:cNvGrpSpPr>
                <p:nvPr/>
              </p:nvGrpSpPr>
              <p:grpSpPr bwMode="auto">
                <a:xfrm rot="5400000" flipV="1">
                  <a:off x="3484805" y="2517768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68" name="Straight Arrow Connector 134"/>
                  <p:cNvCxnSpPr/>
                  <p:nvPr/>
                </p:nvCxnSpPr>
                <p:spPr bwMode="auto">
                  <a:xfrm>
                    <a:off x="1218882" y="4877801"/>
                    <a:ext cx="457519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9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70" name="Rectangle 1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62000" y="2972579"/>
                      <a:ext cx="837498" cy="377081"/>
                    </a:xfrm>
                    <a:prstGeom prst="rect">
                      <a:avLst/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vert="eaVert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71" name="Isosceles Triangle 137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62000" y="2972579"/>
                      <a:ext cx="837498" cy="153625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vert="eaVert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  <p:grpSp>
              <p:nvGrpSpPr>
                <p:cNvPr id="63" name="Group 52"/>
                <p:cNvGrpSpPr>
                  <a:grpSpLocks/>
                </p:cNvGrpSpPr>
                <p:nvPr/>
              </p:nvGrpSpPr>
              <p:grpSpPr bwMode="auto">
                <a:xfrm rot="2700000">
                  <a:off x="3759226" y="2340186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64" name="Straight Arrow Connector 144"/>
                  <p:cNvCxnSpPr/>
                  <p:nvPr/>
                </p:nvCxnSpPr>
                <p:spPr bwMode="auto">
                  <a:xfrm>
                    <a:off x="1211979" y="4877200"/>
                    <a:ext cx="457516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5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66" name="Rectangle 1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61512" y="2971021"/>
                      <a:ext cx="837503" cy="377081"/>
                    </a:xfrm>
                    <a:prstGeom prst="rect">
                      <a:avLst/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vert="eaVert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67" name="Isosceles Triangle 147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56080" y="2969180"/>
                      <a:ext cx="837503" cy="153625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vert="eaVert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</p:grpSp>
          <p:grpSp>
            <p:nvGrpSpPr>
              <p:cNvPr id="96" name="Group 179"/>
              <p:cNvGrpSpPr>
                <a:grpSpLocks/>
              </p:cNvGrpSpPr>
              <p:nvPr/>
            </p:nvGrpSpPr>
            <p:grpSpPr bwMode="auto">
              <a:xfrm>
                <a:off x="5272829" y="1984935"/>
                <a:ext cx="1768475" cy="2074862"/>
                <a:chOff x="587034" y="1836201"/>
                <a:chExt cx="1769669" cy="2075896"/>
              </a:xfrm>
            </p:grpSpPr>
            <p:grpSp>
              <p:nvGrpSpPr>
                <p:cNvPr id="97" name="Group 17"/>
                <p:cNvGrpSpPr>
                  <a:grpSpLocks/>
                </p:cNvGrpSpPr>
                <p:nvPr/>
              </p:nvGrpSpPr>
              <p:grpSpPr bwMode="auto">
                <a:xfrm>
                  <a:off x="587034" y="1836201"/>
                  <a:ext cx="1769669" cy="1464869"/>
                  <a:chOff x="548131" y="3676332"/>
                  <a:chExt cx="1769669" cy="1464869"/>
                </a:xfrm>
              </p:grpSpPr>
              <p:cxnSp>
                <p:nvCxnSpPr>
                  <p:cNvPr id="99" name="Straight Connector 154"/>
                  <p:cNvCxnSpPr>
                    <a:stCxn id="111" idx="5"/>
                    <a:endCxn id="107" idx="1"/>
                  </p:cNvCxnSpPr>
                  <p:nvPr/>
                </p:nvCxnSpPr>
                <p:spPr>
                  <a:xfrm>
                    <a:off x="1032646" y="4054345"/>
                    <a:ext cx="322480" cy="28589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Connector 155"/>
                  <p:cNvCxnSpPr>
                    <a:stCxn id="107" idx="7"/>
                    <a:endCxn id="115" idx="3"/>
                  </p:cNvCxnSpPr>
                  <p:nvPr/>
                </p:nvCxnSpPr>
                <p:spPr>
                  <a:xfrm flipV="1">
                    <a:off x="1510806" y="4054345"/>
                    <a:ext cx="360606" cy="28589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56"/>
                  <p:cNvCxnSpPr>
                    <a:stCxn id="108" idx="4"/>
                    <a:endCxn id="107" idx="0"/>
                  </p:cNvCxnSpPr>
                  <p:nvPr/>
                </p:nvCxnSpPr>
                <p:spPr>
                  <a:xfrm flipH="1">
                    <a:off x="1432966" y="3898693"/>
                    <a:ext cx="1588" cy="40977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57"/>
                  <p:cNvCxnSpPr>
                    <a:stCxn id="107" idx="6"/>
                    <a:endCxn id="114" idx="2"/>
                  </p:cNvCxnSpPr>
                  <p:nvPr/>
                </p:nvCxnSpPr>
                <p:spPr>
                  <a:xfrm>
                    <a:off x="1544166" y="4418064"/>
                    <a:ext cx="551234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58"/>
                  <p:cNvCxnSpPr>
                    <a:stCxn id="110" idx="6"/>
                    <a:endCxn id="107" idx="2"/>
                  </p:cNvCxnSpPr>
                  <p:nvPr/>
                </p:nvCxnSpPr>
                <p:spPr>
                  <a:xfrm>
                    <a:off x="770531" y="4418064"/>
                    <a:ext cx="551235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59"/>
                  <p:cNvCxnSpPr>
                    <a:stCxn id="107" idx="4"/>
                    <a:endCxn id="109" idx="0"/>
                  </p:cNvCxnSpPr>
                  <p:nvPr/>
                </p:nvCxnSpPr>
                <p:spPr>
                  <a:xfrm>
                    <a:off x="1432966" y="4529244"/>
                    <a:ext cx="1588" cy="38913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60"/>
                  <p:cNvCxnSpPr>
                    <a:stCxn id="107" idx="3"/>
                    <a:endCxn id="112" idx="7"/>
                  </p:cNvCxnSpPr>
                  <p:nvPr/>
                </p:nvCxnSpPr>
                <p:spPr>
                  <a:xfrm flipH="1">
                    <a:off x="1032646" y="4497478"/>
                    <a:ext cx="322480" cy="28589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61"/>
                  <p:cNvCxnSpPr>
                    <a:stCxn id="107" idx="5"/>
                    <a:endCxn id="113" idx="1"/>
                  </p:cNvCxnSpPr>
                  <p:nvPr/>
                </p:nvCxnSpPr>
                <p:spPr>
                  <a:xfrm>
                    <a:off x="1510806" y="4497478"/>
                    <a:ext cx="360606" cy="312894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" name="Oval 162"/>
                  <p:cNvSpPr/>
                  <p:nvPr/>
                </p:nvSpPr>
                <p:spPr>
                  <a:xfrm>
                    <a:off x="1321766" y="4308472"/>
                    <a:ext cx="222400" cy="22077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08" name="Oval 163"/>
                  <p:cNvSpPr/>
                  <p:nvPr/>
                </p:nvSpPr>
                <p:spPr>
                  <a:xfrm>
                    <a:off x="1323354" y="3676332"/>
                    <a:ext cx="222400" cy="222361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09" name="Oval 164"/>
                  <p:cNvSpPr/>
                  <p:nvPr/>
                </p:nvSpPr>
                <p:spPr>
                  <a:xfrm>
                    <a:off x="1323354" y="4918376"/>
                    <a:ext cx="222400" cy="222361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10" name="Oval 165"/>
                  <p:cNvSpPr/>
                  <p:nvPr/>
                </p:nvSpPr>
                <p:spPr>
                  <a:xfrm>
                    <a:off x="548131" y="4308472"/>
                    <a:ext cx="222400" cy="220772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11" name="Oval 166"/>
                  <p:cNvSpPr/>
                  <p:nvPr/>
                </p:nvSpPr>
                <p:spPr>
                  <a:xfrm>
                    <a:off x="842017" y="3865338"/>
                    <a:ext cx="222400" cy="220773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12" name="Oval 167"/>
                  <p:cNvSpPr/>
                  <p:nvPr/>
                </p:nvSpPr>
                <p:spPr>
                  <a:xfrm>
                    <a:off x="842017" y="4750017"/>
                    <a:ext cx="222400" cy="222361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13" name="Oval 168"/>
                  <p:cNvSpPr/>
                  <p:nvPr/>
                </p:nvSpPr>
                <p:spPr>
                  <a:xfrm>
                    <a:off x="1839640" y="4777018"/>
                    <a:ext cx="220811" cy="222361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14" name="Oval 169"/>
                  <p:cNvSpPr/>
                  <p:nvPr/>
                </p:nvSpPr>
                <p:spPr>
                  <a:xfrm>
                    <a:off x="2095400" y="4308472"/>
                    <a:ext cx="222400" cy="220772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15" name="Oval 170"/>
                  <p:cNvSpPr/>
                  <p:nvPr/>
                </p:nvSpPr>
                <p:spPr>
                  <a:xfrm>
                    <a:off x="1839640" y="3865338"/>
                    <a:ext cx="220811" cy="220773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</p:grpSp>
            <p:sp>
              <p:nvSpPr>
                <p:cNvPr id="98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1062017" y="3545202"/>
                  <a:ext cx="824469" cy="3668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dirty="0"/>
                    <a:t>Unlock</a:t>
                  </a:r>
                </a:p>
              </p:txBody>
            </p:sp>
          </p:grpSp>
          <p:sp>
            <p:nvSpPr>
              <p:cNvPr id="116" name="Oval 296"/>
              <p:cNvSpPr/>
              <p:nvPr/>
            </p:nvSpPr>
            <p:spPr>
              <a:xfrm>
                <a:off x="3858367" y="2018272"/>
                <a:ext cx="184150" cy="18573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17" name="Oval 299"/>
              <p:cNvSpPr/>
              <p:nvPr/>
            </p:nvSpPr>
            <p:spPr>
              <a:xfrm>
                <a:off x="4374304" y="2204010"/>
                <a:ext cx="184150" cy="184150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18" name="Oval 300"/>
              <p:cNvSpPr/>
              <p:nvPr/>
            </p:nvSpPr>
            <p:spPr>
              <a:xfrm>
                <a:off x="4639417" y="2643747"/>
                <a:ext cx="184150" cy="18573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19" name="Oval 301"/>
              <p:cNvSpPr/>
              <p:nvPr/>
            </p:nvSpPr>
            <p:spPr>
              <a:xfrm>
                <a:off x="4374304" y="3118410"/>
                <a:ext cx="184150" cy="185737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20" name="Oval 345"/>
              <p:cNvSpPr/>
              <p:nvPr/>
            </p:nvSpPr>
            <p:spPr>
              <a:xfrm>
                <a:off x="3858367" y="3253347"/>
                <a:ext cx="184150" cy="184150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21" name="Oval 348"/>
              <p:cNvSpPr/>
              <p:nvPr/>
            </p:nvSpPr>
            <p:spPr>
              <a:xfrm>
                <a:off x="3388467" y="3091422"/>
                <a:ext cx="185737" cy="18573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22" name="Oval 349"/>
              <p:cNvSpPr/>
              <p:nvPr/>
            </p:nvSpPr>
            <p:spPr>
              <a:xfrm>
                <a:off x="3101129" y="2642160"/>
                <a:ext cx="185738" cy="185737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23" name="Oval 361"/>
              <p:cNvSpPr/>
              <p:nvPr/>
            </p:nvSpPr>
            <p:spPr>
              <a:xfrm>
                <a:off x="3382117" y="2191310"/>
                <a:ext cx="185737" cy="185737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24" name="Rectangle 407"/>
              <p:cNvSpPr>
                <a:spLocks noChangeArrowheads="1"/>
              </p:cNvSpPr>
              <p:nvPr/>
            </p:nvSpPr>
            <p:spPr bwMode="auto">
              <a:xfrm>
                <a:off x="7144492" y="2340535"/>
                <a:ext cx="1809750" cy="1163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342900" indent="-342900" algn="ctr"/>
                <a:r>
                  <a:rPr lang="en-US" altLang="zh-CN" dirty="0"/>
                  <a:t>SWAP </a:t>
                </a:r>
              </a:p>
              <a:p>
                <a:pPr marL="342900" indent="-342900" algn="ctr"/>
                <a:r>
                  <a:rPr lang="zh-CN" altLang="en-US" dirty="0"/>
                  <a:t>计算模型</a:t>
                </a:r>
              </a:p>
            </p:txBody>
          </p:sp>
        </p:grpSp>
        <p:sp>
          <p:nvSpPr>
            <p:cNvPr id="128" name="TextBox 127"/>
            <p:cNvSpPr txBox="1"/>
            <p:nvPr/>
          </p:nvSpPr>
          <p:spPr>
            <a:xfrm>
              <a:off x="1732079" y="6096489"/>
              <a:ext cx="6295828" cy="40011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 smtClean="0"/>
                <a:t>全局</a:t>
              </a:r>
              <a:r>
                <a:rPr lang="zh-CN" altLang="en-US" sz="2000" dirty="0"/>
                <a:t>异步子集同步</a:t>
              </a:r>
              <a:r>
                <a:rPr lang="zh-CN" altLang="en-US" sz="2000" dirty="0" smtClean="0"/>
                <a:t>的</a:t>
              </a:r>
              <a:r>
                <a:rPr lang="en-US" altLang="zh-CN" sz="2000" dirty="0" smtClean="0"/>
                <a:t>SWAP</a:t>
              </a:r>
              <a:r>
                <a:rPr lang="zh-CN" altLang="en-US" sz="2000" dirty="0" smtClean="0"/>
                <a:t>并行计算模型</a:t>
              </a:r>
              <a:endParaRPr lang="zh-CN" altLang="en-US" sz="2000" dirty="0"/>
            </a:p>
          </p:txBody>
        </p:sp>
      </p:grpSp>
      <p:sp>
        <p:nvSpPr>
          <p:cNvPr id="4" name="矩形 3"/>
          <p:cNvSpPr/>
          <p:nvPr/>
        </p:nvSpPr>
        <p:spPr>
          <a:xfrm>
            <a:off x="203665" y="3835278"/>
            <a:ext cx="8699647" cy="30839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800" b="1" dirty="0" smtClean="0"/>
              <a:t>相关论文：</a:t>
            </a:r>
            <a:endParaRPr lang="en-US" altLang="zh-CN" sz="1800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 smtClean="0"/>
              <a:t>Jintao </a:t>
            </a:r>
            <a:r>
              <a:rPr lang="en-US" altLang="zh-CN" sz="1800" dirty="0" err="1"/>
              <a:t>Meng</a:t>
            </a:r>
            <a:r>
              <a:rPr lang="en-US" altLang="zh-CN" sz="1800" dirty="0"/>
              <a:t>, etc. SWAP-Assembler: Scalable and Efficient Genome Assembly </a:t>
            </a:r>
            <a:r>
              <a:rPr lang="en-US" altLang="zh-CN" sz="1800" dirty="0" smtClean="0"/>
              <a:t>towards Thousands </a:t>
            </a:r>
            <a:r>
              <a:rPr lang="en-US" altLang="zh-CN" sz="1800" dirty="0"/>
              <a:t>of Cores, BMC Bioinformatics, 2014 (JCR 1</a:t>
            </a:r>
            <a:r>
              <a:rPr lang="zh-CN" altLang="en-US" sz="1800" dirty="0"/>
              <a:t>区</a:t>
            </a:r>
            <a:r>
              <a:rPr lang="en-US" altLang="zh-CN" sz="1800" dirty="0"/>
              <a:t>, IF=3.0</a:t>
            </a:r>
            <a:r>
              <a:rPr lang="en-US" altLang="zh-CN" sz="1800" dirty="0" smtClean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Jintao </a:t>
            </a:r>
            <a:r>
              <a:rPr lang="en-US" altLang="zh-CN" sz="1800" dirty="0" err="1"/>
              <a:t>Meng</a:t>
            </a:r>
            <a:r>
              <a:rPr lang="en-US" altLang="zh-CN" sz="1800" dirty="0"/>
              <a:t>, etc. A Highly Scalable List Ranking Algorithm on </a:t>
            </a:r>
            <a:r>
              <a:rPr lang="en-US" altLang="zh-CN" sz="1800" dirty="0" err="1"/>
              <a:t>Pregel</a:t>
            </a:r>
            <a:r>
              <a:rPr lang="en-US" altLang="zh-CN" sz="1800" dirty="0"/>
              <a:t> framework, Concurrency and Computation: Practice and Experience. (JCR 2</a:t>
            </a:r>
            <a:r>
              <a:rPr lang="zh-CN" altLang="en-US" sz="1800" dirty="0"/>
              <a:t>区</a:t>
            </a:r>
            <a:r>
              <a:rPr lang="en-US" altLang="zh-CN" sz="1800" dirty="0"/>
              <a:t>, IF=0.784, Major Revision)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 smtClean="0"/>
              <a:t>Jintao </a:t>
            </a:r>
            <a:r>
              <a:rPr lang="en-US" altLang="zh-CN" sz="1800" dirty="0" err="1"/>
              <a:t>Meng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etc</a:t>
            </a:r>
            <a:r>
              <a:rPr lang="en-US" altLang="zh-CN" sz="1800" dirty="0"/>
              <a:t>, Small World Asynchronous Parallel Model for Genome Assembly, NPC 2012, Sep.6, </a:t>
            </a:r>
            <a:r>
              <a:rPr lang="en-US" altLang="zh-CN" sz="1800" dirty="0" err="1"/>
              <a:t>Gwangju</a:t>
            </a:r>
            <a:r>
              <a:rPr lang="en-US" altLang="zh-CN" sz="1800" dirty="0"/>
              <a:t>, Korea</a:t>
            </a:r>
            <a:r>
              <a:rPr lang="en-US" altLang="zh-CN" sz="1800" dirty="0" smtClean="0"/>
              <a:t>. (CCF</a:t>
            </a:r>
            <a:r>
              <a:rPr lang="zh-CN" altLang="en-US" sz="1800" dirty="0" smtClean="0"/>
              <a:t>推荐会议 </a:t>
            </a:r>
            <a:r>
              <a:rPr lang="en-US" altLang="zh-CN" sz="1800" dirty="0" smtClean="0"/>
              <a:t>3</a:t>
            </a:r>
            <a:r>
              <a:rPr lang="zh-CN" altLang="en-US" sz="1800" dirty="0" smtClean="0"/>
              <a:t>区</a:t>
            </a:r>
            <a:r>
              <a:rPr lang="en-US" altLang="zh-CN" sz="1800" dirty="0" smtClean="0"/>
              <a:t>)</a:t>
            </a:r>
            <a:endParaRPr lang="en-US" altLang="zh-CN" sz="18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 smtClean="0"/>
              <a:t>Jintao </a:t>
            </a:r>
            <a:r>
              <a:rPr lang="en-US" altLang="zh-CN" sz="1800" dirty="0" err="1"/>
              <a:t>Meng</a:t>
            </a:r>
            <a:r>
              <a:rPr lang="en-US" altLang="zh-CN" sz="1800" dirty="0"/>
              <a:t>, etc. An Energy Efficient Clustering Scheme for Data Aggregation in Wireless Sensor Networks, JCST </a:t>
            </a:r>
            <a:r>
              <a:rPr lang="en-US" altLang="zh-CN" sz="1800" dirty="0" smtClean="0"/>
              <a:t>2013 </a:t>
            </a:r>
            <a:r>
              <a:rPr lang="zh-CN" altLang="en-US" sz="1800" dirty="0"/>
              <a:t> </a:t>
            </a:r>
            <a:r>
              <a:rPr lang="en-US" altLang="zh-CN" sz="1800" dirty="0" smtClean="0"/>
              <a:t>(JCR 3</a:t>
            </a:r>
            <a:r>
              <a:rPr lang="zh-CN" altLang="en-US" sz="1800" dirty="0" smtClean="0"/>
              <a:t>区</a:t>
            </a:r>
            <a:r>
              <a:rPr lang="en-US" altLang="zh-CN" sz="1800" dirty="0" smtClean="0"/>
              <a:t>, IF=0.642)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91571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926" y="3699030"/>
            <a:ext cx="6229055" cy="110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915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l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拟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采取的技术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方案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>
                <a:latin typeface="微软雅黑" pitchFamily="34" charset="-122"/>
                <a:ea typeface="微软雅黑" pitchFamily="34" charset="-122"/>
              </a:rPr>
              <a:t>高</a:t>
            </a:r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扩展</a:t>
            </a:r>
            <a:endParaRPr lang="zh-CN" altLang="en-US" sz="24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>
          <a:xfrm>
            <a:off x="431800" y="1403350"/>
            <a:ext cx="8370670" cy="364583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并行化系统所有模块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IO, MSG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建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图， 图简化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(Edge Merging)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zh-CN" altLang="en-US" sz="2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算法复杂度低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通讯复杂度 </a:t>
            </a:r>
            <a:r>
              <a:rPr lang="en-US" altLang="zh-CN" sz="2000" i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O(n log log(g)/p),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Pasha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最低是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O(n/p)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通讯轮数   </a:t>
            </a:r>
            <a:r>
              <a:rPr lang="en-US" altLang="zh-CN" sz="2000" i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O(</a:t>
            </a:r>
            <a:r>
              <a:rPr lang="en-US" altLang="zh-CN" sz="2000" i="1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loglog</a:t>
            </a:r>
            <a:r>
              <a:rPr lang="en-US" altLang="zh-CN" sz="2000" i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(g))</a:t>
            </a:r>
            <a:r>
              <a:rPr lang="zh-CN" altLang="en-US" sz="2000" i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      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YAGA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最低是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O(log(g)) </a:t>
            </a:r>
            <a:endParaRPr lang="zh-CN" altLang="en-US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系统扩展性分析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加速比公式：</a:t>
            </a:r>
          </a:p>
        </p:txBody>
      </p:sp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964" y="4695825"/>
            <a:ext cx="6448425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011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拟采取的技术方案</a:t>
            </a:r>
            <a:r>
              <a:rPr lang="en-US" altLang="zh-CN" sz="3600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高效率</a:t>
            </a:r>
            <a:endParaRPr lang="zh-CN" altLang="en-US" sz="4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Content Placeholder 2"/>
          <p:cNvSpPr>
            <a:spLocks/>
          </p:cNvSpPr>
          <p:nvPr/>
        </p:nvSpPr>
        <p:spPr bwMode="auto">
          <a:xfrm>
            <a:off x="296862" y="1268413"/>
            <a:ext cx="8563303" cy="1937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高效率</a:t>
            </a:r>
            <a:r>
              <a:rPr lang="en-US" altLang="zh-CN" sz="2400" dirty="0" smtClean="0"/>
              <a:t>-IO</a:t>
            </a:r>
            <a:r>
              <a:rPr lang="zh-CN" altLang="en-US" sz="2400" dirty="0" smtClean="0"/>
              <a:t>   </a:t>
            </a:r>
            <a:r>
              <a:rPr lang="en-US" altLang="zh-CN" sz="2400" dirty="0" smtClean="0"/>
              <a:t>(</a:t>
            </a:r>
            <a:r>
              <a:rPr lang="zh-CN" altLang="en-US" sz="2400" dirty="0" smtClean="0">
                <a:solidFill>
                  <a:srgbClr val="669900"/>
                </a:solidFill>
              </a:rPr>
              <a:t>目标： 探寻峰值性能</a:t>
            </a:r>
            <a:r>
              <a:rPr lang="en-US" altLang="zh-CN" sz="2400" dirty="0" smtClean="0"/>
              <a:t>)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高效</a:t>
            </a:r>
            <a:r>
              <a:rPr lang="zh-CN" altLang="en-US" sz="2000" dirty="0"/>
              <a:t>数据</a:t>
            </a:r>
            <a:r>
              <a:rPr lang="en-US" altLang="zh-CN" sz="2000" dirty="0"/>
              <a:t>IO </a:t>
            </a:r>
            <a:r>
              <a:rPr lang="en-US" altLang="zh-CN" sz="2000" dirty="0" smtClean="0"/>
              <a:t> (</a:t>
            </a:r>
            <a:r>
              <a:rPr lang="zh-CN" altLang="en-US" sz="2000" dirty="0"/>
              <a:t>降低额外开销，提高并行</a:t>
            </a:r>
            <a:r>
              <a:rPr lang="en-US" altLang="zh-CN" sz="2000" dirty="0"/>
              <a:t>IO</a:t>
            </a:r>
            <a:r>
              <a:rPr lang="zh-CN" altLang="en-US" sz="2000" dirty="0"/>
              <a:t>效率</a:t>
            </a:r>
            <a:r>
              <a:rPr lang="en-US" altLang="zh-CN" sz="2000" dirty="0" smtClean="0"/>
              <a:t>)</a:t>
            </a:r>
          </a:p>
          <a:p>
            <a:pPr marL="1257300" lvl="2" indent="-342900">
              <a:buFont typeface="Wingdings" pitchFamily="2" charset="2"/>
              <a:buChar char="Ø"/>
            </a:pPr>
            <a:r>
              <a:rPr lang="en-US" altLang="zh-CN" sz="2000" dirty="0" smtClean="0">
                <a:solidFill>
                  <a:srgbClr val="FF0000"/>
                </a:solidFill>
              </a:rPr>
              <a:t>FAA-</a:t>
            </a:r>
            <a:r>
              <a:rPr lang="zh-CN" altLang="en-US" sz="2000" dirty="0" smtClean="0">
                <a:solidFill>
                  <a:srgbClr val="FF0000"/>
                </a:solidFill>
              </a:rPr>
              <a:t>数据格式敏感的数据分段算法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 (</a:t>
            </a:r>
            <a:r>
              <a:rPr lang="zh-CN" altLang="en-US" sz="2000" dirty="0" smtClean="0">
                <a:solidFill>
                  <a:srgbClr val="FF0000"/>
                </a:solidFill>
              </a:rPr>
              <a:t>降低额外</a:t>
            </a:r>
            <a:r>
              <a:rPr lang="en-US" altLang="zh-CN" sz="2000" dirty="0" smtClean="0">
                <a:solidFill>
                  <a:srgbClr val="FF0000"/>
                </a:solidFill>
              </a:rPr>
              <a:t>IO</a:t>
            </a:r>
            <a:r>
              <a:rPr lang="zh-CN" altLang="en-US" sz="2000" dirty="0" smtClean="0">
                <a:solidFill>
                  <a:srgbClr val="FF0000"/>
                </a:solidFill>
              </a:rPr>
              <a:t>和通讯</a:t>
            </a:r>
            <a:r>
              <a:rPr lang="en-US" altLang="zh-CN" sz="2000" dirty="0" smtClean="0">
                <a:solidFill>
                  <a:srgbClr val="FF0000"/>
                </a:solidFill>
              </a:rPr>
              <a:t>)</a:t>
            </a:r>
          </a:p>
          <a:p>
            <a:pPr marL="1257300" lvl="2" indent="-342900">
              <a:buFont typeface="Wingdings" pitchFamily="2" charset="2"/>
              <a:buChar char="Ø"/>
            </a:pPr>
            <a:r>
              <a:rPr lang="zh-CN" altLang="en-US" sz="2000" dirty="0" smtClean="0">
                <a:solidFill>
                  <a:srgbClr val="FF0000"/>
                </a:solidFill>
              </a:rPr>
              <a:t>基于读写数据块大小的动态调优策略 </a:t>
            </a:r>
            <a:r>
              <a:rPr lang="en-US" altLang="zh-CN" sz="2000" dirty="0" smtClean="0">
                <a:solidFill>
                  <a:srgbClr val="FF0000"/>
                </a:solidFill>
              </a:rPr>
              <a:t>(</a:t>
            </a:r>
            <a:r>
              <a:rPr lang="zh-CN" altLang="en-US" sz="2000" dirty="0" smtClean="0">
                <a:solidFill>
                  <a:srgbClr val="FF0000"/>
                </a:solidFill>
              </a:rPr>
              <a:t>提高文件系统并行效率）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 marL="1257300" lvl="2" indent="-342900"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</a:rPr>
              <a:t>支持</a:t>
            </a:r>
            <a:r>
              <a:rPr lang="en-US" altLang="zh-CN" sz="2000" dirty="0">
                <a:solidFill>
                  <a:srgbClr val="FF0000"/>
                </a:solidFill>
              </a:rPr>
              <a:t>data pool</a:t>
            </a:r>
            <a:r>
              <a:rPr lang="zh-CN" altLang="en-US" sz="2000" dirty="0">
                <a:solidFill>
                  <a:srgbClr val="FF0000"/>
                </a:solidFill>
              </a:rPr>
              <a:t>缓冲池的</a:t>
            </a:r>
            <a:r>
              <a:rPr lang="en-US" altLang="zh-CN" sz="2000" dirty="0">
                <a:solidFill>
                  <a:srgbClr val="FF0000"/>
                </a:solidFill>
              </a:rPr>
              <a:t>IO</a:t>
            </a:r>
            <a:r>
              <a:rPr lang="zh-CN" altLang="en-US" sz="2000" dirty="0">
                <a:solidFill>
                  <a:srgbClr val="FF0000"/>
                </a:solidFill>
              </a:rPr>
              <a:t>和通讯隔离技术 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zh-CN" altLang="en-US" sz="2000" dirty="0">
                <a:solidFill>
                  <a:srgbClr val="FF0000"/>
                </a:solidFill>
              </a:rPr>
              <a:t>隔离</a:t>
            </a:r>
            <a:r>
              <a:rPr lang="en-US" altLang="zh-CN" sz="2000" dirty="0">
                <a:solidFill>
                  <a:srgbClr val="FF0000"/>
                </a:solidFill>
              </a:rPr>
              <a:t>IO</a:t>
            </a:r>
            <a:r>
              <a:rPr lang="zh-CN" altLang="en-US" sz="2000" dirty="0">
                <a:solidFill>
                  <a:srgbClr val="FF0000"/>
                </a:solidFill>
              </a:rPr>
              <a:t>和通讯）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2"/>
            <a:endParaRPr lang="en-US" altLang="zh-CN" sz="2000" dirty="0" smtClean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8431" y="5956008"/>
            <a:ext cx="8707265" cy="88024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 smtClean="0"/>
              <a:t>相关论文：</a:t>
            </a:r>
            <a:endParaRPr lang="en-US" altLang="zh-CN" sz="1600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 smtClean="0"/>
              <a:t>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etc. SWAP-Assembler 2: Scalable Genome Assembler towards Millions of Cores - Practice and Experience, </a:t>
            </a:r>
            <a:r>
              <a:rPr lang="en-US" altLang="zh-CN" sz="1600" dirty="0" smtClean="0"/>
              <a:t>ATIP workshop in SC 2015, 2015 </a:t>
            </a:r>
          </a:p>
        </p:txBody>
      </p:sp>
      <p:sp>
        <p:nvSpPr>
          <p:cNvPr id="41" name="矩形 40"/>
          <p:cNvSpPr/>
          <p:nvPr/>
        </p:nvSpPr>
        <p:spPr bwMode="auto">
          <a:xfrm>
            <a:off x="0" y="3206080"/>
            <a:ext cx="762000" cy="304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 smtClean="0">
                <a:solidFill>
                  <a:schemeClr val="tx1"/>
                </a:solidFill>
                <a:latin typeface="Calibri" pitchFamily="34" charset="0"/>
              </a:rPr>
              <a:t>A0</a:t>
            </a:r>
            <a:endParaRPr lang="zh-CN" altLang="en-US" sz="18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42" name="矩形 41"/>
          <p:cNvSpPr/>
          <p:nvPr/>
        </p:nvSpPr>
        <p:spPr bwMode="auto">
          <a:xfrm>
            <a:off x="762000" y="3206080"/>
            <a:ext cx="762000" cy="304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A1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1524000" y="3206080"/>
            <a:ext cx="762000" cy="304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A2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44" name="矩形 43"/>
          <p:cNvSpPr/>
          <p:nvPr/>
        </p:nvSpPr>
        <p:spPr bwMode="auto">
          <a:xfrm>
            <a:off x="3048000" y="3206080"/>
            <a:ext cx="762000" cy="304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B0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45" name="矩形 44"/>
          <p:cNvSpPr/>
          <p:nvPr/>
        </p:nvSpPr>
        <p:spPr bwMode="auto">
          <a:xfrm>
            <a:off x="3810000" y="3206080"/>
            <a:ext cx="762000" cy="304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 smtClean="0">
                <a:solidFill>
                  <a:schemeClr val="tx1"/>
                </a:solidFill>
                <a:latin typeface="Calibri" pitchFamily="34" charset="0"/>
              </a:rPr>
              <a:t>B1</a:t>
            </a:r>
            <a:endParaRPr lang="zh-CN" altLang="en-US" sz="18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46" name="矩形 45"/>
          <p:cNvSpPr/>
          <p:nvPr/>
        </p:nvSpPr>
        <p:spPr bwMode="auto">
          <a:xfrm>
            <a:off x="4572000" y="3206080"/>
            <a:ext cx="762000" cy="304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B2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47" name="矩形 46"/>
          <p:cNvSpPr/>
          <p:nvPr/>
        </p:nvSpPr>
        <p:spPr bwMode="auto">
          <a:xfrm>
            <a:off x="6096000" y="3206080"/>
            <a:ext cx="762000" cy="304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C0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6858000" y="3206080"/>
            <a:ext cx="762000" cy="304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C1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7620000" y="3206080"/>
            <a:ext cx="762000" cy="304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C2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50" name="椭圆 49"/>
          <p:cNvSpPr/>
          <p:nvPr/>
        </p:nvSpPr>
        <p:spPr bwMode="auto">
          <a:xfrm>
            <a:off x="2019300" y="4196680"/>
            <a:ext cx="533400" cy="5334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P0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51" name="椭圆 50"/>
          <p:cNvSpPr/>
          <p:nvPr/>
        </p:nvSpPr>
        <p:spPr bwMode="auto">
          <a:xfrm>
            <a:off x="4305300" y="4196680"/>
            <a:ext cx="533400" cy="5334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P1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52" name="椭圆 51"/>
          <p:cNvSpPr/>
          <p:nvPr/>
        </p:nvSpPr>
        <p:spPr bwMode="auto">
          <a:xfrm>
            <a:off x="6591300" y="4196680"/>
            <a:ext cx="533400" cy="5334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P2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cxnSp>
        <p:nvCxnSpPr>
          <p:cNvPr id="53" name="直接箭头连接符 52"/>
          <p:cNvCxnSpPr>
            <a:stCxn id="41" idx="2"/>
            <a:endCxn id="50" idx="1"/>
          </p:cNvCxnSpPr>
          <p:nvPr/>
        </p:nvCxnSpPr>
        <p:spPr bwMode="auto">
          <a:xfrm>
            <a:off x="381000" y="3510880"/>
            <a:ext cx="1716415" cy="763915"/>
          </a:xfrm>
          <a:prstGeom prst="straightConnector1">
            <a:avLst/>
          </a:prstGeom>
          <a:noFill/>
          <a:ln w="9525" cap="flat" cmpd="sng" algn="ctr">
            <a:solidFill>
              <a:schemeClr val="bg2">
                <a:lumMod val="1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4" name="直接箭头连接符 53"/>
          <p:cNvCxnSpPr>
            <a:stCxn id="44" idx="2"/>
            <a:endCxn id="51" idx="1"/>
          </p:cNvCxnSpPr>
          <p:nvPr/>
        </p:nvCxnSpPr>
        <p:spPr bwMode="auto">
          <a:xfrm>
            <a:off x="3429000" y="3510880"/>
            <a:ext cx="954415" cy="763915"/>
          </a:xfrm>
          <a:prstGeom prst="straightConnector1">
            <a:avLst/>
          </a:prstGeom>
          <a:noFill/>
          <a:ln w="9525" cap="flat" cmpd="sng" algn="ctr">
            <a:solidFill>
              <a:schemeClr val="bg2">
                <a:lumMod val="1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5" name="直接箭头连接符 54"/>
          <p:cNvCxnSpPr>
            <a:stCxn id="47" idx="2"/>
            <a:endCxn id="52" idx="1"/>
          </p:cNvCxnSpPr>
          <p:nvPr/>
        </p:nvCxnSpPr>
        <p:spPr bwMode="auto">
          <a:xfrm>
            <a:off x="6477000" y="3510880"/>
            <a:ext cx="192415" cy="763915"/>
          </a:xfrm>
          <a:prstGeom prst="straightConnector1">
            <a:avLst/>
          </a:prstGeom>
          <a:noFill/>
          <a:ln w="9525" cap="flat" cmpd="sng" algn="ctr">
            <a:solidFill>
              <a:schemeClr val="bg2">
                <a:lumMod val="1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直接箭头连接符 55"/>
          <p:cNvCxnSpPr>
            <a:stCxn id="42" idx="2"/>
            <a:endCxn id="50" idx="0"/>
          </p:cNvCxnSpPr>
          <p:nvPr/>
        </p:nvCxnSpPr>
        <p:spPr bwMode="auto">
          <a:xfrm>
            <a:off x="1143000" y="3510880"/>
            <a:ext cx="1143000" cy="685800"/>
          </a:xfrm>
          <a:prstGeom prst="straightConnector1">
            <a:avLst/>
          </a:prstGeom>
          <a:noFill/>
          <a:ln w="9525" cap="flat" cmpd="sng" algn="ctr">
            <a:solidFill>
              <a:schemeClr val="bg2">
                <a:lumMod val="1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7" name="直接箭头连接符 56"/>
          <p:cNvCxnSpPr>
            <a:stCxn id="45" idx="2"/>
            <a:endCxn id="51" idx="0"/>
          </p:cNvCxnSpPr>
          <p:nvPr/>
        </p:nvCxnSpPr>
        <p:spPr bwMode="auto">
          <a:xfrm>
            <a:off x="4191000" y="3510880"/>
            <a:ext cx="381000" cy="685800"/>
          </a:xfrm>
          <a:prstGeom prst="straightConnector1">
            <a:avLst/>
          </a:prstGeom>
          <a:noFill/>
          <a:ln w="9525" cap="flat" cmpd="sng" algn="ctr">
            <a:solidFill>
              <a:schemeClr val="bg2">
                <a:lumMod val="1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8" name="直接箭头连接符 57"/>
          <p:cNvCxnSpPr>
            <a:stCxn id="48" idx="2"/>
            <a:endCxn id="52" idx="0"/>
          </p:cNvCxnSpPr>
          <p:nvPr/>
        </p:nvCxnSpPr>
        <p:spPr bwMode="auto">
          <a:xfrm flipH="1">
            <a:off x="6858000" y="3510880"/>
            <a:ext cx="381000" cy="685800"/>
          </a:xfrm>
          <a:prstGeom prst="straightConnector1">
            <a:avLst/>
          </a:prstGeom>
          <a:noFill/>
          <a:ln w="9525" cap="flat" cmpd="sng" algn="ctr">
            <a:solidFill>
              <a:schemeClr val="bg2">
                <a:lumMod val="1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9" name="直接箭头连接符 58"/>
          <p:cNvCxnSpPr>
            <a:stCxn id="43" idx="2"/>
            <a:endCxn id="50" idx="0"/>
          </p:cNvCxnSpPr>
          <p:nvPr/>
        </p:nvCxnSpPr>
        <p:spPr bwMode="auto">
          <a:xfrm>
            <a:off x="1905000" y="3510880"/>
            <a:ext cx="381000" cy="685800"/>
          </a:xfrm>
          <a:prstGeom prst="straightConnector1">
            <a:avLst/>
          </a:prstGeom>
          <a:noFill/>
          <a:ln w="9525" cap="flat" cmpd="sng" algn="ctr">
            <a:solidFill>
              <a:schemeClr val="bg2">
                <a:lumMod val="1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0" name="直接箭头连接符 59"/>
          <p:cNvCxnSpPr>
            <a:stCxn id="46" idx="2"/>
            <a:endCxn id="51" idx="0"/>
          </p:cNvCxnSpPr>
          <p:nvPr/>
        </p:nvCxnSpPr>
        <p:spPr bwMode="auto">
          <a:xfrm flipH="1">
            <a:off x="4572000" y="3510880"/>
            <a:ext cx="381000" cy="685800"/>
          </a:xfrm>
          <a:prstGeom prst="straightConnector1">
            <a:avLst/>
          </a:prstGeom>
          <a:noFill/>
          <a:ln w="9525" cap="flat" cmpd="sng" algn="ctr">
            <a:solidFill>
              <a:schemeClr val="bg2">
                <a:lumMod val="1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直接箭头连接符 60"/>
          <p:cNvCxnSpPr>
            <a:stCxn id="49" idx="2"/>
            <a:endCxn id="52" idx="0"/>
          </p:cNvCxnSpPr>
          <p:nvPr/>
        </p:nvCxnSpPr>
        <p:spPr bwMode="auto">
          <a:xfrm flipH="1">
            <a:off x="6858000" y="3510880"/>
            <a:ext cx="1143000" cy="685800"/>
          </a:xfrm>
          <a:prstGeom prst="straightConnector1">
            <a:avLst/>
          </a:prstGeom>
          <a:noFill/>
          <a:ln w="9525" cap="flat" cmpd="sng" algn="ctr">
            <a:solidFill>
              <a:schemeClr val="bg2">
                <a:lumMod val="1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2" name="圆角矩形 61"/>
          <p:cNvSpPr/>
          <p:nvPr/>
        </p:nvSpPr>
        <p:spPr bwMode="auto">
          <a:xfrm>
            <a:off x="1962150" y="5492080"/>
            <a:ext cx="647700" cy="457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dirty="0" err="1" smtClean="0">
                <a:solidFill>
                  <a:schemeClr val="tx1">
                    <a:lumMod val="50000"/>
                  </a:schemeClr>
                </a:solidFill>
                <a:latin typeface="Calibri" pitchFamily="34" charset="0"/>
              </a:rPr>
              <a:t>Kmer</a:t>
            </a:r>
            <a:endParaRPr lang="en-US" altLang="zh-CN" sz="1200" dirty="0" smtClean="0">
              <a:solidFill>
                <a:schemeClr val="tx1">
                  <a:lumMod val="50000"/>
                </a:schemeClr>
              </a:solidFill>
              <a:latin typeface="Calibri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dirty="0" smtClean="0">
                <a:solidFill>
                  <a:schemeClr val="tx1">
                    <a:lumMod val="50000"/>
                  </a:schemeClr>
                </a:solidFill>
                <a:latin typeface="Calibri" pitchFamily="34" charset="0"/>
              </a:rPr>
              <a:t>Graph</a:t>
            </a:r>
            <a:endParaRPr kumimoji="0" lang="zh-CN" altLang="en-US" sz="1200" b="0" i="0" u="none" strike="noStrike" cap="none" normalizeH="0" baseline="0" dirty="0" smtClean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Calibri" pitchFamily="34" charset="0"/>
            </a:endParaRPr>
          </a:p>
        </p:txBody>
      </p:sp>
      <p:sp>
        <p:nvSpPr>
          <p:cNvPr id="63" name="圆角矩形 62"/>
          <p:cNvSpPr/>
          <p:nvPr/>
        </p:nvSpPr>
        <p:spPr bwMode="auto">
          <a:xfrm>
            <a:off x="4248150" y="5492080"/>
            <a:ext cx="647700" cy="457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 err="1">
                <a:solidFill>
                  <a:schemeClr val="tx1">
                    <a:lumMod val="50000"/>
                  </a:schemeClr>
                </a:solidFill>
                <a:latin typeface="Calibri" pitchFamily="34" charset="0"/>
              </a:rPr>
              <a:t>Kmer</a:t>
            </a:r>
            <a:endParaRPr lang="en-US" altLang="zh-CN" sz="1200" dirty="0">
              <a:solidFill>
                <a:schemeClr val="tx1">
                  <a:lumMod val="50000"/>
                </a:schemeClr>
              </a:solidFill>
              <a:latin typeface="Calibri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50000"/>
                  </a:schemeClr>
                </a:solidFill>
                <a:latin typeface="Calibri" pitchFamily="34" charset="0"/>
              </a:rPr>
              <a:t>Graph</a:t>
            </a:r>
            <a:endParaRPr lang="zh-CN" altLang="en-US" sz="1200" dirty="0">
              <a:solidFill>
                <a:schemeClr val="tx1">
                  <a:lumMod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64" name="圆角矩形 63"/>
          <p:cNvSpPr/>
          <p:nvPr/>
        </p:nvSpPr>
        <p:spPr bwMode="auto">
          <a:xfrm>
            <a:off x="6534150" y="5492080"/>
            <a:ext cx="647700" cy="457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 err="1">
                <a:solidFill>
                  <a:schemeClr val="tx1">
                    <a:lumMod val="50000"/>
                  </a:schemeClr>
                </a:solidFill>
                <a:latin typeface="Calibri" pitchFamily="34" charset="0"/>
              </a:rPr>
              <a:t>Kmer</a:t>
            </a:r>
            <a:endParaRPr lang="en-US" altLang="zh-CN" sz="1200" dirty="0">
              <a:solidFill>
                <a:schemeClr val="tx1">
                  <a:lumMod val="50000"/>
                </a:schemeClr>
              </a:solidFill>
              <a:latin typeface="Calibri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50000"/>
                  </a:schemeClr>
                </a:solidFill>
                <a:latin typeface="Calibri" pitchFamily="34" charset="0"/>
              </a:rPr>
              <a:t>Graph</a:t>
            </a:r>
            <a:endParaRPr lang="zh-CN" altLang="en-US" sz="1200" dirty="0">
              <a:solidFill>
                <a:schemeClr val="tx1">
                  <a:lumMod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65" name="虚尾箭头 64"/>
          <p:cNvSpPr/>
          <p:nvPr/>
        </p:nvSpPr>
        <p:spPr bwMode="auto">
          <a:xfrm>
            <a:off x="2057400" y="5034880"/>
            <a:ext cx="457200" cy="533400"/>
          </a:xfrm>
          <a:prstGeom prst="stripedRightArrow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66" name="虚尾箭头 65"/>
          <p:cNvSpPr/>
          <p:nvPr/>
        </p:nvSpPr>
        <p:spPr bwMode="auto">
          <a:xfrm>
            <a:off x="4343400" y="5034880"/>
            <a:ext cx="457200" cy="533400"/>
          </a:xfrm>
          <a:prstGeom prst="stripedRightArrow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67" name="虚尾箭头 66"/>
          <p:cNvSpPr/>
          <p:nvPr/>
        </p:nvSpPr>
        <p:spPr bwMode="auto">
          <a:xfrm>
            <a:off x="6629400" y="5034880"/>
            <a:ext cx="457200" cy="533400"/>
          </a:xfrm>
          <a:prstGeom prst="stripedRightArrow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68" name="左右箭头 67"/>
          <p:cNvSpPr/>
          <p:nvPr/>
        </p:nvSpPr>
        <p:spPr bwMode="auto">
          <a:xfrm>
            <a:off x="1600200" y="4653880"/>
            <a:ext cx="5943600" cy="457200"/>
          </a:xfrm>
          <a:prstGeom prst="left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Network</a:t>
            </a:r>
          </a:p>
        </p:txBody>
      </p:sp>
      <p:sp>
        <p:nvSpPr>
          <p:cNvPr id="69" name="矩形 68"/>
          <p:cNvSpPr/>
          <p:nvPr/>
        </p:nvSpPr>
        <p:spPr bwMode="auto">
          <a:xfrm>
            <a:off x="2286000" y="3206080"/>
            <a:ext cx="609600" cy="304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A3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5334000" y="3206080"/>
            <a:ext cx="533400" cy="304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B3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cxnSp>
        <p:nvCxnSpPr>
          <p:cNvPr id="71" name="直接箭头连接符 70"/>
          <p:cNvCxnSpPr>
            <a:stCxn id="69" idx="2"/>
            <a:endCxn id="50" idx="7"/>
          </p:cNvCxnSpPr>
          <p:nvPr/>
        </p:nvCxnSpPr>
        <p:spPr bwMode="auto">
          <a:xfrm flipH="1">
            <a:off x="2474585" y="3510880"/>
            <a:ext cx="116215" cy="763915"/>
          </a:xfrm>
          <a:prstGeom prst="straightConnector1">
            <a:avLst/>
          </a:prstGeom>
          <a:noFill/>
          <a:ln w="9525" cap="flat" cmpd="sng" algn="ctr">
            <a:solidFill>
              <a:schemeClr val="bg2">
                <a:lumMod val="1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2" name="直接箭头连接符 71"/>
          <p:cNvCxnSpPr>
            <a:stCxn id="70" idx="2"/>
            <a:endCxn id="51" idx="7"/>
          </p:cNvCxnSpPr>
          <p:nvPr/>
        </p:nvCxnSpPr>
        <p:spPr bwMode="auto">
          <a:xfrm flipH="1">
            <a:off x="4760585" y="3510880"/>
            <a:ext cx="840115" cy="763915"/>
          </a:xfrm>
          <a:prstGeom prst="straightConnector1">
            <a:avLst/>
          </a:prstGeom>
          <a:noFill/>
          <a:ln w="9525" cap="flat" cmpd="sng" algn="ctr">
            <a:solidFill>
              <a:schemeClr val="bg2">
                <a:lumMod val="1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3" name="矩形 72"/>
          <p:cNvSpPr/>
          <p:nvPr/>
        </p:nvSpPr>
        <p:spPr bwMode="auto">
          <a:xfrm>
            <a:off x="8382000" y="3206080"/>
            <a:ext cx="609600" cy="304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rPr>
              <a:t>C3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cxnSp>
        <p:nvCxnSpPr>
          <p:cNvPr id="74" name="直接箭头连接符 73"/>
          <p:cNvCxnSpPr>
            <a:stCxn id="73" idx="2"/>
            <a:endCxn id="52" idx="7"/>
          </p:cNvCxnSpPr>
          <p:nvPr/>
        </p:nvCxnSpPr>
        <p:spPr bwMode="auto">
          <a:xfrm flipH="1">
            <a:off x="7046585" y="3510880"/>
            <a:ext cx="1640215" cy="763915"/>
          </a:xfrm>
          <a:prstGeom prst="straightConnector1">
            <a:avLst/>
          </a:prstGeom>
          <a:noFill/>
          <a:ln w="9525" cap="flat" cmpd="sng" algn="ctr">
            <a:solidFill>
              <a:schemeClr val="bg2">
                <a:lumMod val="1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58970"/>
            <a:ext cx="9144000" cy="3678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003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 tmFilter="0, 0; .2, .5; .8, .5; 1, 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 tmFilter="0, 0; .2, .5; .8, .5; 1, 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250" autoRev="1" fill="hold"/>
                                        <p:tgtEl>
                                          <p:spTgt spid="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拟采取的技术方案</a:t>
            </a:r>
            <a:r>
              <a:rPr lang="en-US" altLang="zh-CN" sz="3600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>
                <a:latin typeface="微软雅黑" pitchFamily="34" charset="-122"/>
                <a:ea typeface="微软雅黑" pitchFamily="34" charset="-122"/>
              </a:rPr>
              <a:t>高效率</a:t>
            </a:r>
            <a:endParaRPr lang="zh-CN" altLang="en-US" sz="4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294458" y="1143000"/>
            <a:ext cx="8190572" cy="2205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高效率</a:t>
            </a:r>
            <a:r>
              <a:rPr lang="en-US" altLang="zh-CN" sz="2400" dirty="0" smtClean="0"/>
              <a:t>-</a:t>
            </a:r>
            <a:r>
              <a:rPr lang="zh-CN" altLang="en-US" sz="2400" dirty="0" smtClean="0"/>
              <a:t>通讯   </a:t>
            </a:r>
            <a:r>
              <a:rPr lang="en-US" altLang="zh-CN" sz="2400" dirty="0" smtClean="0"/>
              <a:t>(</a:t>
            </a:r>
            <a:r>
              <a:rPr lang="zh-CN" altLang="en-US" sz="2400" dirty="0" smtClean="0">
                <a:solidFill>
                  <a:srgbClr val="669900"/>
                </a:solidFill>
              </a:rPr>
              <a:t>目标： 探寻峰值性能</a:t>
            </a:r>
            <a:r>
              <a:rPr lang="en-US" altLang="zh-CN" sz="2400" dirty="0" smtClean="0"/>
              <a:t>)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通讯效率优化                                    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 -&gt; </a:t>
            </a:r>
            <a:r>
              <a:rPr lang="zh-CN" altLang="en-US" sz="2000" dirty="0" smtClean="0"/>
              <a:t>逼近网络峰值性能</a:t>
            </a:r>
            <a:endParaRPr lang="en-US" altLang="zh-CN" sz="2000" dirty="0" smtClean="0"/>
          </a:p>
          <a:p>
            <a:pPr marL="1200150" lvl="2" indent="-285750">
              <a:buFont typeface="Arial" charset="0"/>
              <a:buChar char="•"/>
            </a:pPr>
            <a:r>
              <a:rPr lang="en-US" altLang="zh-CN" sz="2000" dirty="0" smtClean="0"/>
              <a:t>IO</a:t>
            </a:r>
            <a:r>
              <a:rPr lang="zh-CN" altLang="en-US" sz="2000" dirty="0" smtClean="0"/>
              <a:t>通讯隔离，通讯数据压缩， 通讯数据缓存打包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通讯协议优化                                      </a:t>
            </a:r>
            <a:r>
              <a:rPr lang="en-US" altLang="zh-CN" sz="2000" dirty="0" smtClean="0"/>
              <a:t>-&gt;  </a:t>
            </a:r>
            <a:r>
              <a:rPr lang="zh-CN" altLang="en-US" sz="2000" dirty="0" smtClean="0"/>
              <a:t>消息循环合并 </a:t>
            </a:r>
            <a:r>
              <a:rPr lang="en-US" altLang="zh-CN" sz="2000" dirty="0" smtClean="0"/>
              <a:t>(</a:t>
            </a:r>
            <a:r>
              <a:rPr lang="en-US" altLang="zh-CN" sz="2000" dirty="0" smtClean="0">
                <a:solidFill>
                  <a:srgbClr val="3333CC"/>
                </a:solidFill>
              </a:rPr>
              <a:t>Loop Combine</a:t>
            </a:r>
            <a:r>
              <a:rPr lang="en-US" altLang="zh-CN" sz="2000" dirty="0" smtClean="0"/>
              <a:t>)</a:t>
            </a: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solidFill>
                  <a:srgbClr val="FF0000"/>
                </a:solidFill>
              </a:rPr>
              <a:t>减少通讯等待时间，提高</a:t>
            </a:r>
            <a:r>
              <a:rPr lang="en-US" altLang="zh-CN" sz="2000" dirty="0" smtClean="0">
                <a:solidFill>
                  <a:srgbClr val="FF0000"/>
                </a:solidFill>
              </a:rPr>
              <a:t>Edge Merging</a:t>
            </a:r>
            <a:r>
              <a:rPr lang="zh-CN" altLang="en-US" sz="2000" dirty="0" smtClean="0">
                <a:solidFill>
                  <a:srgbClr val="FF0000"/>
                </a:solidFill>
              </a:rPr>
              <a:t>通讯效率</a:t>
            </a:r>
            <a:endParaRPr lang="en-US" altLang="zh-CN" sz="2000" dirty="0" smtClean="0">
              <a:solidFill>
                <a:srgbClr val="FF00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9316" y="2859218"/>
            <a:ext cx="8630550" cy="3839861"/>
            <a:chOff x="309965" y="3054524"/>
            <a:chExt cx="8630550" cy="3839861"/>
          </a:xfrm>
        </p:grpSpPr>
        <p:grpSp>
          <p:nvGrpSpPr>
            <p:cNvPr id="5" name="组合 4"/>
            <p:cNvGrpSpPr/>
            <p:nvPr/>
          </p:nvGrpSpPr>
          <p:grpSpPr>
            <a:xfrm>
              <a:off x="309965" y="3054524"/>
              <a:ext cx="8630550" cy="3839861"/>
              <a:chOff x="309965" y="3054524"/>
              <a:chExt cx="8630550" cy="3839861"/>
            </a:xfrm>
          </p:grpSpPr>
          <p:pic>
            <p:nvPicPr>
              <p:cNvPr id="7" name="Picture 4" descr="https://computing.llnl.gov/tutorials/bgq/images/5Dtorus.400pix.jp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83011" y="3224454"/>
                <a:ext cx="2430270" cy="16447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2" descr="http://www.idris.fr/media/turing/pics/tore5d_nodecard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68543" y="4713161"/>
                <a:ext cx="2771972" cy="21812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10" descr="http://clusterdesign.org/wp-content/uploads/2012/09/fujitsu-3d-torus.jp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4290" y="3281025"/>
                <a:ext cx="1987820" cy="1588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0" name="组合 9"/>
              <p:cNvGrpSpPr/>
              <p:nvPr/>
            </p:nvGrpSpPr>
            <p:grpSpPr>
              <a:xfrm>
                <a:off x="3214675" y="4779149"/>
                <a:ext cx="2505903" cy="2075989"/>
                <a:chOff x="9302" y="1134380"/>
                <a:chExt cx="6226933" cy="5715000"/>
              </a:xfrm>
            </p:grpSpPr>
            <p:cxnSp>
              <p:nvCxnSpPr>
                <p:cNvPr id="40" name="直接连接符 39"/>
                <p:cNvCxnSpPr/>
                <p:nvPr/>
              </p:nvCxnSpPr>
              <p:spPr bwMode="auto">
                <a:xfrm flipH="1">
                  <a:off x="3552427" y="3073114"/>
                  <a:ext cx="63899" cy="2985691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1" name="直接连接符 40"/>
                <p:cNvCxnSpPr/>
                <p:nvPr/>
              </p:nvCxnSpPr>
              <p:spPr bwMode="auto">
                <a:xfrm flipH="1">
                  <a:off x="1712118" y="3063589"/>
                  <a:ext cx="56357" cy="3004741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2" name="直接连接符 41"/>
                <p:cNvCxnSpPr/>
                <p:nvPr/>
              </p:nvCxnSpPr>
              <p:spPr bwMode="auto">
                <a:xfrm flipH="1">
                  <a:off x="4419600" y="1362980"/>
                  <a:ext cx="42862" cy="297180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3" name="直接连接符 42"/>
                <p:cNvCxnSpPr/>
                <p:nvPr/>
              </p:nvCxnSpPr>
              <p:spPr bwMode="auto">
                <a:xfrm flipH="1">
                  <a:off x="2558256" y="1362980"/>
                  <a:ext cx="81755" cy="297180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44" name="平行四边形 43"/>
                <p:cNvSpPr/>
                <p:nvPr/>
              </p:nvSpPr>
              <p:spPr bwMode="auto">
                <a:xfrm>
                  <a:off x="1768475" y="1339564"/>
                  <a:ext cx="2743200" cy="1733550"/>
                </a:xfrm>
                <a:prstGeom prst="parallelogram">
                  <a:avLst>
                    <a:gd name="adj" fmla="val 49883"/>
                  </a:avLst>
                </a:prstGeom>
                <a:noFill/>
                <a:ln w="25400" cap="flat" cmpd="sng" algn="ctr">
                  <a:solidFill>
                    <a:srgbClr val="C00000"/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45" name="椭圆 44"/>
                <p:cNvSpPr/>
                <p:nvPr/>
              </p:nvSpPr>
              <p:spPr bwMode="auto">
                <a:xfrm>
                  <a:off x="2346325" y="4129596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46" name="椭圆 45"/>
                <p:cNvSpPr/>
                <p:nvPr/>
              </p:nvSpPr>
              <p:spPr bwMode="auto">
                <a:xfrm>
                  <a:off x="1508125" y="5849255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47" name="椭圆 46"/>
                <p:cNvSpPr/>
                <p:nvPr/>
              </p:nvSpPr>
              <p:spPr bwMode="auto">
                <a:xfrm>
                  <a:off x="4127500" y="4177221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48" name="椭圆 47"/>
                <p:cNvSpPr/>
                <p:nvPr/>
              </p:nvSpPr>
              <p:spPr bwMode="auto">
                <a:xfrm>
                  <a:off x="3219450" y="5849255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49" name="圆柱形 48"/>
                <p:cNvSpPr/>
                <p:nvPr/>
              </p:nvSpPr>
              <p:spPr bwMode="auto">
                <a:xfrm>
                  <a:off x="2438400" y="4786821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50" name="下箭头 49"/>
                <p:cNvSpPr/>
                <p:nvPr/>
              </p:nvSpPr>
              <p:spPr bwMode="auto">
                <a:xfrm>
                  <a:off x="2558256" y="4560999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51" name="圆柱形 50"/>
                <p:cNvSpPr/>
                <p:nvPr/>
              </p:nvSpPr>
              <p:spPr bwMode="auto">
                <a:xfrm>
                  <a:off x="1592262" y="6516005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52" name="下箭头 51"/>
                <p:cNvSpPr/>
                <p:nvPr/>
              </p:nvSpPr>
              <p:spPr bwMode="auto">
                <a:xfrm>
                  <a:off x="1712118" y="6290183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53" name="圆柱形 52"/>
                <p:cNvSpPr/>
                <p:nvPr/>
              </p:nvSpPr>
              <p:spPr bwMode="auto">
                <a:xfrm>
                  <a:off x="4211637" y="4839605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54" name="下箭头 53"/>
                <p:cNvSpPr/>
                <p:nvPr/>
              </p:nvSpPr>
              <p:spPr bwMode="auto">
                <a:xfrm>
                  <a:off x="4331493" y="4613783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55" name="圆柱形 54"/>
                <p:cNvSpPr/>
                <p:nvPr/>
              </p:nvSpPr>
              <p:spPr bwMode="auto">
                <a:xfrm>
                  <a:off x="3303587" y="6516004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56" name="下箭头 55"/>
                <p:cNvSpPr/>
                <p:nvPr/>
              </p:nvSpPr>
              <p:spPr bwMode="auto">
                <a:xfrm>
                  <a:off x="3423443" y="6290182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 bwMode="auto">
                <a:xfrm>
                  <a:off x="2422525" y="1134380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 bwMode="auto">
                <a:xfrm>
                  <a:off x="1584325" y="2854039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59" name="椭圆 58"/>
                <p:cNvSpPr/>
                <p:nvPr/>
              </p:nvSpPr>
              <p:spPr bwMode="auto">
                <a:xfrm>
                  <a:off x="4203700" y="1182005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60" name="椭圆 59"/>
                <p:cNvSpPr/>
                <p:nvPr/>
              </p:nvSpPr>
              <p:spPr bwMode="auto">
                <a:xfrm>
                  <a:off x="3295650" y="2854039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61" name="圆柱形 60"/>
                <p:cNvSpPr/>
                <p:nvPr/>
              </p:nvSpPr>
              <p:spPr bwMode="auto">
                <a:xfrm>
                  <a:off x="2514600" y="1791605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62" name="下箭头 61"/>
                <p:cNvSpPr/>
                <p:nvPr/>
              </p:nvSpPr>
              <p:spPr bwMode="auto">
                <a:xfrm>
                  <a:off x="2634456" y="1565783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63" name="圆柱形 62"/>
                <p:cNvSpPr/>
                <p:nvPr/>
              </p:nvSpPr>
              <p:spPr bwMode="auto">
                <a:xfrm>
                  <a:off x="1668462" y="3520789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64" name="下箭头 63"/>
                <p:cNvSpPr/>
                <p:nvPr/>
              </p:nvSpPr>
              <p:spPr bwMode="auto">
                <a:xfrm>
                  <a:off x="1788318" y="3294967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65" name="圆柱形 64"/>
                <p:cNvSpPr/>
                <p:nvPr/>
              </p:nvSpPr>
              <p:spPr bwMode="auto">
                <a:xfrm>
                  <a:off x="4287837" y="1844389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66" name="下箭头 65"/>
                <p:cNvSpPr/>
                <p:nvPr/>
              </p:nvSpPr>
              <p:spPr bwMode="auto">
                <a:xfrm>
                  <a:off x="4407693" y="1618567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67" name="圆柱形 66"/>
                <p:cNvSpPr/>
                <p:nvPr/>
              </p:nvSpPr>
              <p:spPr bwMode="auto">
                <a:xfrm>
                  <a:off x="3379787" y="3520788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68" name="下箭头 67"/>
                <p:cNvSpPr/>
                <p:nvPr/>
              </p:nvSpPr>
              <p:spPr bwMode="auto">
                <a:xfrm>
                  <a:off x="3499643" y="3294966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grpSp>
              <p:nvGrpSpPr>
                <p:cNvPr id="69" name="组合 68"/>
                <p:cNvGrpSpPr/>
                <p:nvPr/>
              </p:nvGrpSpPr>
              <p:grpSpPr>
                <a:xfrm>
                  <a:off x="9302" y="4152423"/>
                  <a:ext cx="6226931" cy="2075167"/>
                  <a:chOff x="9302" y="3856243"/>
                  <a:chExt cx="6226931" cy="2075167"/>
                </a:xfrm>
              </p:grpSpPr>
              <p:cxnSp>
                <p:nvCxnSpPr>
                  <p:cNvPr id="80" name="直接箭头连接符 79"/>
                  <p:cNvCxnSpPr>
                    <a:stCxn id="86" idx="2"/>
                    <a:endCxn id="45" idx="2"/>
                  </p:cNvCxnSpPr>
                  <p:nvPr/>
                </p:nvCxnSpPr>
                <p:spPr bwMode="auto">
                  <a:xfrm flipV="1">
                    <a:off x="1992588" y="4052491"/>
                    <a:ext cx="353738" cy="8040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cxnSp>
                <p:nvCxnSpPr>
                  <p:cNvPr id="81" name="直接箭头连接符 80"/>
                  <p:cNvCxnSpPr>
                    <a:stCxn id="84" idx="2"/>
                    <a:endCxn id="46" idx="2"/>
                  </p:cNvCxnSpPr>
                  <p:nvPr/>
                </p:nvCxnSpPr>
                <p:spPr bwMode="auto">
                  <a:xfrm>
                    <a:off x="1163947" y="5742243"/>
                    <a:ext cx="344177" cy="29906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cxnSp>
                <p:nvCxnSpPr>
                  <p:cNvPr id="82" name="直接箭头连接符 81"/>
                  <p:cNvCxnSpPr>
                    <a:stCxn id="87" idx="5"/>
                    <a:endCxn id="47" idx="6"/>
                  </p:cNvCxnSpPr>
                  <p:nvPr/>
                </p:nvCxnSpPr>
                <p:spPr bwMode="auto">
                  <a:xfrm flipH="1">
                    <a:off x="4676775" y="4090164"/>
                    <a:ext cx="423060" cy="9953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cxnSp>
                <p:nvCxnSpPr>
                  <p:cNvPr id="83" name="直接箭头连接符 82"/>
                  <p:cNvCxnSpPr>
                    <a:stCxn id="85" idx="5"/>
                    <a:endCxn id="48" idx="6"/>
                  </p:cNvCxnSpPr>
                  <p:nvPr/>
                </p:nvCxnSpPr>
                <p:spPr bwMode="auto">
                  <a:xfrm flipH="1">
                    <a:off x="3768726" y="5746799"/>
                    <a:ext cx="541292" cy="25350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sp>
                <p:nvSpPr>
                  <p:cNvPr id="84" name="平行四边形 83"/>
                  <p:cNvSpPr/>
                  <p:nvPr/>
                </p:nvSpPr>
                <p:spPr bwMode="auto">
                  <a:xfrm>
                    <a:off x="9302" y="5553076"/>
                    <a:ext cx="1214659" cy="378334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  <p:sp>
                <p:nvSpPr>
                  <p:cNvPr id="85" name="平行四边形 84"/>
                  <p:cNvSpPr/>
                  <p:nvPr/>
                </p:nvSpPr>
                <p:spPr bwMode="auto">
                  <a:xfrm>
                    <a:off x="4251451" y="5562188"/>
                    <a:ext cx="1020803" cy="369221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  <p:sp>
                <p:nvSpPr>
                  <p:cNvPr id="86" name="平行四边形 85"/>
                  <p:cNvSpPr/>
                  <p:nvPr/>
                </p:nvSpPr>
                <p:spPr bwMode="auto">
                  <a:xfrm>
                    <a:off x="785416" y="3856243"/>
                    <a:ext cx="1271982" cy="408576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  <p:sp>
                <p:nvSpPr>
                  <p:cNvPr id="87" name="平行四边形 86"/>
                  <p:cNvSpPr/>
                  <p:nvPr/>
                </p:nvSpPr>
                <p:spPr bwMode="auto">
                  <a:xfrm>
                    <a:off x="5044424" y="3915506"/>
                    <a:ext cx="1191809" cy="349315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</p:grpSp>
            <p:grpSp>
              <p:nvGrpSpPr>
                <p:cNvPr id="70" name="组合 69"/>
                <p:cNvGrpSpPr/>
                <p:nvPr/>
              </p:nvGrpSpPr>
              <p:grpSpPr>
                <a:xfrm>
                  <a:off x="9303" y="1205483"/>
                  <a:ext cx="6226932" cy="2089485"/>
                  <a:chOff x="9303" y="909303"/>
                  <a:chExt cx="6226932" cy="2089485"/>
                </a:xfrm>
              </p:grpSpPr>
              <p:cxnSp>
                <p:nvCxnSpPr>
                  <p:cNvPr id="72" name="直接箭头连接符 71"/>
                  <p:cNvCxnSpPr>
                    <a:stCxn id="78" idx="2"/>
                    <a:endCxn id="57" idx="2"/>
                  </p:cNvCxnSpPr>
                  <p:nvPr/>
                </p:nvCxnSpPr>
                <p:spPr bwMode="auto">
                  <a:xfrm flipV="1">
                    <a:off x="2088693" y="1057275"/>
                    <a:ext cx="333832" cy="32178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cxnSp>
                <p:nvCxnSpPr>
                  <p:cNvPr id="73" name="直接箭头连接符 72"/>
                  <p:cNvCxnSpPr>
                    <a:stCxn id="76" idx="2"/>
                    <a:endCxn id="58" idx="2"/>
                  </p:cNvCxnSpPr>
                  <p:nvPr/>
                </p:nvCxnSpPr>
                <p:spPr bwMode="auto">
                  <a:xfrm flipV="1">
                    <a:off x="1156105" y="2776933"/>
                    <a:ext cx="428221" cy="18622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cxnSp>
                <p:nvCxnSpPr>
                  <p:cNvPr id="74" name="直接箭头连接符 73"/>
                  <p:cNvCxnSpPr>
                    <a:stCxn id="79" idx="5"/>
                    <a:endCxn id="59" idx="6"/>
                  </p:cNvCxnSpPr>
                  <p:nvPr/>
                </p:nvCxnSpPr>
                <p:spPr bwMode="auto">
                  <a:xfrm flipH="1">
                    <a:off x="4752978" y="1093916"/>
                    <a:ext cx="519276" cy="10985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cxnSp>
                <p:nvCxnSpPr>
                  <p:cNvPr id="75" name="直接箭头连接符 74"/>
                  <p:cNvCxnSpPr>
                    <a:stCxn id="77" idx="5"/>
                    <a:endCxn id="60" idx="6"/>
                  </p:cNvCxnSpPr>
                  <p:nvPr/>
                </p:nvCxnSpPr>
                <p:spPr bwMode="auto">
                  <a:xfrm flipH="1" flipV="1">
                    <a:off x="3844926" y="2776934"/>
                    <a:ext cx="501479" cy="2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sp>
                <p:nvSpPr>
                  <p:cNvPr id="76" name="平行四边形 75"/>
                  <p:cNvSpPr/>
                  <p:nvPr/>
                </p:nvSpPr>
                <p:spPr bwMode="auto">
                  <a:xfrm>
                    <a:off x="9303" y="2592323"/>
                    <a:ext cx="1194633" cy="406465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  <p:sp>
                <p:nvSpPr>
                  <p:cNvPr id="77" name="平行四边形 76"/>
                  <p:cNvSpPr/>
                  <p:nvPr/>
                </p:nvSpPr>
                <p:spPr bwMode="auto">
                  <a:xfrm>
                    <a:off x="4287836" y="2592324"/>
                    <a:ext cx="984418" cy="369221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  <p:sp>
                <p:nvSpPr>
                  <p:cNvPr id="78" name="平行四边形 77"/>
                  <p:cNvSpPr/>
                  <p:nvPr/>
                </p:nvSpPr>
                <p:spPr bwMode="auto">
                  <a:xfrm>
                    <a:off x="1067951" y="909303"/>
                    <a:ext cx="1063143" cy="360298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  <p:sp>
                <p:nvSpPr>
                  <p:cNvPr id="79" name="平行四边形 78"/>
                  <p:cNvSpPr/>
                  <p:nvPr/>
                </p:nvSpPr>
                <p:spPr bwMode="auto">
                  <a:xfrm>
                    <a:off x="5213686" y="909307"/>
                    <a:ext cx="1022549" cy="369220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</p:grpSp>
            <p:sp>
              <p:nvSpPr>
                <p:cNvPr id="71" name="平行四边形 70"/>
                <p:cNvSpPr/>
                <p:nvPr/>
              </p:nvSpPr>
              <p:spPr bwMode="auto">
                <a:xfrm>
                  <a:off x="1692275" y="4334780"/>
                  <a:ext cx="2743200" cy="1733550"/>
                </a:xfrm>
                <a:prstGeom prst="parallelogram">
                  <a:avLst>
                    <a:gd name="adj" fmla="val 49883"/>
                  </a:avLst>
                </a:prstGeom>
                <a:noFill/>
                <a:ln w="25400" cap="flat" cmpd="sng" algn="ctr">
                  <a:solidFill>
                    <a:srgbClr val="C00000">
                      <a:alpha val="82000"/>
                    </a:srgbClr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8972" y="3224454"/>
                <a:ext cx="2192850" cy="1622505"/>
              </a:xfrm>
              <a:prstGeom prst="rect">
                <a:avLst/>
              </a:prstGeom>
            </p:spPr>
          </p:pic>
          <p:grpSp>
            <p:nvGrpSpPr>
              <p:cNvPr id="12" name="组合 11"/>
              <p:cNvGrpSpPr/>
              <p:nvPr/>
            </p:nvGrpSpPr>
            <p:grpSpPr>
              <a:xfrm>
                <a:off x="309965" y="4802616"/>
                <a:ext cx="2372686" cy="1910160"/>
                <a:chOff x="381000" y="3833416"/>
                <a:chExt cx="5364488" cy="2719784"/>
              </a:xfrm>
            </p:grpSpPr>
            <p:sp>
              <p:nvSpPr>
                <p:cNvPr id="16" name="平行四边形 15"/>
                <p:cNvSpPr/>
                <p:nvPr/>
              </p:nvSpPr>
              <p:spPr bwMode="auto">
                <a:xfrm>
                  <a:off x="1692275" y="4038600"/>
                  <a:ext cx="2743200" cy="1733550"/>
                </a:xfrm>
                <a:prstGeom prst="parallelogram">
                  <a:avLst>
                    <a:gd name="adj" fmla="val 49883"/>
                  </a:avLst>
                </a:prstGeom>
                <a:noFill/>
                <a:ln w="25400" cap="flat" cmpd="sng" algn="ctr">
                  <a:solidFill>
                    <a:srgbClr val="C00000">
                      <a:alpha val="82000"/>
                    </a:srgbClr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17" name="椭圆 16"/>
                <p:cNvSpPr/>
                <p:nvPr/>
              </p:nvSpPr>
              <p:spPr bwMode="auto">
                <a:xfrm>
                  <a:off x="2346325" y="3833416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18" name="椭圆 17"/>
                <p:cNvSpPr/>
                <p:nvPr/>
              </p:nvSpPr>
              <p:spPr bwMode="auto">
                <a:xfrm>
                  <a:off x="1508125" y="5553075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19" name="椭圆 18"/>
                <p:cNvSpPr/>
                <p:nvPr/>
              </p:nvSpPr>
              <p:spPr bwMode="auto">
                <a:xfrm>
                  <a:off x="4127500" y="3881041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0" name="椭圆 19"/>
                <p:cNvSpPr/>
                <p:nvPr/>
              </p:nvSpPr>
              <p:spPr bwMode="auto">
                <a:xfrm>
                  <a:off x="3219450" y="5553075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1" name="圆柱形 20"/>
                <p:cNvSpPr/>
                <p:nvPr/>
              </p:nvSpPr>
              <p:spPr bwMode="auto">
                <a:xfrm>
                  <a:off x="2438400" y="4490641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2" name="下箭头 21"/>
                <p:cNvSpPr/>
                <p:nvPr/>
              </p:nvSpPr>
              <p:spPr bwMode="auto">
                <a:xfrm>
                  <a:off x="2558256" y="4264819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3" name="圆柱形 22"/>
                <p:cNvSpPr/>
                <p:nvPr/>
              </p:nvSpPr>
              <p:spPr bwMode="auto">
                <a:xfrm>
                  <a:off x="1592262" y="6219825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4" name="下箭头 23"/>
                <p:cNvSpPr/>
                <p:nvPr/>
              </p:nvSpPr>
              <p:spPr bwMode="auto">
                <a:xfrm>
                  <a:off x="1712118" y="5994003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5" name="圆柱形 24"/>
                <p:cNvSpPr/>
                <p:nvPr/>
              </p:nvSpPr>
              <p:spPr bwMode="auto">
                <a:xfrm>
                  <a:off x="4211637" y="4543425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6" name="下箭头 25"/>
                <p:cNvSpPr/>
                <p:nvPr/>
              </p:nvSpPr>
              <p:spPr bwMode="auto">
                <a:xfrm>
                  <a:off x="4331493" y="4317603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7" name="圆柱形 26"/>
                <p:cNvSpPr/>
                <p:nvPr/>
              </p:nvSpPr>
              <p:spPr bwMode="auto">
                <a:xfrm>
                  <a:off x="3303587" y="6219824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8" name="下箭头 27"/>
                <p:cNvSpPr/>
                <p:nvPr/>
              </p:nvSpPr>
              <p:spPr bwMode="auto">
                <a:xfrm>
                  <a:off x="3423443" y="5994002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cxnSp>
              <p:nvCxnSpPr>
                <p:cNvPr id="29" name="直接箭头连接符 28"/>
                <p:cNvCxnSpPr>
                  <a:stCxn id="39" idx="2"/>
                  <a:endCxn id="17" idx="2"/>
                </p:cNvCxnSpPr>
                <p:nvPr/>
              </p:nvCxnSpPr>
              <p:spPr bwMode="auto">
                <a:xfrm flipV="1">
                  <a:off x="1837414" y="4052491"/>
                  <a:ext cx="508911" cy="13161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bg2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cxnSp>
              <p:nvCxnSpPr>
                <p:cNvPr id="30" name="直接箭头连接符 29"/>
                <p:cNvCxnSpPr>
                  <a:stCxn id="33" idx="2"/>
                  <a:endCxn id="18" idx="2"/>
                </p:cNvCxnSpPr>
                <p:nvPr/>
              </p:nvCxnSpPr>
              <p:spPr bwMode="auto">
                <a:xfrm>
                  <a:off x="1177808" y="5772150"/>
                  <a:ext cx="330317" cy="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bg2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cxnSp>
              <p:nvCxnSpPr>
                <p:cNvPr id="31" name="直接箭头连接符 30"/>
                <p:cNvCxnSpPr>
                  <a:endCxn id="19" idx="6"/>
                </p:cNvCxnSpPr>
                <p:nvPr/>
              </p:nvCxnSpPr>
              <p:spPr bwMode="auto">
                <a:xfrm flipH="1">
                  <a:off x="4676775" y="4100116"/>
                  <a:ext cx="462078" cy="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bg2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cxnSp>
              <p:nvCxnSpPr>
                <p:cNvPr id="32" name="直接箭头连接符 31"/>
                <p:cNvCxnSpPr>
                  <a:stCxn id="34" idx="5"/>
                  <a:endCxn id="20" idx="6"/>
                </p:cNvCxnSpPr>
                <p:nvPr/>
              </p:nvCxnSpPr>
              <p:spPr bwMode="auto">
                <a:xfrm flipH="1">
                  <a:off x="3768725" y="5759474"/>
                  <a:ext cx="542179" cy="12676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bg2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sp>
              <p:nvSpPr>
                <p:cNvPr id="33" name="平行四边形 32"/>
                <p:cNvSpPr/>
                <p:nvPr/>
              </p:nvSpPr>
              <p:spPr bwMode="auto">
                <a:xfrm>
                  <a:off x="381000" y="5587539"/>
                  <a:ext cx="842961" cy="369222"/>
                </a:xfrm>
                <a:prstGeom prst="parallelogram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34" name="平行四边形 33"/>
                <p:cNvSpPr/>
                <p:nvPr/>
              </p:nvSpPr>
              <p:spPr bwMode="auto">
                <a:xfrm>
                  <a:off x="4264751" y="5574863"/>
                  <a:ext cx="779673" cy="369222"/>
                </a:xfrm>
                <a:prstGeom prst="parallelogram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35" name="平行四边形 34"/>
                <p:cNvSpPr/>
                <p:nvPr/>
              </p:nvSpPr>
              <p:spPr bwMode="auto">
                <a:xfrm>
                  <a:off x="1265236" y="3882897"/>
                  <a:ext cx="618331" cy="369222"/>
                </a:xfrm>
                <a:prstGeom prst="parallelogram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 smtClean="0">
                      <a:solidFill>
                        <a:schemeClr val="tx1"/>
                      </a:solidFill>
                      <a:latin typeface="Calibri" pitchFamily="34" charset="0"/>
                    </a:rPr>
                    <a:t>D</a:t>
                  </a:r>
                  <a:r>
                    <a:rPr kumimoji="0" lang="en-US" altLang="zh-CN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rPr>
                    <a:t>0</a:t>
                  </a:r>
                  <a:endParaRPr kumimoji="0" lang="zh-CN" alt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cxnSp>
              <p:nvCxnSpPr>
                <p:cNvPr id="36" name="直接箭头连接符 35"/>
                <p:cNvCxnSpPr>
                  <a:stCxn id="35" idx="2"/>
                  <a:endCxn id="17" idx="2"/>
                </p:cNvCxnSpPr>
                <p:nvPr/>
              </p:nvCxnSpPr>
              <p:spPr bwMode="auto">
                <a:xfrm flipV="1">
                  <a:off x="1837414" y="4052491"/>
                  <a:ext cx="508911" cy="15017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bg2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sp>
              <p:nvSpPr>
                <p:cNvPr id="37" name="平行四边形 36"/>
                <p:cNvSpPr/>
                <p:nvPr/>
              </p:nvSpPr>
              <p:spPr bwMode="auto">
                <a:xfrm>
                  <a:off x="5092700" y="3895597"/>
                  <a:ext cx="652788" cy="369222"/>
                </a:xfrm>
                <a:prstGeom prst="parallelogram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cxnSp>
              <p:nvCxnSpPr>
                <p:cNvPr id="38" name="直接箭头连接符 37"/>
                <p:cNvCxnSpPr>
                  <a:stCxn id="37" idx="5"/>
                  <a:endCxn id="19" idx="6"/>
                </p:cNvCxnSpPr>
                <p:nvPr/>
              </p:nvCxnSpPr>
              <p:spPr bwMode="auto">
                <a:xfrm flipH="1">
                  <a:off x="4676775" y="4080208"/>
                  <a:ext cx="462078" cy="19908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bg2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sp>
              <p:nvSpPr>
                <p:cNvPr id="39" name="平行四边形 38"/>
                <p:cNvSpPr/>
                <p:nvPr/>
              </p:nvSpPr>
              <p:spPr bwMode="auto">
                <a:xfrm>
                  <a:off x="1050128" y="3881041"/>
                  <a:ext cx="833439" cy="369222"/>
                </a:xfrm>
                <a:prstGeom prst="parallelogram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  <p:sp>
            <p:nvSpPr>
              <p:cNvPr id="13" name="TextBox 12"/>
              <p:cNvSpPr txBox="1"/>
              <p:nvPr/>
            </p:nvSpPr>
            <p:spPr>
              <a:xfrm>
                <a:off x="791580" y="3054524"/>
                <a:ext cx="1864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 smtClean="0"/>
                  <a:t>2D torus</a:t>
                </a:r>
                <a:r>
                  <a:rPr lang="zh-CN" altLang="en-US" sz="2400" dirty="0" smtClean="0"/>
                  <a:t>网络</a:t>
                </a:r>
                <a:endParaRPr lang="zh-CN" altLang="en-US" sz="2400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896925" y="3054524"/>
                <a:ext cx="1864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3</a:t>
                </a:r>
                <a:r>
                  <a:rPr lang="en-US" altLang="zh-CN" sz="2400" dirty="0" smtClean="0"/>
                  <a:t>D torus</a:t>
                </a:r>
                <a:r>
                  <a:rPr lang="zh-CN" altLang="en-US" sz="2400" dirty="0" smtClean="0"/>
                  <a:t>网络</a:t>
                </a:r>
                <a:endParaRPr lang="zh-CN" altLang="en-US" sz="2400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732240" y="3054524"/>
                <a:ext cx="1864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4</a:t>
                </a:r>
                <a:r>
                  <a:rPr lang="en-US" altLang="zh-CN" sz="2400" dirty="0" smtClean="0"/>
                  <a:t>D torus</a:t>
                </a:r>
                <a:r>
                  <a:rPr lang="zh-CN" altLang="en-US" sz="2400" dirty="0" smtClean="0"/>
                  <a:t>网络</a:t>
                </a:r>
                <a:endParaRPr lang="zh-CN" altLang="en-US" sz="2400" dirty="0"/>
              </a:p>
            </p:txBody>
          </p:sp>
        </p:grpSp>
        <p:cxnSp>
          <p:nvCxnSpPr>
            <p:cNvPr id="6" name="直接箭头连接符 5"/>
            <p:cNvCxnSpPr/>
            <p:nvPr/>
          </p:nvCxnSpPr>
          <p:spPr>
            <a:xfrm flipH="1">
              <a:off x="5268958" y="4101331"/>
              <a:ext cx="13312" cy="2555635"/>
            </a:xfrm>
            <a:prstGeom prst="straightConnector1">
              <a:avLst/>
            </a:prstGeom>
            <a:ln w="25400" cmpd="sng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组合 113"/>
          <p:cNvGrpSpPr/>
          <p:nvPr/>
        </p:nvGrpSpPr>
        <p:grpSpPr>
          <a:xfrm>
            <a:off x="102985" y="3092301"/>
            <a:ext cx="8969515" cy="3779665"/>
            <a:chOff x="102985" y="3092301"/>
            <a:chExt cx="8969515" cy="3779665"/>
          </a:xfrm>
        </p:grpSpPr>
        <p:grpSp>
          <p:nvGrpSpPr>
            <p:cNvPr id="115" name="组合 114"/>
            <p:cNvGrpSpPr/>
            <p:nvPr/>
          </p:nvGrpSpPr>
          <p:grpSpPr>
            <a:xfrm>
              <a:off x="102985" y="3092301"/>
              <a:ext cx="8969515" cy="3779665"/>
              <a:chOff x="71500" y="3023955"/>
              <a:chExt cx="8969515" cy="3779665"/>
            </a:xfrm>
          </p:grpSpPr>
          <p:grpSp>
            <p:nvGrpSpPr>
              <p:cNvPr id="117" name="组合 116"/>
              <p:cNvGrpSpPr/>
              <p:nvPr/>
            </p:nvGrpSpPr>
            <p:grpSpPr>
              <a:xfrm>
                <a:off x="5405690" y="3158970"/>
                <a:ext cx="3635325" cy="3378643"/>
                <a:chOff x="5405690" y="3228946"/>
                <a:chExt cx="3635325" cy="3308666"/>
              </a:xfrm>
            </p:grpSpPr>
            <p:sp>
              <p:nvSpPr>
                <p:cNvPr id="120" name="椭圆 119"/>
                <p:cNvSpPr/>
                <p:nvPr/>
              </p:nvSpPr>
              <p:spPr>
                <a:xfrm>
                  <a:off x="7020272" y="3228946"/>
                  <a:ext cx="360040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dirty="0" smtClean="0"/>
                    <a:t>0</a:t>
                  </a:r>
                  <a:endParaRPr lang="zh-CN" altLang="en-US" sz="2400" dirty="0"/>
                </a:p>
              </p:txBody>
            </p:sp>
            <p:sp>
              <p:nvSpPr>
                <p:cNvPr id="121" name="椭圆 120"/>
                <p:cNvSpPr/>
                <p:nvPr/>
              </p:nvSpPr>
              <p:spPr>
                <a:xfrm>
                  <a:off x="8100392" y="4093042"/>
                  <a:ext cx="360040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dirty="0" smtClean="0"/>
                    <a:t>2</a:t>
                  </a:r>
                  <a:endParaRPr lang="zh-CN" altLang="en-US" sz="2400" dirty="0"/>
                </a:p>
              </p:txBody>
            </p:sp>
            <p:sp>
              <p:nvSpPr>
                <p:cNvPr id="122" name="椭圆 121"/>
                <p:cNvSpPr/>
                <p:nvPr/>
              </p:nvSpPr>
              <p:spPr>
                <a:xfrm>
                  <a:off x="5796136" y="4107342"/>
                  <a:ext cx="360040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dirty="0" smtClean="0"/>
                    <a:t>1</a:t>
                  </a:r>
                  <a:endParaRPr lang="zh-CN" altLang="en-US" sz="2400" dirty="0"/>
                </a:p>
              </p:txBody>
            </p:sp>
            <p:cxnSp>
              <p:nvCxnSpPr>
                <p:cNvPr id="123" name="直接箭头连接符 122"/>
                <p:cNvCxnSpPr>
                  <a:stCxn id="120" idx="6"/>
                  <a:endCxn id="121" idx="1"/>
                </p:cNvCxnSpPr>
                <p:nvPr/>
              </p:nvCxnSpPr>
              <p:spPr>
                <a:xfrm>
                  <a:off x="7380312" y="3480974"/>
                  <a:ext cx="772807" cy="685885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箭头连接符 123"/>
                <p:cNvCxnSpPr>
                  <a:stCxn id="120" idx="2"/>
                  <a:endCxn id="122" idx="7"/>
                </p:cNvCxnSpPr>
                <p:nvPr/>
              </p:nvCxnSpPr>
              <p:spPr>
                <a:xfrm flipH="1">
                  <a:off x="6103449" y="3480974"/>
                  <a:ext cx="916823" cy="700185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5" name="椭圆 124"/>
                <p:cNvSpPr/>
                <p:nvPr/>
              </p:nvSpPr>
              <p:spPr>
                <a:xfrm>
                  <a:off x="6992652" y="5029146"/>
                  <a:ext cx="360040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dirty="0" smtClean="0"/>
                    <a:t>0</a:t>
                  </a:r>
                  <a:endParaRPr lang="zh-CN" altLang="en-US" sz="2400" dirty="0"/>
                </a:p>
              </p:txBody>
            </p:sp>
            <p:cxnSp>
              <p:nvCxnSpPr>
                <p:cNvPr id="126" name="直接箭头连接符 125"/>
                <p:cNvCxnSpPr>
                  <a:stCxn id="122" idx="5"/>
                  <a:endCxn id="125" idx="1"/>
                </p:cNvCxnSpPr>
                <p:nvPr/>
              </p:nvCxnSpPr>
              <p:spPr>
                <a:xfrm>
                  <a:off x="6103449" y="4537581"/>
                  <a:ext cx="941930" cy="565382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箭头连接符 126"/>
                <p:cNvCxnSpPr>
                  <a:stCxn id="121" idx="3"/>
                  <a:endCxn id="125" idx="7"/>
                </p:cNvCxnSpPr>
                <p:nvPr/>
              </p:nvCxnSpPr>
              <p:spPr>
                <a:xfrm flipH="1">
                  <a:off x="7299965" y="4523281"/>
                  <a:ext cx="853154" cy="579682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8" name="椭圆 127"/>
                <p:cNvSpPr/>
                <p:nvPr/>
              </p:nvSpPr>
              <p:spPr>
                <a:xfrm>
                  <a:off x="5750880" y="6033556"/>
                  <a:ext cx="360040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dirty="0" smtClean="0"/>
                    <a:t>1</a:t>
                  </a:r>
                  <a:endParaRPr lang="zh-CN" altLang="en-US" sz="2400" dirty="0"/>
                </a:p>
              </p:txBody>
            </p:sp>
            <p:sp>
              <p:nvSpPr>
                <p:cNvPr id="129" name="椭圆 128"/>
                <p:cNvSpPr/>
                <p:nvPr/>
              </p:nvSpPr>
              <p:spPr>
                <a:xfrm>
                  <a:off x="8124192" y="6033556"/>
                  <a:ext cx="360040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dirty="0" smtClean="0"/>
                    <a:t>2</a:t>
                  </a:r>
                  <a:endParaRPr lang="zh-CN" altLang="en-US" sz="2400" dirty="0"/>
                </a:p>
              </p:txBody>
            </p:sp>
            <p:cxnSp>
              <p:nvCxnSpPr>
                <p:cNvPr id="130" name="直接箭头连接符 129"/>
                <p:cNvCxnSpPr>
                  <a:stCxn id="125" idx="5"/>
                  <a:endCxn id="129" idx="1"/>
                </p:cNvCxnSpPr>
                <p:nvPr/>
              </p:nvCxnSpPr>
              <p:spPr>
                <a:xfrm>
                  <a:off x="7299965" y="5459385"/>
                  <a:ext cx="876954" cy="647988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箭头连接符 130"/>
                <p:cNvCxnSpPr>
                  <a:stCxn id="125" idx="3"/>
                  <a:endCxn id="128" idx="7"/>
                </p:cNvCxnSpPr>
                <p:nvPr/>
              </p:nvCxnSpPr>
              <p:spPr>
                <a:xfrm flipH="1">
                  <a:off x="6058193" y="5459385"/>
                  <a:ext cx="987186" cy="647988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2" name="圆角矩形 131"/>
                <p:cNvSpPr/>
                <p:nvPr/>
              </p:nvSpPr>
              <p:spPr>
                <a:xfrm>
                  <a:off x="8176919" y="5660652"/>
                  <a:ext cx="864096" cy="287085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 smtClean="0"/>
                    <a:t>Data</a:t>
                  </a:r>
                  <a:endParaRPr lang="zh-CN" altLang="en-US" sz="1800" dirty="0"/>
                </a:p>
              </p:txBody>
            </p:sp>
            <p:sp>
              <p:nvSpPr>
                <p:cNvPr id="133" name="圆角矩形 132"/>
                <p:cNvSpPr/>
                <p:nvPr/>
              </p:nvSpPr>
              <p:spPr>
                <a:xfrm>
                  <a:off x="7547520" y="3710026"/>
                  <a:ext cx="794922" cy="24208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 smtClean="0"/>
                    <a:t>Lock</a:t>
                  </a:r>
                  <a:endParaRPr lang="zh-CN" altLang="en-US" sz="1800" dirty="0"/>
                </a:p>
              </p:txBody>
            </p:sp>
            <p:sp>
              <p:nvSpPr>
                <p:cNvPr id="134" name="圆角矩形 133"/>
                <p:cNvSpPr/>
                <p:nvPr/>
              </p:nvSpPr>
              <p:spPr>
                <a:xfrm>
                  <a:off x="6058193" y="3737938"/>
                  <a:ext cx="765345" cy="237144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 smtClean="0"/>
                    <a:t>Lock</a:t>
                  </a:r>
                  <a:endParaRPr lang="zh-CN" altLang="en-US" sz="1800" dirty="0"/>
                </a:p>
              </p:txBody>
            </p:sp>
            <p:sp>
              <p:nvSpPr>
                <p:cNvPr id="135" name="圆角矩形 134"/>
                <p:cNvSpPr/>
                <p:nvPr/>
              </p:nvSpPr>
              <p:spPr>
                <a:xfrm>
                  <a:off x="7524328" y="4741114"/>
                  <a:ext cx="1296144" cy="36750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 smtClean="0"/>
                    <a:t>Lock reply</a:t>
                  </a:r>
                  <a:endParaRPr lang="zh-CN" altLang="en-US" sz="1800" dirty="0"/>
                </a:p>
              </p:txBody>
            </p:sp>
            <p:sp>
              <p:nvSpPr>
                <p:cNvPr id="136" name="圆角矩形 135"/>
                <p:cNvSpPr/>
                <p:nvPr/>
              </p:nvSpPr>
              <p:spPr>
                <a:xfrm>
                  <a:off x="5668262" y="4728538"/>
                  <a:ext cx="1189738" cy="36750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 smtClean="0"/>
                    <a:t>Lock reply</a:t>
                  </a:r>
                  <a:endParaRPr lang="zh-CN" altLang="en-US" sz="1800" dirty="0"/>
                </a:p>
              </p:txBody>
            </p:sp>
            <p:sp>
              <p:nvSpPr>
                <p:cNvPr id="137" name="圆角矩形 136"/>
                <p:cNvSpPr/>
                <p:nvPr/>
              </p:nvSpPr>
              <p:spPr>
                <a:xfrm>
                  <a:off x="7348730" y="5660653"/>
                  <a:ext cx="804670" cy="287085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/>
                    <a:t>N</a:t>
                  </a:r>
                  <a:r>
                    <a:rPr lang="en-US" altLang="zh-CN" sz="1800" dirty="0" smtClean="0"/>
                    <a:t>otify</a:t>
                  </a:r>
                  <a:endParaRPr lang="zh-CN" altLang="en-US" sz="1800" dirty="0"/>
                </a:p>
              </p:txBody>
            </p:sp>
            <p:sp>
              <p:nvSpPr>
                <p:cNvPr id="138" name="圆角矩形 137"/>
                <p:cNvSpPr/>
                <p:nvPr/>
              </p:nvSpPr>
              <p:spPr>
                <a:xfrm>
                  <a:off x="5405690" y="5660653"/>
                  <a:ext cx="804670" cy="287085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/>
                    <a:t>N</a:t>
                  </a:r>
                  <a:r>
                    <a:rPr lang="en-US" altLang="zh-CN" sz="1800" dirty="0" smtClean="0"/>
                    <a:t>otify</a:t>
                  </a:r>
                  <a:endParaRPr lang="zh-CN" altLang="en-US" sz="1800" dirty="0"/>
                </a:p>
              </p:txBody>
            </p:sp>
            <p:sp>
              <p:nvSpPr>
                <p:cNvPr id="139" name="圆角矩形 138"/>
                <p:cNvSpPr/>
                <p:nvPr/>
              </p:nvSpPr>
              <p:spPr>
                <a:xfrm>
                  <a:off x="6230712" y="5660652"/>
                  <a:ext cx="864096" cy="295287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 smtClean="0"/>
                    <a:t>Data</a:t>
                  </a:r>
                  <a:endParaRPr lang="zh-CN" altLang="en-US" sz="1800" dirty="0"/>
                </a:p>
              </p:txBody>
            </p:sp>
          </p:grpSp>
          <p:sp>
            <p:nvSpPr>
              <p:cNvPr id="118" name="矩形 117"/>
              <p:cNvSpPr/>
              <p:nvPr/>
            </p:nvSpPr>
            <p:spPr>
              <a:xfrm>
                <a:off x="71500" y="5640225"/>
                <a:ext cx="4465239" cy="116339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CN" sz="1200" dirty="0" err="1" smtClean="0">
                    <a:solidFill>
                      <a:srgbClr val="FF0000"/>
                    </a:solidFill>
                  </a:rPr>
                  <a:t>RecvProc</a:t>
                </a:r>
                <a:r>
                  <a:rPr lang="en-US" altLang="zh-CN" sz="1200" dirty="0" smtClean="0">
                    <a:solidFill>
                      <a:srgbClr val="FF0000"/>
                    </a:solidFill>
                  </a:rPr>
                  <a:t> Routine (Service Routine)</a:t>
                </a:r>
              </a:p>
              <a:p>
                <a:r>
                  <a:rPr lang="en-US" altLang="zh-CN" sz="1200" dirty="0">
                    <a:solidFill>
                      <a:schemeClr val="tx1"/>
                    </a:solidFill>
                  </a:rPr>
                  <a:t>While(1)</a:t>
                </a:r>
              </a:p>
              <a:p>
                <a:r>
                  <a:rPr lang="en-US" altLang="zh-CN" sz="1200" dirty="0">
                    <a:solidFill>
                      <a:schemeClr val="tx1"/>
                    </a:solidFill>
                  </a:rPr>
                  <a:t>{</a:t>
                </a:r>
              </a:p>
              <a:p>
                <a:r>
                  <a:rPr lang="en-US" altLang="zh-CN" sz="1200" dirty="0">
                    <a:solidFill>
                      <a:schemeClr val="tx1"/>
                    </a:solidFill>
                  </a:rPr>
                  <a:t>      Post </a:t>
                </a:r>
                <a:r>
                  <a:rPr lang="en-US" altLang="zh-CN" sz="1200" dirty="0" err="1">
                    <a:solidFill>
                      <a:schemeClr val="tx1"/>
                    </a:solidFill>
                  </a:rPr>
                  <a:t>MPI_Testall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(2, </a:t>
                </a:r>
                <a:r>
                  <a:rPr lang="en-US" altLang="zh-CN" sz="1200" dirty="0" err="1">
                    <a:solidFill>
                      <a:schemeClr val="tx1"/>
                    </a:solidFill>
                  </a:rPr>
                  <a:t>compReq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, &amp;flag</a:t>
                </a:r>
                <a:r>
                  <a:rPr lang="en-US" altLang="zh-CN" sz="1200" dirty="0" smtClean="0">
                    <a:solidFill>
                      <a:schemeClr val="tx1"/>
                    </a:solidFill>
                  </a:rPr>
                  <a:t>) 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r>
                  <a:rPr lang="zh-CN" altLang="en-US" sz="1200" dirty="0" smtClean="0">
                    <a:solidFill>
                      <a:schemeClr val="tx1"/>
                    </a:solidFill>
                  </a:rPr>
                  <a:t>     。。。。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内容占位符 2"/>
              <p:cNvSpPr txBox="1">
                <a:spLocks/>
              </p:cNvSpPr>
              <p:nvPr/>
            </p:nvSpPr>
            <p:spPr>
              <a:xfrm>
                <a:off x="71500" y="3023955"/>
                <a:ext cx="4465239" cy="252085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sz="1250" dirty="0" smtClean="0">
                    <a:solidFill>
                      <a:srgbClr val="FF0000"/>
                    </a:solidFill>
                  </a:rPr>
                  <a:t>Compute Routine</a:t>
                </a:r>
              </a:p>
              <a:p>
                <a:pPr marL="0" indent="0">
                  <a:buNone/>
                </a:pPr>
                <a:r>
                  <a:rPr lang="en-US" altLang="zh-CN" sz="1250" dirty="0" smtClean="0">
                    <a:solidFill>
                      <a:srgbClr val="FF0000"/>
                    </a:solidFill>
                  </a:rPr>
                  <a:t>Lock </a:t>
                </a:r>
                <a:r>
                  <a:rPr lang="en-US" altLang="zh-CN" sz="1250" dirty="0">
                    <a:solidFill>
                      <a:srgbClr val="FF0000"/>
                    </a:solidFill>
                  </a:rPr>
                  <a:t>Stage :</a:t>
                </a:r>
              </a:p>
              <a:p>
                <a:pPr marL="0" indent="0">
                  <a:buNone/>
                </a:pPr>
                <a:r>
                  <a:rPr lang="en-US" altLang="zh-CN" sz="1250" dirty="0"/>
                  <a:t>Post </a:t>
                </a:r>
                <a:r>
                  <a:rPr lang="en-US" altLang="zh-CN" sz="1250" dirty="0" err="1"/>
                  <a:t>MPI_Isend</a:t>
                </a:r>
                <a:r>
                  <a:rPr lang="en-US" altLang="zh-CN" sz="1250" dirty="0"/>
                  <a:t>(</a:t>
                </a:r>
                <a:r>
                  <a:rPr lang="en-US" altLang="zh-CN" sz="1250" dirty="0" err="1"/>
                  <a:t>compReq</a:t>
                </a:r>
                <a:r>
                  <a:rPr lang="en-US" altLang="zh-CN" sz="1250" dirty="0" smtClean="0"/>
                  <a:t>)      //Lock</a:t>
                </a:r>
                <a:endParaRPr lang="en-US" altLang="zh-CN" sz="1250" dirty="0"/>
              </a:p>
              <a:p>
                <a:pPr marL="0" indent="0">
                  <a:buNone/>
                </a:pPr>
                <a:r>
                  <a:rPr lang="en-US" altLang="zh-CN" sz="1250" dirty="0"/>
                  <a:t>Post </a:t>
                </a:r>
                <a:r>
                  <a:rPr lang="en-US" altLang="zh-CN" sz="1250" dirty="0" err="1" smtClean="0"/>
                  <a:t>MPI_Irecv</a:t>
                </a:r>
                <a:r>
                  <a:rPr lang="en-US" altLang="zh-CN" sz="1250" dirty="0" smtClean="0"/>
                  <a:t>(compReq+1)       //Lock Reply</a:t>
                </a:r>
                <a:endParaRPr lang="en-US" altLang="zh-CN" sz="1250" dirty="0"/>
              </a:p>
              <a:p>
                <a:pPr marL="0" indent="0">
                  <a:buNone/>
                </a:pPr>
                <a:r>
                  <a:rPr lang="en-US" altLang="zh-CN" sz="1250" dirty="0"/>
                  <a:t>Call </a:t>
                </a:r>
                <a:r>
                  <a:rPr lang="en-US" altLang="zh-CN" sz="1250" dirty="0" err="1"/>
                  <a:t>RecvProc</a:t>
                </a:r>
                <a:r>
                  <a:rPr lang="en-US" altLang="zh-CN" sz="1250" dirty="0"/>
                  <a:t>(2, </a:t>
                </a:r>
                <a:r>
                  <a:rPr lang="en-US" altLang="zh-CN" sz="1250" dirty="0" err="1"/>
                  <a:t>compReq</a:t>
                </a:r>
                <a:r>
                  <a:rPr lang="en-US" altLang="zh-CN" sz="1250" dirty="0" smtClean="0"/>
                  <a:t>)      //Wait until finish</a:t>
                </a:r>
                <a:endParaRPr lang="en-US" altLang="zh-CN" sz="1250" dirty="0"/>
              </a:p>
              <a:p>
                <a:pPr marL="0" indent="0">
                  <a:buNone/>
                </a:pPr>
                <a:endParaRPr lang="en-US" altLang="zh-CN" sz="125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1250" dirty="0" smtClean="0">
                    <a:solidFill>
                      <a:srgbClr val="FF0000"/>
                    </a:solidFill>
                  </a:rPr>
                  <a:t>Notify Stage :</a:t>
                </a:r>
              </a:p>
              <a:p>
                <a:pPr marL="0" indent="0">
                  <a:buNone/>
                </a:pPr>
                <a:r>
                  <a:rPr lang="en-US" altLang="zh-CN" sz="1250" dirty="0" smtClean="0"/>
                  <a:t>Post </a:t>
                </a:r>
                <a:r>
                  <a:rPr lang="en-US" altLang="zh-CN" sz="1250" dirty="0" err="1" smtClean="0"/>
                  <a:t>MPI_Isend</a:t>
                </a:r>
                <a:r>
                  <a:rPr lang="en-US" altLang="zh-CN" sz="1250" dirty="0" smtClean="0"/>
                  <a:t>(</a:t>
                </a:r>
                <a:r>
                  <a:rPr lang="en-US" altLang="zh-CN" sz="1250" dirty="0" err="1" smtClean="0"/>
                  <a:t>compReq</a:t>
                </a:r>
                <a:r>
                  <a:rPr lang="en-US" altLang="zh-CN" sz="1250" dirty="0" smtClean="0"/>
                  <a:t>)     //Notification &amp;data size</a:t>
                </a:r>
              </a:p>
              <a:p>
                <a:pPr marL="0" indent="0">
                  <a:buNone/>
                </a:pPr>
                <a:r>
                  <a:rPr lang="en-US" altLang="zh-CN" sz="1250" dirty="0" smtClean="0"/>
                  <a:t>Post </a:t>
                </a:r>
                <a:r>
                  <a:rPr lang="en-US" altLang="zh-CN" sz="1250" dirty="0" err="1" smtClean="0"/>
                  <a:t>MPI_Isend</a:t>
                </a:r>
                <a:r>
                  <a:rPr lang="en-US" altLang="zh-CN" sz="1250" dirty="0" smtClean="0"/>
                  <a:t>(compReq+1) //Data</a:t>
                </a:r>
              </a:p>
              <a:p>
                <a:pPr marL="0" indent="0">
                  <a:buNone/>
                </a:pPr>
                <a:r>
                  <a:rPr lang="en-US" altLang="zh-CN" sz="1250" dirty="0" smtClean="0"/>
                  <a:t> Call </a:t>
                </a:r>
                <a:r>
                  <a:rPr lang="en-US" altLang="zh-CN" sz="1250" dirty="0" err="1" smtClean="0"/>
                  <a:t>RecvProc</a:t>
                </a:r>
                <a:r>
                  <a:rPr lang="en-US" altLang="zh-CN" sz="1250" dirty="0" smtClean="0"/>
                  <a:t>(2, </a:t>
                </a:r>
                <a:r>
                  <a:rPr lang="en-US" altLang="zh-CN" sz="1250" dirty="0" err="1" smtClean="0"/>
                  <a:t>compReq</a:t>
                </a:r>
                <a:r>
                  <a:rPr lang="en-US" altLang="zh-CN" sz="1250" dirty="0" smtClean="0"/>
                  <a:t>)    //Wait until finish</a:t>
                </a:r>
                <a:endParaRPr lang="en-US" altLang="zh-CN" sz="1250" dirty="0"/>
              </a:p>
            </p:txBody>
          </p:sp>
        </p:grpSp>
        <p:sp>
          <p:nvSpPr>
            <p:cNvPr id="116" name="TextBox 115"/>
            <p:cNvSpPr txBox="1"/>
            <p:nvPr/>
          </p:nvSpPr>
          <p:spPr>
            <a:xfrm>
              <a:off x="5697467" y="6500023"/>
              <a:ext cx="3152210" cy="36933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1800" dirty="0" smtClean="0"/>
                <a:t>边合并中的 </a:t>
              </a:r>
              <a:r>
                <a:rPr lang="en-US" altLang="zh-CN" sz="1800" dirty="0" smtClean="0"/>
                <a:t>SWAP</a:t>
              </a:r>
              <a:r>
                <a:rPr lang="zh-CN" altLang="en-US" sz="1800" dirty="0"/>
                <a:t>通讯</a:t>
              </a:r>
              <a:r>
                <a:rPr lang="zh-CN" altLang="en-US" sz="1800" dirty="0" smtClean="0"/>
                <a:t>优化</a:t>
              </a:r>
              <a:endParaRPr lang="zh-CN" altLang="en-US" sz="1800" dirty="0"/>
            </a:p>
          </p:txBody>
        </p:sp>
      </p:grpSp>
      <p:sp>
        <p:nvSpPr>
          <p:cNvPr id="140" name="内容占位符 2"/>
          <p:cNvSpPr txBox="1">
            <a:spLocks/>
          </p:cNvSpPr>
          <p:nvPr/>
        </p:nvSpPr>
        <p:spPr>
          <a:xfrm>
            <a:off x="418020" y="3114720"/>
            <a:ext cx="4650381" cy="32510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50" dirty="0" smtClean="0">
                <a:solidFill>
                  <a:srgbClr val="FF0000"/>
                </a:solidFill>
              </a:rPr>
              <a:t>Compute Routine</a:t>
            </a:r>
          </a:p>
          <a:p>
            <a:pPr marL="0" indent="0">
              <a:buNone/>
            </a:pPr>
            <a:r>
              <a:rPr lang="en-US" altLang="zh-CN" sz="1250" dirty="0" smtClean="0">
                <a:solidFill>
                  <a:srgbClr val="FF0000"/>
                </a:solidFill>
              </a:rPr>
              <a:t>Lock </a:t>
            </a:r>
            <a:r>
              <a:rPr lang="en-US" altLang="zh-CN" sz="1250" dirty="0">
                <a:solidFill>
                  <a:srgbClr val="FF0000"/>
                </a:solidFill>
              </a:rPr>
              <a:t>Stage :</a:t>
            </a:r>
          </a:p>
          <a:p>
            <a:pPr marL="0" indent="0">
              <a:buNone/>
            </a:pPr>
            <a:r>
              <a:rPr lang="en-US" altLang="zh-CN" sz="1250" dirty="0"/>
              <a:t>Post </a:t>
            </a:r>
            <a:r>
              <a:rPr lang="en-US" altLang="zh-CN" sz="1250" dirty="0" err="1"/>
              <a:t>MPI_Isend</a:t>
            </a:r>
            <a:r>
              <a:rPr lang="en-US" altLang="zh-CN" sz="1250" dirty="0"/>
              <a:t>(</a:t>
            </a:r>
            <a:r>
              <a:rPr lang="en-US" altLang="zh-CN" sz="1250" dirty="0" err="1"/>
              <a:t>compReq</a:t>
            </a:r>
            <a:r>
              <a:rPr lang="en-US" altLang="zh-CN" sz="1250" dirty="0" smtClean="0"/>
              <a:t>)          //Lock</a:t>
            </a:r>
            <a:endParaRPr lang="en-US" altLang="zh-CN" sz="1250" dirty="0"/>
          </a:p>
          <a:p>
            <a:pPr marL="0" indent="0">
              <a:buNone/>
            </a:pPr>
            <a:r>
              <a:rPr lang="en-US" altLang="zh-CN" sz="1250" dirty="0"/>
              <a:t>Post </a:t>
            </a:r>
            <a:r>
              <a:rPr lang="en-US" altLang="zh-CN" sz="1250" dirty="0" err="1" smtClean="0"/>
              <a:t>MPI_Irecv</a:t>
            </a:r>
            <a:r>
              <a:rPr lang="en-US" altLang="zh-CN" sz="1250" dirty="0" smtClean="0"/>
              <a:t>(compReq+1)       //Lock Reply</a:t>
            </a:r>
          </a:p>
          <a:p>
            <a:pPr marL="0" indent="0">
              <a:buNone/>
            </a:pPr>
            <a:r>
              <a:rPr lang="en-US" altLang="zh-CN" sz="1250" dirty="0" smtClean="0">
                <a:solidFill>
                  <a:srgbClr val="0070C0"/>
                </a:solidFill>
              </a:rPr>
              <a:t>Post </a:t>
            </a:r>
            <a:r>
              <a:rPr lang="en-US" altLang="zh-CN" sz="1250" dirty="0" err="1" smtClean="0">
                <a:solidFill>
                  <a:srgbClr val="0070C0"/>
                </a:solidFill>
              </a:rPr>
              <a:t>MPI_Isend</a:t>
            </a:r>
            <a:r>
              <a:rPr lang="en-US" altLang="zh-CN" sz="1250" dirty="0" smtClean="0">
                <a:solidFill>
                  <a:srgbClr val="0070C0"/>
                </a:solidFill>
              </a:rPr>
              <a:t>(compReq+2)</a:t>
            </a:r>
          </a:p>
          <a:p>
            <a:pPr marL="0" indent="0">
              <a:buNone/>
            </a:pPr>
            <a:r>
              <a:rPr lang="en-US" altLang="zh-CN" sz="1250" dirty="0" smtClean="0">
                <a:solidFill>
                  <a:srgbClr val="0070C0"/>
                </a:solidFill>
              </a:rPr>
              <a:t>Post </a:t>
            </a:r>
            <a:r>
              <a:rPr lang="en-US" altLang="zh-CN" sz="1250" dirty="0" err="1" smtClean="0">
                <a:solidFill>
                  <a:srgbClr val="0070C0"/>
                </a:solidFill>
              </a:rPr>
              <a:t>MPI_Irecv</a:t>
            </a:r>
            <a:r>
              <a:rPr lang="en-US" altLang="zh-CN" sz="1250" dirty="0" smtClean="0">
                <a:solidFill>
                  <a:srgbClr val="0070C0"/>
                </a:solidFill>
              </a:rPr>
              <a:t>(compReq+3)</a:t>
            </a:r>
            <a:endParaRPr lang="en-US" altLang="zh-CN" sz="125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1250" dirty="0"/>
              <a:t>Call </a:t>
            </a:r>
            <a:r>
              <a:rPr lang="en-US" altLang="zh-CN" sz="1250" dirty="0" err="1" smtClean="0"/>
              <a:t>RecvProc</a:t>
            </a:r>
            <a:r>
              <a:rPr lang="en-US" altLang="zh-CN" sz="1250" dirty="0" smtClean="0"/>
              <a:t>(4, </a:t>
            </a:r>
            <a:r>
              <a:rPr lang="en-US" altLang="zh-CN" sz="1250" dirty="0" err="1"/>
              <a:t>compReq</a:t>
            </a:r>
            <a:r>
              <a:rPr lang="en-US" altLang="zh-CN" sz="1250" dirty="0" smtClean="0"/>
              <a:t>)      //Wait until finish</a:t>
            </a:r>
            <a:endParaRPr lang="en-US" altLang="zh-CN" sz="1250" dirty="0"/>
          </a:p>
          <a:p>
            <a:pPr marL="0" indent="0">
              <a:buNone/>
            </a:pPr>
            <a:endParaRPr lang="en-US" altLang="zh-CN" sz="125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1250" dirty="0" smtClean="0">
                <a:solidFill>
                  <a:srgbClr val="FF0000"/>
                </a:solidFill>
              </a:rPr>
              <a:t>Notify Stage :</a:t>
            </a:r>
          </a:p>
          <a:p>
            <a:pPr marL="0" indent="0">
              <a:buNone/>
            </a:pPr>
            <a:r>
              <a:rPr lang="en-US" altLang="zh-CN" sz="1250" dirty="0" smtClean="0"/>
              <a:t>Post </a:t>
            </a:r>
            <a:r>
              <a:rPr lang="en-US" altLang="zh-CN" sz="1250" dirty="0" err="1" smtClean="0"/>
              <a:t>MPI_Isend</a:t>
            </a:r>
            <a:r>
              <a:rPr lang="en-US" altLang="zh-CN" sz="1250" dirty="0" smtClean="0"/>
              <a:t>(</a:t>
            </a:r>
            <a:r>
              <a:rPr lang="en-US" altLang="zh-CN" sz="1250" dirty="0" err="1" smtClean="0"/>
              <a:t>compReq</a:t>
            </a:r>
            <a:r>
              <a:rPr lang="en-US" altLang="zh-CN" sz="1250" dirty="0" smtClean="0"/>
              <a:t>)     //Notification &amp;data size</a:t>
            </a:r>
          </a:p>
          <a:p>
            <a:pPr marL="0" indent="0">
              <a:buNone/>
            </a:pPr>
            <a:r>
              <a:rPr lang="en-US" altLang="zh-CN" sz="1250" dirty="0" smtClean="0"/>
              <a:t>Post </a:t>
            </a:r>
            <a:r>
              <a:rPr lang="en-US" altLang="zh-CN" sz="1250" dirty="0" err="1" smtClean="0"/>
              <a:t>MPI_Isend</a:t>
            </a:r>
            <a:r>
              <a:rPr lang="en-US" altLang="zh-CN" sz="1250" dirty="0" smtClean="0"/>
              <a:t>(compReq+1) //Data</a:t>
            </a:r>
          </a:p>
          <a:p>
            <a:pPr marL="0" indent="0">
              <a:buNone/>
            </a:pPr>
            <a:r>
              <a:rPr lang="en-US" altLang="zh-CN" sz="1250" dirty="0">
                <a:solidFill>
                  <a:srgbClr val="0070C0"/>
                </a:solidFill>
              </a:rPr>
              <a:t>Post </a:t>
            </a:r>
            <a:r>
              <a:rPr lang="en-US" altLang="zh-CN" sz="1250" dirty="0" err="1" smtClean="0">
                <a:solidFill>
                  <a:srgbClr val="0070C0"/>
                </a:solidFill>
              </a:rPr>
              <a:t>MPI_Isend</a:t>
            </a:r>
            <a:r>
              <a:rPr lang="en-US" altLang="zh-CN" sz="1250" dirty="0" smtClean="0">
                <a:solidFill>
                  <a:srgbClr val="0070C0"/>
                </a:solidFill>
              </a:rPr>
              <a:t>(compReq+2)</a:t>
            </a:r>
            <a:endParaRPr lang="en-US" altLang="zh-CN" sz="125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1250" dirty="0">
                <a:solidFill>
                  <a:srgbClr val="0070C0"/>
                </a:solidFill>
              </a:rPr>
              <a:t>Post </a:t>
            </a:r>
            <a:r>
              <a:rPr lang="en-US" altLang="zh-CN" sz="1250" dirty="0" err="1" smtClean="0">
                <a:solidFill>
                  <a:srgbClr val="0070C0"/>
                </a:solidFill>
              </a:rPr>
              <a:t>MPI_Isend</a:t>
            </a:r>
            <a:r>
              <a:rPr lang="en-US" altLang="zh-CN" sz="1250" dirty="0" smtClean="0">
                <a:solidFill>
                  <a:srgbClr val="0070C0"/>
                </a:solidFill>
              </a:rPr>
              <a:t>(compReq+3) </a:t>
            </a:r>
          </a:p>
          <a:p>
            <a:pPr marL="0" indent="0">
              <a:buNone/>
            </a:pPr>
            <a:r>
              <a:rPr lang="en-US" altLang="zh-CN" sz="1250" dirty="0" smtClean="0"/>
              <a:t>Call </a:t>
            </a:r>
            <a:r>
              <a:rPr lang="en-US" altLang="zh-CN" sz="1250" dirty="0" err="1" smtClean="0"/>
              <a:t>RecvProc</a:t>
            </a:r>
            <a:r>
              <a:rPr lang="en-US" altLang="zh-CN" sz="1250" dirty="0" smtClean="0"/>
              <a:t>(4, </a:t>
            </a:r>
            <a:r>
              <a:rPr lang="en-US" altLang="zh-CN" sz="1250" dirty="0" err="1" smtClean="0"/>
              <a:t>compReq</a:t>
            </a:r>
            <a:r>
              <a:rPr lang="en-US" altLang="zh-CN" sz="1250" dirty="0" smtClean="0"/>
              <a:t>)    //Wait until finish</a:t>
            </a:r>
            <a:endParaRPr lang="en-US" altLang="zh-CN" sz="1250" dirty="0"/>
          </a:p>
        </p:txBody>
      </p:sp>
      <p:sp>
        <p:nvSpPr>
          <p:cNvPr id="141" name="矩形 140"/>
          <p:cNvSpPr/>
          <p:nvPr/>
        </p:nvSpPr>
        <p:spPr>
          <a:xfrm>
            <a:off x="152901" y="4872683"/>
            <a:ext cx="8707265" cy="196361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 smtClean="0"/>
              <a:t>相关论文：</a:t>
            </a:r>
            <a:endParaRPr lang="en-US" altLang="zh-CN" sz="1600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 smtClean="0"/>
              <a:t>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etc. SWAP-Assembler 2: Scalable Genome Assembler towards Millions of Cores - Practice and Experience, </a:t>
            </a:r>
            <a:r>
              <a:rPr lang="en-US" altLang="zh-CN" sz="1600" dirty="0" smtClean="0"/>
              <a:t>ANL Technique </a:t>
            </a:r>
            <a:r>
              <a:rPr lang="en-US" altLang="zh-CN" sz="1600" dirty="0"/>
              <a:t>report, 2014 </a:t>
            </a:r>
            <a:endParaRPr lang="en-US" altLang="zh-CN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etc. A Highly Scalable List Ranking Algorithm on </a:t>
            </a:r>
            <a:r>
              <a:rPr lang="en-US" altLang="zh-CN" sz="1600" dirty="0" err="1"/>
              <a:t>Pregel</a:t>
            </a:r>
            <a:r>
              <a:rPr lang="en-US" altLang="zh-CN" sz="1600" dirty="0"/>
              <a:t> framework,  Submitted to Concurrency and Computation: Practice and Experience</a:t>
            </a:r>
            <a:r>
              <a:rPr lang="en-US" altLang="zh-CN" sz="1600" dirty="0" smtClean="0"/>
              <a:t>. (JCR 2</a:t>
            </a:r>
            <a:r>
              <a:rPr lang="zh-CN" altLang="en-US" sz="1600" dirty="0" smtClean="0"/>
              <a:t>区</a:t>
            </a:r>
            <a:r>
              <a:rPr lang="en-US" altLang="zh-CN" sz="1600" dirty="0" smtClean="0"/>
              <a:t>, IF=0.784)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 smtClean="0"/>
              <a:t>Li </a:t>
            </a:r>
            <a:r>
              <a:rPr lang="en-US" altLang="zh-CN" sz="1600" dirty="0" err="1"/>
              <a:t>Zeng</a:t>
            </a:r>
            <a:r>
              <a:rPr lang="en-US" altLang="zh-CN" sz="1600" dirty="0"/>
              <a:t>, etc. Improved Parallel Processing of Massive De </a:t>
            </a:r>
            <a:r>
              <a:rPr lang="en-US" altLang="zh-CN" sz="1600" dirty="0" err="1"/>
              <a:t>Bruijn</a:t>
            </a:r>
            <a:r>
              <a:rPr lang="en-US" altLang="zh-CN" sz="1600" dirty="0"/>
              <a:t> Graph for Genome Assembly, </a:t>
            </a:r>
            <a:r>
              <a:rPr lang="en-US" altLang="zh-CN" sz="1600" dirty="0" err="1"/>
              <a:t>APWeb</a:t>
            </a:r>
            <a:r>
              <a:rPr lang="en-US" altLang="zh-CN" sz="1600" dirty="0"/>
              <a:t> 2013, 2013 </a:t>
            </a:r>
            <a:r>
              <a:rPr lang="en-US" altLang="zh-CN" sz="1600" dirty="0" smtClean="0"/>
              <a:t>(CCF </a:t>
            </a:r>
            <a:r>
              <a:rPr lang="zh-CN" altLang="en-US" sz="1600" dirty="0" smtClean="0"/>
              <a:t>推荐会议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3</a:t>
            </a:r>
            <a:r>
              <a:rPr lang="zh-CN" altLang="en-US" sz="1600" dirty="0" smtClean="0"/>
              <a:t>区</a:t>
            </a:r>
            <a:r>
              <a:rPr lang="en-US" altLang="zh-CN" sz="16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721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  <p:bldP spid="140" grpId="1" animBg="1"/>
      <p:bldP spid="14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拟采取的技术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方案</a:t>
            </a:r>
            <a:r>
              <a:rPr lang="en-US" altLang="zh-CN" sz="3600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>
                <a:latin typeface="微软雅黑" pitchFamily="34" charset="-122"/>
                <a:ea typeface="微软雅黑" pitchFamily="34" charset="-122"/>
              </a:rPr>
              <a:t>高质量</a:t>
            </a:r>
          </a:p>
        </p:txBody>
      </p:sp>
      <p:sp>
        <p:nvSpPr>
          <p:cNvPr id="5" name="Content Placeholder 2"/>
          <p:cNvSpPr>
            <a:spLocks/>
          </p:cNvSpPr>
          <p:nvPr/>
        </p:nvSpPr>
        <p:spPr bwMode="auto">
          <a:xfrm>
            <a:off x="296863" y="1268413"/>
            <a:ext cx="8190572" cy="283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高</a:t>
            </a:r>
            <a:r>
              <a:rPr lang="zh-CN" altLang="en-US" sz="2400" dirty="0"/>
              <a:t>质量</a:t>
            </a:r>
            <a:r>
              <a:rPr lang="zh-CN" altLang="en-US" sz="2400" dirty="0" smtClean="0"/>
              <a:t>   </a:t>
            </a:r>
            <a:r>
              <a:rPr lang="en-US" altLang="zh-CN" sz="2400" dirty="0" smtClean="0"/>
              <a:t>(</a:t>
            </a:r>
            <a:r>
              <a:rPr lang="zh-CN" altLang="en-US" sz="2400" dirty="0" smtClean="0">
                <a:solidFill>
                  <a:srgbClr val="669900"/>
                </a:solidFill>
              </a:rPr>
              <a:t>目标：高质量高精度</a:t>
            </a:r>
            <a:r>
              <a:rPr lang="en-US" altLang="zh-CN" sz="2400" dirty="0" smtClean="0"/>
              <a:t>)</a:t>
            </a:r>
            <a:endParaRPr lang="en-US" altLang="zh-CN" sz="2400" dirty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延长</a:t>
            </a:r>
            <a:r>
              <a:rPr lang="en-US" altLang="zh-CN" sz="2000" dirty="0" err="1" smtClean="0"/>
              <a:t>Contig</a:t>
            </a:r>
            <a:r>
              <a:rPr lang="zh-CN" altLang="en-US" sz="2000" dirty="0" smtClean="0"/>
              <a:t>长度</a:t>
            </a:r>
            <a:r>
              <a:rPr lang="en-US" altLang="zh-CN" sz="2000" dirty="0" smtClean="0"/>
              <a:t>        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-&gt;</a:t>
            </a:r>
            <a:r>
              <a:rPr lang="en-US" altLang="zh-CN" sz="2000" dirty="0" smtClean="0"/>
              <a:t>   </a:t>
            </a:r>
            <a:r>
              <a:rPr lang="zh-CN" altLang="en-US" sz="2000" dirty="0" smtClean="0"/>
              <a:t>基于覆盖度的启发式</a:t>
            </a:r>
            <a:r>
              <a:rPr lang="en-US" altLang="zh-CN" sz="2000" dirty="0" err="1" smtClean="0"/>
              <a:t>contig</a:t>
            </a:r>
            <a:r>
              <a:rPr lang="zh-CN" altLang="en-US" sz="2000" dirty="0" smtClean="0"/>
              <a:t>扩展算法</a:t>
            </a:r>
            <a:endParaRPr lang="en-US" altLang="zh-CN" sz="2000" b="1" dirty="0" smtClean="0">
              <a:solidFill>
                <a:srgbClr val="3333CC"/>
              </a:solidFill>
            </a:endParaRP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solidFill>
                  <a:srgbClr val="FF0000"/>
                </a:solidFill>
              </a:rPr>
              <a:t>常规策略：</a:t>
            </a:r>
            <a:r>
              <a:rPr lang="en-US" altLang="zh-CN" sz="2000" dirty="0" smtClean="0">
                <a:solidFill>
                  <a:srgbClr val="FF0000"/>
                </a:solidFill>
              </a:rPr>
              <a:t>Tip, Bubble, and Multiple Edge removal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altLang="zh-CN" sz="2000" dirty="0" smtClean="0">
                <a:solidFill>
                  <a:srgbClr val="FF0000"/>
                </a:solidFill>
              </a:rPr>
              <a:t>MSG</a:t>
            </a:r>
            <a:r>
              <a:rPr lang="zh-CN" altLang="en-US" sz="2000" dirty="0" smtClean="0">
                <a:solidFill>
                  <a:srgbClr val="FF0000"/>
                </a:solidFill>
              </a:rPr>
              <a:t>特有策略：交叉顶点解耦，虚交叉顶点解耦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保证</a:t>
            </a:r>
            <a:r>
              <a:rPr lang="en-US" altLang="zh-CN" sz="2000" dirty="0" err="1" smtClean="0"/>
              <a:t>Contig</a:t>
            </a:r>
            <a:r>
              <a:rPr lang="zh-CN" altLang="en-US" sz="2000" dirty="0" smtClean="0"/>
              <a:t>精度        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-</a:t>
            </a:r>
            <a:r>
              <a:rPr lang="en-US" altLang="zh-CN" sz="2000" dirty="0" smtClean="0"/>
              <a:t>&gt;   </a:t>
            </a:r>
            <a:r>
              <a:rPr lang="zh-CN" altLang="en-US" sz="2000" dirty="0" smtClean="0"/>
              <a:t>基于变长</a:t>
            </a:r>
            <a:r>
              <a:rPr lang="en-US" altLang="zh-CN" sz="2000" dirty="0" err="1" smtClean="0"/>
              <a:t>kmer</a:t>
            </a:r>
            <a:r>
              <a:rPr lang="zh-CN" altLang="en-US" sz="2000" dirty="0" smtClean="0"/>
              <a:t>分支节点解耦算法</a:t>
            </a:r>
            <a:endParaRPr lang="en-US" altLang="zh-CN" sz="2000" b="1" dirty="0" smtClean="0">
              <a:solidFill>
                <a:srgbClr val="3333CC"/>
              </a:solidFill>
            </a:endParaRP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solidFill>
                  <a:srgbClr val="FF0000"/>
                </a:solidFill>
              </a:rPr>
              <a:t>常规策略：穷举所有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kmer</a:t>
            </a:r>
            <a:r>
              <a:rPr lang="zh-CN" altLang="en-US" sz="2000" dirty="0" smtClean="0">
                <a:solidFill>
                  <a:srgbClr val="FF0000"/>
                </a:solidFill>
              </a:rPr>
              <a:t>长度后</a:t>
            </a:r>
            <a:r>
              <a:rPr lang="zh-CN" altLang="en-US" sz="2000" dirty="0">
                <a:solidFill>
                  <a:srgbClr val="FF0000"/>
                </a:solidFill>
              </a:rPr>
              <a:t>再</a:t>
            </a:r>
            <a:r>
              <a:rPr lang="zh-CN" altLang="en-US" sz="2000" dirty="0" smtClean="0">
                <a:solidFill>
                  <a:srgbClr val="FF0000"/>
                </a:solidFill>
              </a:rPr>
              <a:t>融合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contig</a:t>
            </a:r>
            <a:r>
              <a:rPr lang="en-US" altLang="zh-CN" sz="2000" dirty="0" smtClean="0">
                <a:solidFill>
                  <a:srgbClr val="FF0000"/>
                </a:solidFill>
              </a:rPr>
              <a:t>.</a:t>
            </a: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solidFill>
                  <a:srgbClr val="FF0000"/>
                </a:solidFill>
              </a:rPr>
              <a:t>通过变长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kmer</a:t>
            </a:r>
            <a:r>
              <a:rPr lang="zh-CN" altLang="en-US" sz="2000" dirty="0" smtClean="0">
                <a:solidFill>
                  <a:srgbClr val="FF0000"/>
                </a:solidFill>
              </a:rPr>
              <a:t>恢复定长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kmer</a:t>
            </a:r>
            <a:r>
              <a:rPr lang="zh-CN" altLang="en-US" sz="2000" dirty="0" smtClean="0">
                <a:solidFill>
                  <a:srgbClr val="FF0000"/>
                </a:solidFill>
              </a:rPr>
              <a:t>缺失信息  </a:t>
            </a:r>
            <a:r>
              <a:rPr lang="en-US" altLang="zh-CN" sz="2000" dirty="0" smtClean="0">
                <a:solidFill>
                  <a:srgbClr val="FF0000"/>
                </a:solidFill>
              </a:rPr>
              <a:t>(</a:t>
            </a:r>
            <a:r>
              <a:rPr lang="zh-CN" altLang="en-US" sz="2000" dirty="0" smtClean="0">
                <a:solidFill>
                  <a:srgbClr val="FF0000"/>
                </a:solidFill>
              </a:rPr>
              <a:t>可并行，问题规模小</a:t>
            </a:r>
            <a:r>
              <a:rPr lang="en-US" altLang="zh-CN" sz="2000" dirty="0" smtClean="0">
                <a:solidFill>
                  <a:srgbClr val="FF0000"/>
                </a:solidFill>
              </a:rPr>
              <a:t>)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98" y="3974485"/>
            <a:ext cx="4200170" cy="2483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500" y="3974485"/>
            <a:ext cx="4637221" cy="2559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022050" y="6457890"/>
            <a:ext cx="3270613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/>
              <a:t>变长</a:t>
            </a:r>
            <a:r>
              <a:rPr lang="en-US" altLang="zh-CN" sz="2000" dirty="0" err="1"/>
              <a:t>kmer</a:t>
            </a:r>
            <a:r>
              <a:rPr lang="zh-CN" altLang="en-US" sz="2000" dirty="0"/>
              <a:t>分支节点</a:t>
            </a:r>
            <a:r>
              <a:rPr lang="zh-CN" altLang="en-US" sz="2000" dirty="0" smtClean="0"/>
              <a:t>解耦算法</a:t>
            </a:r>
            <a:endParaRPr lang="zh-CN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51198" y="6444335"/>
            <a:ext cx="4060761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/>
              <a:t>基于覆盖度启发式</a:t>
            </a:r>
            <a:r>
              <a:rPr lang="en-US" altLang="zh-CN" sz="2000" dirty="0" err="1" smtClean="0"/>
              <a:t>Contig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扩展算法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172610" y="4059070"/>
            <a:ext cx="8707265" cy="27515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 smtClean="0"/>
              <a:t>部分相关论文</a:t>
            </a:r>
            <a:r>
              <a:rPr lang="en-US" altLang="zh-CN" sz="1600" b="1" dirty="0" smtClean="0"/>
              <a:t>:</a:t>
            </a:r>
          </a:p>
          <a:p>
            <a:pPr marL="342900" indent="-342900">
              <a:buAutoNum type="arabicPeriod"/>
            </a:pPr>
            <a:r>
              <a:rPr lang="en-US" altLang="zh-CN" sz="1600" dirty="0" smtClean="0"/>
              <a:t>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etc. SWAP-Assembler: Scalable and Efficient Genome Assembly towards Thousands of Cores, BMC </a:t>
            </a:r>
            <a:r>
              <a:rPr lang="en-US" altLang="zh-CN" sz="1600" dirty="0" smtClean="0"/>
              <a:t>Bioinformatics,2014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en-US" altLang="zh-CN" sz="1600" dirty="0"/>
              <a:t>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etc. </a:t>
            </a:r>
            <a:r>
              <a:rPr lang="en-US" altLang="zh-CN" sz="1600" dirty="0" err="1"/>
              <a:t>DGraph</a:t>
            </a:r>
            <a:r>
              <a:rPr lang="en-US" altLang="zh-CN" sz="1600" dirty="0"/>
              <a:t>: Algorithms for </a:t>
            </a:r>
            <a:r>
              <a:rPr lang="en-US" altLang="zh-CN" sz="1600" dirty="0" err="1"/>
              <a:t>Shortgun</a:t>
            </a:r>
            <a:r>
              <a:rPr lang="en-US" altLang="zh-CN" sz="1600" dirty="0"/>
              <a:t> Reads Assembly Using De </a:t>
            </a:r>
            <a:r>
              <a:rPr lang="en-US" altLang="zh-CN" sz="1600" dirty="0" err="1"/>
              <a:t>Bruijn</a:t>
            </a:r>
            <a:r>
              <a:rPr lang="en-US" altLang="zh-CN" sz="1600" dirty="0"/>
              <a:t> Graph, in 9th IFIP International Conference on Network and Parallel Computing (NPC 2012), Sep.6, </a:t>
            </a:r>
            <a:r>
              <a:rPr lang="en-US" altLang="zh-CN" sz="1600" dirty="0" err="1"/>
              <a:t>Gwangju</a:t>
            </a:r>
            <a:r>
              <a:rPr lang="en-US" altLang="zh-CN" sz="1600" dirty="0"/>
              <a:t>, Korea</a:t>
            </a:r>
          </a:p>
          <a:p>
            <a:pPr marL="342900" indent="-342900">
              <a:buAutoNum type="arabicPeriod"/>
            </a:pPr>
            <a:r>
              <a:rPr lang="en-US" altLang="zh-CN" sz="1600" dirty="0"/>
              <a:t>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smtClean="0"/>
              <a:t>etc</a:t>
            </a:r>
            <a:r>
              <a:rPr lang="en-US" altLang="zh-CN" sz="1600" dirty="0"/>
              <a:t>. Gene and Disease Association Study with </a:t>
            </a:r>
            <a:r>
              <a:rPr lang="en-US" altLang="zh-CN" sz="1600" dirty="0" err="1"/>
              <a:t>Metagenomics</a:t>
            </a:r>
            <a:r>
              <a:rPr lang="en-US" altLang="zh-CN" sz="1600" dirty="0"/>
              <a:t> Assembling Tool: SWAP-Meta, e-Science Technology &amp; Application, </a:t>
            </a:r>
            <a:r>
              <a:rPr lang="en-US" altLang="zh-CN" sz="1600" dirty="0" smtClean="0"/>
              <a:t>2014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en-US" altLang="zh-CN" sz="1600" dirty="0" smtClean="0"/>
              <a:t>Jintao </a:t>
            </a:r>
            <a:r>
              <a:rPr lang="en-US" altLang="zh-CN" sz="1600" dirty="0" err="1" smtClean="0"/>
              <a:t>Meng</a:t>
            </a:r>
            <a:r>
              <a:rPr lang="en-US" altLang="zh-CN" sz="1600" dirty="0" smtClean="0"/>
              <a:t>, etc</a:t>
            </a:r>
            <a:r>
              <a:rPr lang="en-US" altLang="zh-CN" sz="1600" dirty="0"/>
              <a:t>. The Analysis of De Novo Genome Assembly Software Based on De </a:t>
            </a:r>
            <a:r>
              <a:rPr lang="en-US" altLang="zh-CN" sz="1600" dirty="0" err="1"/>
              <a:t>Bruijn</a:t>
            </a:r>
            <a:r>
              <a:rPr lang="en-US" altLang="zh-CN" sz="1600" dirty="0"/>
              <a:t> Graph, e-Science Technology &amp; Application, </a:t>
            </a:r>
            <a:r>
              <a:rPr lang="en-US" altLang="zh-CN" sz="1600" dirty="0" smtClean="0"/>
              <a:t>2013.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88647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现</a:t>
            </a:r>
            <a:r>
              <a:rPr lang="zh-CN" altLang="en-US" sz="4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已取得</a:t>
            </a: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进展</a:t>
            </a:r>
            <a:r>
              <a:rPr lang="en-US" altLang="zh-CN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峰值性能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比较</a:t>
            </a:r>
            <a:endParaRPr lang="en-US" altLang="zh-CN" sz="36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389608" y="1143000"/>
            <a:ext cx="8229600" cy="15659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SWAP2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系统峰值性能大幅提升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(Scale up)</a:t>
            </a:r>
          </a:p>
          <a:p>
            <a:pPr lvl="1">
              <a:buFont typeface="Wingdings" pitchFamily="2" charset="2"/>
              <a:buChar char="l"/>
            </a:pP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并行文件系统数据读取性能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%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提高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18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%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。 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buFont typeface="Wingdings" pitchFamily="2" charset="2"/>
              <a:buChar char="l"/>
            </a:pP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SWAP2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网络通讯性能从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5%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提高到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47%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buFont typeface="Wingdings" pitchFamily="2" charset="2"/>
              <a:buChar char="l"/>
            </a:pP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内存使用率没有变化。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" y="6106642"/>
            <a:ext cx="90118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/>
              <a:t>SWAP2 </a:t>
            </a:r>
            <a:r>
              <a:rPr lang="zh-CN" altLang="en-US" sz="2000" dirty="0" smtClean="0"/>
              <a:t>和 </a:t>
            </a:r>
            <a:r>
              <a:rPr lang="en-US" altLang="zh-CN" sz="2000" dirty="0" smtClean="0"/>
              <a:t>SWAP-Assembler </a:t>
            </a:r>
            <a:r>
              <a:rPr lang="zh-CN" altLang="en-US" sz="2000" dirty="0" smtClean="0"/>
              <a:t>在系统</a:t>
            </a:r>
            <a:r>
              <a:rPr lang="en-US" altLang="zh-CN" sz="2000" dirty="0" smtClean="0"/>
              <a:t>IO</a:t>
            </a:r>
            <a:r>
              <a:rPr lang="zh-CN" altLang="en-US" sz="2000" dirty="0" smtClean="0"/>
              <a:t>效率</a:t>
            </a:r>
            <a:r>
              <a:rPr lang="en-US" altLang="zh-CN" sz="2000" dirty="0" smtClean="0"/>
              <a:t>, </a:t>
            </a:r>
            <a:r>
              <a:rPr lang="zh-CN" altLang="en-US" sz="2000" dirty="0" smtClean="0"/>
              <a:t>通讯</a:t>
            </a:r>
            <a:r>
              <a:rPr lang="zh-CN" altLang="en-US" sz="2000" dirty="0" smtClean="0"/>
              <a:t>效率，内存</a:t>
            </a:r>
            <a:r>
              <a:rPr lang="zh-CN" altLang="en-US" sz="2000" dirty="0" smtClean="0"/>
              <a:t>利用率上的比较</a:t>
            </a:r>
            <a:endParaRPr lang="en-US" altLang="zh-CN" sz="2000" dirty="0" smtClean="0"/>
          </a:p>
          <a:p>
            <a:r>
              <a:rPr lang="zh-CN" altLang="en-US" sz="2000" dirty="0" smtClean="0"/>
              <a:t>并行</a:t>
            </a:r>
            <a:r>
              <a:rPr lang="zh-CN" altLang="en-US" sz="2000" dirty="0" smtClean="0"/>
              <a:t>文件系统的读取峰值速度</a:t>
            </a:r>
            <a:r>
              <a:rPr lang="zh-CN" altLang="en-US" sz="2000" dirty="0" smtClean="0"/>
              <a:t>是</a:t>
            </a:r>
            <a:r>
              <a:rPr lang="en-US" altLang="zh-CN" sz="2000" dirty="0" smtClean="0"/>
              <a:t>32GB/s/rack</a:t>
            </a:r>
            <a:r>
              <a:rPr lang="en-US" altLang="zh-CN" sz="2000" dirty="0" smtClean="0"/>
              <a:t>, </a:t>
            </a:r>
            <a:r>
              <a:rPr lang="zh-CN" altLang="en-US" sz="2000" dirty="0" smtClean="0"/>
              <a:t>网络通讯峰值效率是</a:t>
            </a:r>
            <a:r>
              <a:rPr lang="en-US" altLang="zh-CN" sz="2000" dirty="0" smtClean="0"/>
              <a:t>0.9GB/s/node.</a:t>
            </a:r>
            <a:endParaRPr lang="zh-CN" altLang="en-US" sz="2000" dirty="0"/>
          </a:p>
        </p:txBody>
      </p:sp>
      <p:pic>
        <p:nvPicPr>
          <p:cNvPr id="2050" name="图表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483894"/>
            <a:ext cx="9004130" cy="3622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082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45" y="1368467"/>
            <a:ext cx="4275475" cy="548953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 smtClean="0"/>
              <a:t>I/O </a:t>
            </a:r>
            <a:r>
              <a:rPr lang="zh-CN" altLang="en-US" sz="2400" dirty="0" smtClean="0"/>
              <a:t>优化</a:t>
            </a:r>
            <a:endParaRPr lang="en-US" altLang="zh-CN" sz="2400" dirty="0" smtClean="0"/>
          </a:p>
          <a:p>
            <a:r>
              <a:rPr lang="en-US" altLang="zh-CN" sz="1800" dirty="0" smtClean="0"/>
              <a:t>0.3GiB/s/rack  (SWAP, JT </a:t>
            </a:r>
            <a:r>
              <a:rPr lang="en-US" altLang="zh-CN" sz="1800" dirty="0" err="1" smtClean="0"/>
              <a:t>Meng</a:t>
            </a:r>
            <a:r>
              <a:rPr lang="en-US" altLang="zh-CN" sz="1800" dirty="0" smtClean="0"/>
              <a:t>)</a:t>
            </a:r>
          </a:p>
          <a:p>
            <a:r>
              <a:rPr lang="en-US" altLang="zh-CN" sz="1800" dirty="0" smtClean="0">
                <a:solidFill>
                  <a:srgbClr val="3333CC"/>
                </a:solidFill>
              </a:rPr>
              <a:t>4.7GiB/s/rack  (SWAP2, JT </a:t>
            </a:r>
            <a:r>
              <a:rPr lang="en-US" altLang="zh-CN" sz="1800" dirty="0" err="1" smtClean="0">
                <a:solidFill>
                  <a:srgbClr val="3333CC"/>
                </a:solidFill>
              </a:rPr>
              <a:t>Meng</a:t>
            </a:r>
            <a:r>
              <a:rPr lang="en-US" altLang="zh-CN" sz="1800" dirty="0" smtClean="0">
                <a:solidFill>
                  <a:srgbClr val="3333CC"/>
                </a:solidFill>
              </a:rPr>
              <a:t>) </a:t>
            </a:r>
          </a:p>
          <a:p>
            <a:r>
              <a:rPr lang="en-US" altLang="zh-CN" sz="1800" dirty="0"/>
              <a:t>5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GiB</a:t>
            </a:r>
            <a:r>
              <a:rPr lang="en-US" altLang="zh-CN" sz="1800" dirty="0" smtClean="0"/>
              <a:t>/s/rack    (</a:t>
            </a:r>
            <a:r>
              <a:rPr lang="en-US" altLang="zh-CN" sz="1800" dirty="0"/>
              <a:t>SC’09, Rob </a:t>
            </a:r>
            <a:r>
              <a:rPr lang="en-US" altLang="zh-CN" sz="1800" dirty="0" smtClean="0"/>
              <a:t>Latham)</a:t>
            </a:r>
          </a:p>
          <a:p>
            <a:r>
              <a:rPr lang="en-US" altLang="zh-CN" sz="1200" dirty="0" smtClean="0"/>
              <a:t>20 </a:t>
            </a:r>
            <a:r>
              <a:rPr lang="en-US" altLang="zh-CN" sz="1200" dirty="0" err="1" smtClean="0"/>
              <a:t>GiB</a:t>
            </a:r>
            <a:r>
              <a:rPr lang="en-US" altLang="zh-CN" sz="1200" dirty="0" smtClean="0"/>
              <a:t>/s/rack  (IBM BGQ user guide)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 smtClean="0"/>
              <a:t>通讯优化 </a:t>
            </a:r>
            <a:endParaRPr lang="en-US" altLang="zh-CN" sz="2400" dirty="0" smtClean="0"/>
          </a:p>
          <a:p>
            <a:r>
              <a:rPr lang="en-US" altLang="zh-CN" sz="1800" dirty="0" smtClean="0"/>
              <a:t>&lt; 3% 5D</a:t>
            </a:r>
            <a:r>
              <a:rPr lang="zh-CN" altLang="en-US" sz="1800" dirty="0"/>
              <a:t>峰值性能 </a:t>
            </a:r>
            <a:r>
              <a:rPr lang="en-US" altLang="zh-CN" sz="1800" dirty="0"/>
              <a:t>(</a:t>
            </a:r>
            <a:r>
              <a:rPr lang="en-US" altLang="zh-CN" sz="1800" dirty="0" smtClean="0"/>
              <a:t>SWAP)</a:t>
            </a:r>
          </a:p>
          <a:p>
            <a:r>
              <a:rPr lang="en-US" altLang="zh-CN" sz="1800" dirty="0" smtClean="0">
                <a:solidFill>
                  <a:srgbClr val="3333CC"/>
                </a:solidFill>
              </a:rPr>
              <a:t>47</a:t>
            </a:r>
            <a:r>
              <a:rPr lang="en-US" altLang="zh-CN" sz="1800" dirty="0" smtClean="0">
                <a:solidFill>
                  <a:srgbClr val="3333CC"/>
                </a:solidFill>
              </a:rPr>
              <a:t>%  </a:t>
            </a:r>
            <a:r>
              <a:rPr lang="en-US" altLang="zh-CN" sz="1800" dirty="0" smtClean="0">
                <a:solidFill>
                  <a:srgbClr val="3333CC"/>
                </a:solidFill>
              </a:rPr>
              <a:t>5D</a:t>
            </a:r>
            <a:r>
              <a:rPr lang="zh-CN" altLang="en-US" sz="1800" dirty="0" smtClean="0">
                <a:solidFill>
                  <a:srgbClr val="3333CC"/>
                </a:solidFill>
              </a:rPr>
              <a:t>峰值性能 </a:t>
            </a:r>
            <a:r>
              <a:rPr lang="en-US" altLang="zh-CN" sz="1800" dirty="0">
                <a:solidFill>
                  <a:srgbClr val="3333CC"/>
                </a:solidFill>
              </a:rPr>
              <a:t>(SWAP2, JT </a:t>
            </a:r>
            <a:r>
              <a:rPr lang="en-US" altLang="zh-CN" sz="1800" dirty="0" err="1">
                <a:solidFill>
                  <a:srgbClr val="3333CC"/>
                </a:solidFill>
              </a:rPr>
              <a:t>Meng</a:t>
            </a:r>
            <a:r>
              <a:rPr lang="en-US" altLang="zh-CN" sz="1800" dirty="0">
                <a:solidFill>
                  <a:srgbClr val="3333CC"/>
                </a:solidFill>
              </a:rPr>
              <a:t>)</a:t>
            </a:r>
            <a:r>
              <a:rPr lang="en-US" altLang="zh-CN" sz="1800" dirty="0" smtClean="0">
                <a:solidFill>
                  <a:srgbClr val="3333CC"/>
                </a:solidFill>
              </a:rPr>
              <a:t> </a:t>
            </a:r>
          </a:p>
          <a:p>
            <a:r>
              <a:rPr lang="en-US" altLang="zh-CN" sz="1800" dirty="0" smtClean="0"/>
              <a:t>74%  5D </a:t>
            </a:r>
            <a:r>
              <a:rPr lang="zh-CN" altLang="en-US" sz="1800" dirty="0" smtClean="0"/>
              <a:t>理论峰值 </a:t>
            </a:r>
            <a:r>
              <a:rPr lang="en-US" altLang="zh-CN" sz="1800" dirty="0"/>
              <a:t>(SC’12, Dong </a:t>
            </a:r>
            <a:r>
              <a:rPr lang="en-US" altLang="zh-CN" sz="1800" dirty="0" smtClean="0"/>
              <a:t>Chen)</a:t>
            </a:r>
          </a:p>
          <a:p>
            <a:r>
              <a:rPr lang="en-US" altLang="zh-CN" sz="1200" dirty="0" smtClean="0"/>
              <a:t>0.9 GB/s/node </a:t>
            </a:r>
            <a:r>
              <a:rPr lang="en-US" altLang="zh-CN" sz="1200" dirty="0"/>
              <a:t>(SC’12, Dong Chen</a:t>
            </a:r>
            <a:r>
              <a:rPr lang="en-US" altLang="zh-CN" sz="1200" dirty="0" smtClean="0"/>
              <a:t>)</a:t>
            </a:r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r>
              <a:rPr lang="zh-CN" altLang="en-US" sz="2400" dirty="0" smtClean="0"/>
              <a:t>图计算并行度释放</a:t>
            </a:r>
            <a:endParaRPr lang="en-US" altLang="zh-CN" sz="2400" dirty="0" smtClean="0"/>
          </a:p>
          <a:p>
            <a:r>
              <a:rPr lang="zh-CN" altLang="en-US" sz="1800" dirty="0" smtClean="0">
                <a:solidFill>
                  <a:srgbClr val="FF0000"/>
                </a:solidFill>
              </a:rPr>
              <a:t>独立集算法 </a:t>
            </a:r>
            <a:r>
              <a:rPr lang="en-US" altLang="zh-CN" sz="1800" dirty="0" smtClean="0">
                <a:solidFill>
                  <a:srgbClr val="FF0000"/>
                </a:solidFill>
              </a:rPr>
              <a:t>(CCPE, JT 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Meng</a:t>
            </a:r>
            <a:r>
              <a:rPr lang="en-US" altLang="zh-CN" sz="1800" dirty="0" smtClean="0">
                <a:solidFill>
                  <a:srgbClr val="FF0000"/>
                </a:solidFill>
              </a:rPr>
              <a:t> )</a:t>
            </a:r>
          </a:p>
        </p:txBody>
      </p:sp>
      <p:sp>
        <p:nvSpPr>
          <p:cNvPr id="4" name="Rectangle 2"/>
          <p:cNvSpPr txBox="1">
            <a:spLocks/>
          </p:cNvSpPr>
          <p:nvPr/>
        </p:nvSpPr>
        <p:spPr bwMode="auto"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l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已取得进展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>
                <a:latin typeface="微软雅黑" pitchFamily="34" charset="-122"/>
                <a:ea typeface="微软雅黑" pitchFamily="34" charset="-122"/>
              </a:rPr>
              <a:t>高效率</a:t>
            </a:r>
            <a: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smtClean="0">
                <a:latin typeface="微软雅黑" pitchFamily="34" charset="-122"/>
                <a:ea typeface="微软雅黑" pitchFamily="34" charset="-122"/>
              </a:rPr>
              <a:t>系统峰值比较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84175" cy="365125"/>
          </a:xfrm>
        </p:spPr>
        <p:txBody>
          <a:bodyPr/>
          <a:lstStyle/>
          <a:p>
            <a:fld id="{87034D8C-3CB4-402A-BC46-2AB14C0FE90A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Picture 2" descr="https://computing.llnl.gov/tutorials/bgq/images/bgqScalingArch900pix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020" y="1460500"/>
            <a:ext cx="4381500" cy="479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679643" y="6135172"/>
            <a:ext cx="2616807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800" dirty="0"/>
              <a:t>BG/Q Scaling Architecture</a:t>
            </a:r>
            <a:endParaRPr lang="zh-CN" altLang="en-US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4941423" y="1792069"/>
            <a:ext cx="1141659" cy="7017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800" dirty="0" smtClean="0"/>
              <a:t>5D torus </a:t>
            </a:r>
          </a:p>
          <a:p>
            <a:r>
              <a:rPr lang="en-US" altLang="zh-CN" sz="1800" dirty="0" smtClean="0"/>
              <a:t>(4,4,4,4,2)</a:t>
            </a:r>
            <a:endParaRPr lang="zh-CN" altLang="en-US" sz="1800" dirty="0"/>
          </a:p>
        </p:txBody>
      </p:sp>
      <p:sp>
        <p:nvSpPr>
          <p:cNvPr id="10" name="TextBox 9"/>
          <p:cNvSpPr txBox="1"/>
          <p:nvPr/>
        </p:nvSpPr>
        <p:spPr>
          <a:xfrm>
            <a:off x="6344320" y="990600"/>
            <a:ext cx="1141659" cy="7017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800" dirty="0" smtClean="0"/>
              <a:t>5D torus</a:t>
            </a:r>
          </a:p>
          <a:p>
            <a:r>
              <a:rPr lang="en-US" altLang="zh-CN" sz="1800" dirty="0" smtClean="0"/>
              <a:t>(4,4,4,8,2)</a:t>
            </a:r>
            <a:endParaRPr lang="zh-CN" altLang="en-US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7651284" y="1003300"/>
            <a:ext cx="1492716" cy="7017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800" dirty="0" smtClean="0"/>
              <a:t>5D torus</a:t>
            </a:r>
          </a:p>
          <a:p>
            <a:r>
              <a:rPr lang="en-US" altLang="zh-CN" sz="1800" dirty="0" smtClean="0"/>
              <a:t>(8,16,16,16,2)</a:t>
            </a:r>
            <a:endParaRPr lang="zh-CN" altLang="en-US" sz="1800" dirty="0"/>
          </a:p>
        </p:txBody>
      </p:sp>
      <p:sp>
        <p:nvSpPr>
          <p:cNvPr id="12" name="TextBox 11"/>
          <p:cNvSpPr txBox="1"/>
          <p:nvPr/>
        </p:nvSpPr>
        <p:spPr>
          <a:xfrm>
            <a:off x="7826811" y="3429000"/>
            <a:ext cx="1141659" cy="7017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800" dirty="0" smtClean="0"/>
              <a:t>5D torus </a:t>
            </a:r>
          </a:p>
          <a:p>
            <a:r>
              <a:rPr lang="en-US" altLang="zh-CN" sz="1800" dirty="0" smtClean="0"/>
              <a:t>(2,2,2,2,2)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255416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现</a:t>
            </a:r>
            <a:r>
              <a:rPr lang="zh-CN" altLang="en-US" sz="4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已取得</a:t>
            </a: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进展</a:t>
            </a:r>
            <a:r>
              <a:rPr lang="en-US" altLang="zh-CN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效率比较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炎黄基因数据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sz="36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Content Placeholder 2"/>
          <p:cNvSpPr>
            <a:spLocks/>
          </p:cNvSpPr>
          <p:nvPr/>
        </p:nvSpPr>
        <p:spPr bwMode="auto">
          <a:xfrm>
            <a:off x="204255" y="1268413"/>
            <a:ext cx="8595617" cy="1980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altLang="zh-CN" sz="2000" dirty="0" smtClean="0">
                <a:solidFill>
                  <a:prstClr val="black"/>
                </a:solidFill>
              </a:rPr>
              <a:t>SWAP-Assembler </a:t>
            </a:r>
            <a:r>
              <a:rPr lang="en-US" altLang="zh-CN" sz="2000" dirty="0">
                <a:solidFill>
                  <a:prstClr val="black"/>
                </a:solidFill>
              </a:rPr>
              <a:t>(</a:t>
            </a:r>
            <a:r>
              <a:rPr lang="en-US" altLang="zh-CN" sz="1800" dirty="0">
                <a:solidFill>
                  <a:prstClr val="black"/>
                </a:solidFill>
              </a:rPr>
              <a:t>BMC </a:t>
            </a:r>
            <a:r>
              <a:rPr lang="en-US" altLang="zh-CN" sz="1800" dirty="0" smtClean="0">
                <a:solidFill>
                  <a:prstClr val="black"/>
                </a:solidFill>
              </a:rPr>
              <a:t>Bio 2014</a:t>
            </a:r>
            <a:r>
              <a:rPr lang="en-US" altLang="zh-CN" sz="2000" dirty="0">
                <a:solidFill>
                  <a:prstClr val="black"/>
                </a:solidFill>
              </a:rPr>
              <a:t>) </a:t>
            </a:r>
            <a:r>
              <a:rPr lang="zh-CN" altLang="en-US" sz="2000" dirty="0" smtClean="0">
                <a:solidFill>
                  <a:prstClr val="black"/>
                </a:solidFill>
              </a:rPr>
              <a:t>在</a:t>
            </a:r>
            <a:r>
              <a:rPr lang="en-US" altLang="zh-CN" sz="2000" b="1" dirty="0" smtClean="0">
                <a:solidFill>
                  <a:prstClr val="black"/>
                </a:solidFill>
              </a:rPr>
              <a:t>1024</a:t>
            </a:r>
            <a:r>
              <a:rPr lang="zh-CN" altLang="en-US" sz="2000" b="1" dirty="0" smtClean="0">
                <a:solidFill>
                  <a:prstClr val="black"/>
                </a:solidFill>
              </a:rPr>
              <a:t>核</a:t>
            </a:r>
            <a:r>
              <a:rPr lang="zh-CN" altLang="en-US" sz="2000" dirty="0" smtClean="0">
                <a:solidFill>
                  <a:prstClr val="black"/>
                </a:solidFill>
              </a:rPr>
              <a:t>上需要</a:t>
            </a:r>
            <a:r>
              <a:rPr lang="en-US" altLang="zh-CN" sz="2000" b="1" dirty="0" smtClean="0">
                <a:solidFill>
                  <a:prstClr val="black"/>
                </a:solidFill>
              </a:rPr>
              <a:t>26</a:t>
            </a:r>
            <a:r>
              <a:rPr lang="zh-CN" altLang="en-US" sz="2000" b="1" dirty="0" smtClean="0">
                <a:solidFill>
                  <a:prstClr val="black"/>
                </a:solidFill>
              </a:rPr>
              <a:t>分钟   </a:t>
            </a:r>
            <a:r>
              <a:rPr lang="en-US" altLang="zh-CN" sz="2000" dirty="0" smtClean="0">
                <a:solidFill>
                  <a:prstClr val="black"/>
                </a:solidFill>
              </a:rPr>
              <a:t>(</a:t>
            </a:r>
            <a:r>
              <a:rPr lang="en-US" altLang="zh-CN" sz="2000" dirty="0" err="1">
                <a:solidFill>
                  <a:prstClr val="black"/>
                </a:solidFill>
              </a:rPr>
              <a:t>TianHe</a:t>
            </a:r>
            <a:r>
              <a:rPr lang="en-US" altLang="zh-CN" sz="2000" dirty="0">
                <a:solidFill>
                  <a:prstClr val="black"/>
                </a:solidFill>
              </a:rPr>
              <a:t> 1A</a:t>
            </a:r>
            <a:r>
              <a:rPr lang="en-US" altLang="zh-CN" sz="2000" dirty="0" smtClean="0">
                <a:solidFill>
                  <a:prstClr val="black"/>
                </a:solidFill>
              </a:rPr>
              <a:t>, Xeon </a:t>
            </a:r>
            <a:r>
              <a:rPr lang="en-US" altLang="zh-CN" sz="2000" dirty="0">
                <a:solidFill>
                  <a:prstClr val="black"/>
                </a:solidFill>
              </a:rPr>
              <a:t>X5670 2.93GHz)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zh-CN" sz="2000" dirty="0" err="1">
                <a:solidFill>
                  <a:prstClr val="black"/>
                </a:solidFill>
              </a:rPr>
              <a:t>HipMer</a:t>
            </a:r>
            <a:r>
              <a:rPr lang="en-US" altLang="zh-CN" sz="2000" dirty="0">
                <a:solidFill>
                  <a:prstClr val="black"/>
                </a:solidFill>
              </a:rPr>
              <a:t> (</a:t>
            </a:r>
            <a:r>
              <a:rPr lang="en-US" altLang="zh-CN" sz="1800" dirty="0">
                <a:solidFill>
                  <a:prstClr val="black"/>
                </a:solidFill>
              </a:rPr>
              <a:t>SC 2015</a:t>
            </a:r>
            <a:r>
              <a:rPr lang="en-US" altLang="zh-CN" sz="2000" dirty="0">
                <a:solidFill>
                  <a:prstClr val="black"/>
                </a:solidFill>
              </a:rPr>
              <a:t>) </a:t>
            </a:r>
            <a:r>
              <a:rPr lang="zh-CN" altLang="en-US" sz="2000" dirty="0" smtClean="0">
                <a:solidFill>
                  <a:prstClr val="black"/>
                </a:solidFill>
              </a:rPr>
              <a:t>在</a:t>
            </a:r>
            <a:r>
              <a:rPr lang="en-US" altLang="zh-CN" sz="2000" b="1" dirty="0" smtClean="0">
                <a:solidFill>
                  <a:prstClr val="black"/>
                </a:solidFill>
              </a:rPr>
              <a:t>15K</a:t>
            </a:r>
            <a:r>
              <a:rPr lang="zh-CN" altLang="en-US" sz="2000" b="1" dirty="0" smtClean="0">
                <a:solidFill>
                  <a:prstClr val="black"/>
                </a:solidFill>
              </a:rPr>
              <a:t>核</a:t>
            </a:r>
            <a:r>
              <a:rPr lang="zh-CN" altLang="en-US" sz="2000" dirty="0" smtClean="0">
                <a:solidFill>
                  <a:prstClr val="black"/>
                </a:solidFill>
              </a:rPr>
              <a:t>上需要</a:t>
            </a:r>
            <a:r>
              <a:rPr lang="en-US" altLang="zh-CN" sz="2000" b="1" dirty="0" smtClean="0">
                <a:solidFill>
                  <a:prstClr val="black"/>
                </a:solidFill>
              </a:rPr>
              <a:t>8</a:t>
            </a:r>
            <a:r>
              <a:rPr lang="zh-CN" altLang="en-US" sz="2000" b="1" dirty="0" smtClean="0">
                <a:solidFill>
                  <a:prstClr val="black"/>
                </a:solidFill>
              </a:rPr>
              <a:t>分钟  </a:t>
            </a:r>
            <a:r>
              <a:rPr lang="en-US" altLang="zh-CN" sz="2000" b="1" dirty="0" smtClean="0">
                <a:solidFill>
                  <a:prstClr val="black"/>
                </a:solidFill>
              </a:rPr>
              <a:t> </a:t>
            </a:r>
            <a:r>
              <a:rPr lang="en-US" altLang="zh-CN" sz="2000" dirty="0">
                <a:solidFill>
                  <a:prstClr val="black"/>
                </a:solidFill>
              </a:rPr>
              <a:t>(Cray-Edison, </a:t>
            </a:r>
            <a:r>
              <a:rPr lang="en-US" altLang="zh-CN" sz="2000" dirty="0" smtClean="0">
                <a:solidFill>
                  <a:prstClr val="black"/>
                </a:solidFill>
              </a:rPr>
              <a:t>Xeon </a:t>
            </a:r>
            <a:r>
              <a:rPr lang="en-US" altLang="zh-CN" sz="2000" dirty="0">
                <a:solidFill>
                  <a:prstClr val="black"/>
                </a:solidFill>
              </a:rPr>
              <a:t>E5-2695 2.4GHz)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</a:rPr>
              <a:t>SWAP 2 </a:t>
            </a:r>
            <a:r>
              <a:rPr lang="zh-CN" altLang="en-US" sz="2000" dirty="0" smtClean="0">
                <a:solidFill>
                  <a:srgbClr val="FF0000"/>
                </a:solidFill>
              </a:rPr>
              <a:t>在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16K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核</a:t>
            </a:r>
            <a:r>
              <a:rPr lang="zh-CN" altLang="en-US" sz="2000" dirty="0" smtClean="0">
                <a:solidFill>
                  <a:srgbClr val="FF0000"/>
                </a:solidFill>
              </a:rPr>
              <a:t>上需要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2.5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分钟</a:t>
            </a:r>
            <a:r>
              <a:rPr lang="zh-CN" altLang="en-US" sz="2000" dirty="0" smtClean="0">
                <a:solidFill>
                  <a:srgbClr val="FF0000"/>
                </a:solidFill>
              </a:rPr>
              <a:t>，在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64K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核</a:t>
            </a:r>
            <a:r>
              <a:rPr lang="zh-CN" altLang="en-US" sz="2000" dirty="0" smtClean="0">
                <a:solidFill>
                  <a:srgbClr val="FF0000"/>
                </a:solidFill>
              </a:rPr>
              <a:t>上需要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分钟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(IBM BGQ </a:t>
            </a:r>
            <a:r>
              <a:rPr lang="en-US" altLang="zh-CN" sz="2000" dirty="0">
                <a:solidFill>
                  <a:srgbClr val="FF0000"/>
                </a:solidFill>
              </a:rPr>
              <a:t>– Mira, Power BQC 1.6GHz)</a:t>
            </a:r>
          </a:p>
        </p:txBody>
      </p:sp>
      <p:sp>
        <p:nvSpPr>
          <p:cNvPr id="4" name="矩形 3"/>
          <p:cNvSpPr/>
          <p:nvPr/>
        </p:nvSpPr>
        <p:spPr>
          <a:xfrm>
            <a:off x="276909" y="6281770"/>
            <a:ext cx="8707265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 smtClean="0"/>
              <a:t>1. 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etc. SWAP-Assembler 2: Scalable Genome Assembler towards Millions of Cores - Practice and Experience, </a:t>
            </a:r>
            <a:r>
              <a:rPr lang="en-US" altLang="zh-CN" sz="1600" dirty="0" smtClean="0"/>
              <a:t>in ATIP workshop in SC 2015</a:t>
            </a:r>
            <a:endParaRPr lang="en-US" altLang="zh-CN" sz="16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207941"/>
              </p:ext>
            </p:extLst>
          </p:nvPr>
        </p:nvGraphicFramePr>
        <p:xfrm>
          <a:off x="278466" y="2987936"/>
          <a:ext cx="8825574" cy="32938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7018"/>
                <a:gridCol w="1548853"/>
                <a:gridCol w="1007296"/>
                <a:gridCol w="1187815"/>
                <a:gridCol w="1007296"/>
                <a:gridCol w="1458593"/>
                <a:gridCol w="1948703"/>
              </a:tblGrid>
              <a:tr h="8089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No. Cores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Input </a:t>
                      </a:r>
                      <a:r>
                        <a:rPr lang="en-US" sz="1800" dirty="0" smtClean="0">
                          <a:effectLst/>
                        </a:rPr>
                        <a:t>Para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Construct k-</a:t>
                      </a:r>
                      <a:r>
                        <a:rPr lang="en-US" sz="1800" dirty="0" err="1">
                          <a:effectLst/>
                        </a:rPr>
                        <a:t>mer</a:t>
                      </a:r>
                      <a:r>
                        <a:rPr lang="en-US" sz="1800" dirty="0">
                          <a:effectLst/>
                        </a:rPr>
                        <a:t> Graph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Graph Cleaning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Construct MSG Graph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Graph Simplification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Total time usage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529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1k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117.55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281.44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19.08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185.05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1630.32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2266.72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529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2k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59.81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140.56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9.63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92.56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838.18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1157.72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529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4k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20.81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71.77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6.1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46.3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429.71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583.51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529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8k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13.46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39.29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3.15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22.49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223.92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307.06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529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16k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8.35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23.9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1.55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11.39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115.44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163.36</a:t>
                      </a:r>
                      <a:endParaRPr lang="zh-CN" sz="2400" b="1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529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32k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5.08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18.99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0.88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5.71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63.77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96.51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529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64k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6.5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20.85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0.67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2.92</a:t>
                      </a:r>
                      <a:endParaRPr lang="zh-CN" sz="2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27.74</a:t>
                      </a:r>
                      <a:endParaRPr lang="zh-CN" sz="2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64.55</a:t>
                      </a:r>
                      <a:endParaRPr lang="zh-CN" sz="2400" b="1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170430" y="951107"/>
            <a:ext cx="8920222" cy="5886413"/>
            <a:chOff x="111889" y="990600"/>
            <a:chExt cx="8920222" cy="5886413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889" y="990600"/>
              <a:ext cx="8920222" cy="5191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152400" y="6169127"/>
              <a:ext cx="8839200" cy="70788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Brian </a:t>
              </a:r>
              <a:r>
                <a:rPr lang="en-US" altLang="zh-CN" sz="2000" dirty="0" smtClean="0"/>
                <a:t>Austin, Characterization </a:t>
              </a:r>
              <a:r>
                <a:rPr lang="en-US" altLang="zh-CN" sz="2000" dirty="0"/>
                <a:t>of the Cray Aries Network, NERSC Advanced Technology </a:t>
              </a:r>
              <a:r>
                <a:rPr lang="en-US" altLang="zh-CN" sz="2000" dirty="0" smtClean="0"/>
                <a:t>Group, 2014.2.6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7003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89" y="2458875"/>
            <a:ext cx="7239181" cy="415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84175" cy="365125"/>
          </a:xfrm>
        </p:spPr>
        <p:txBody>
          <a:bodyPr/>
          <a:lstStyle/>
          <a:p>
            <a:fld id="{87034D8C-3CB4-402A-BC46-2AB14C0FE90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33399" y="1371600"/>
            <a:ext cx="8089051" cy="106729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千人</a:t>
            </a:r>
            <a:r>
              <a:rPr lang="zh-CN" altLang="en-US" sz="2000" dirty="0" smtClean="0"/>
              <a:t>基因组的数据</a:t>
            </a:r>
            <a:r>
              <a:rPr lang="en-US" altLang="zh-CN" sz="2000" dirty="0" smtClean="0"/>
              <a:t> (4TB</a:t>
            </a:r>
            <a:r>
              <a:rPr lang="en-US" altLang="zh-CN" sz="2000" dirty="0"/>
              <a:t>, 500</a:t>
            </a:r>
            <a:r>
              <a:rPr lang="zh-CN" altLang="en-US" sz="2000" dirty="0"/>
              <a:t>亿</a:t>
            </a:r>
            <a:r>
              <a:rPr lang="zh-CN" altLang="en-US" sz="2000" dirty="0" smtClean="0"/>
              <a:t>序列，总计</a:t>
            </a:r>
            <a:r>
              <a:rPr lang="en-US" altLang="zh-CN" sz="2000" dirty="0" smtClean="0"/>
              <a:t>400TB</a:t>
            </a:r>
            <a:r>
              <a:rPr lang="zh-CN" altLang="en-US" sz="2000" dirty="0" smtClean="0"/>
              <a:t>， </a:t>
            </a:r>
            <a:r>
              <a:rPr lang="en-US" altLang="zh-CN" sz="2000" dirty="0" smtClean="0"/>
              <a:t>5</a:t>
            </a:r>
            <a:r>
              <a:rPr lang="zh-CN" altLang="en-US" sz="2000" dirty="0" smtClean="0"/>
              <a:t>千亿序列</a:t>
            </a:r>
            <a:r>
              <a:rPr lang="en-US" altLang="zh-CN" sz="2000" dirty="0" smtClean="0"/>
              <a:t>)</a:t>
            </a:r>
          </a:p>
          <a:p>
            <a:r>
              <a:rPr lang="en-US" altLang="zh-CN" sz="2000" dirty="0" smtClean="0"/>
              <a:t>SWAP</a:t>
            </a:r>
            <a:r>
              <a:rPr lang="zh-CN" altLang="en-US" sz="2000" dirty="0" smtClean="0"/>
              <a:t>在</a:t>
            </a:r>
            <a:r>
              <a:rPr lang="en-US" altLang="zh-CN" sz="2000" dirty="0" smtClean="0"/>
              <a:t>128k</a:t>
            </a:r>
            <a:r>
              <a:rPr lang="zh-CN" altLang="en-US" sz="2000" dirty="0" smtClean="0"/>
              <a:t>核心上的系统效率是</a:t>
            </a:r>
            <a:r>
              <a:rPr lang="en-US" altLang="zh-CN" sz="2000" b="1" dirty="0" smtClean="0"/>
              <a:t>40%</a:t>
            </a:r>
            <a:r>
              <a:rPr lang="en-US" altLang="zh-CN" sz="2000" dirty="0" smtClean="0"/>
              <a:t>. (SWAP 2, JT </a:t>
            </a:r>
            <a:r>
              <a:rPr lang="en-US" altLang="zh-CN" sz="2000" dirty="0" err="1" smtClean="0"/>
              <a:t>Meng</a:t>
            </a:r>
            <a:r>
              <a:rPr lang="en-US" altLang="zh-CN" sz="2000" dirty="0" smtClean="0"/>
              <a:t>)</a:t>
            </a:r>
          </a:p>
          <a:p>
            <a:r>
              <a:rPr lang="zh-CN" altLang="en-US" sz="2000" dirty="0" smtClean="0">
                <a:solidFill>
                  <a:srgbClr val="FF0000"/>
                </a:solidFill>
              </a:rPr>
              <a:t>数据</a:t>
            </a:r>
            <a:r>
              <a:rPr lang="en-US" altLang="zh-CN" sz="2000" dirty="0" smtClean="0">
                <a:solidFill>
                  <a:srgbClr val="FF0000"/>
                </a:solidFill>
              </a:rPr>
              <a:t>I/O</a:t>
            </a:r>
            <a:r>
              <a:rPr lang="zh-CN" altLang="en-US" sz="2000" dirty="0" smtClean="0">
                <a:solidFill>
                  <a:srgbClr val="FF0000"/>
                </a:solidFill>
              </a:rPr>
              <a:t>占比比较大，图构建和</a:t>
            </a:r>
            <a:r>
              <a:rPr lang="en-US" altLang="zh-CN" sz="2000" dirty="0" smtClean="0">
                <a:solidFill>
                  <a:srgbClr val="FF0000"/>
                </a:solidFill>
              </a:rPr>
              <a:t>IO</a:t>
            </a:r>
            <a:r>
              <a:rPr lang="zh-CN" altLang="en-US" sz="2000" dirty="0" smtClean="0">
                <a:solidFill>
                  <a:srgbClr val="FF0000"/>
                </a:solidFill>
              </a:rPr>
              <a:t>部分时间占比在扩大</a:t>
            </a:r>
            <a:endParaRPr lang="en-US" altLang="zh-CN" sz="1800" dirty="0" smtClean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85780" y="243889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各步骤消耗</a:t>
            </a:r>
            <a:r>
              <a:rPr lang="zh-CN" altLang="en-US" sz="1800" dirty="0" smtClean="0"/>
              <a:t>时间比</a:t>
            </a:r>
            <a:endParaRPr lang="zh-CN" altLang="en-US" sz="1800" dirty="0"/>
          </a:p>
        </p:txBody>
      </p:sp>
      <p:sp>
        <p:nvSpPr>
          <p:cNvPr id="9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现</a:t>
            </a: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已取得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进展</a:t>
            </a:r>
            <a: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扩展性 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067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现</a:t>
            </a:r>
            <a:r>
              <a:rPr lang="zh-CN" altLang="en-US" sz="4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已取得</a:t>
            </a: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进展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结果质量</a:t>
            </a:r>
            <a:endParaRPr lang="en-US" altLang="zh-CN" sz="36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Content Placeholder 2"/>
          <p:cNvSpPr>
            <a:spLocks/>
          </p:cNvSpPr>
          <p:nvPr/>
        </p:nvSpPr>
        <p:spPr bwMode="auto">
          <a:xfrm>
            <a:off x="296863" y="1268413"/>
            <a:ext cx="8595617" cy="5400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altLang="zh-CN" sz="2800" dirty="0" smtClean="0">
                <a:solidFill>
                  <a:prstClr val="black"/>
                </a:solidFill>
              </a:rPr>
              <a:t>GAGE </a:t>
            </a:r>
            <a:r>
              <a:rPr lang="zh-CN" altLang="en-US" sz="2800" dirty="0" smtClean="0">
                <a:solidFill>
                  <a:prstClr val="black"/>
                </a:solidFill>
              </a:rPr>
              <a:t>竞赛数据比较 </a:t>
            </a:r>
            <a:r>
              <a:rPr lang="en-US" altLang="zh-CN" sz="2400" dirty="0">
                <a:solidFill>
                  <a:prstClr val="black"/>
                </a:solidFill>
              </a:rPr>
              <a:t>(</a:t>
            </a:r>
            <a:r>
              <a:rPr lang="en-US" altLang="zh-CN" sz="2400" dirty="0" err="1">
                <a:solidFill>
                  <a:prstClr val="black"/>
                </a:solidFill>
              </a:rPr>
              <a:t>Recomb</a:t>
            </a:r>
            <a:r>
              <a:rPr lang="en-US" altLang="zh-CN" sz="2400" dirty="0">
                <a:solidFill>
                  <a:prstClr val="black"/>
                </a:solidFill>
              </a:rPr>
              <a:t> 2014, JT </a:t>
            </a:r>
            <a:r>
              <a:rPr lang="en-US" altLang="zh-CN" sz="2400" dirty="0" err="1">
                <a:solidFill>
                  <a:prstClr val="black"/>
                </a:solidFill>
              </a:rPr>
              <a:t>Meng</a:t>
            </a:r>
            <a:r>
              <a:rPr lang="en-US" altLang="zh-CN" sz="2400" dirty="0">
                <a:solidFill>
                  <a:prstClr val="black"/>
                </a:solidFill>
              </a:rPr>
              <a:t>)</a:t>
            </a:r>
          </a:p>
          <a:p>
            <a:endParaRPr lang="en-US" altLang="zh-CN" sz="2800" dirty="0" smtClean="0">
              <a:solidFill>
                <a:prstClr val="black"/>
              </a:solidFill>
            </a:endParaRPr>
          </a:p>
          <a:p>
            <a:endParaRPr lang="en-US" altLang="zh-CN" sz="2800" dirty="0" smtClean="0">
              <a:solidFill>
                <a:prstClr val="black"/>
              </a:solidFill>
            </a:endParaRPr>
          </a:p>
          <a:p>
            <a:endParaRPr lang="en-US" altLang="zh-CN" sz="2800" dirty="0">
              <a:solidFill>
                <a:prstClr val="black"/>
              </a:solidFill>
            </a:endParaRPr>
          </a:p>
          <a:p>
            <a:endParaRPr lang="en-US" altLang="zh-CN" sz="2800" dirty="0" smtClean="0">
              <a:solidFill>
                <a:prstClr val="black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1" y="3555206"/>
            <a:ext cx="8566150" cy="272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1864519"/>
            <a:ext cx="8567738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圆角矩形标注 9"/>
          <p:cNvSpPr/>
          <p:nvPr/>
        </p:nvSpPr>
        <p:spPr>
          <a:xfrm>
            <a:off x="4967288" y="1905794"/>
            <a:ext cx="4032250" cy="798512"/>
          </a:xfrm>
          <a:prstGeom prst="wedgeRoundRectCallout">
            <a:avLst>
              <a:gd name="adj1" fmla="val -73252"/>
              <a:gd name="adj2" fmla="val 11386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r>
              <a:rPr lang="en-US" altLang="zh-CN" sz="1800" dirty="0" smtClean="0"/>
              <a:t>SWAP</a:t>
            </a:r>
            <a:r>
              <a:rPr lang="zh-CN" altLang="en-US" sz="1800" dirty="0" smtClean="0"/>
              <a:t>产生的错误</a:t>
            </a:r>
            <a:r>
              <a:rPr lang="en-US" altLang="zh-CN" sz="1800" dirty="0" err="1" smtClean="0"/>
              <a:t>contig</a:t>
            </a:r>
            <a:r>
              <a:rPr lang="zh-CN" altLang="en-US" sz="1800" dirty="0" smtClean="0"/>
              <a:t>最少</a:t>
            </a:r>
            <a:endParaRPr lang="en-US" altLang="zh-CN" sz="1800" dirty="0"/>
          </a:p>
        </p:txBody>
      </p:sp>
      <p:sp>
        <p:nvSpPr>
          <p:cNvPr id="11" name="圆角矩形标注 10"/>
          <p:cNvSpPr/>
          <p:nvPr/>
        </p:nvSpPr>
        <p:spPr>
          <a:xfrm>
            <a:off x="4842031" y="4029869"/>
            <a:ext cx="4162098" cy="860425"/>
          </a:xfrm>
          <a:prstGeom prst="wedgeRoundRectCallout">
            <a:avLst>
              <a:gd name="adj1" fmla="val -53220"/>
              <a:gd name="adj2" fmla="val 67818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r>
              <a:rPr lang="en-US" altLang="zh-CN" sz="1800" dirty="0" smtClean="0"/>
              <a:t>SWAP</a:t>
            </a:r>
            <a:r>
              <a:rPr lang="zh-CN" altLang="en-US" sz="1800" dirty="0" smtClean="0"/>
              <a:t>产生的</a:t>
            </a:r>
            <a:r>
              <a:rPr lang="en-US" altLang="zh-CN" sz="1800" dirty="0" err="1" smtClean="0"/>
              <a:t>contig</a:t>
            </a:r>
            <a:r>
              <a:rPr lang="zh-CN" altLang="en-US" sz="1800" dirty="0" smtClean="0"/>
              <a:t>在</a:t>
            </a:r>
            <a:r>
              <a:rPr lang="en-US" altLang="zh-CN" sz="1800" dirty="0" smtClean="0"/>
              <a:t>chaff </a:t>
            </a:r>
            <a:r>
              <a:rPr lang="en-US" altLang="zh-CN" sz="1800" dirty="0"/>
              <a:t>size </a:t>
            </a:r>
            <a:r>
              <a:rPr lang="zh-CN" altLang="en-US" sz="1800" dirty="0"/>
              <a:t>和</a:t>
            </a:r>
            <a:r>
              <a:rPr lang="en-US" altLang="zh-CN" sz="1800" dirty="0" err="1" smtClean="0"/>
              <a:t>unalign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ref </a:t>
            </a:r>
            <a:r>
              <a:rPr lang="en-US" altLang="zh-CN" sz="1800" dirty="0" smtClean="0"/>
              <a:t>bases</a:t>
            </a:r>
            <a:r>
              <a:rPr lang="zh-CN" altLang="en-US" sz="1800" dirty="0" smtClean="0"/>
              <a:t>这两项精度指标比较好</a:t>
            </a:r>
            <a:r>
              <a:rPr lang="en-US" altLang="zh-CN" sz="1800" dirty="0" smtClean="0"/>
              <a:t>.</a:t>
            </a:r>
            <a:endParaRPr lang="en-US" altLang="zh-CN" sz="1800" dirty="0"/>
          </a:p>
        </p:txBody>
      </p:sp>
      <p:sp>
        <p:nvSpPr>
          <p:cNvPr id="12" name="椭圆 11"/>
          <p:cNvSpPr/>
          <p:nvPr/>
        </p:nvSpPr>
        <p:spPr>
          <a:xfrm>
            <a:off x="3559176" y="3134519"/>
            <a:ext cx="719137" cy="431800"/>
          </a:xfrm>
          <a:prstGeom prst="ellipse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6992938" y="3104356"/>
            <a:ext cx="719138" cy="433388"/>
          </a:xfrm>
          <a:prstGeom prst="ellipse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322763" y="4850606"/>
            <a:ext cx="717550" cy="433388"/>
          </a:xfrm>
          <a:prstGeom prst="ellipse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4278313" y="5953919"/>
            <a:ext cx="717550" cy="433387"/>
          </a:xfrm>
          <a:prstGeom prst="ellipse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74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现</a:t>
            </a:r>
            <a:r>
              <a:rPr lang="zh-CN" altLang="en-US" sz="4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已取得</a:t>
            </a: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进展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结果质量</a:t>
            </a:r>
            <a:endParaRPr lang="en-US" altLang="zh-CN" sz="4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296863" y="1268413"/>
            <a:ext cx="8595617" cy="5400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altLang="zh-CN" sz="2800" dirty="0" err="1" smtClean="0">
                <a:solidFill>
                  <a:prstClr val="black"/>
                </a:solidFill>
              </a:rPr>
              <a:t>Assembthon</a:t>
            </a:r>
            <a:r>
              <a:rPr lang="en-US" altLang="zh-CN" sz="2800" dirty="0" smtClean="0">
                <a:solidFill>
                  <a:prstClr val="black"/>
                </a:solidFill>
              </a:rPr>
              <a:t> 2 </a:t>
            </a:r>
            <a:r>
              <a:rPr lang="zh-CN" altLang="en-US" sz="2800" dirty="0" smtClean="0">
                <a:solidFill>
                  <a:prstClr val="black"/>
                </a:solidFill>
              </a:rPr>
              <a:t>竞赛提供 </a:t>
            </a:r>
            <a:r>
              <a:rPr lang="en-US" altLang="zh-CN" sz="2800" dirty="0" smtClean="0">
                <a:solidFill>
                  <a:prstClr val="black"/>
                </a:solidFill>
              </a:rPr>
              <a:t>Fish</a:t>
            </a:r>
            <a:r>
              <a:rPr lang="zh-CN" altLang="en-US" sz="2800" dirty="0" smtClean="0">
                <a:solidFill>
                  <a:prstClr val="black"/>
                </a:solidFill>
              </a:rPr>
              <a:t>数据 和 </a:t>
            </a:r>
            <a:r>
              <a:rPr lang="en-US" altLang="zh-CN" sz="2800" dirty="0" smtClean="0">
                <a:solidFill>
                  <a:prstClr val="black"/>
                </a:solidFill>
              </a:rPr>
              <a:t>BGI</a:t>
            </a:r>
            <a:r>
              <a:rPr lang="zh-CN" altLang="en-US" sz="2800" dirty="0" smtClean="0">
                <a:solidFill>
                  <a:prstClr val="black"/>
                </a:solidFill>
              </a:rPr>
              <a:t>提供的炎黄大型基因组组装比较 </a:t>
            </a:r>
            <a:r>
              <a:rPr lang="en-US" altLang="zh-CN" sz="2400" dirty="0" smtClean="0">
                <a:solidFill>
                  <a:prstClr val="black"/>
                </a:solidFill>
              </a:rPr>
              <a:t>(</a:t>
            </a:r>
            <a:r>
              <a:rPr lang="en-US" altLang="zh-CN" sz="2400" dirty="0" err="1" smtClean="0">
                <a:solidFill>
                  <a:prstClr val="black"/>
                </a:solidFill>
              </a:rPr>
              <a:t>Recomb</a:t>
            </a:r>
            <a:r>
              <a:rPr lang="en-US" altLang="zh-CN" sz="2400" dirty="0">
                <a:solidFill>
                  <a:prstClr val="black"/>
                </a:solidFill>
              </a:rPr>
              <a:t> 2014, JT </a:t>
            </a:r>
            <a:r>
              <a:rPr lang="en-US" altLang="zh-CN" sz="2400" dirty="0" err="1" smtClean="0">
                <a:solidFill>
                  <a:prstClr val="black"/>
                </a:solidFill>
              </a:rPr>
              <a:t>Meng</a:t>
            </a:r>
            <a:r>
              <a:rPr lang="en-US" altLang="zh-CN" sz="2400" dirty="0" smtClean="0">
                <a:solidFill>
                  <a:prstClr val="black"/>
                </a:solidFill>
              </a:rPr>
              <a:t>)</a:t>
            </a:r>
          </a:p>
          <a:p>
            <a:endParaRPr lang="en-US" altLang="zh-CN" sz="2800" dirty="0" smtClean="0">
              <a:solidFill>
                <a:prstClr val="black"/>
              </a:solidFill>
            </a:endParaRPr>
          </a:p>
          <a:p>
            <a:endParaRPr lang="en-US" altLang="zh-CN" sz="2800" dirty="0">
              <a:solidFill>
                <a:prstClr val="black"/>
              </a:solidFill>
            </a:endParaRPr>
          </a:p>
          <a:p>
            <a:endParaRPr lang="en-US" altLang="zh-CN" sz="2800" dirty="0" smtClean="0">
              <a:solidFill>
                <a:prstClr val="black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58" y="2203450"/>
            <a:ext cx="8277225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圆角矩形标注 4"/>
          <p:cNvSpPr/>
          <p:nvPr/>
        </p:nvSpPr>
        <p:spPr>
          <a:xfrm>
            <a:off x="5567808" y="2573905"/>
            <a:ext cx="3243263" cy="634433"/>
          </a:xfrm>
          <a:prstGeom prst="wedgeRoundRectCallout">
            <a:avLst>
              <a:gd name="adj1" fmla="val -53178"/>
              <a:gd name="adj2" fmla="val 12015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r>
              <a:rPr lang="en-US" altLang="zh-CN" sz="1800" dirty="0" smtClean="0"/>
              <a:t>SWAP</a:t>
            </a:r>
            <a:r>
              <a:rPr lang="zh-CN" altLang="en-US" sz="1800" dirty="0" smtClean="0"/>
              <a:t>产生的</a:t>
            </a:r>
            <a:r>
              <a:rPr lang="en-US" altLang="zh-CN" sz="1800" dirty="0" err="1" smtClean="0"/>
              <a:t>contig</a:t>
            </a:r>
            <a:r>
              <a:rPr lang="zh-CN" altLang="en-US" sz="1800" dirty="0" smtClean="0"/>
              <a:t>的</a:t>
            </a:r>
            <a:r>
              <a:rPr lang="en-US" altLang="zh-CN" sz="1800" dirty="0" smtClean="0"/>
              <a:t>N50</a:t>
            </a:r>
            <a:r>
              <a:rPr lang="zh-CN" altLang="en-US" sz="1800" dirty="0" smtClean="0"/>
              <a:t>最长</a:t>
            </a:r>
            <a:r>
              <a:rPr lang="en-US" altLang="zh-CN" sz="1800" dirty="0" smtClean="0"/>
              <a:t>.</a:t>
            </a:r>
            <a:endParaRPr lang="en-US" altLang="zh-CN" sz="1800" dirty="0"/>
          </a:p>
        </p:txBody>
      </p:sp>
      <p:sp>
        <p:nvSpPr>
          <p:cNvPr id="6" name="椭圆 5"/>
          <p:cNvSpPr/>
          <p:nvPr/>
        </p:nvSpPr>
        <p:spPr>
          <a:xfrm>
            <a:off x="4850258" y="3571875"/>
            <a:ext cx="717550" cy="431800"/>
          </a:xfrm>
          <a:prstGeom prst="ellipse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850258" y="4724400"/>
            <a:ext cx="717550" cy="431800"/>
          </a:xfrm>
          <a:prstGeom prst="ellipse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850258" y="5932488"/>
            <a:ext cx="717550" cy="431800"/>
          </a:xfrm>
          <a:prstGeom prst="ellipse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09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发表论文</a:t>
            </a:r>
            <a:endParaRPr lang="en-US" altLang="zh-CN" sz="4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Content Placeholder 2"/>
          <p:cNvSpPr>
            <a:spLocks/>
          </p:cNvSpPr>
          <p:nvPr/>
        </p:nvSpPr>
        <p:spPr bwMode="auto">
          <a:xfrm>
            <a:off x="296862" y="1268760"/>
            <a:ext cx="8707267" cy="5355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b="1" dirty="0" smtClean="0"/>
              <a:t>并行基因组装</a:t>
            </a:r>
            <a:endParaRPr lang="en-US" altLang="zh-CN" sz="2400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b="1" dirty="0" smtClean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Sangmin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Seo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Pavan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Balaji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Yanjie</a:t>
            </a:r>
            <a:r>
              <a:rPr lang="en-US" altLang="zh-CN" sz="1600" dirty="0"/>
              <a:t> Wei, </a:t>
            </a:r>
            <a:r>
              <a:rPr lang="en-US" altLang="zh-CN" sz="1600" dirty="0" err="1"/>
              <a:t>Bingqiang</a:t>
            </a:r>
            <a:r>
              <a:rPr lang="en-US" altLang="zh-CN" sz="1600" dirty="0"/>
              <a:t> Wang,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, SWAP-Assembler 2: Scalable Genome Assembler </a:t>
            </a:r>
            <a:r>
              <a:rPr lang="en-US" altLang="zh-CN" sz="1600" dirty="0" smtClean="0"/>
              <a:t>to Large Scale, </a:t>
            </a:r>
            <a:r>
              <a:rPr lang="en-US" altLang="zh-CN" sz="1600" dirty="0"/>
              <a:t>in ATIP workshop in Supercomputing 2015 (Supercomputing 2015), Austin. </a:t>
            </a:r>
            <a:endParaRPr lang="en-US" altLang="zh-CN" sz="1600" b="1" dirty="0" smtClean="0"/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600" b="1" dirty="0" smtClean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Sangmin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Seo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Pavan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Balaji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Yanjie</a:t>
            </a:r>
            <a:r>
              <a:rPr lang="en-US" altLang="zh-CN" sz="1600" dirty="0"/>
              <a:t> Wei, </a:t>
            </a:r>
            <a:r>
              <a:rPr lang="en-US" altLang="zh-CN" sz="1600" dirty="0" err="1"/>
              <a:t>Bingqiang</a:t>
            </a:r>
            <a:r>
              <a:rPr lang="en-US" altLang="zh-CN" sz="1600" dirty="0"/>
              <a:t> Wang,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, SWAP-Assembler 2: Scalable Genome Assembler towards Millions of Cores - Practice and Experience, in 15th IEEE/ACM International Symposium on Cluster, Cloud and Grid Computing (CCGrid'15)-Doctoral Symposium, May, 2015.</a:t>
            </a:r>
            <a:endParaRPr lang="en-US" altLang="zh-CN" sz="1600" b="1" dirty="0" smtClean="0"/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600" b="1" dirty="0" smtClean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Bingqiang</a:t>
            </a:r>
            <a:r>
              <a:rPr lang="en-US" altLang="zh-CN" sz="1600" dirty="0"/>
              <a:t> Wang, </a:t>
            </a:r>
            <a:r>
              <a:rPr lang="en-US" altLang="zh-CN" sz="1600" dirty="0" err="1"/>
              <a:t>Yanjie</a:t>
            </a:r>
            <a:r>
              <a:rPr lang="en-US" altLang="zh-CN" sz="1600" dirty="0"/>
              <a:t> Wei,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Pavan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Balaji</a:t>
            </a:r>
            <a:r>
              <a:rPr lang="en-US" altLang="zh-CN" sz="1600" dirty="0"/>
              <a:t>. SWAP-Assembler: Scalable and Efficient Genome Assembly towards Thousands of Cores, BMC Bioinformatics, 2014</a:t>
            </a:r>
            <a:r>
              <a:rPr lang="en-US" altLang="zh-CN" sz="1600" dirty="0" smtClean="0"/>
              <a:t>. </a:t>
            </a:r>
            <a:r>
              <a:rPr lang="en-US" altLang="zh-CN" sz="1600" b="1" dirty="0"/>
              <a:t>(JCR 1</a:t>
            </a:r>
            <a:r>
              <a:rPr lang="zh-CN" altLang="en-US" sz="1600" b="1" dirty="0"/>
              <a:t>区</a:t>
            </a:r>
            <a:r>
              <a:rPr lang="en-US" altLang="zh-CN" sz="1600" b="1" dirty="0"/>
              <a:t>, IF=3.0)</a:t>
            </a:r>
            <a:endParaRPr lang="zh-CN" altLang="zh-CN" sz="1600" b="1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600" b="1" dirty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Bingqiang</a:t>
            </a:r>
            <a:r>
              <a:rPr lang="en-US" altLang="zh-CN" sz="1600" dirty="0"/>
              <a:t> Wang, </a:t>
            </a:r>
            <a:r>
              <a:rPr lang="en-US" altLang="zh-CN" sz="1600" dirty="0" err="1"/>
              <a:t>Yanjie</a:t>
            </a:r>
            <a:r>
              <a:rPr lang="en-US" altLang="zh-CN" sz="1600" dirty="0"/>
              <a:t> Wei,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Pavan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Balaji</a:t>
            </a:r>
            <a:r>
              <a:rPr lang="en-US" altLang="zh-CN" sz="1600" dirty="0"/>
              <a:t>. SWAP-Assembler: Scalable and Efficient Genome Assembly towards Thousands of Cores, RECOMB-</a:t>
            </a:r>
            <a:r>
              <a:rPr lang="en-US" altLang="zh-CN" sz="1600" dirty="0" err="1"/>
              <a:t>seq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2014. </a:t>
            </a:r>
            <a:r>
              <a:rPr lang="en-US" altLang="zh-CN" sz="1600" b="1" dirty="0"/>
              <a:t>(CCF </a:t>
            </a:r>
            <a:r>
              <a:rPr lang="zh-CN" altLang="en-US" sz="1600" b="1" dirty="0"/>
              <a:t>推荐会议 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区</a:t>
            </a:r>
            <a:r>
              <a:rPr lang="en-US" altLang="zh-CN" sz="1600" b="1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1775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发表论文</a:t>
            </a:r>
            <a:endParaRPr lang="en-US" altLang="zh-CN" sz="4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Content Placeholder 2"/>
          <p:cNvSpPr>
            <a:spLocks/>
          </p:cNvSpPr>
          <p:nvPr/>
        </p:nvSpPr>
        <p:spPr bwMode="auto">
          <a:xfrm>
            <a:off x="296861" y="1313765"/>
            <a:ext cx="8707267" cy="5399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altLang="zh-CN" sz="2400" dirty="0"/>
              <a:t> </a:t>
            </a:r>
            <a:r>
              <a:rPr lang="zh-CN" altLang="en-US" sz="2400" b="1" dirty="0"/>
              <a:t>基因组装计算</a:t>
            </a:r>
            <a:r>
              <a:rPr lang="zh-CN" altLang="en-US" sz="2400" b="1" dirty="0" smtClean="0"/>
              <a:t>理论</a:t>
            </a:r>
            <a:endParaRPr lang="en-US" altLang="zh-CN" sz="24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etc. A Highly Scalable List Ranking Algorithm on </a:t>
            </a:r>
            <a:r>
              <a:rPr lang="en-US" altLang="zh-CN" sz="1600" dirty="0" err="1"/>
              <a:t>Pregel</a:t>
            </a:r>
            <a:r>
              <a:rPr lang="en-US" altLang="zh-CN" sz="1600" dirty="0"/>
              <a:t> framework, Concurrency and Computation: Practice and Experience. (JCR 2</a:t>
            </a:r>
            <a:r>
              <a:rPr lang="zh-CN" altLang="en-US" sz="1600" dirty="0"/>
              <a:t>区</a:t>
            </a:r>
            <a:r>
              <a:rPr lang="en-US" altLang="zh-CN" sz="1600" dirty="0"/>
              <a:t>, IF=0.784, Major Revision)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600" dirty="0"/>
              <a:t>Li </a:t>
            </a:r>
            <a:r>
              <a:rPr lang="en-US" altLang="zh-CN" sz="1600" dirty="0" err="1"/>
              <a:t>Zeng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Jiefeng</a:t>
            </a:r>
            <a:r>
              <a:rPr lang="en-US" altLang="zh-CN" sz="1600" dirty="0"/>
              <a:t> Cheng, 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Bingqiang</a:t>
            </a:r>
            <a:r>
              <a:rPr lang="en-US" altLang="zh-CN" sz="1600" dirty="0"/>
              <a:t> Wang,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. Improved Parallel Processing of Massive De </a:t>
            </a:r>
            <a:r>
              <a:rPr lang="en-US" altLang="zh-CN" sz="1600" dirty="0" err="1"/>
              <a:t>Bruijn</a:t>
            </a:r>
            <a:r>
              <a:rPr lang="en-US" altLang="zh-CN" sz="1600" dirty="0"/>
              <a:t> Graph for Genome Assembly, </a:t>
            </a:r>
            <a:r>
              <a:rPr lang="en-US" altLang="zh-CN" sz="1600" dirty="0" err="1"/>
              <a:t>APWeb</a:t>
            </a:r>
            <a:r>
              <a:rPr lang="en-US" altLang="zh-CN" sz="1600" dirty="0"/>
              <a:t> 2013. (CCF </a:t>
            </a:r>
            <a:r>
              <a:rPr lang="zh-CN" altLang="en-US" sz="1600" dirty="0"/>
              <a:t>推荐会议 </a:t>
            </a:r>
            <a:r>
              <a:rPr lang="en-US" altLang="zh-CN" sz="1600" dirty="0"/>
              <a:t>3</a:t>
            </a:r>
            <a:r>
              <a:rPr lang="zh-CN" altLang="en-US" sz="1600" dirty="0"/>
              <a:t>区</a:t>
            </a:r>
            <a:r>
              <a:rPr lang="en-US" altLang="zh-CN" sz="1600" dirty="0"/>
              <a:t>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600" dirty="0"/>
              <a:t>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Jianrui</a:t>
            </a:r>
            <a:r>
              <a:rPr lang="en-US" altLang="zh-CN" sz="1600" dirty="0"/>
              <a:t> Yuan, </a:t>
            </a:r>
            <a:r>
              <a:rPr lang="en-US" altLang="zh-CN" sz="1600" dirty="0" err="1"/>
              <a:t>Yanjie</a:t>
            </a:r>
            <a:r>
              <a:rPr lang="en-US" altLang="zh-CN" sz="1600" dirty="0"/>
              <a:t> Wei, </a:t>
            </a:r>
            <a:r>
              <a:rPr lang="en-US" altLang="zh-CN" sz="1600" dirty="0" err="1"/>
              <a:t>Jiefeng</a:t>
            </a:r>
            <a:r>
              <a:rPr lang="en-US" altLang="zh-CN" sz="1600" dirty="0"/>
              <a:t> Cheng,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, Small World Asynchronous Parallel Model for Genome Assembly, NPC 2012 (CCF </a:t>
            </a:r>
            <a:r>
              <a:rPr lang="zh-CN" altLang="en-US" sz="1600" dirty="0"/>
              <a:t>推荐会议 </a:t>
            </a:r>
            <a:r>
              <a:rPr lang="en-US" altLang="zh-CN" sz="1600" dirty="0"/>
              <a:t>3</a:t>
            </a:r>
            <a:r>
              <a:rPr lang="zh-CN" altLang="en-US" sz="1600" dirty="0"/>
              <a:t>区</a:t>
            </a:r>
            <a:r>
              <a:rPr lang="en-US" altLang="zh-CN" sz="1600" dirty="0"/>
              <a:t>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600" dirty="0"/>
              <a:t>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Jianrui</a:t>
            </a:r>
            <a:r>
              <a:rPr lang="en-US" altLang="zh-CN" sz="1600" dirty="0"/>
              <a:t> Yuan, </a:t>
            </a:r>
            <a:r>
              <a:rPr lang="en-US" altLang="zh-CN" sz="1600" dirty="0" err="1"/>
              <a:t>Yanjie</a:t>
            </a:r>
            <a:r>
              <a:rPr lang="en-US" altLang="zh-CN" sz="1600" dirty="0"/>
              <a:t> Wei,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DGraph</a:t>
            </a:r>
            <a:r>
              <a:rPr lang="en-US" altLang="zh-CN" sz="1600" dirty="0"/>
              <a:t>: Algorithms for </a:t>
            </a:r>
            <a:r>
              <a:rPr lang="en-US" altLang="zh-CN" sz="1600" dirty="0" err="1"/>
              <a:t>Shortgun</a:t>
            </a:r>
            <a:r>
              <a:rPr lang="en-US" altLang="zh-CN" sz="1600" dirty="0"/>
              <a:t> Reads Assembly Using De </a:t>
            </a:r>
            <a:r>
              <a:rPr lang="en-US" altLang="zh-CN" sz="1600" dirty="0" err="1"/>
              <a:t>Bruijn</a:t>
            </a:r>
            <a:r>
              <a:rPr lang="en-US" altLang="zh-CN" sz="1600" dirty="0"/>
              <a:t> Graph, NPC 2012  (CCF </a:t>
            </a:r>
            <a:r>
              <a:rPr lang="zh-CN" altLang="en-US" sz="1600" dirty="0"/>
              <a:t>推荐会议 </a:t>
            </a:r>
            <a:r>
              <a:rPr lang="en-US" altLang="zh-CN" sz="1600" dirty="0"/>
              <a:t>3</a:t>
            </a:r>
            <a:r>
              <a:rPr lang="zh-CN" altLang="en-US" sz="1600" dirty="0"/>
              <a:t>区</a:t>
            </a:r>
            <a:r>
              <a:rPr lang="en-US" altLang="zh-CN" sz="1600" dirty="0" smtClean="0"/>
              <a:t>)</a:t>
            </a:r>
          </a:p>
          <a:p>
            <a:pPr lvl="0"/>
            <a:endParaRPr lang="en-US" altLang="zh-CN" sz="2400" b="1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b="1" dirty="0" smtClean="0"/>
              <a:t>其他论文</a:t>
            </a:r>
            <a:endParaRPr lang="en-US" altLang="zh-CN" sz="2400" b="1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600" b="1" dirty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Jianrui</a:t>
            </a:r>
            <a:r>
              <a:rPr lang="en-US" altLang="zh-CN" sz="1600" dirty="0"/>
              <a:t> Yuan,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Yanjie</a:t>
            </a:r>
            <a:r>
              <a:rPr lang="en-US" altLang="zh-CN" sz="1600" dirty="0"/>
              <a:t> Wei. An Energy Efficient Clustering Scheme for Data Aggregation in Wireless Sensor Networks, </a:t>
            </a:r>
            <a:r>
              <a:rPr lang="en-US" altLang="zh-CN" sz="1600" dirty="0" smtClean="0"/>
              <a:t>JCST, </a:t>
            </a:r>
            <a:r>
              <a:rPr lang="en-US" altLang="zh-CN" sz="1600" dirty="0"/>
              <a:t>2013   </a:t>
            </a:r>
            <a:r>
              <a:rPr lang="en-US" altLang="zh-CN" sz="1600" b="1" dirty="0" smtClean="0"/>
              <a:t>(JCR 3</a:t>
            </a:r>
            <a:r>
              <a:rPr lang="zh-CN" altLang="en-US" sz="1600" b="1" dirty="0" smtClean="0"/>
              <a:t>区</a:t>
            </a:r>
            <a:r>
              <a:rPr lang="en-US" altLang="zh-CN" sz="1600" b="1" dirty="0" smtClean="0"/>
              <a:t>, IF=0.642)</a:t>
            </a:r>
            <a:endParaRPr lang="en-US" altLang="zh-CN" sz="16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b="1" dirty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Jianrui</a:t>
            </a:r>
            <a:r>
              <a:rPr lang="en-US" altLang="zh-CN" sz="1600" dirty="0"/>
              <a:t> Yuan,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Liansheng</a:t>
            </a:r>
            <a:r>
              <a:rPr lang="en-US" altLang="zh-CN" sz="1600" dirty="0"/>
              <a:t> Tan, Power Adjusting Algorithm: A New Cross-Layer Power Saving Mechanism for Mobile Ad-Hoc Networks. </a:t>
            </a:r>
            <a:r>
              <a:rPr lang="en-US" altLang="zh-CN" sz="1600" dirty="0" smtClean="0"/>
              <a:t>JCST, </a:t>
            </a:r>
            <a:r>
              <a:rPr lang="en-US" altLang="zh-CN" sz="1600" dirty="0"/>
              <a:t>2013 </a:t>
            </a:r>
            <a:r>
              <a:rPr lang="en-US" altLang="zh-CN" sz="1600" b="1" dirty="0" smtClean="0"/>
              <a:t>(</a:t>
            </a:r>
            <a:r>
              <a:rPr lang="en-US" altLang="zh-CN" sz="1600" b="1" dirty="0"/>
              <a:t>JCR 3</a:t>
            </a:r>
            <a:r>
              <a:rPr lang="zh-CN" altLang="en-US" sz="1600" b="1" dirty="0"/>
              <a:t>区</a:t>
            </a:r>
            <a:r>
              <a:rPr lang="en-US" altLang="zh-CN" sz="1600" b="1" dirty="0"/>
              <a:t>, IF=0.642</a:t>
            </a:r>
            <a:r>
              <a:rPr lang="en-US" altLang="zh-CN" sz="1600" dirty="0" smtClean="0"/>
              <a:t>)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 err="1"/>
              <a:t>Liansheng</a:t>
            </a:r>
            <a:r>
              <a:rPr lang="en-US" altLang="zh-CN" sz="1600" dirty="0"/>
              <a:t> Tan, </a:t>
            </a:r>
            <a:r>
              <a:rPr lang="en-US" altLang="zh-CN" sz="1600" b="1" dirty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Jie</a:t>
            </a:r>
            <a:r>
              <a:rPr lang="en-US" altLang="zh-CN" sz="1600" dirty="0"/>
              <a:t> Li and Han-</a:t>
            </a:r>
            <a:r>
              <a:rPr lang="en-US" altLang="zh-CN" sz="1600" dirty="0" err="1"/>
              <a:t>Chieh</a:t>
            </a:r>
            <a:r>
              <a:rPr lang="en-US" altLang="zh-CN" sz="1600" dirty="0"/>
              <a:t> Chao. PH-MAC: A Periodically Hybrid MAC Protocol for Wireless sensor networks, </a:t>
            </a:r>
            <a:r>
              <a:rPr lang="en-US" altLang="zh-CN" sz="1600" dirty="0" smtClean="0"/>
              <a:t>JIT, </a:t>
            </a:r>
            <a:r>
              <a:rPr lang="en-US" altLang="zh-CN" sz="1600" dirty="0"/>
              <a:t>2007. </a:t>
            </a:r>
            <a:r>
              <a:rPr lang="en-US" altLang="zh-CN" sz="1600" b="1" dirty="0"/>
              <a:t>(JCR </a:t>
            </a:r>
            <a:r>
              <a:rPr lang="en-US" altLang="zh-CN" sz="1600" b="1" dirty="0" smtClean="0"/>
              <a:t>4</a:t>
            </a:r>
            <a:r>
              <a:rPr lang="zh-CN" altLang="en-US" sz="1600" b="1" dirty="0" smtClean="0"/>
              <a:t>区</a:t>
            </a:r>
            <a:r>
              <a:rPr lang="en-US" altLang="zh-CN" sz="1600" b="1" dirty="0"/>
              <a:t>, </a:t>
            </a:r>
            <a:r>
              <a:rPr lang="en-US" altLang="zh-CN" sz="1600" b="1" dirty="0" smtClean="0"/>
              <a:t>IF=0.481)</a:t>
            </a:r>
            <a:endParaRPr lang="en-US" altLang="zh-CN" sz="1600" b="1" dirty="0"/>
          </a:p>
          <a:p>
            <a:endParaRPr lang="en-US" altLang="zh-CN" sz="1800" dirty="0"/>
          </a:p>
          <a:p>
            <a:pPr marL="342900" lvl="0" indent="-342900">
              <a:buFont typeface="+mj-lt"/>
              <a:buAutoNum type="arabicPeriod"/>
            </a:pPr>
            <a:endParaRPr lang="zh-CN" altLang="zh-CN" sz="1800" dirty="0"/>
          </a:p>
          <a:p>
            <a:pPr lvl="0"/>
            <a:endParaRPr lang="zh-CN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61174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参考文献</a:t>
            </a:r>
          </a:p>
        </p:txBody>
      </p:sp>
      <p:sp>
        <p:nvSpPr>
          <p:cNvPr id="4" name="Content Placeholder 2"/>
          <p:cNvSpPr>
            <a:spLocks/>
          </p:cNvSpPr>
          <p:nvPr/>
        </p:nvSpPr>
        <p:spPr bwMode="auto">
          <a:xfrm>
            <a:off x="296862" y="1268412"/>
            <a:ext cx="8505607" cy="558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b="1" dirty="0" smtClean="0"/>
              <a:t>组装基本理论</a:t>
            </a:r>
            <a:endParaRPr lang="en-US" altLang="zh-CN" sz="2400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zh-CN" sz="1800" b="1" dirty="0"/>
              <a:t>Pevzner PA</a:t>
            </a:r>
            <a:r>
              <a:rPr lang="en-US" altLang="zh-CN" sz="1800" dirty="0"/>
              <a:t>, An </a:t>
            </a:r>
            <a:r>
              <a:rPr lang="en-US" altLang="zh-CN" sz="1800" dirty="0" err="1"/>
              <a:t>Eulerian</a:t>
            </a:r>
            <a:r>
              <a:rPr lang="en-US" altLang="zh-CN" sz="1800" dirty="0"/>
              <a:t> path approach to DNA fragment assembly. PNAS  2001.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800" b="1" dirty="0" err="1"/>
              <a:t>Mihai</a:t>
            </a:r>
            <a:r>
              <a:rPr lang="en-US" altLang="zh-CN" sz="1800" b="1" dirty="0"/>
              <a:t>  Pop</a:t>
            </a:r>
            <a:r>
              <a:rPr lang="en-US" altLang="zh-CN" sz="1800" dirty="0"/>
              <a:t>, Genome sequence assembly: Algorithms and issues. Computer, 2002.</a:t>
            </a:r>
          </a:p>
          <a:p>
            <a:endParaRPr lang="en-US" altLang="zh-CN" sz="2400" dirty="0"/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 smtClean="0"/>
              <a:t> </a:t>
            </a:r>
            <a:r>
              <a:rPr lang="zh-CN" altLang="en-US" sz="2400" b="1" dirty="0"/>
              <a:t>单</a:t>
            </a:r>
            <a:r>
              <a:rPr lang="zh-CN" altLang="en-US" sz="2400" b="1" dirty="0" smtClean="0"/>
              <a:t>基因组组装</a:t>
            </a:r>
            <a:endParaRPr lang="en-US" altLang="zh-CN" sz="2400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/>
              <a:t>SOAPdenovo</a:t>
            </a:r>
            <a:r>
              <a:rPr lang="en-US" altLang="zh-CN" sz="1800" dirty="0"/>
              <a:t>:  Li </a:t>
            </a:r>
            <a:r>
              <a:rPr lang="en-US" altLang="zh-CN" sz="1800" dirty="0" err="1"/>
              <a:t>Ruiqiang</a:t>
            </a:r>
            <a:r>
              <a:rPr lang="en-US" altLang="zh-CN" sz="1800" dirty="0"/>
              <a:t>, De novo assembly of human genomes with massively parallel short read sequencing. Genome research 2010.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/>
              <a:t>PASHA</a:t>
            </a:r>
            <a:r>
              <a:rPr lang="en-US" altLang="zh-CN" sz="1800" dirty="0"/>
              <a:t>:   Liu </a:t>
            </a:r>
            <a:r>
              <a:rPr lang="en-US" altLang="zh-CN" sz="1800" dirty="0" err="1"/>
              <a:t>Yunchao</a:t>
            </a:r>
            <a:r>
              <a:rPr lang="en-US" altLang="zh-CN" sz="1800" dirty="0"/>
              <a:t>, Parallelized short read assembly of large genomes using de </a:t>
            </a:r>
            <a:r>
              <a:rPr lang="en-US" altLang="zh-CN" sz="1800" dirty="0" err="1"/>
              <a:t>Bruijn</a:t>
            </a:r>
            <a:r>
              <a:rPr lang="en-US" altLang="zh-CN" sz="1800" dirty="0"/>
              <a:t> graphs. BMC bioinformatics 2011.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smtClean="0"/>
              <a:t>ABySS</a:t>
            </a:r>
            <a:r>
              <a:rPr lang="en-US" altLang="zh-CN" sz="1800" dirty="0"/>
              <a:t>:  Simpson JT, ABySS: a parallel assembler for short read sequence data. Genome research 2009.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smtClean="0"/>
              <a:t>YAGA</a:t>
            </a:r>
            <a:r>
              <a:rPr lang="en-US" altLang="zh-CN" sz="1800" dirty="0"/>
              <a:t>:   Jackson BG, Parallel short sequence assembly of </a:t>
            </a:r>
            <a:r>
              <a:rPr lang="en-US" altLang="zh-CN" sz="1800" dirty="0" err="1"/>
              <a:t>transcriptomes</a:t>
            </a:r>
            <a:r>
              <a:rPr lang="en-US" altLang="zh-CN" sz="1800" dirty="0"/>
              <a:t>. BMC bioinformatics 2009.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smtClean="0"/>
              <a:t>Ray</a:t>
            </a:r>
            <a:r>
              <a:rPr lang="en-US" altLang="zh-CN" sz="1800" dirty="0"/>
              <a:t>: </a:t>
            </a:r>
            <a:r>
              <a:rPr lang="en-US" altLang="zh-CN" sz="1800" dirty="0" err="1"/>
              <a:t>Boisvert</a:t>
            </a:r>
            <a:r>
              <a:rPr lang="en-US" altLang="zh-CN" sz="1800" dirty="0"/>
              <a:t> S, Ray: simultaneous assembly of reads from a mix of </a:t>
            </a:r>
            <a:r>
              <a:rPr lang="en-US" altLang="zh-CN" sz="1800" dirty="0" err="1"/>
              <a:t>highthroughput</a:t>
            </a:r>
            <a:r>
              <a:rPr lang="en-US" altLang="zh-CN" sz="1800" dirty="0"/>
              <a:t> sequencing technologies. Journal of Computational Biology 2010</a:t>
            </a:r>
            <a:r>
              <a:rPr lang="en-US" altLang="zh-CN" sz="1800" dirty="0" smtClean="0"/>
              <a:t>.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913944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参考文献</a:t>
            </a:r>
          </a:p>
        </p:txBody>
      </p:sp>
      <p:sp>
        <p:nvSpPr>
          <p:cNvPr id="4" name="Content Placeholder 2"/>
          <p:cNvSpPr>
            <a:spLocks/>
          </p:cNvSpPr>
          <p:nvPr/>
        </p:nvSpPr>
        <p:spPr bwMode="auto">
          <a:xfrm>
            <a:off x="296863" y="1268412"/>
            <a:ext cx="8190572" cy="558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b="1" dirty="0"/>
              <a:t>宏</a:t>
            </a:r>
            <a:r>
              <a:rPr lang="zh-CN" altLang="en-US" sz="2400" b="1" dirty="0" smtClean="0"/>
              <a:t>基因组组装</a:t>
            </a:r>
            <a:endParaRPr lang="en-US" altLang="zh-CN" sz="24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/>
              <a:t>Ray-meta: </a:t>
            </a:r>
            <a:r>
              <a:rPr lang="en-US" altLang="zh-CN" sz="1800" dirty="0" err="1"/>
              <a:t>Boisver</a:t>
            </a:r>
            <a:r>
              <a:rPr lang="en-US" altLang="zh-CN" sz="1800" dirty="0"/>
              <a:t> S,  Ray Meta: scalable de novo </a:t>
            </a:r>
            <a:r>
              <a:rPr lang="en-US" altLang="zh-CN" sz="1800" dirty="0" err="1"/>
              <a:t>metagenome</a:t>
            </a:r>
            <a:r>
              <a:rPr lang="en-US" altLang="zh-CN" sz="1800" dirty="0"/>
              <a:t> assembly and profiling, genome biology, </a:t>
            </a:r>
            <a:r>
              <a:rPr lang="en-US" altLang="zh-CN" sz="1800" dirty="0" smtClean="0"/>
              <a:t>2012</a:t>
            </a:r>
            <a:endParaRPr lang="en-US" altLang="zh-CN" sz="2400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err="1" smtClean="0"/>
              <a:t>MetaVelvet</a:t>
            </a:r>
            <a:r>
              <a:rPr lang="en-US" altLang="zh-CN" sz="1800" b="1" dirty="0" smtClean="0"/>
              <a:t>: </a:t>
            </a:r>
            <a:r>
              <a:rPr lang="en-US" altLang="zh-CN" sz="1800" dirty="0" err="1" smtClean="0"/>
              <a:t>Namiki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T,  </a:t>
            </a:r>
            <a:r>
              <a:rPr lang="en-US" altLang="zh-CN" sz="1800" dirty="0" err="1"/>
              <a:t>MetaVelvet</a:t>
            </a:r>
            <a:r>
              <a:rPr lang="en-US" altLang="zh-CN" sz="1800" dirty="0"/>
              <a:t>: an extension of Velvet assembler to de novo </a:t>
            </a:r>
            <a:r>
              <a:rPr lang="en-US" altLang="zh-CN" sz="1800" dirty="0" err="1"/>
              <a:t>metagenome</a:t>
            </a:r>
            <a:r>
              <a:rPr lang="en-US" altLang="zh-CN" sz="1800" dirty="0"/>
              <a:t> assembly from short sequence reads, NAR, 2012</a:t>
            </a:r>
            <a:r>
              <a:rPr lang="en-US" altLang="zh-CN" sz="1800" dirty="0" smtClean="0"/>
              <a:t>.</a:t>
            </a:r>
            <a:endParaRPr lang="en-US" altLang="zh-CN" sz="18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smtClean="0"/>
              <a:t>IDBA-UD: </a:t>
            </a:r>
            <a:r>
              <a:rPr lang="en-US" altLang="zh-CN" sz="1800" dirty="0" err="1" smtClean="0"/>
              <a:t>Peng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Yu, IDBA-UD: a de novo assembler for single-cell and </a:t>
            </a:r>
            <a:r>
              <a:rPr lang="en-US" altLang="zh-CN" sz="1800" dirty="0" err="1"/>
              <a:t>metagenomic</a:t>
            </a:r>
            <a:r>
              <a:rPr lang="en-US" altLang="zh-CN" sz="1800" dirty="0"/>
              <a:t> sequencing data with highly uneven depth, Bioinformatics. 2012</a:t>
            </a:r>
          </a:p>
          <a:p>
            <a:endParaRPr lang="en-US" altLang="zh-CN" sz="2400" dirty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b="1" dirty="0"/>
              <a:t>组装竞赛</a:t>
            </a:r>
            <a:endParaRPr lang="en-US" altLang="zh-CN" sz="24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smtClean="0"/>
              <a:t>GAGE: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SL </a:t>
            </a:r>
            <a:r>
              <a:rPr lang="en-US" altLang="zh-CN" sz="1800" dirty="0" err="1"/>
              <a:t>Salzberg</a:t>
            </a:r>
            <a:r>
              <a:rPr lang="en-US" altLang="zh-CN" sz="1800" dirty="0"/>
              <a:t>, GAGE: A critical evaluation of genome assemblies and assembly algorithms, Genome Research, </a:t>
            </a:r>
            <a:r>
              <a:rPr lang="en-US" altLang="zh-CN" sz="1800" dirty="0" smtClean="0"/>
              <a:t>2011</a:t>
            </a:r>
            <a:endParaRPr lang="en-US" altLang="zh-CN" sz="18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err="1" smtClean="0"/>
              <a:t>Assemblathon</a:t>
            </a:r>
            <a:r>
              <a:rPr lang="en-US" altLang="zh-CN" sz="1800" b="1" dirty="0" smtClean="0"/>
              <a:t> 2</a:t>
            </a:r>
            <a:r>
              <a:rPr lang="en-US" altLang="zh-CN" sz="1800" dirty="0" smtClean="0"/>
              <a:t>: KR </a:t>
            </a:r>
            <a:r>
              <a:rPr lang="en-US" altLang="zh-CN" sz="1800" dirty="0" err="1"/>
              <a:t>Bradnam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Assemblathon</a:t>
            </a:r>
            <a:r>
              <a:rPr lang="en-US" altLang="zh-CN" sz="1800" dirty="0"/>
              <a:t> 2: evaluating de novo methods of genome assembly in three vertebrate species, Giga Science, 2014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err="1"/>
              <a:t>GrePraGChallenge</a:t>
            </a:r>
            <a:r>
              <a:rPr lang="en-US" altLang="zh-CN" sz="1800" dirty="0"/>
              <a:t>: http://genome.jgi.doe.gov/GrePraGChallenge_2/GrePraGChallenge_2.info.html</a:t>
            </a:r>
          </a:p>
          <a:p>
            <a:pPr marL="285750" indent="-285750">
              <a:buFont typeface="Arial" charset="0"/>
              <a:buChar char="•"/>
            </a:pPr>
            <a:endParaRPr lang="en-US" altLang="zh-CN" sz="24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116505" y="0"/>
            <a:ext cx="8229600" cy="1143000"/>
          </a:xfrm>
        </p:spPr>
        <p:txBody>
          <a:bodyPr/>
          <a:lstStyle/>
          <a:p>
            <a:pPr algn="l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致谢</a:t>
            </a:r>
          </a:p>
        </p:txBody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>
          <a:xfrm>
            <a:off x="116505" y="1243297"/>
            <a:ext cx="7110790" cy="466097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2800" dirty="0" smtClean="0"/>
              <a:t>魏彦杰博士   先进院</a:t>
            </a:r>
          </a:p>
          <a:p>
            <a:r>
              <a:rPr lang="zh-CN" altLang="en-US" sz="2800" dirty="0" smtClean="0"/>
              <a:t>王丙强博士   华大基因</a:t>
            </a:r>
            <a:r>
              <a:rPr lang="en-US" altLang="zh-CN" sz="2800" dirty="0" smtClean="0"/>
              <a:t>/</a:t>
            </a:r>
            <a:r>
              <a:rPr lang="zh-CN" altLang="en-US" sz="2800" dirty="0" smtClean="0"/>
              <a:t>深圳超算</a:t>
            </a:r>
            <a:endParaRPr lang="en-US" altLang="zh-CN" sz="2800" dirty="0" smtClean="0"/>
          </a:p>
          <a:p>
            <a:r>
              <a:rPr lang="zh-CN" altLang="en-US" sz="2800" dirty="0"/>
              <a:t>成杰峰博士   先进</a:t>
            </a:r>
            <a:r>
              <a:rPr lang="zh-CN" altLang="en-US" sz="2800" dirty="0" smtClean="0"/>
              <a:t>院</a:t>
            </a:r>
            <a:r>
              <a:rPr lang="en-US" altLang="zh-CN" sz="2800" dirty="0" smtClean="0"/>
              <a:t>/</a:t>
            </a:r>
            <a:r>
              <a:rPr lang="zh-CN" altLang="en-US" sz="2800" dirty="0" smtClean="0"/>
              <a:t>诺亚实验室</a:t>
            </a:r>
            <a:endParaRPr lang="zh-CN" altLang="en-US" sz="2800" dirty="0"/>
          </a:p>
          <a:p>
            <a:r>
              <a:rPr lang="en-US" altLang="zh-CN" sz="2800" dirty="0" err="1" smtClean="0"/>
              <a:t>Pavan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Balaji</a:t>
            </a:r>
            <a:r>
              <a:rPr lang="en-US" altLang="zh-CN" sz="2800" dirty="0" smtClean="0"/>
              <a:t>     </a:t>
            </a:r>
            <a:r>
              <a:rPr lang="zh-CN" altLang="en-US" sz="2800" dirty="0" smtClean="0"/>
              <a:t>阿贡实验室</a:t>
            </a:r>
            <a:endParaRPr lang="en-US" altLang="zh-CN" sz="2800" dirty="0" smtClean="0"/>
          </a:p>
          <a:p>
            <a:r>
              <a:rPr lang="en-US" altLang="zh-CN" sz="2800" dirty="0" err="1" smtClean="0"/>
              <a:t>Sanmin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Seo</a:t>
            </a:r>
            <a:r>
              <a:rPr lang="en-US" altLang="zh-CN" sz="2800" dirty="0" smtClean="0"/>
              <a:t>     </a:t>
            </a:r>
            <a:r>
              <a:rPr lang="zh-CN" altLang="en-US" sz="2800" dirty="0" smtClean="0"/>
              <a:t>阿</a:t>
            </a:r>
            <a:r>
              <a:rPr lang="zh-CN" altLang="en-US" sz="2800" dirty="0"/>
              <a:t>贡</a:t>
            </a:r>
            <a:r>
              <a:rPr lang="zh-CN" altLang="en-US" sz="2800" dirty="0" smtClean="0"/>
              <a:t>实验室</a:t>
            </a:r>
            <a:endParaRPr lang="en-US" altLang="zh-CN" sz="2800" dirty="0" smtClean="0"/>
          </a:p>
          <a:p>
            <a:r>
              <a:rPr lang="en-US" altLang="zh-CN" sz="2800" dirty="0" err="1" smtClean="0"/>
              <a:t>Huiwei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Lv</a:t>
            </a:r>
            <a:r>
              <a:rPr lang="en-US" altLang="zh-CN" sz="2800" dirty="0" smtClean="0"/>
              <a:t>         </a:t>
            </a:r>
            <a:r>
              <a:rPr lang="zh-CN" altLang="en-US" sz="2800" dirty="0" smtClean="0"/>
              <a:t>计算所</a:t>
            </a:r>
            <a:r>
              <a:rPr lang="en-US" altLang="zh-CN" sz="2800" dirty="0" smtClean="0"/>
              <a:t>/</a:t>
            </a:r>
            <a:r>
              <a:rPr lang="zh-CN" altLang="en-US" sz="2800" dirty="0" smtClean="0"/>
              <a:t>阿</a:t>
            </a:r>
            <a:r>
              <a:rPr lang="zh-CN" altLang="en-US" sz="2800" dirty="0"/>
              <a:t>贡</a:t>
            </a:r>
            <a:r>
              <a:rPr lang="zh-CN" altLang="en-US" sz="2800" dirty="0" smtClean="0"/>
              <a:t>实验室</a:t>
            </a:r>
            <a:endParaRPr lang="en-US" altLang="zh-CN" sz="2800" dirty="0" smtClean="0"/>
          </a:p>
          <a:p>
            <a:r>
              <a:rPr lang="en-US" altLang="zh-CN" sz="2800" dirty="0" smtClean="0"/>
              <a:t>Robert </a:t>
            </a:r>
            <a:r>
              <a:rPr lang="en-US" altLang="zh-CN" sz="2800" dirty="0"/>
              <a:t>Latham</a:t>
            </a:r>
            <a:r>
              <a:rPr lang="zh-CN" altLang="en-US" sz="2800" dirty="0"/>
              <a:t>阿贡</a:t>
            </a:r>
            <a:r>
              <a:rPr lang="zh-CN" altLang="en-US" sz="2800" dirty="0" smtClean="0"/>
              <a:t>实验室</a:t>
            </a:r>
            <a:endParaRPr lang="en-US" altLang="zh-CN" sz="2800" dirty="0" smtClean="0"/>
          </a:p>
          <a:p>
            <a:r>
              <a:rPr lang="en-US" altLang="zh-CN" sz="2800" dirty="0" smtClean="0"/>
              <a:t>Dong Chen       IBM TJ Watson</a:t>
            </a:r>
          </a:p>
          <a:p>
            <a:r>
              <a:rPr lang="en-US" altLang="zh-CN" sz="2800" dirty="0" err="1" smtClean="0"/>
              <a:t>Xinyu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Que</a:t>
            </a:r>
            <a:r>
              <a:rPr lang="en-US" altLang="zh-CN" sz="2800" dirty="0" smtClean="0"/>
              <a:t>        </a:t>
            </a:r>
            <a:r>
              <a:rPr lang="en-US" altLang="zh-CN" sz="2800" dirty="0"/>
              <a:t>IBM TJ </a:t>
            </a:r>
            <a:r>
              <a:rPr lang="en-US" altLang="zh-CN" sz="2800" dirty="0" smtClean="0"/>
              <a:t>Watson</a:t>
            </a:r>
          </a:p>
          <a:p>
            <a:endParaRPr lang="zh-CN" altLang="en-US" dirty="0" smtClean="0"/>
          </a:p>
          <a:p>
            <a:pPr>
              <a:buFont typeface="Arial" charset="0"/>
              <a:buNone/>
            </a:pPr>
            <a:endParaRPr lang="zh-CN" altLang="en-US" dirty="0" smtClean="0"/>
          </a:p>
        </p:txBody>
      </p:sp>
      <p:pic>
        <p:nvPicPr>
          <p:cNvPr id="542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60" y="3755745"/>
            <a:ext cx="2215399" cy="151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2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0" y="5995618"/>
            <a:ext cx="5670630" cy="853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 descr="AN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141" y="5591761"/>
            <a:ext cx="3311859" cy="124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A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335" y="1358770"/>
            <a:ext cx="2092035" cy="209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现</a:t>
            </a:r>
            <a:r>
              <a:rPr lang="zh-CN" altLang="en-US" sz="4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已取得</a:t>
            </a: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进展</a:t>
            </a:r>
            <a:r>
              <a:rPr lang="en-US" altLang="zh-CN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问题挑战</a:t>
            </a:r>
            <a:endParaRPr lang="en-US" altLang="zh-CN" sz="4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386533" y="1313765"/>
            <a:ext cx="8190911" cy="5400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 smtClean="0"/>
              <a:t>高可扩展</a:t>
            </a:r>
            <a:endParaRPr lang="en-US" altLang="zh-CN" sz="2400" dirty="0" smtClean="0"/>
          </a:p>
          <a:p>
            <a:r>
              <a:rPr lang="zh-CN" altLang="en-US" sz="2000" dirty="0" smtClean="0"/>
              <a:t>图</a:t>
            </a:r>
            <a:r>
              <a:rPr lang="zh-CN" altLang="en-US" sz="2000" dirty="0"/>
              <a:t>收缩</a:t>
            </a:r>
            <a:r>
              <a:rPr lang="zh-CN" altLang="en-US" sz="2000" dirty="0" smtClean="0"/>
              <a:t>部分内存压缩和扩展性</a:t>
            </a:r>
            <a:endParaRPr lang="en-US" altLang="zh-CN" sz="2000" dirty="0" smtClean="0"/>
          </a:p>
          <a:p>
            <a:pPr marL="0" indent="0">
              <a:buFont typeface="Arial" charset="0"/>
              <a:buNone/>
            </a:pPr>
            <a:endParaRPr lang="en-US" altLang="zh-CN" sz="2400" dirty="0" smtClean="0"/>
          </a:p>
          <a:p>
            <a:pPr marL="0" indent="0">
              <a:buNone/>
            </a:pPr>
            <a:r>
              <a:rPr lang="zh-CN" altLang="en-US" sz="2400" dirty="0" smtClean="0"/>
              <a:t>高效率</a:t>
            </a:r>
            <a:endParaRPr lang="en-US" altLang="zh-CN" sz="2400" dirty="0" smtClean="0"/>
          </a:p>
          <a:p>
            <a:r>
              <a:rPr lang="zh-CN" altLang="en-US" sz="2000" dirty="0" smtClean="0"/>
              <a:t>进一步提高系统效率</a:t>
            </a:r>
            <a:endParaRPr lang="en-US" altLang="zh-CN" sz="2000" dirty="0" smtClean="0"/>
          </a:p>
          <a:p>
            <a:r>
              <a:rPr lang="en-US" altLang="zh-CN" sz="2000" dirty="0" smtClean="0"/>
              <a:t>IO/</a:t>
            </a:r>
            <a:r>
              <a:rPr lang="zh-CN" altLang="en-US" sz="2000" dirty="0" smtClean="0"/>
              <a:t>计算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通讯重叠技术对现有系统的影响</a:t>
            </a: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Font typeface="Arial" charset="0"/>
              <a:buNone/>
            </a:pPr>
            <a:r>
              <a:rPr lang="zh-CN" altLang="en-US" sz="2400" dirty="0" smtClean="0"/>
              <a:t>高质量</a:t>
            </a:r>
            <a:endParaRPr lang="en-US" altLang="zh-CN" sz="2400" dirty="0" smtClean="0"/>
          </a:p>
          <a:p>
            <a:r>
              <a:rPr lang="zh-CN" altLang="en-US" sz="2000" dirty="0" smtClean="0"/>
              <a:t>变长</a:t>
            </a:r>
            <a:r>
              <a:rPr lang="en-US" altLang="zh-CN" sz="2000" dirty="0" err="1" smtClean="0"/>
              <a:t>kmer</a:t>
            </a:r>
            <a:r>
              <a:rPr lang="zh-CN" altLang="en-US" sz="2000" dirty="0" smtClean="0"/>
              <a:t>分支节点解耦策略的验证</a:t>
            </a:r>
            <a:endParaRPr lang="en-US" altLang="zh-CN" sz="2000" dirty="0" smtClean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生物应用背景</a:t>
            </a:r>
            <a:endParaRPr lang="en-US" altLang="zh-CN" sz="2400" dirty="0"/>
          </a:p>
          <a:p>
            <a:pPr>
              <a:buFont typeface="Arial" pitchFamily="34" charset="0"/>
              <a:buChar char="•"/>
            </a:pPr>
            <a:r>
              <a:rPr lang="zh-CN" altLang="en-US" sz="2000" dirty="0" smtClean="0"/>
              <a:t>千人基因组，宏基因组，癌症患者数据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03939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夏至">
    <a:dk1>
      <a:sysClr val="windowText" lastClr="000000"/>
    </a:dk1>
    <a:lt1>
      <a:sysClr val="window" lastClr="FFFFFF"/>
    </a:lt1>
    <a:dk2>
      <a:srgbClr val="4F271C"/>
    </a:dk2>
    <a:lt2>
      <a:srgbClr val="E7DEC9"/>
    </a:lt2>
    <a:accent1>
      <a:srgbClr val="3891A7"/>
    </a:accent1>
    <a:accent2>
      <a:srgbClr val="FEB80A"/>
    </a:accent2>
    <a:accent3>
      <a:srgbClr val="C32D2E"/>
    </a:accent3>
    <a:accent4>
      <a:srgbClr val="84AA33"/>
    </a:accent4>
    <a:accent5>
      <a:srgbClr val="964305"/>
    </a:accent5>
    <a:accent6>
      <a:srgbClr val="475A8D"/>
    </a:accent6>
    <a:hlink>
      <a:srgbClr val="8DC765"/>
    </a:hlink>
    <a:folHlink>
      <a:srgbClr val="AA8A1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54131</TotalTime>
  <Words>3028</Words>
  <Application>Microsoft Office PowerPoint</Application>
  <PresentationFormat>全屏显示(4:3)</PresentationFormat>
  <Paragraphs>520</Paragraphs>
  <Slides>28</Slides>
  <Notes>1</Notes>
  <HiddenSlides>1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29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拟采取的技术方案-高扩展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参考文献</vt:lpstr>
      <vt:lpstr>参考文献</vt:lpstr>
      <vt:lpstr>致谢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互联网数据工程重点实验室</dc:title>
  <dc:creator>yueqiang</dc:creator>
  <cp:lastModifiedBy>孟金涛</cp:lastModifiedBy>
  <cp:revision>6967</cp:revision>
  <dcterms:modified xsi:type="dcterms:W3CDTF">2016-01-14T06:11:01Z</dcterms:modified>
</cp:coreProperties>
</file>