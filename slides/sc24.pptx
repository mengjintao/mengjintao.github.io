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sldIdLst>
    <p:sldId id="264" r:id="rId3"/>
    <p:sldId id="263" r:id="rId5"/>
    <p:sldId id="268" r:id="rId6"/>
    <p:sldId id="269" r:id="rId7"/>
    <p:sldId id="274" r:id="rId8"/>
    <p:sldId id="272" r:id="rId9"/>
    <p:sldId id="273" r:id="rId10"/>
    <p:sldId id="275" r:id="rId11"/>
    <p:sldId id="276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9" r:id="rId22"/>
    <p:sldId id="300" r:id="rId23"/>
    <p:sldId id="301" r:id="rId24"/>
    <p:sldId id="312" r:id="rId25"/>
    <p:sldId id="313" r:id="rId26"/>
    <p:sldId id="318" r:id="rId27"/>
    <p:sldId id="315" r:id="rId28"/>
    <p:sldId id="317" r:id="rId29"/>
    <p:sldId id="319" r:id="rId30"/>
    <p:sldId id="320" r:id="rId31"/>
    <p:sldId id="322" r:id="rId32"/>
    <p:sldId id="323" r:id="rId33"/>
    <p:sldId id="324" r:id="rId34"/>
    <p:sldId id="298" r:id="rId35"/>
    <p:sldId id="299" r:id="rId36"/>
    <p:sldId id="290" r:id="rId37"/>
    <p:sldId id="291" r:id="rId38"/>
    <p:sldId id="292" r:id="rId39"/>
    <p:sldId id="293" r:id="rId40"/>
    <p:sldId id="294" r:id="rId41"/>
    <p:sldId id="295" r:id="rId42"/>
    <p:sldId id="336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AE3F5"/>
    <a:srgbClr val="FFF2CA"/>
    <a:srgbClr val="E3F2D9"/>
    <a:srgbClr val="FADBDF"/>
    <a:srgbClr val="E3CECD"/>
    <a:srgbClr val="770C0D"/>
    <a:srgbClr val="EB000D"/>
    <a:srgbClr val="FF710A"/>
    <a:srgbClr val="320000"/>
    <a:srgbClr val="35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5"/>
    <p:restoredTop sz="96327"/>
  </p:normalViewPr>
  <p:slideViewPr>
    <p:cSldViewPr snapToGrid="0">
      <p:cViewPr varScale="1">
        <p:scale>
          <a:sx n="115" d="100"/>
          <a:sy n="115" d="100"/>
        </p:scale>
        <p:origin x="224" y="1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F6F01D-D3BC-DF4E-B083-77105157FA0E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39CAD-C7C8-7C4A-836D-ABFB2AC8EA9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This is the work I completed during my master degree</a:t>
            </a:r>
            <a:r>
              <a:rPr lang="en-US" altLang="zh-CN"/>
              <a:t> in </a:t>
            </a:r>
            <a:r>
              <a:rPr lang="en-US" altLang="zh-CN" dirty="0">
                <a:latin typeface="Times New Roman" panose="02020603050405020304" charset="0"/>
                <a:ea typeface="宋体" charset="0"/>
                <a:cs typeface="Times New Roman" panose="02020603050405020304" charset="0"/>
                <a:sym typeface="+mn-ea"/>
              </a:rPr>
              <a:t>Shenzhen Institute of Advanced Technology and internship at Tencent AI Lab.</a:t>
            </a:r>
            <a:endParaRPr lang="en-US" altLang="zh-CN" dirty="0">
              <a:latin typeface="Times New Roman" panose="02020603050405020304" charset="0"/>
              <a:ea typeface="宋体" charset="0"/>
              <a:cs typeface="Times New Roman" panose="02020603050405020304" charset="0"/>
              <a:sym typeface="+mn-ea"/>
            </a:endParaRPr>
          </a:p>
          <a:p>
            <a:r>
              <a:rPr lang="en-US" altLang="zh-CN" dirty="0">
                <a:latin typeface="Times New Roman" panose="02020603050405020304" charset="0"/>
                <a:ea typeface="宋体" charset="0"/>
                <a:cs typeface="Times New Roman" panose="02020603050405020304" charset="0"/>
                <a:sym typeface="+mn-ea"/>
              </a:rPr>
              <a:t>Now I am a second year Phd student in Tokyo Institute of Technology and </a:t>
            </a:r>
            <a:r>
              <a:rPr lang="en-US" altLang="zh-CN" dirty="0">
                <a:latin typeface="Times New Roman" panose="02020603050405020304" charset="0"/>
                <a:ea typeface="宋体" charset="0"/>
                <a:cs typeface="Times New Roman" panose="02020603050405020304" charset="0"/>
                <a:sym typeface="+mn-ea"/>
              </a:rPr>
              <a:t>I am also a Junior Research Associate in RIKEN </a:t>
            </a:r>
            <a:r>
              <a:rPr lang="en-US" altLang="zh-CN" dirty="0">
                <a:latin typeface="Times New Roman" panose="02020603050405020304" charset="0"/>
                <a:ea typeface="宋体" charset="0"/>
                <a:cs typeface="Times New Roman" panose="02020603050405020304" charset="0"/>
                <a:sym typeface="+mn-ea"/>
              </a:rPr>
              <a:t>Center for Computational Science.</a:t>
            </a:r>
            <a:endParaRPr lang="en-US" altLang="zh-CN" dirty="0">
              <a:latin typeface="Times New Roman" panose="02020603050405020304" charset="0"/>
              <a:ea typeface="宋体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autoGEMM is a systematic framework.</a:t>
            </a:r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  <a:p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For better presentation, We divided into the following 4 parts.</a:t>
            </a:r>
            <a:endParaRPr lang="zh-CN" altLang="en-US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It is very light compared to thousands of lines of assembly code</a:t>
            </a:r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Taking the 4x16 micro-kernel (the purple one) in the right figure as an example, </a:t>
            </a:r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  <a:p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it is impossible to achieve close-to-peak performance on KP920 (red line), </a:t>
            </a:r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  <a:p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but it have </a:t>
            </a:r>
            <a:r>
              <a:rPr lang="en-US" altLang="zh-CN">
                <a:sym typeface="+mn-ea"/>
              </a:rPr>
              <a:t>potential </a:t>
            </a:r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to achieve close-to-peak performance on M2/Altra/Graviton2.</a:t>
            </a:r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The figure is the </a:t>
            </a:r>
            <a:r>
              <a:rPr lang="zh-CN" altLang="en-US">
                <a:solidFill>
                  <a:srgbClr val="00B0F0"/>
                </a:solidFill>
                <a:sym typeface="+mn-ea"/>
              </a:rPr>
              <a:t>performance model</a:t>
            </a:r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 of generated </a:t>
            </a:r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5x16 and 2x16 micro-kernel </a:t>
            </a:r>
            <a:r>
              <a:rPr lang="en-US" altLang="zh-CN">
                <a:solidFill>
                  <a:srgbClr val="00B0F0"/>
                </a:solidFill>
                <a:sym typeface="+mn-ea"/>
              </a:rPr>
              <a:t>(u</a:t>
            </a:r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nderstand </a:t>
            </a:r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as pipeline</a:t>
            </a:r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).</a:t>
            </a:r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  <a:p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The upper is 5x16 micro-kernel, and is in </a:t>
            </a:r>
            <a:r>
              <a:rPr lang="en-US" altLang="zh-CN">
                <a:solidFill>
                  <a:srgbClr val="00B0F0"/>
                </a:solidFill>
                <a:sym typeface="+mn-ea"/>
              </a:rPr>
              <a:t>compute bound, you can see in mainloop the FMA (blue) cover all load B (yellow).</a:t>
            </a:r>
            <a:endParaRPr lang="en-US" altLang="zh-CN">
              <a:solidFill>
                <a:srgbClr val="00B0F0"/>
              </a:solidFill>
              <a:sym typeface="+mn-ea"/>
            </a:endParaRPr>
          </a:p>
          <a:p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The lower is 2x16 micro-kernel in </a:t>
            </a:r>
            <a:r>
              <a:rPr lang="en-US" altLang="zh-CN">
                <a:solidFill>
                  <a:srgbClr val="00B0F0"/>
                </a:solidFill>
                <a:sym typeface="+mn-ea"/>
              </a:rPr>
              <a:t>memory bound, in mainloop the FMA can not cover all load B latency, there are bubbles between 2 load </a:t>
            </a:r>
            <a:r>
              <a:rPr lang="en-US" altLang="zh-CN">
                <a:sym typeface="+mn-ea"/>
              </a:rPr>
              <a:t>instructions</a:t>
            </a:r>
            <a:r>
              <a:rPr lang="en-US" altLang="zh-CN">
                <a:solidFill>
                  <a:srgbClr val="00B0F0"/>
                </a:solidFill>
                <a:sym typeface="+mn-ea"/>
              </a:rPr>
              <a:t> use the same register.</a:t>
            </a:r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Next, follow the previous </a:t>
            </a:r>
            <a:r>
              <a:rPr lang="zh-CN" altLang="en-US">
                <a:solidFill>
                  <a:srgbClr val="00B0F0"/>
                </a:solidFill>
                <a:sym typeface="+mn-ea"/>
              </a:rPr>
              <a:t>performance mode</a:t>
            </a:r>
            <a:r>
              <a:rPr lang="en-US" altLang="zh-CN">
                <a:solidFill>
                  <a:srgbClr val="00B0F0"/>
                </a:solidFill>
                <a:sym typeface="+mn-ea"/>
              </a:rPr>
              <a:t>l, we o</a:t>
            </a:r>
            <a:r>
              <a:rPr lang="en-US" altLang="ja-JP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ptimize micro-kernels pipeline.</a:t>
            </a:r>
            <a:endParaRPr lang="zh-CN" altLang="en-US" dirty="0">
              <a:solidFill>
                <a:srgbClr val="00B0F0"/>
              </a:solidFill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The goal of rotating register allocation in micro-kernel is to use redundant hardware registers to increase the volume of overlap between the FMA and load instructions.</a:t>
            </a:r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  <a:p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Also </a:t>
            </a:r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take </a:t>
            </a:r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5x16 micro-kernel as example, </a:t>
            </a:r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after allocating the registers for matrices A, B and C, there are still 3 registers left.</a:t>
            </a:r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  <a:p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With </a:t>
            </a:r>
            <a:r>
              <a:rPr>
                <a:sym typeface="+mn-ea"/>
              </a:rPr>
              <a:t>Rotating Register Allocation</a:t>
            </a:r>
            <a:r>
              <a:rPr lang="en-US">
                <a:sym typeface="+mn-ea"/>
              </a:rPr>
              <a:t>, f</a:t>
            </a:r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or every 2 iterations, the load instructions of submatrices A(mr, kc) can be completely overlapped by the FMA instructions once.</a:t>
            </a:r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Till now, </a:t>
            </a:r>
            <a:r>
              <a:rPr lang="en-US" dirty="0">
                <a:sym typeface="+mn-ea"/>
              </a:rPr>
              <a:t>we have generated and optimized all micro-kernels and completed the work before tuning.</a:t>
            </a:r>
            <a:endParaRPr lang="en-US" dirty="0">
              <a:sym typeface="+mn-ea"/>
            </a:endParaRPr>
          </a:p>
          <a:p>
            <a:r>
              <a:rPr lang="en-US" dirty="0">
                <a:sym typeface="+mn-ea"/>
              </a:rPr>
              <a:t>And next introduce our </a:t>
            </a:r>
            <a:r>
              <a:rPr lang="en-US" altLang="ja-JP" dirty="0" err="1">
                <a:ln w="12700">
                  <a:noFill/>
                  <a:prstDash val="solid"/>
                </a:ln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D</a:t>
            </a:r>
            <a:r>
              <a:rPr lang="en-US" altLang="ja-JP" dirty="0">
                <a:sym typeface="+mn-ea"/>
              </a:rPr>
              <a:t>ynamic Micro-Tiling mothed.</a:t>
            </a:r>
            <a:endParaRPr lang="en-US" dirty="0">
              <a:sym typeface="+mn-ea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Take sub-matrix mc = 26, nc = 36 as example.</a:t>
            </a:r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  <a:p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performance degradation can be significant for both redundant works due to padding and edge tiles with low arithmetic intensity.</a:t>
            </a:r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file:////Users/toddszymanski/Documents/01%20Work/SC24/ppt/sc24_logo_white.png" TargetMode="External"/><Relationship Id="rId4" Type="http://schemas.openxmlformats.org/officeDocument/2006/relationships/image" Target="../media/image2.png"/><Relationship Id="rId3" Type="http://schemas.openxmlformats.org/officeDocument/2006/relationships/image" Target="file:////Users/toddszymanski/Documents/01%20Work/SC24/ppt/01back_d.png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file:////Users/toddszymanski/Documents/01%20Work/SC24/ppt/logo_solo.png" TargetMode="Externa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file:////Users/toddszymanski/Documents/01%20Work/SC24/ppt/logo_solo.png" TargetMode="External"/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file:////Users/toddszymanski/Documents/01%20Work/SC24/ppt/logo_solo.png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file:////Users/toddszymanski/Documents/01%20Work/SC24/ppt/logo_solo.png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file:////Users/toddszymanski/Documents/01%20Work/SC24/ppt/logo_solo.png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file:////Users/toddszymanski/Documents/01%20Work/SC24/ppt/logo_solo.png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file:////Users/toddszymanski/Documents/01%20Work/SC24/ppt/logo_solo.png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file:////Users/toddszymanski/Documents/01%20Work/SC24/ppt/logo_solo.png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file:////Users/toddszymanski/Documents/01%20Work/SC24/ppt/logo_solo.png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file:////Users/toddszymanski/Documents/01%20Work/SC24/ppt/logo_solo.png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file:////Users/toddszymanski/Documents/01%20Work/SC24/ppt/logo_solo.png" TargetMode="Externa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r:link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371600" y="950998"/>
            <a:ext cx="9448800" cy="1825096"/>
          </a:xfrm>
        </p:spPr>
        <p:txBody>
          <a:bodyPr anchor="b">
            <a:normAutofit/>
          </a:bodyPr>
          <a:lstStyle>
            <a:lvl1pPr algn="l">
              <a:defRPr sz="3600" baseline="0"/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2779794"/>
            <a:ext cx="9448800" cy="1446518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authors and/or presenters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r:link="rId5"/>
          <a:stretch>
            <a:fillRect/>
          </a:stretch>
        </p:blipFill>
        <p:spPr>
          <a:xfrm>
            <a:off x="7590593" y="4305300"/>
            <a:ext cx="3824064" cy="16017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2163336"/>
            <a:ext cx="10820400" cy="40553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r:link="rId4"/>
          <a:stretch>
            <a:fillRect/>
          </a:stretch>
        </p:blipFill>
        <p:spPr>
          <a:xfrm>
            <a:off x="11644222" y="6400800"/>
            <a:ext cx="254048" cy="26211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Quot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1579558"/>
            <a:ext cx="10151533" cy="260449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4363970"/>
            <a:ext cx="10151533" cy="679871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5583509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83509" y="58160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r:link="rId4"/>
          <a:stretch>
            <a:fillRect/>
          </a:stretch>
        </p:blipFill>
        <p:spPr>
          <a:xfrm>
            <a:off x="11644222" y="6400800"/>
            <a:ext cx="254048" cy="262113"/>
          </a:xfrm>
          <a:prstGeom prst="rect">
            <a:avLst/>
          </a:prstGeom>
        </p:spPr>
      </p:pic>
      <p:sp>
        <p:nvSpPr>
          <p:cNvPr id="11" name="Date Placeholder 3"/>
          <p:cNvSpPr txBox="1"/>
          <p:nvPr userDrawn="1"/>
        </p:nvSpPr>
        <p:spPr>
          <a:xfrm>
            <a:off x="9668106" y="6356350"/>
            <a:ext cx="11467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1D0582-2DDC-DE4A-9F8A-57E5C2910C1C}" type="datetime1">
              <a:rPr lang="en-US" smtClean="0"/>
            </a:fld>
            <a:endParaRPr lang="en-US" dirty="0"/>
          </a:p>
        </p:txBody>
      </p:sp>
      <p:sp>
        <p:nvSpPr>
          <p:cNvPr id="12" name="Slide Number Placeholder 5"/>
          <p:cNvSpPr txBox="1"/>
          <p:nvPr userDrawn="1"/>
        </p:nvSpPr>
        <p:spPr>
          <a:xfrm>
            <a:off x="10939346" y="6356350"/>
            <a:ext cx="5668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11644222" y="6400800"/>
            <a:ext cx="254048" cy="2621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62000"/>
            <a:ext cx="10820400" cy="12954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11644222" y="6400800"/>
            <a:ext cx="254048" cy="2621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11644222" y="6400800"/>
            <a:ext cx="254048" cy="2621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11644222" y="6400800"/>
            <a:ext cx="254048" cy="2621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11644222" y="6400800"/>
            <a:ext cx="254048" cy="2621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11644222" y="6400800"/>
            <a:ext cx="254048" cy="2621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95359" y="6356350"/>
            <a:ext cx="2366289" cy="365125"/>
          </a:xfrm>
          <a:prstGeom prst="rect">
            <a:avLst/>
          </a:prstGeom>
        </p:spPr>
        <p:txBody>
          <a:bodyPr/>
          <a:lstStyle/>
          <a:p>
            <a:fld id="{F052C489-9ED6-104F-9B62-DF8880FBBC77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084312" y="6355844"/>
            <a:ext cx="421888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11644222" y="6400800"/>
            <a:ext cx="254048" cy="2621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0" y="761999"/>
            <a:ext cx="10820400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11644222" y="6400800"/>
            <a:ext cx="254048" cy="2621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0" y="762000"/>
            <a:ext cx="10820399" cy="1295400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r:link="rId3"/>
          <a:stretch>
            <a:fillRect/>
          </a:stretch>
        </p:blipFill>
        <p:spPr>
          <a:xfrm>
            <a:off x="11644222" y="6400800"/>
            <a:ext cx="254048" cy="262113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8" name="Slide Number Placeholder 5"/>
          <p:cNvSpPr txBox="1"/>
          <p:nvPr userDrawn="1"/>
        </p:nvSpPr>
        <p:spPr>
          <a:xfrm>
            <a:off x="10939346" y="6356350"/>
            <a:ext cx="56685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z="1600" smtClean="0"/>
            </a:fld>
            <a:endParaRPr lang="en-US" sz="1600" dirty="0" smtClean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tiff"/><Relationship Id="rId7" Type="http://schemas.openxmlformats.org/officeDocument/2006/relationships/tags" Target="../tags/tag5.xml"/><Relationship Id="rId6" Type="http://schemas.openxmlformats.org/officeDocument/2006/relationships/image" Target="../media/image7.tiff"/><Relationship Id="rId5" Type="http://schemas.openxmlformats.org/officeDocument/2006/relationships/tags" Target="../tags/tag4.xml"/><Relationship Id="rId4" Type="http://schemas.openxmlformats.org/officeDocument/2006/relationships/image" Target="../media/image6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1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11.jpeg"/><Relationship Id="rId11" Type="http://schemas.openxmlformats.org/officeDocument/2006/relationships/image" Target="../media/image10.png"/><Relationship Id="rId10" Type="http://schemas.openxmlformats.org/officeDocument/2006/relationships/tags" Target="../tags/tag6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.xml"/><Relationship Id="rId3" Type="http://schemas.openxmlformats.org/officeDocument/2006/relationships/image" Target="../media/image12.png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image" Target="../media/image13.png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2" Type="http://schemas.openxmlformats.org/officeDocument/2006/relationships/notesSlide" Target="../notesSlides/notesSlide5.xml"/><Relationship Id="rId31" Type="http://schemas.openxmlformats.org/officeDocument/2006/relationships/slideLayout" Target="../slideLayouts/slideLayout2.xml"/><Relationship Id="rId30" Type="http://schemas.openxmlformats.org/officeDocument/2006/relationships/tags" Target="../tags/tag43.xml"/><Relationship Id="rId3" Type="http://schemas.openxmlformats.org/officeDocument/2006/relationships/image" Target="../media/image14.tiff"/><Relationship Id="rId29" Type="http://schemas.openxmlformats.org/officeDocument/2006/relationships/tags" Target="../tags/tag42.xml"/><Relationship Id="rId28" Type="http://schemas.openxmlformats.org/officeDocument/2006/relationships/tags" Target="../tags/tag41.xml"/><Relationship Id="rId27" Type="http://schemas.openxmlformats.org/officeDocument/2006/relationships/tags" Target="../tags/tag40.xml"/><Relationship Id="rId26" Type="http://schemas.openxmlformats.org/officeDocument/2006/relationships/tags" Target="../tags/tag39.xml"/><Relationship Id="rId25" Type="http://schemas.openxmlformats.org/officeDocument/2006/relationships/tags" Target="../tags/tag38.xml"/><Relationship Id="rId24" Type="http://schemas.openxmlformats.org/officeDocument/2006/relationships/tags" Target="../tags/tag37.xml"/><Relationship Id="rId23" Type="http://schemas.openxmlformats.org/officeDocument/2006/relationships/tags" Target="../tags/tag36.xml"/><Relationship Id="rId22" Type="http://schemas.openxmlformats.org/officeDocument/2006/relationships/tags" Target="../tags/tag35.xml"/><Relationship Id="rId21" Type="http://schemas.openxmlformats.org/officeDocument/2006/relationships/tags" Target="../tags/tag34.xml"/><Relationship Id="rId20" Type="http://schemas.openxmlformats.org/officeDocument/2006/relationships/tags" Target="../tags/tag33.xml"/><Relationship Id="rId2" Type="http://schemas.openxmlformats.org/officeDocument/2006/relationships/tags" Target="../tags/tag19.xml"/><Relationship Id="rId19" Type="http://schemas.openxmlformats.org/officeDocument/2006/relationships/tags" Target="../tags/tag32.xml"/><Relationship Id="rId18" Type="http://schemas.openxmlformats.org/officeDocument/2006/relationships/tags" Target="../tags/tag31.xml"/><Relationship Id="rId17" Type="http://schemas.openxmlformats.org/officeDocument/2006/relationships/tags" Target="../tags/tag30.xml"/><Relationship Id="rId16" Type="http://schemas.openxmlformats.org/officeDocument/2006/relationships/image" Target="../media/image17.png"/><Relationship Id="rId15" Type="http://schemas.openxmlformats.org/officeDocument/2006/relationships/tags" Target="../tags/tag29.xml"/><Relationship Id="rId14" Type="http://schemas.openxmlformats.org/officeDocument/2006/relationships/image" Target="../media/image16.png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image" Target="../media/image15.jpeg"/><Relationship Id="rId1" Type="http://schemas.openxmlformats.org/officeDocument/2006/relationships/tags" Target="../tags/tag18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tags" Target="../tags/tag44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56.xml"/><Relationship Id="rId1" Type="http://schemas.openxmlformats.org/officeDocument/2006/relationships/tags" Target="../tags/tag5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65.xml"/><Relationship Id="rId1" Type="http://schemas.openxmlformats.org/officeDocument/2006/relationships/tags" Target="../tags/tag64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image" Target="../media/image18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9.png"/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80.xml"/><Relationship Id="rId4" Type="http://schemas.openxmlformats.org/officeDocument/2006/relationships/tags" Target="../tags/tag79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2" Type="http://schemas.openxmlformats.org/officeDocument/2006/relationships/notesSlide" Target="../notesSlides/notesSlide16.xml"/><Relationship Id="rId21" Type="http://schemas.openxmlformats.org/officeDocument/2006/relationships/slideLayout" Target="../slideLayouts/slideLayout2.xml"/><Relationship Id="rId20" Type="http://schemas.openxmlformats.org/officeDocument/2006/relationships/tags" Target="../tags/tag106.xml"/><Relationship Id="rId2" Type="http://schemas.openxmlformats.org/officeDocument/2006/relationships/tags" Target="../tags/tag88.xml"/><Relationship Id="rId19" Type="http://schemas.openxmlformats.org/officeDocument/2006/relationships/tags" Target="../tags/tag105.xml"/><Relationship Id="rId18" Type="http://schemas.openxmlformats.org/officeDocument/2006/relationships/tags" Target="../tags/tag104.xml"/><Relationship Id="rId17" Type="http://schemas.openxmlformats.org/officeDocument/2006/relationships/tags" Target="../tags/tag103.xml"/><Relationship Id="rId16" Type="http://schemas.openxmlformats.org/officeDocument/2006/relationships/tags" Target="../tags/tag102.xml"/><Relationship Id="rId15" Type="http://schemas.openxmlformats.org/officeDocument/2006/relationships/tags" Target="../tags/tag101.xml"/><Relationship Id="rId14" Type="http://schemas.openxmlformats.org/officeDocument/2006/relationships/tags" Target="../tags/tag100.xml"/><Relationship Id="rId13" Type="http://schemas.openxmlformats.org/officeDocument/2006/relationships/tags" Target="../tags/tag99.xml"/><Relationship Id="rId12" Type="http://schemas.openxmlformats.org/officeDocument/2006/relationships/tags" Target="../tags/tag98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tags" Target="../tags/tag87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" Type="http://schemas.openxmlformats.org/officeDocument/2006/relationships/tags" Target="../tags/tag107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1.xml"/><Relationship Id="rId1" Type="http://schemas.openxmlformats.org/officeDocument/2006/relationships/tags" Target="../tags/tag110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0.png"/><Relationship Id="rId2" Type="http://schemas.openxmlformats.org/officeDocument/2006/relationships/tags" Target="../tags/tag113.xml"/><Relationship Id="rId1" Type="http://schemas.openxmlformats.org/officeDocument/2006/relationships/tags" Target="../tags/tag11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0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19.xml"/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image" Target="../media/image20.png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1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image" Target="../media/image21.png"/><Relationship Id="rId2" Type="http://schemas.openxmlformats.org/officeDocument/2006/relationships/tags" Target="../tags/tag121.xml"/><Relationship Id="rId1" Type="http://schemas.openxmlformats.org/officeDocument/2006/relationships/tags" Target="../tags/tag120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tags" Target="../tags/tag130.xml"/><Relationship Id="rId7" Type="http://schemas.openxmlformats.org/officeDocument/2006/relationships/image" Target="../media/image24.png"/><Relationship Id="rId6" Type="http://schemas.openxmlformats.org/officeDocument/2006/relationships/tags" Target="../tags/tag129.xml"/><Relationship Id="rId5" Type="http://schemas.openxmlformats.org/officeDocument/2006/relationships/image" Target="../media/image23.png"/><Relationship Id="rId4" Type="http://schemas.openxmlformats.org/officeDocument/2006/relationships/tags" Target="../tags/tag128.xml"/><Relationship Id="rId3" Type="http://schemas.openxmlformats.org/officeDocument/2006/relationships/image" Target="../media/image22.png"/><Relationship Id="rId2" Type="http://schemas.openxmlformats.org/officeDocument/2006/relationships/tags" Target="../tags/tag127.xml"/><Relationship Id="rId12" Type="http://schemas.openxmlformats.org/officeDocument/2006/relationships/notesSlide" Target="../notesSlides/notesSlide22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31.xml"/><Relationship Id="rId1" Type="http://schemas.openxmlformats.org/officeDocument/2006/relationships/tags" Target="../tags/tag126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23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27.png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image" Target="../media/image26.png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" Type="http://schemas.openxmlformats.org/officeDocument/2006/relationships/tags" Target="../tags/tag13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4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image" Target="../media/image20.png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tags" Target="../tags/tag147.xml"/><Relationship Id="rId7" Type="http://schemas.openxmlformats.org/officeDocument/2006/relationships/image" Target="../media/image29.png"/><Relationship Id="rId6" Type="http://schemas.openxmlformats.org/officeDocument/2006/relationships/tags" Target="../tags/tag146.xml"/><Relationship Id="rId5" Type="http://schemas.openxmlformats.org/officeDocument/2006/relationships/image" Target="../media/image28.png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9" Type="http://schemas.openxmlformats.org/officeDocument/2006/relationships/notesSlide" Target="../notesSlides/notesSlide25.xml"/><Relationship Id="rId18" Type="http://schemas.openxmlformats.org/officeDocument/2006/relationships/slideLayout" Target="../slideLayouts/slideLayout2.xml"/><Relationship Id="rId17" Type="http://schemas.openxmlformats.org/officeDocument/2006/relationships/tags" Target="../tags/tag154.xml"/><Relationship Id="rId16" Type="http://schemas.openxmlformats.org/officeDocument/2006/relationships/tags" Target="../tags/tag153.xml"/><Relationship Id="rId15" Type="http://schemas.openxmlformats.org/officeDocument/2006/relationships/tags" Target="../tags/tag152.xml"/><Relationship Id="rId14" Type="http://schemas.openxmlformats.org/officeDocument/2006/relationships/tags" Target="../tags/tag151.xml"/><Relationship Id="rId13" Type="http://schemas.openxmlformats.org/officeDocument/2006/relationships/tags" Target="../tags/tag150.xml"/><Relationship Id="rId12" Type="http://schemas.openxmlformats.org/officeDocument/2006/relationships/tags" Target="../tags/tag149.xml"/><Relationship Id="rId11" Type="http://schemas.openxmlformats.org/officeDocument/2006/relationships/image" Target="../media/image26.png"/><Relationship Id="rId10" Type="http://schemas.openxmlformats.org/officeDocument/2006/relationships/tags" Target="../tags/tag148.xml"/><Relationship Id="rId1" Type="http://schemas.openxmlformats.org/officeDocument/2006/relationships/tags" Target="../tags/tag142.xml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58.xml"/><Relationship Id="rId4" Type="http://schemas.openxmlformats.org/officeDocument/2006/relationships/image" Target="../media/image31.png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" Type="http://schemas.openxmlformats.org/officeDocument/2006/relationships/tags" Target="../tags/tag155.xml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7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" Type="http://schemas.openxmlformats.org/officeDocument/2006/relationships/image" Target="../media/image20.png"/><Relationship Id="rId2" Type="http://schemas.openxmlformats.org/officeDocument/2006/relationships/tags" Target="../tags/tag160.xml"/><Relationship Id="rId1" Type="http://schemas.openxmlformats.org/officeDocument/2006/relationships/tags" Target="../tags/tag159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5.xml"/><Relationship Id="rId3" Type="http://schemas.openxmlformats.org/officeDocument/2006/relationships/image" Target="../media/image32.png"/><Relationship Id="rId2" Type="http://schemas.openxmlformats.org/officeDocument/2006/relationships/tags" Target="../tags/tag164.xml"/><Relationship Id="rId1" Type="http://schemas.openxmlformats.org/officeDocument/2006/relationships/tags" Target="../tags/tag163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9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68.xml"/><Relationship Id="rId3" Type="http://schemas.openxmlformats.org/officeDocument/2006/relationships/image" Target="../media/image33.png"/><Relationship Id="rId2" Type="http://schemas.openxmlformats.org/officeDocument/2006/relationships/tags" Target="../tags/tag167.xml"/><Relationship Id="rId1" Type="http://schemas.openxmlformats.org/officeDocument/2006/relationships/tags" Target="../tags/tag166.xml"/></Relationships>
</file>

<file path=ppt/slides/_rels/slide3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0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71.xml"/><Relationship Id="rId3" Type="http://schemas.openxmlformats.org/officeDocument/2006/relationships/image" Target="../media/image20.png"/><Relationship Id="rId2" Type="http://schemas.openxmlformats.org/officeDocument/2006/relationships/tags" Target="../tags/tag170.xml"/><Relationship Id="rId1" Type="http://schemas.openxmlformats.org/officeDocument/2006/relationships/tags" Target="../tags/tag169.xml"/></Relationships>
</file>

<file path=ppt/slides/_rels/slide3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75.xml"/><Relationship Id="rId4" Type="http://schemas.openxmlformats.org/officeDocument/2006/relationships/image" Target="../media/image34.png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/Relationships>
</file>

<file path=ppt/slides/_rels/slide3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7.xml"/><Relationship Id="rId1" Type="http://schemas.openxmlformats.org/officeDocument/2006/relationships/tags" Target="../tags/tag176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9.xml"/><Relationship Id="rId1" Type="http://schemas.openxmlformats.org/officeDocument/2006/relationships/tags" Target="../tags/tag178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4.xml"/><Relationship Id="rId8" Type="http://schemas.openxmlformats.org/officeDocument/2006/relationships/slideLayout" Target="../slideLayouts/slideLayout2.xml"/><Relationship Id="rId7" Type="http://schemas.openxmlformats.org/officeDocument/2006/relationships/tags" Target="../tags/tag184.xml"/><Relationship Id="rId6" Type="http://schemas.openxmlformats.org/officeDocument/2006/relationships/image" Target="../media/image36.png"/><Relationship Id="rId5" Type="http://schemas.openxmlformats.org/officeDocument/2006/relationships/tags" Target="../tags/tag183.xml"/><Relationship Id="rId4" Type="http://schemas.openxmlformats.org/officeDocument/2006/relationships/tags" Target="../tags/tag182.xml"/><Relationship Id="rId3" Type="http://schemas.openxmlformats.org/officeDocument/2006/relationships/image" Target="../media/image35.png"/><Relationship Id="rId2" Type="http://schemas.openxmlformats.org/officeDocument/2006/relationships/tags" Target="../tags/tag181.xml"/><Relationship Id="rId1" Type="http://schemas.openxmlformats.org/officeDocument/2006/relationships/tags" Target="../tags/tag180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39.png"/><Relationship Id="rId7" Type="http://schemas.openxmlformats.org/officeDocument/2006/relationships/tags" Target="../tags/tag189.xml"/><Relationship Id="rId6" Type="http://schemas.openxmlformats.org/officeDocument/2006/relationships/image" Target="../media/image38.png"/><Relationship Id="rId5" Type="http://schemas.openxmlformats.org/officeDocument/2006/relationships/tags" Target="../tags/tag188.xml"/><Relationship Id="rId4" Type="http://schemas.openxmlformats.org/officeDocument/2006/relationships/tags" Target="../tags/tag187.xml"/><Relationship Id="rId3" Type="http://schemas.openxmlformats.org/officeDocument/2006/relationships/image" Target="../media/image37.png"/><Relationship Id="rId2" Type="http://schemas.openxmlformats.org/officeDocument/2006/relationships/tags" Target="../tags/tag186.xml"/><Relationship Id="rId10" Type="http://schemas.openxmlformats.org/officeDocument/2006/relationships/notesSlide" Target="../notesSlides/notesSlide35.xml"/><Relationship Id="rId1" Type="http://schemas.openxmlformats.org/officeDocument/2006/relationships/tags" Target="../tags/tag185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41.png"/><Relationship Id="rId7" Type="http://schemas.openxmlformats.org/officeDocument/2006/relationships/tags" Target="../tags/tag194.xml"/><Relationship Id="rId6" Type="http://schemas.openxmlformats.org/officeDocument/2006/relationships/image" Target="../media/image40.png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image" Target="../media/image37.png"/><Relationship Id="rId2" Type="http://schemas.openxmlformats.org/officeDocument/2006/relationships/tags" Target="../tags/tag191.xml"/><Relationship Id="rId10" Type="http://schemas.openxmlformats.org/officeDocument/2006/relationships/notesSlide" Target="../notesSlides/notesSlide36.xml"/><Relationship Id="rId1" Type="http://schemas.openxmlformats.org/officeDocument/2006/relationships/tags" Target="../tags/tag190.xml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2.png"/><Relationship Id="rId3" Type="http://schemas.openxmlformats.org/officeDocument/2006/relationships/tags" Target="../tags/tag197.xml"/><Relationship Id="rId2" Type="http://schemas.openxmlformats.org/officeDocument/2006/relationships/tags" Target="../tags/tag196.xml"/><Relationship Id="rId1" Type="http://schemas.openxmlformats.org/officeDocument/2006/relationships/tags" Target="../tags/tag195.xml"/></Relationships>
</file>

<file path=ppt/slides/_rels/slide3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3.png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" Type="http://schemas.openxmlformats.org/officeDocument/2006/relationships/tags" Target="../tags/tag198.xml"/></Relationships>
</file>

<file path=ppt/slides/_rels/slide3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4.png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" Type="http://schemas.openxmlformats.org/officeDocument/2006/relationships/tags" Target="../tags/tag201.xml"/></Relationships>
</file>

<file path=ppt/slides/_rels/slide4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5.xml"/><Relationship Id="rId1" Type="http://schemas.openxmlformats.org/officeDocument/2006/relationships/tags" Target="../tags/tag20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/>
          <p:cNvSpPr txBox="1"/>
          <p:nvPr userDrawn="1">
            <p:custDataLst>
              <p:tags r:id="rId1"/>
            </p:custDataLst>
          </p:nvPr>
        </p:nvSpPr>
        <p:spPr>
          <a:xfrm>
            <a:off x="9355455" y="6026150"/>
            <a:ext cx="139763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mtClean="0">
                <a:latin typeface="Times New Roman Regular" panose="02020603050405020304" charset="0"/>
                <a:cs typeface="Times New Roman Regular" panose="02020603050405020304" charset="0"/>
              </a:rPr>
              <a:t>2024.11.19</a:t>
            </a:r>
            <a:endParaRPr lang="en-US" sz="2000" dirty="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734695" y="844550"/>
            <a:ext cx="10831195" cy="1446530"/>
          </a:xfrm>
        </p:spPr>
        <p:txBody>
          <a:bodyPr anchor="ctr" anchorCtr="0"/>
          <a:lstStyle/>
          <a:p>
            <a:pPr algn="ctr"/>
            <a:r>
              <a:rPr lang="en-US" sz="4000">
                <a:latin typeface="Times New Roman Regular" panose="02020603050405020304" charset="0"/>
                <a:cs typeface="Times New Roman Regular" panose="02020603050405020304" charset="0"/>
              </a:rPr>
              <a:t>autoGEMM: Pushing the Limits of Irregular Matrix Multiplication on Arm Architectures</a:t>
            </a:r>
            <a:endParaRPr lang="en-US" sz="4000">
              <a:latin typeface="Times New Roman Regular" panose="02020603050405020304" charset="0"/>
              <a:cs typeface="Times New Roman Regular" panose="02020603050405020304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809750" y="3615055"/>
            <a:ext cx="7376160" cy="1861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 defTabSz="514350">
              <a:lnSpc>
                <a:spcPct val="120000"/>
              </a:lnSpc>
              <a:buNone/>
            </a:pPr>
            <a:r>
              <a:rPr lang="en-US" altLang="zh-CN" sz="1600" dirty="0">
                <a:latin typeface="Times New Roman" panose="02020603050405020304" charset="0"/>
                <a:ea typeface="宋体" charset="0"/>
                <a:cs typeface="Times New Roman" panose="02020603050405020304" charset="0"/>
                <a:sym typeface="+mn-ea"/>
              </a:rPr>
              <a:t>1 - Shenzhen Institute of Advanced Technology, Chinese Academy of Sciences, China</a:t>
            </a:r>
            <a:endParaRPr lang="en-US" altLang="zh-CN" sz="1600" dirty="0">
              <a:latin typeface="Times New Roman" panose="02020603050405020304" charset="0"/>
              <a:ea typeface="宋体" charset="0"/>
              <a:cs typeface="Times New Roman" panose="02020603050405020304" charset="0"/>
              <a:sym typeface="+mn-ea"/>
            </a:endParaRPr>
          </a:p>
          <a:p>
            <a:pPr marL="0" indent="0" algn="l" defTabSz="514350">
              <a:lnSpc>
                <a:spcPct val="120000"/>
              </a:lnSpc>
              <a:buNone/>
            </a:pPr>
            <a:r>
              <a:rPr lang="en-US" altLang="zh-CN" sz="1600" dirty="0">
                <a:latin typeface="Times New Roman" panose="02020603050405020304" charset="0"/>
                <a:ea typeface="宋体" charset="0"/>
                <a:cs typeface="Times New Roman" panose="02020603050405020304" charset="0"/>
                <a:sym typeface="+mn-ea"/>
              </a:rPr>
              <a:t>2 - Tokyo Institute of Technology, Japan</a:t>
            </a:r>
            <a:endParaRPr lang="en-US" altLang="zh-CN" sz="1600" dirty="0">
              <a:latin typeface="Times New Roman" panose="02020603050405020304" charset="0"/>
              <a:ea typeface="宋体" charset="0"/>
              <a:cs typeface="Times New Roman" panose="02020603050405020304" charset="0"/>
              <a:sym typeface="+mn-ea"/>
            </a:endParaRPr>
          </a:p>
          <a:p>
            <a:pPr marL="0" indent="0" algn="l" defTabSz="514350">
              <a:lnSpc>
                <a:spcPct val="120000"/>
              </a:lnSpc>
              <a:buNone/>
            </a:pPr>
            <a:r>
              <a:rPr lang="en-US" altLang="zh-CN" sz="1600" dirty="0">
                <a:latin typeface="Times New Roman" panose="02020603050405020304" charset="0"/>
                <a:ea typeface="宋体" charset="0"/>
                <a:cs typeface="Times New Roman" panose="02020603050405020304" charset="0"/>
                <a:sym typeface="+mn-ea"/>
              </a:rPr>
              <a:t>3 - RIKEN Center for Computational Science, Japan</a:t>
            </a:r>
            <a:endParaRPr lang="en-US" altLang="zh-CN" sz="1600" dirty="0">
              <a:latin typeface="Times New Roman" panose="02020603050405020304" charset="0"/>
              <a:ea typeface="宋体" charset="0"/>
              <a:cs typeface="Times New Roman" panose="02020603050405020304" charset="0"/>
              <a:sym typeface="+mn-ea"/>
            </a:endParaRPr>
          </a:p>
          <a:p>
            <a:pPr marL="0" indent="0" algn="l" defTabSz="514350">
              <a:lnSpc>
                <a:spcPct val="120000"/>
              </a:lnSpc>
              <a:buNone/>
            </a:pPr>
            <a:r>
              <a:rPr lang="en-US" altLang="zh-CN" sz="1600" dirty="0">
                <a:latin typeface="Times New Roman" panose="02020603050405020304" charset="0"/>
                <a:ea typeface="宋体" charset="0"/>
                <a:cs typeface="Times New Roman" panose="02020603050405020304" charset="0"/>
                <a:sym typeface="+mn-ea"/>
              </a:rPr>
              <a:t>4 - Tencent AI Lab, China</a:t>
            </a:r>
            <a:endParaRPr lang="en-US" altLang="zh-CN" sz="1600" dirty="0">
              <a:latin typeface="Times New Roman" panose="02020603050405020304" charset="0"/>
              <a:ea typeface="宋体" charset="0"/>
              <a:cs typeface="Times New Roman" panose="02020603050405020304" charset="0"/>
              <a:sym typeface="+mn-ea"/>
            </a:endParaRPr>
          </a:p>
          <a:p>
            <a:pPr marL="0" indent="0" algn="l" defTabSz="514350">
              <a:lnSpc>
                <a:spcPct val="120000"/>
              </a:lnSpc>
              <a:buNone/>
            </a:pPr>
            <a:r>
              <a:rPr lang="en-US" altLang="zh-CN" sz="1600" dirty="0">
                <a:latin typeface="Times New Roman" panose="02020603050405020304" charset="0"/>
                <a:ea typeface="宋体" charset="0"/>
                <a:cs typeface="Times New Roman" panose="02020603050405020304" charset="0"/>
                <a:sym typeface="+mn-ea"/>
              </a:rPr>
              <a:t>5 - Oak Ridge National Laboratory, USA</a:t>
            </a:r>
            <a:endParaRPr lang="en-US" altLang="zh-CN" sz="1600" dirty="0">
              <a:latin typeface="Times New Roman" panose="02020603050405020304" charset="0"/>
              <a:ea typeface="宋体" charset="0"/>
              <a:cs typeface="Times New Roman" panose="02020603050405020304" charset="0"/>
              <a:sym typeface="+mn-ea"/>
            </a:endParaRPr>
          </a:p>
          <a:p>
            <a:pPr marL="0" indent="0" algn="l" defTabSz="514350">
              <a:lnSpc>
                <a:spcPct val="120000"/>
              </a:lnSpc>
              <a:buNone/>
            </a:pPr>
            <a:r>
              <a:rPr lang="en-US" altLang="zh-CN" sz="1600" dirty="0">
                <a:latin typeface="Times New Roman" panose="02020603050405020304" charset="0"/>
                <a:ea typeface="宋体" charset="0"/>
                <a:cs typeface="Times New Roman" panose="02020603050405020304" charset="0"/>
                <a:sym typeface="+mn-ea"/>
              </a:rPr>
              <a:t>6 - Institute of High Performance Computing, A*STAR, Singapore</a:t>
            </a:r>
            <a:endParaRPr lang="en-US" altLang="zh-CN" sz="1600" dirty="0">
              <a:latin typeface="Times New Roman" panose="02020603050405020304" charset="0"/>
              <a:ea typeface="宋体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34695" y="2444115"/>
            <a:ext cx="10685780" cy="9772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ctr" defTabSz="514350">
              <a:lnSpc>
                <a:spcPct val="120000"/>
              </a:lnSpc>
              <a:buNone/>
            </a:pPr>
            <a:r>
              <a:rPr lang="en-US" altLang="zh-CN" sz="2400" b="1" dirty="0">
                <a:latin typeface="Times New Roman Bold" panose="02020603050405020304" charset="0"/>
                <a:ea typeface="宋体" charset="0"/>
                <a:cs typeface="Times New Roman Bold" panose="02020603050405020304" charset="0"/>
                <a:sym typeface="+mn-ea"/>
              </a:rPr>
              <a:t>Du Wu</a:t>
            </a:r>
            <a:r>
              <a:rPr lang="en-US" altLang="zh-CN" sz="2400" baseline="30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2,3</a:t>
            </a:r>
            <a:r>
              <a:rPr lang="en-US" altLang="zh-CN" sz="24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,  Jintao Meng</a:t>
            </a:r>
            <a:r>
              <a:rPr lang="en-US" altLang="zh-CN" sz="2400" baseline="30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1</a:t>
            </a:r>
            <a:r>
              <a:rPr lang="en-US" altLang="zh-CN" sz="24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, Wenxi Zhu</a:t>
            </a:r>
            <a:r>
              <a:rPr lang="en-US" altLang="zh-CN" sz="2400" baseline="30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4</a:t>
            </a:r>
            <a:r>
              <a:rPr lang="en-US" altLang="zh-CN" sz="24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, Minwen Deng</a:t>
            </a:r>
            <a:r>
              <a:rPr lang="en-US" altLang="zh-CN" sz="2400" baseline="30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4</a:t>
            </a:r>
            <a:r>
              <a:rPr lang="en-US" altLang="zh-CN" sz="24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, Xiao Wang</a:t>
            </a:r>
            <a:r>
              <a:rPr lang="en-US" altLang="zh-CN" sz="2400" baseline="30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5</a:t>
            </a:r>
            <a:r>
              <a:rPr lang="en-US" altLang="zh-CN" sz="24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, Tao Luo</a:t>
            </a:r>
            <a:r>
              <a:rPr lang="en-US" altLang="zh-CN" sz="2400" baseline="30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6</a:t>
            </a:r>
            <a:r>
              <a:rPr lang="en-US" altLang="zh-CN" sz="24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, Mohamed Wahib</a:t>
            </a:r>
            <a:r>
              <a:rPr lang="en-US" altLang="zh-CN" sz="2400" baseline="30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3</a:t>
            </a:r>
            <a:r>
              <a:rPr lang="en-US" altLang="zh-CN" sz="24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, Yanjie Wei</a:t>
            </a:r>
            <a:r>
              <a:rPr lang="en-US" altLang="zh-CN" sz="2400" baseline="30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1</a:t>
            </a:r>
            <a:endParaRPr lang="en-US" altLang="zh-CN" sz="2400" baseline="30000" dirty="0">
              <a:latin typeface="Times New Roman Regular" panose="02020603050405020304" charset="0"/>
              <a:ea typeface="宋体" charset="0"/>
              <a:cs typeface="Times New Roman Regular" panose="02020603050405020304" charset="0"/>
              <a:sym typeface="+mn-ea"/>
            </a:endParaRPr>
          </a:p>
        </p:txBody>
      </p:sp>
      <p:pic>
        <p:nvPicPr>
          <p:cNvPr id="13" name="Picture 4" descr="SIAT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5" y="3211195"/>
            <a:ext cx="1207135" cy="1207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2054225" y="5765800"/>
            <a:ext cx="1618615" cy="75120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l="17570" t="17494" r="17949" b="17856"/>
          <a:stretch>
            <a:fillRect/>
          </a:stretch>
        </p:blipFill>
        <p:spPr>
          <a:xfrm>
            <a:off x="331470" y="5743575"/>
            <a:ext cx="1473835" cy="77343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9"/>
          <a:srcRect l="3670" t="11186" r="6807" b="8408"/>
          <a:stretch>
            <a:fillRect/>
          </a:stretch>
        </p:blipFill>
        <p:spPr>
          <a:xfrm>
            <a:off x="6864350" y="5762625"/>
            <a:ext cx="2121535" cy="751205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24" name="图片 23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3921760" y="5765800"/>
            <a:ext cx="2761615" cy="751205"/>
          </a:xfrm>
          <a:prstGeom prst="rect">
            <a:avLst/>
          </a:prstGeom>
        </p:spPr>
      </p:pic>
      <p:pic>
        <p:nvPicPr>
          <p:cNvPr id="25" name="图片 24" descr="idscAWE0D5_1731397539478"/>
          <p:cNvPicPr>
            <a:picLocks noChangeAspect="1"/>
          </p:cNvPicPr>
          <p:nvPr/>
        </p:nvPicPr>
        <p:blipFill>
          <a:blip r:embed="rId12"/>
          <a:srcRect l="10866" t="10575" r="11854" b="12435"/>
          <a:stretch>
            <a:fillRect/>
          </a:stretch>
        </p:blipFill>
        <p:spPr>
          <a:xfrm>
            <a:off x="353695" y="4578350"/>
            <a:ext cx="996315" cy="9931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014980" y="116840"/>
            <a:ext cx="886396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/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</a:rPr>
              <a:t>Content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</a:endParaRPr>
          </a:p>
        </p:txBody>
      </p:sp>
      <p:sp>
        <p:nvSpPr>
          <p:cNvPr id="17" name="コンテンツ プレースホルダー 2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3014345" y="1666875"/>
            <a:ext cx="7080885" cy="3887470"/>
          </a:xfrm>
        </p:spPr>
        <p:txBody>
          <a:bodyPr>
            <a:noAutofit/>
          </a:bodyPr>
          <a:p>
            <a:r>
              <a:rPr lang="en-US" altLang="ja-JP" sz="3600" dirty="0" err="1">
                <a:ln w="12700">
                  <a:noFill/>
                  <a:prstDash val="solid"/>
                </a:ln>
                <a:solidFill>
                  <a:srgbClr val="00B0F0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Background </a:t>
            </a:r>
            <a:r>
              <a:rPr lang="en-US" altLang="ja-JP" sz="3600" dirty="0" err="1">
                <a:ln w="12700">
                  <a:noFill/>
                  <a:prstDash val="solid"/>
                </a:ln>
                <a:solidFill>
                  <a:srgbClr val="00B0F0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&amp; Challenges</a:t>
            </a:r>
            <a:r>
              <a:rPr lang="en-US" altLang="ja-JP" sz="3600" dirty="0" err="1">
                <a:ln w="12700">
                  <a:noFill/>
                  <a:prstDash val="solid"/>
                </a:ln>
                <a:solidFill>
                  <a:srgbClr val="0070C0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</a:t>
            </a:r>
            <a:endParaRPr lang="en-US" altLang="ja-JP" sz="3600" dirty="0" err="1">
              <a:ln w="12700">
                <a:noFill/>
                <a:prstDash val="solid"/>
              </a:ln>
              <a:solidFill>
                <a:srgbClr val="0070C0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  <a:p>
            <a:r>
              <a:rPr lang="en-US" altLang="ja-JP" sz="3600" dirty="0" err="1">
                <a:ln w="12700">
                  <a:noFill/>
                  <a:prstDash val="solid"/>
                </a:ln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Motivation</a:t>
            </a:r>
            <a:endParaRPr lang="en-US" altLang="ja-JP" sz="3600" dirty="0" err="1">
              <a:ln w="12700">
                <a:noFill/>
                <a:prstDash val="solid"/>
              </a:ln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  <a:p>
            <a:r>
              <a:rPr lang="en-US" altLang="ja-JP" sz="3600" dirty="0" err="1">
                <a:ln w="12700">
                  <a:noFill/>
                  <a:prstDash val="solid"/>
                </a:ln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Related Works</a:t>
            </a:r>
            <a:endParaRPr lang="en-US" altLang="ja-JP" sz="3600" dirty="0" err="1">
              <a:ln w="12700">
                <a:noFill/>
                <a:prstDash val="solid"/>
              </a:ln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  <a:p>
            <a:r>
              <a:rPr lang="en-US" altLang="ja-JP" sz="3600" dirty="0" err="1">
                <a:ln w="12700">
                  <a:noFill/>
                  <a:prstDash val="solid"/>
                </a:ln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Methods</a:t>
            </a:r>
            <a:endParaRPr lang="en-US" altLang="ja-JP" sz="3600" dirty="0" err="1">
              <a:ln w="12700">
                <a:noFill/>
                <a:prstDash val="solid"/>
              </a:ln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  <a:p>
            <a:r>
              <a:rPr lang="en-US" altLang="ja-JP" sz="3600" dirty="0" err="1">
                <a:ln w="12700">
                  <a:noFill/>
                  <a:prstDash val="solid"/>
                </a:ln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Performance Analysis</a:t>
            </a:r>
            <a:endParaRPr lang="en-US" altLang="ja-JP" sz="3600" dirty="0" err="1">
              <a:ln w="12700">
                <a:noFill/>
                <a:prstDash val="solid"/>
              </a:ln>
              <a:latin typeface="Verdana" panose="020B0604030504040204"/>
              <a:ea typeface="メイリオ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コンテンツ プレースホルダー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695325" y="1203325"/>
            <a:ext cx="10801350" cy="481330"/>
          </a:xfrm>
        </p:spPr>
        <p:txBody>
          <a:bodyPr>
            <a:noAutofit/>
          </a:bodyPr>
          <a:p>
            <a:r>
              <a:rPr lang="en-US" altLang="ja-JP" sz="2700" dirty="0">
                <a:solidFill>
                  <a:schemeClr val="tx1"/>
                </a:solidFill>
              </a:rPr>
              <a:t>About </a:t>
            </a:r>
            <a:r>
              <a:rPr lang="en-US" altLang="ja-JP" sz="2700" dirty="0">
                <a:solidFill>
                  <a:schemeClr val="tx1"/>
                </a:solidFill>
                <a:sym typeface="+mn-ea"/>
              </a:rPr>
              <a:t>GEMM</a:t>
            </a:r>
            <a:endParaRPr kumimoji="1" lang="en-US" altLang="ja-JP" sz="27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27125" y="1772920"/>
            <a:ext cx="9956800" cy="70675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General matrix multiplication(GEMM) has been studied intensively for years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  <a:p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Get near-optimal performance on </a:t>
            </a: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rgbClr val="00B0F0"/>
                </a:solidFill>
                <a:latin typeface="Verdana" panose="020B0604030504040204"/>
                <a:ea typeface="メイリオ"/>
                <a:cs typeface="Verdana" panose="020B0604030504040204"/>
              </a:rPr>
              <a:t>large</a:t>
            </a: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 and </a:t>
            </a: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rgbClr val="00B0F0"/>
                </a:solidFill>
                <a:latin typeface="Verdana" panose="020B0604030504040204"/>
                <a:ea typeface="メイリオ"/>
                <a:cs typeface="Verdana" panose="020B0604030504040204"/>
              </a:rPr>
              <a:t>regular-shaped</a:t>
            </a: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 matrices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</p:txBody>
      </p:sp>
      <p:pic>
        <p:nvPicPr>
          <p:cNvPr id="18" name="Picture 2" descr="Performance critical A · B part of the GEMM using a tiling strategy. A... |  Download Scientific Diagram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458" t="-1611" r="-7867" b="-3204"/>
          <a:stretch>
            <a:fillRect/>
          </a:stretch>
        </p:blipFill>
        <p:spPr bwMode="auto">
          <a:xfrm>
            <a:off x="1127125" y="2688590"/>
            <a:ext cx="9830435" cy="3801745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5" name="タイトル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Background &amp; Challenges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Background &amp; Challenges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</a:endParaRPr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657225" y="1887855"/>
            <a:ext cx="8882380" cy="70675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ja-JP" sz="2000" dirty="0">
                <a:sym typeface="+mn-ea"/>
              </a:rPr>
              <a:t> Irregular GEMM : one of input matrix dimensions is extreme imbalance</a:t>
            </a:r>
            <a:endParaRPr lang="en-US" altLang="ja-JP" sz="2000" dirty="0">
              <a:sym typeface="+mn-ea"/>
            </a:endParaRPr>
          </a:p>
          <a:p>
            <a:pPr indent="457200"/>
            <a:r>
              <a:rPr lang="en-US" altLang="ja-JP" sz="2000" dirty="0">
                <a:sym typeface="+mn-ea"/>
              </a:rPr>
              <a:t>small GEMM : one of input matrices is small</a:t>
            </a:r>
            <a:endParaRPr lang="en-US" altLang="ja-JP" sz="2000" dirty="0">
              <a:solidFill>
                <a:schemeClr val="tx1"/>
              </a:solidFill>
            </a:endParaRPr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t="362" r="1250" b="814"/>
          <a:stretch>
            <a:fillRect/>
          </a:stretch>
        </p:blipFill>
        <p:spPr>
          <a:xfrm>
            <a:off x="9764395" y="1895475"/>
            <a:ext cx="1621790" cy="436626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908685" y="2759710"/>
            <a:ext cx="4532630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Traditional science program：</a:t>
            </a:r>
            <a:endParaRPr lang="en-US" altLang="ja-JP" sz="2000" dirty="0">
              <a:solidFill>
                <a:schemeClr val="accent5">
                  <a:lumMod val="60000"/>
                  <a:lumOff val="40000"/>
                </a:schemeClr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</p:txBody>
      </p:sp>
      <p:sp>
        <p:nvSpPr>
          <p:cNvPr id="21" name="文本框 20"/>
          <p:cNvSpPr txBox="1"/>
          <p:nvPr>
            <p:custDataLst>
              <p:tags r:id="rId6"/>
            </p:custDataLst>
          </p:nvPr>
        </p:nvSpPr>
        <p:spPr>
          <a:xfrm>
            <a:off x="908685" y="4705985"/>
            <a:ext cx="4382770" cy="39878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Deep learning programs：</a:t>
            </a:r>
            <a:endParaRPr lang="en-US" altLang="ja-JP" sz="2000" dirty="0">
              <a:solidFill>
                <a:schemeClr val="accent5">
                  <a:lumMod val="60000"/>
                  <a:lumOff val="40000"/>
                </a:schemeClr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</p:txBody>
      </p:sp>
      <p:sp>
        <p:nvSpPr>
          <p:cNvPr id="25" name="コンテンツ プレースホルダー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95325" y="1203325"/>
            <a:ext cx="10801350" cy="4813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700" dirty="0">
                <a:sym typeface="+mn-ea"/>
              </a:rPr>
              <a:t>Low Performance </a:t>
            </a:r>
            <a:r>
              <a:rPr lang="en-US" altLang="ja-JP" sz="2700" dirty="0">
                <a:sym typeface="+mn-ea"/>
              </a:rPr>
              <a:t>Irregular GEMM </a:t>
            </a:r>
            <a:r>
              <a:rPr lang="en-US" altLang="ja-JP" sz="2700" dirty="0">
                <a:solidFill>
                  <a:srgbClr val="00B0F0"/>
                </a:solidFill>
                <a:sym typeface="+mn-ea"/>
              </a:rPr>
              <a:t>(</a:t>
            </a:r>
            <a:r>
              <a:rPr lang="en-US" altLang="ja-JP" sz="2700" dirty="0">
                <a:solidFill>
                  <a:srgbClr val="00B0F0"/>
                </a:solidFill>
                <a:sym typeface="+mn-ea"/>
              </a:rPr>
              <a:t>First Challenge)</a:t>
            </a:r>
            <a:endParaRPr lang="en-US" altLang="ja-JP" sz="2700" dirty="0">
              <a:solidFill>
                <a:srgbClr val="00B0F0"/>
              </a:solidFill>
              <a:sym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58190" y="3186430"/>
            <a:ext cx="8564880" cy="12528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40000"/>
              </a:lnSpc>
              <a:buFont typeface="Arial" panose="020B0704020202020204" pitchFamily="34" charset="0"/>
              <a:buChar char="•"/>
            </a:pPr>
            <a:r>
              <a:rPr lang="en-US" altLang="ja-JP" dirty="0">
                <a:sym typeface="+mn-ea"/>
              </a:rPr>
              <a:t>High-order solver for CFD heavily rely on GEMM  </a:t>
            </a:r>
            <a:r>
              <a:rPr lang="en-US" altLang="ja-JP" dirty="0">
                <a:solidFill>
                  <a:srgbClr val="00B0F0"/>
                </a:solidFill>
                <a:sym typeface="+mn-ea"/>
              </a:rPr>
              <a:t>8 × 8</a:t>
            </a:r>
            <a:endParaRPr lang="en-US" altLang="ja-JP" dirty="0"/>
          </a:p>
          <a:p>
            <a:pPr marL="285750" indent="-285750">
              <a:lnSpc>
                <a:spcPct val="140000"/>
              </a:lnSpc>
              <a:buFont typeface="Arial" panose="020B0704020202020204" pitchFamily="34" charset="0"/>
              <a:buChar char="•"/>
            </a:pPr>
            <a:r>
              <a:rPr lang="en-US" altLang="ja-JP" dirty="0">
                <a:sym typeface="+mn-ea"/>
              </a:rPr>
              <a:t>Molecular dynamics simulator extensively use GEMM </a:t>
            </a:r>
            <a:r>
              <a:rPr lang="en-US" altLang="ja-JP" dirty="0">
                <a:solidFill>
                  <a:srgbClr val="00B0F0"/>
                </a:solidFill>
                <a:sym typeface="+mn-ea"/>
              </a:rPr>
              <a:t>23 × 23</a:t>
            </a:r>
            <a:endParaRPr lang="en-US" altLang="ja-JP" dirty="0"/>
          </a:p>
          <a:p>
            <a:pPr marL="285750" indent="-285750">
              <a:lnSpc>
                <a:spcPct val="140000"/>
              </a:lnSpc>
              <a:buFont typeface="Arial" panose="020B0704020202020204" pitchFamily="34" charset="0"/>
              <a:buChar char="•"/>
            </a:pPr>
            <a:r>
              <a:rPr lang="en-US" altLang="ja-JP" dirty="0">
                <a:sym typeface="+mn-ea"/>
              </a:rPr>
              <a:t>X-ray imaging reconstruction require </a:t>
            </a:r>
            <a:r>
              <a:rPr lang="en-US" altLang="ja-JP" dirty="0">
                <a:sym typeface="+mn-ea"/>
              </a:rPr>
              <a:t>GEMMs K </a:t>
            </a:r>
            <a:r>
              <a:rPr lang="en-US" altLang="ja-JP" dirty="0">
                <a:sym typeface="+mn-ea"/>
              </a:rPr>
              <a:t>dimension fixed at </a:t>
            </a:r>
            <a:r>
              <a:rPr lang="en-US" altLang="ja-JP" dirty="0">
                <a:solidFill>
                  <a:srgbClr val="00B0F0"/>
                </a:solidFill>
                <a:sym typeface="+mn-ea"/>
              </a:rPr>
              <a:t>4</a:t>
            </a:r>
            <a:endParaRPr lang="en-US" altLang="ja-JP" dirty="0">
              <a:solidFill>
                <a:srgbClr val="00B0F0"/>
              </a:solidFill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758190" y="5121910"/>
            <a:ext cx="8564880" cy="12528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40000"/>
              </a:lnSpc>
              <a:buFont typeface="Arial" panose="020B0704020202020204" pitchFamily="34" charset="0"/>
              <a:buChar char="•"/>
            </a:pPr>
            <a:r>
              <a:rPr lang="en-US" altLang="ja-JP" dirty="0">
                <a:sym typeface="+mn-ea"/>
              </a:rPr>
              <a:t>The first layer of ResNet50 compute on </a:t>
            </a:r>
            <a:r>
              <a:rPr lang="en-US" altLang="ja-JP" dirty="0">
                <a:sym typeface="+mn-ea"/>
              </a:rPr>
              <a:t>GEMM</a:t>
            </a:r>
            <a:r>
              <a:rPr lang="en-US" altLang="ja-JP" dirty="0">
                <a:sym typeface="+mn-ea"/>
              </a:rPr>
              <a:t> </a:t>
            </a:r>
            <a:r>
              <a:rPr lang="en-US" altLang="ja-JP" dirty="0">
                <a:solidFill>
                  <a:srgbClr val="00B0F0"/>
                </a:solidFill>
                <a:sym typeface="+mn-ea"/>
              </a:rPr>
              <a:t>64 </a:t>
            </a:r>
            <a:r>
              <a:rPr lang="en-US" altLang="ja-JP" dirty="0">
                <a:solidFill>
                  <a:srgbClr val="00B0F0"/>
                </a:solidFill>
                <a:sym typeface="+mn-ea"/>
              </a:rPr>
              <a:t>×</a:t>
            </a:r>
            <a:r>
              <a:rPr lang="en-US" altLang="ja-JP" dirty="0">
                <a:solidFill>
                  <a:srgbClr val="00B0F0"/>
                </a:solidFill>
                <a:sym typeface="+mn-ea"/>
              </a:rPr>
              <a:t> 12,544</a:t>
            </a:r>
            <a:endParaRPr lang="en-US" altLang="ja-JP" dirty="0"/>
          </a:p>
          <a:p>
            <a:pPr marL="285750" indent="-285750">
              <a:lnSpc>
                <a:spcPct val="140000"/>
              </a:lnSpc>
              <a:buFont typeface="Arial" panose="020B0704020202020204" pitchFamily="34" charset="0"/>
              <a:buChar char="•"/>
            </a:pPr>
            <a:r>
              <a:rPr lang="en-US" altLang="ja-JP" dirty="0">
                <a:sym typeface="+mn-ea"/>
              </a:rPr>
              <a:t>The Winograd algorithm is highly dependent on GEMM </a:t>
            </a:r>
            <a:r>
              <a:rPr lang="en-US" altLang="ja-JP" dirty="0">
                <a:solidFill>
                  <a:srgbClr val="00B0F0"/>
                </a:solidFill>
                <a:sym typeface="+mn-ea"/>
              </a:rPr>
              <a:t>8 × 8</a:t>
            </a:r>
            <a:endParaRPr lang="en-US" altLang="ja-JP" dirty="0">
              <a:solidFill>
                <a:srgbClr val="00B0F0"/>
              </a:solidFill>
              <a:sym typeface="+mn-ea"/>
            </a:endParaRPr>
          </a:p>
          <a:p>
            <a:pPr marL="285750" indent="-285750">
              <a:lnSpc>
                <a:spcPct val="140000"/>
              </a:lnSpc>
              <a:buFont typeface="Arial" panose="020B0704020202020204" pitchFamily="34" charset="0"/>
              <a:buChar char="•"/>
            </a:pPr>
            <a:r>
              <a:rPr lang="en-US" altLang="ja-JP" dirty="0">
                <a:sym typeface="+mn-ea"/>
              </a:rPr>
              <a:t>The AI model for MOBA game rely on GEMMs M dimension fixed at </a:t>
            </a:r>
            <a:r>
              <a:rPr lang="en-US" altLang="ja-JP" dirty="0">
                <a:solidFill>
                  <a:srgbClr val="00B0F0"/>
                </a:solidFill>
                <a:sym typeface="+mn-ea"/>
              </a:rPr>
              <a:t>5 </a:t>
            </a:r>
            <a:endParaRPr lang="en-US" altLang="ja-JP" dirty="0">
              <a:solidFill>
                <a:srgbClr val="00B0F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Background &amp; Challenges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548130" y="3834765"/>
            <a:ext cx="9126855" cy="2871470"/>
            <a:chOff x="2438" y="6039"/>
            <a:chExt cx="14373" cy="4522"/>
          </a:xfrm>
        </p:grpSpPr>
        <p:pic>
          <p:nvPicPr>
            <p:cNvPr id="6" name="图片 5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tretch>
              <a:fillRect/>
            </a:stretch>
          </p:blipFill>
          <p:spPr>
            <a:xfrm>
              <a:off x="9831" y="6120"/>
              <a:ext cx="2771" cy="2078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>
              <p:custDataLst>
                <p:tags r:id="rId4"/>
              </p:custDataLst>
            </p:nvPr>
          </p:nvSpPr>
          <p:spPr>
            <a:xfrm>
              <a:off x="5601" y="8429"/>
              <a:ext cx="330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buClrTx/>
                <a:buSzTx/>
                <a:buFontTx/>
              </a:pPr>
              <a:r>
                <a:rPr lang="en-US" altLang="zh-CN" sz="1800" dirty="0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  <a:sym typeface="+mn-ea"/>
                </a:rPr>
                <a:t>consumer PC 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</a:rPr>
                <a:t>CPU</a:t>
              </a:r>
              <a:endParaRPr lang="en-US" altLang="zh-CN" sz="1800" dirty="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5"/>
              </p:custDataLst>
            </p:nvPr>
          </p:nvSpPr>
          <p:spPr>
            <a:xfrm>
              <a:off x="9885" y="8411"/>
              <a:ext cx="265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buClrTx/>
                <a:buSzTx/>
                <a:buFontTx/>
              </a:pPr>
              <a:r>
                <a:rPr lang="en-US" altLang="zh-CN" sz="1800" dirty="0">
                  <a:latin typeface="Times New Roman Regular" panose="02020603050405020304" charset="0"/>
                  <a:cs typeface="Times New Roman Regular" panose="02020603050405020304" charset="0"/>
                  <a:sym typeface="+mn-ea"/>
                </a:rPr>
                <a:t>server </a:t>
              </a:r>
              <a:r>
                <a:rPr lang="en-US" altLang="zh-CN" sz="1800" dirty="0">
                  <a:latin typeface="Times New Roman Regular" panose="02020603050405020304" charset="0"/>
                  <a:cs typeface="Times New Roman Regular" panose="02020603050405020304" charset="0"/>
                </a:rPr>
                <a:t>CPU</a:t>
              </a:r>
              <a:endParaRPr lang="en-US" altLang="zh-CN" sz="1800" dirty="0">
                <a:latin typeface="Times New Roman Regular" panose="02020603050405020304" charset="0"/>
                <a:cs typeface="Times New Roman Regular" panose="02020603050405020304" charset="0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6"/>
              </p:custDataLst>
            </p:nvPr>
          </p:nvSpPr>
          <p:spPr>
            <a:xfrm>
              <a:off x="2501" y="8483"/>
              <a:ext cx="230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800" dirty="0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  <a:sym typeface="+mn-ea"/>
                </a:rPr>
                <a:t>mobile </a:t>
              </a:r>
              <a:r>
                <a:rPr lang="en-US" altLang="zh-CN" sz="1800" dirty="0">
                  <a:solidFill>
                    <a:schemeClr val="tx1"/>
                  </a:solidFill>
                  <a:latin typeface="Times New Roman Regular" panose="02020603050405020304" charset="0"/>
                  <a:cs typeface="Times New Roman Regular" panose="02020603050405020304" charset="0"/>
                </a:rPr>
                <a:t>CPU</a:t>
              </a:r>
              <a:endParaRPr lang="en-US" altLang="zh-CN" sz="1800" dirty="0">
                <a:solidFill>
                  <a:schemeClr val="tx1"/>
                </a:solidFill>
                <a:latin typeface="Times New Roman Regular" panose="02020603050405020304" charset="0"/>
                <a:cs typeface="Times New Roman Regular" panose="02020603050405020304" charset="0"/>
              </a:endParaRPr>
            </a:p>
          </p:txBody>
        </p:sp>
        <p:sp>
          <p:nvSpPr>
            <p:cNvPr id="12" name="文本框 11"/>
            <p:cNvSpPr txBox="1"/>
            <p:nvPr>
              <p:custDataLst>
                <p:tags r:id="rId7"/>
              </p:custDataLst>
            </p:nvPr>
          </p:nvSpPr>
          <p:spPr>
            <a:xfrm>
              <a:off x="9734" y="8979"/>
              <a:ext cx="3085" cy="158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dirty="0">
                  <a:latin typeface="Times New Roman Regular" panose="02020603050405020304" charset="0"/>
                  <a:cs typeface="Times New Roman Regular" panose="02020603050405020304" charset="0"/>
                  <a:sym typeface="+mn-ea"/>
                </a:rPr>
                <a:t>Huawei  KP920</a:t>
              </a:r>
              <a:endParaRPr lang="en-US" altLang="zh-CN" dirty="0">
                <a:latin typeface="Times New Roman Regular" panose="02020603050405020304" charset="0"/>
                <a:cs typeface="Times New Roman Regular" panose="02020603050405020304" charset="0"/>
                <a:sym typeface="+mn-ea"/>
              </a:endParaRPr>
            </a:p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dirty="0">
                  <a:latin typeface="Times New Roman Regular" panose="02020603050405020304" charset="0"/>
                  <a:cs typeface="Times New Roman Regular" panose="02020603050405020304" charset="0"/>
                  <a:sym typeface="+mn-ea"/>
                </a:rPr>
                <a:t>AWS     Graviton2</a:t>
              </a:r>
              <a:endParaRPr lang="en-US" altLang="zh-CN" dirty="0">
                <a:latin typeface="Times New Roman Regular" panose="02020603050405020304" charset="0"/>
                <a:cs typeface="Times New Roman Regular" panose="02020603050405020304" charset="0"/>
                <a:sym typeface="+mn-ea"/>
              </a:endParaRPr>
            </a:p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zh-CN" altLang="en-US" dirty="0">
                  <a:latin typeface="Times New Roman Regular" panose="02020603050405020304" charset="0"/>
                  <a:cs typeface="Times New Roman Regular" panose="02020603050405020304" charset="0"/>
                </a:rPr>
                <a:t>Ampere</a:t>
              </a:r>
              <a:r>
                <a:rPr lang="en-US" altLang="zh-CN" dirty="0">
                  <a:latin typeface="Times New Roman Regular" panose="02020603050405020304" charset="0"/>
                  <a:cs typeface="Times New Roman Regular" panose="02020603050405020304" charset="0"/>
                </a:rPr>
                <a:t> Altra</a:t>
              </a:r>
              <a:endParaRPr lang="en-US" altLang="zh-CN" dirty="0">
                <a:latin typeface="Times New Roman Regular" panose="02020603050405020304" charset="0"/>
                <a:cs typeface="Times New Roman Regular" panose="02020603050405020304" charset="0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8"/>
              </p:custDataLst>
            </p:nvPr>
          </p:nvSpPr>
          <p:spPr>
            <a:xfrm>
              <a:off x="5979" y="9083"/>
              <a:ext cx="2583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spcBef>
                  <a:spcPct val="0"/>
                </a:spcBef>
              </a:pPr>
              <a:r>
                <a:rPr lang="en-US" altLang="zh-CN" dirty="0">
                  <a:latin typeface="Times New Roman Regular" panose="02020603050405020304" charset="0"/>
                  <a:cs typeface="Times New Roman Regular" panose="02020603050405020304" charset="0"/>
                  <a:sym typeface="+mn-ea"/>
                </a:rPr>
                <a:t>Apple M1/M2</a:t>
              </a:r>
              <a:endParaRPr lang="zh-CN" altLang="en-US" dirty="0">
                <a:latin typeface="Times New Roman Regular" panose="02020603050405020304" charset="0"/>
                <a:cs typeface="Times New Roman Regular" panose="02020603050405020304" charset="0"/>
              </a:endParaRPr>
            </a:p>
          </p:txBody>
        </p:sp>
        <p:pic>
          <p:nvPicPr>
            <p:cNvPr id="18" name="Picture 2" descr="Video: Overview of the Fujitsu A64fx processor - High-Performance Computing  News Analysis | insideHPC"/>
            <p:cNvPicPr>
              <a:picLocks noChangeAspect="1" noChangeArrowheads="1"/>
            </p:cNvPicPr>
            <p:nvPr>
              <p:custDataLst>
                <p:tags r:id="rId9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894" y="6039"/>
              <a:ext cx="2317" cy="23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文本框 18"/>
            <p:cNvSpPr txBox="1"/>
            <p:nvPr>
              <p:custDataLst>
                <p:tags r:id="rId11"/>
              </p:custDataLst>
            </p:nvPr>
          </p:nvSpPr>
          <p:spPr>
            <a:xfrm>
              <a:off x="13831" y="8925"/>
              <a:ext cx="2980" cy="623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>
                <a:lnSpc>
                  <a:spcPct val="110000"/>
                </a:lnSpc>
                <a:spcBef>
                  <a:spcPct val="0"/>
                </a:spcBef>
              </a:pPr>
              <a:r>
                <a:rPr lang="en-US" altLang="zh-CN" dirty="0">
                  <a:latin typeface="Times New Roman Regular" panose="02020603050405020304" charset="0"/>
                  <a:cs typeface="Times New Roman Regular" panose="02020603050405020304" charset="0"/>
                  <a:sym typeface="+mn-ea"/>
                </a:rPr>
                <a:t>Fujitsu A64FX</a:t>
              </a:r>
              <a:endParaRPr lang="zh-CN" altLang="en-US" dirty="0">
                <a:latin typeface="Times New Roman Regular" panose="02020603050405020304" charset="0"/>
                <a:cs typeface="Times New Roman Regular" panose="02020603050405020304" charset="0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12"/>
              </p:custDataLst>
            </p:nvPr>
          </p:nvSpPr>
          <p:spPr>
            <a:xfrm>
              <a:off x="13726" y="8381"/>
              <a:ext cx="2654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>
                <a:buClrTx/>
                <a:buSzTx/>
                <a:buFontTx/>
              </a:pPr>
              <a:r>
                <a:rPr lang="en-US" altLang="zh-CN" sz="1800" dirty="0">
                  <a:latin typeface="Times New Roman Regular" panose="02020603050405020304" charset="0"/>
                  <a:cs typeface="Times New Roman Regular" panose="02020603050405020304" charset="0"/>
                  <a:sym typeface="+mn-ea"/>
                </a:rPr>
                <a:t>Supercomputer</a:t>
              </a:r>
              <a:endParaRPr lang="en-US" altLang="zh-CN" sz="1800" dirty="0">
                <a:latin typeface="Times New Roman Regular" panose="02020603050405020304" charset="0"/>
                <a:cs typeface="Times New Roman Regular" panose="02020603050405020304" charset="0"/>
              </a:endParaRPr>
            </a:p>
          </p:txBody>
        </p:sp>
        <p:pic>
          <p:nvPicPr>
            <p:cNvPr id="22" name="图片 21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6064" y="6051"/>
              <a:ext cx="2378" cy="2305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>
              <p:custDataLst>
                <p:tags r:id="rId15"/>
              </p:custDataLst>
            </p:nvPr>
          </p:nvPicPr>
          <p:blipFill>
            <a:blip r:embed="rId16"/>
            <a:stretch>
              <a:fillRect/>
            </a:stretch>
          </p:blipFill>
          <p:spPr>
            <a:xfrm>
              <a:off x="2438" y="6039"/>
              <a:ext cx="2496" cy="2391"/>
            </a:xfrm>
            <a:prstGeom prst="rect">
              <a:avLst/>
            </a:prstGeom>
          </p:spPr>
        </p:pic>
      </p:grpSp>
      <p:sp>
        <p:nvSpPr>
          <p:cNvPr id="24" name="文本框 23"/>
          <p:cNvSpPr txBox="1"/>
          <p:nvPr>
            <p:custDataLst>
              <p:tags r:id="rId17"/>
            </p:custDataLst>
          </p:nvPr>
        </p:nvSpPr>
        <p:spPr>
          <a:xfrm>
            <a:off x="1050925" y="3005455"/>
            <a:ext cx="438975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ja-JP" sz="2000" dirty="0">
                <a:solidFill>
                  <a:srgbClr val="00B0F0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More PC, server and supercomputer are based ARM</a:t>
            </a:r>
            <a:endParaRPr lang="en-US" altLang="ja-JP" sz="2000" dirty="0">
              <a:solidFill>
                <a:srgbClr val="00B0F0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27" name="文本框 26"/>
          <p:cNvSpPr txBox="1"/>
          <p:nvPr>
            <p:custDataLst>
              <p:tags r:id="rId18"/>
            </p:custDataLst>
          </p:nvPr>
        </p:nvSpPr>
        <p:spPr>
          <a:xfrm>
            <a:off x="6932930" y="3034030"/>
            <a:ext cx="4855210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en-US" altLang="ja-JP" sz="2000" dirty="0">
                <a:solidFill>
                  <a:srgbClr val="00B0F0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Device CPUs are dominated by ARM </a:t>
            </a:r>
            <a:endParaRPr lang="en-US" altLang="ja-JP" sz="2000" dirty="0">
              <a:solidFill>
                <a:srgbClr val="00B0F0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algn="l"/>
            <a:r>
              <a:rPr lang="en-US" altLang="ja-JP" sz="2000" dirty="0">
                <a:solidFill>
                  <a:srgbClr val="00B0F0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and upgrade speed extremely fast</a:t>
            </a:r>
            <a:endParaRPr lang="en-US" altLang="ja-JP" sz="2000" dirty="0">
              <a:solidFill>
                <a:srgbClr val="00B0F0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61" name="文本框 60"/>
          <p:cNvSpPr txBox="1"/>
          <p:nvPr>
            <p:custDataLst>
              <p:tags r:id="rId19"/>
            </p:custDataLst>
          </p:nvPr>
        </p:nvSpPr>
        <p:spPr>
          <a:xfrm>
            <a:off x="254635" y="1972945"/>
            <a:ext cx="2537460" cy="101473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r"/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large CPU clusters 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  <a:p>
            <a:pPr algn="r"/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GPU clusters 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  <a:p>
            <a:pPr algn="r"/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TPU clusters  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</p:txBody>
      </p:sp>
      <p:sp>
        <p:nvSpPr>
          <p:cNvPr id="62" name="文本框 61"/>
          <p:cNvSpPr txBox="1"/>
          <p:nvPr>
            <p:custDataLst>
              <p:tags r:id="rId20"/>
            </p:custDataLst>
          </p:nvPr>
        </p:nvSpPr>
        <p:spPr>
          <a:xfrm>
            <a:off x="2959100" y="2261235"/>
            <a:ext cx="2296795" cy="39878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used for training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cs typeface="Times New Roman Regular" panose="02020603050405020304" charset="0"/>
              <a:sym typeface="+mn-ea"/>
            </a:endParaRPr>
          </a:p>
        </p:txBody>
      </p:sp>
      <p:sp>
        <p:nvSpPr>
          <p:cNvPr id="63" name="右大括号 62"/>
          <p:cNvSpPr/>
          <p:nvPr>
            <p:custDataLst>
              <p:tags r:id="rId21"/>
            </p:custDataLst>
          </p:nvPr>
        </p:nvSpPr>
        <p:spPr>
          <a:xfrm>
            <a:off x="2799715" y="2063115"/>
            <a:ext cx="154940" cy="855980"/>
          </a:xfrm>
          <a:prstGeom prst="rightBrace">
            <a:avLst>
              <a:gd name="adj1" fmla="val 33039"/>
              <a:gd name="adj2" fmla="val 50000"/>
            </a:avLst>
          </a:prstGeom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>
            <p:custDataLst>
              <p:tags r:id="rId22"/>
            </p:custDataLst>
          </p:nvPr>
        </p:nvSpPr>
        <p:spPr>
          <a:xfrm>
            <a:off x="5894070" y="2261235"/>
            <a:ext cx="18796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zh-CN" dirty="0">
                <a:solidFill>
                  <a:schemeClr val="tx1"/>
                </a:solidFill>
                <a:latin typeface="Times New Roman Regular" panose="02020603050405020304" charset="0"/>
                <a:ea typeface="宋体" charset="0"/>
                <a:cs typeface="Times New Roman Regular" panose="02020603050405020304" charset="0"/>
              </a:rPr>
              <a:t> </a:t>
            </a: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inference on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cs typeface="Times New Roman Regular" panose="02020603050405020304" charset="0"/>
            </a:endParaRPr>
          </a:p>
        </p:txBody>
      </p:sp>
      <p:sp>
        <p:nvSpPr>
          <p:cNvPr id="65" name="右大括号 64"/>
          <p:cNvSpPr/>
          <p:nvPr>
            <p:custDataLst>
              <p:tags r:id="rId23"/>
            </p:custDataLst>
          </p:nvPr>
        </p:nvSpPr>
        <p:spPr>
          <a:xfrm rot="10800000">
            <a:off x="7769860" y="1706880"/>
            <a:ext cx="171450" cy="1146175"/>
          </a:xfrm>
          <a:prstGeom prst="rightBrace">
            <a:avLst>
              <a:gd name="adj1" fmla="val 33039"/>
              <a:gd name="adj2" fmla="val 31800"/>
            </a:avLst>
          </a:prstGeom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66" name="直接箭头连接符 65"/>
          <p:cNvCxnSpPr/>
          <p:nvPr>
            <p:custDataLst>
              <p:tags r:id="rId24"/>
            </p:custDataLst>
          </p:nvPr>
        </p:nvCxnSpPr>
        <p:spPr>
          <a:xfrm flipV="1">
            <a:off x="5231765" y="2492375"/>
            <a:ext cx="648335" cy="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>
            <p:custDataLst>
              <p:tags r:id="rId25"/>
            </p:custDataLst>
          </p:nvPr>
        </p:nvSpPr>
        <p:spPr>
          <a:xfrm>
            <a:off x="320675" y="2021205"/>
            <a:ext cx="2458085" cy="304800"/>
          </a:xfrm>
          <a:prstGeom prst="rect">
            <a:avLst/>
          </a:prstGeom>
          <a:noFill/>
          <a:ln w="2540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00B0F0"/>
              </a:solidFill>
            </a:endParaRPr>
          </a:p>
        </p:txBody>
      </p:sp>
      <p:sp>
        <p:nvSpPr>
          <p:cNvPr id="68" name="文本框 67"/>
          <p:cNvSpPr txBox="1"/>
          <p:nvPr>
            <p:custDataLst>
              <p:tags r:id="rId26"/>
            </p:custDataLst>
          </p:nvPr>
        </p:nvSpPr>
        <p:spPr>
          <a:xfrm>
            <a:off x="4578350" y="1920875"/>
            <a:ext cx="207454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ja-JP" sz="2000" dirty="0">
                <a:solidFill>
                  <a:schemeClr val="accent5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Deep learning</a:t>
            </a:r>
            <a:endParaRPr lang="en-US" altLang="ja-JP" sz="2000" dirty="0">
              <a:solidFill>
                <a:schemeClr val="accent5">
                  <a:lumMod val="60000"/>
                  <a:lumOff val="40000"/>
                </a:schemeClr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69" name="矩形 68"/>
          <p:cNvSpPr/>
          <p:nvPr>
            <p:custDataLst>
              <p:tags r:id="rId27"/>
            </p:custDataLst>
          </p:nvPr>
        </p:nvSpPr>
        <p:spPr>
          <a:xfrm>
            <a:off x="7975600" y="2014855"/>
            <a:ext cx="3782060" cy="890905"/>
          </a:xfrm>
          <a:prstGeom prst="rect">
            <a:avLst/>
          </a:prstGeom>
          <a:noFill/>
          <a:ln w="2540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矩形 69"/>
          <p:cNvSpPr/>
          <p:nvPr>
            <p:custDataLst>
              <p:tags r:id="rId28"/>
            </p:custDataLst>
          </p:nvPr>
        </p:nvSpPr>
        <p:spPr>
          <a:xfrm>
            <a:off x="7975600" y="1688465"/>
            <a:ext cx="2661285" cy="281305"/>
          </a:xfrm>
          <a:prstGeom prst="rect">
            <a:avLst/>
          </a:prstGeom>
          <a:noFill/>
          <a:ln w="2540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>
            <p:custDataLst>
              <p:tags r:id="rId29"/>
            </p:custDataLst>
          </p:nvPr>
        </p:nvSpPr>
        <p:spPr>
          <a:xfrm>
            <a:off x="7929245" y="1612900"/>
            <a:ext cx="3828415" cy="132207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l">
              <a:buClrTx/>
              <a:buSzTx/>
              <a:buFontTx/>
            </a:pP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personal computers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  <a:p>
            <a:pPr algn="l">
              <a:buClrTx/>
              <a:buSzTx/>
              <a:buFontTx/>
            </a:pP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mobile phones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  <a:p>
            <a:pPr algn="l">
              <a:buClrTx/>
              <a:buSzTx/>
              <a:buFontTx/>
            </a:pP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embedded devices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  <a:p>
            <a:pPr algn="l">
              <a:buClrTx/>
              <a:buSzTx/>
              <a:buFontTx/>
            </a:pP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accelerators (FPGAs, ASICs)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</p:txBody>
      </p:sp>
      <p:sp>
        <p:nvSpPr>
          <p:cNvPr id="73" name="コンテンツ プレースホルダー 2"/>
          <p:cNvSpPr>
            <a:spLocks noGrp="1"/>
          </p:cNvSpPr>
          <p:nvPr>
            <p:custDataLst>
              <p:tags r:id="rId30"/>
            </p:custDataLst>
          </p:nvPr>
        </p:nvSpPr>
        <p:spPr>
          <a:xfrm>
            <a:off x="695325" y="1203325"/>
            <a:ext cx="10801350" cy="4813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700" dirty="0">
                <a:sym typeface="+mn-ea"/>
              </a:rPr>
              <a:t>About ARM Architecture</a:t>
            </a:r>
            <a:endParaRPr lang="en-US" altLang="ja-JP" sz="2700" dirty="0">
              <a:solidFill>
                <a:srgbClr val="00B0F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Background &amp; Challenges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838835" y="2115185"/>
          <a:ext cx="10370820" cy="221678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6895"/>
                <a:gridCol w="1708785"/>
                <a:gridCol w="1708150"/>
                <a:gridCol w="1710055"/>
                <a:gridCol w="1708150"/>
                <a:gridCol w="1708785"/>
              </a:tblGrid>
              <a:tr h="76581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instruction length</a:t>
                      </a:r>
                      <a:endParaRPr lang="zh-CN" sz="1400" b="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b="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addressing mode</a:t>
                      </a:r>
                      <a:endParaRPr lang="zh-CN" sz="1400" b="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coding scheme</a:t>
                      </a:r>
                      <a:endParaRPr lang="zh-CN" altLang="en-US" sz="1400" b="0" i="0" u="none" strike="noStrike" kern="1200" dirty="0">
                        <a:solidFill>
                          <a:schemeClr val="lt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read-write operation</a:t>
                      </a:r>
                      <a:endParaRPr lang="zh-CN" altLang="en-US" sz="1400" b="0" i="0" u="none" strike="noStrike" kern="1200" dirty="0">
                        <a:solidFill>
                          <a:schemeClr val="lt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Micro-Ops</a:t>
                      </a:r>
                      <a:endParaRPr lang="zh-CN" altLang="en-US" sz="1400" b="0" i="0" u="none" strike="noStrike" kern="1200" dirty="0">
                        <a:solidFill>
                          <a:schemeClr val="lt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</a:tr>
              <a:tr h="72580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微软雅黑" charset="-122"/>
                          <a:ea typeface="微软雅黑" charset="-122"/>
                        </a:rPr>
                        <a:t>X86 (</a:t>
                      </a:r>
                      <a:r>
                        <a:rPr lang="en-US" altLang="zh-CN" sz="1400" b="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  <a:sym typeface="+mn-ea"/>
                        </a:rPr>
                        <a:t>CISC</a:t>
                      </a:r>
                      <a:r>
                        <a:rPr lang="en-US" sz="1400" b="0" dirty="0">
                          <a:effectLst/>
                          <a:latin typeface="微软雅黑" charset="-122"/>
                          <a:ea typeface="微软雅黑" charset="-122"/>
                        </a:rPr>
                        <a:t>)</a:t>
                      </a:r>
                      <a:endParaRPr lang="en-US" sz="1400" b="0" dirty="0"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variable</a:t>
                      </a:r>
                      <a:endParaRPr lang="en-US" altLang="zh-CN" sz="16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more</a:t>
                      </a:r>
                      <a:endParaRPr lang="en-US" altLang="zh-CN" sz="1600" dirty="0">
                        <a:effectLst/>
                        <a:latin typeface="微软雅黑" charset="-122"/>
                        <a:ea typeface="微软雅黑" charset="-122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long and complex</a:t>
                      </a:r>
                      <a:endParaRPr lang="en-US" altLang="zh-CN" sz="16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register-memory</a:t>
                      </a:r>
                      <a:endParaRPr lang="en-US" altLang="zh-CN" sz="16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yes</a:t>
                      </a:r>
                      <a:endParaRPr lang="en-US" altLang="zh-CN" sz="16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72517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微软雅黑" charset="-122"/>
                          <a:ea typeface="微软雅黑" charset="-122"/>
                        </a:rPr>
                        <a:t>ARM (</a:t>
                      </a:r>
                      <a:r>
                        <a:rPr lang="en-US" altLang="zh-CN" sz="1400" b="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  <a:sym typeface="+mn-ea"/>
                        </a:rPr>
                        <a:t>RISC</a:t>
                      </a:r>
                      <a:r>
                        <a:rPr lang="en-US" sz="1400" b="0" dirty="0">
                          <a:effectLst/>
                          <a:latin typeface="微软雅黑" charset="-122"/>
                          <a:ea typeface="微软雅黑" charset="-122"/>
                        </a:rPr>
                        <a:t>)</a:t>
                      </a:r>
                      <a:endParaRPr lang="en-US" sz="1400" b="0" dirty="0"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f</a:t>
                      </a:r>
                      <a:r>
                        <a:rPr lang="zh-CN" altLang="en-US" sz="16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ixed</a:t>
                      </a:r>
                      <a:endParaRPr lang="zh-CN" altLang="en-US" sz="16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  <a:sym typeface="+mn-ea"/>
                        </a:rPr>
                        <a:t>less</a:t>
                      </a:r>
                      <a:endParaRPr lang="en-US" altLang="zh-CN" sz="16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simple</a:t>
                      </a:r>
                      <a:endParaRPr lang="en-US" altLang="zh-CN" sz="16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6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load-store</a:t>
                      </a:r>
                      <a:endParaRPr lang="en-US" altLang="zh-CN" sz="16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6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no</a:t>
                      </a:r>
                      <a:endParaRPr lang="en-US" altLang="zh-CN" sz="16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7" name="上箭头 6"/>
          <p:cNvSpPr/>
          <p:nvPr>
            <p:custDataLst>
              <p:tags r:id="rId3"/>
            </p:custDataLst>
          </p:nvPr>
        </p:nvSpPr>
        <p:spPr>
          <a:xfrm>
            <a:off x="5142865" y="4459605"/>
            <a:ext cx="273050" cy="276860"/>
          </a:xfrm>
          <a:prstGeom prst="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上箭头 7"/>
          <p:cNvSpPr/>
          <p:nvPr>
            <p:custDataLst>
              <p:tags r:id="rId4"/>
            </p:custDataLst>
          </p:nvPr>
        </p:nvSpPr>
        <p:spPr>
          <a:xfrm>
            <a:off x="8543925" y="4459605"/>
            <a:ext cx="273050" cy="276860"/>
          </a:xfrm>
          <a:prstGeom prst="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上箭头 10"/>
          <p:cNvSpPr/>
          <p:nvPr>
            <p:custDataLst>
              <p:tags r:id="rId5"/>
            </p:custDataLst>
          </p:nvPr>
        </p:nvSpPr>
        <p:spPr>
          <a:xfrm>
            <a:off x="10244455" y="4459605"/>
            <a:ext cx="273050" cy="276860"/>
          </a:xfrm>
          <a:prstGeom prst="up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6"/>
            </p:custDataLst>
          </p:nvPr>
        </p:nvSpPr>
        <p:spPr>
          <a:xfrm>
            <a:off x="539750" y="5155565"/>
            <a:ext cx="11021060" cy="96837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>
              <a:buFont typeface="Wingdings" panose="05000000000000000000" charset="0"/>
              <a:buChar char=""/>
            </a:pPr>
            <a:r>
              <a:rPr lang="en-US" altLang="ja-JP" sz="19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Without Micro-Ops</a:t>
            </a:r>
            <a:r>
              <a:rPr lang="en-US" altLang="ja-JP" sz="1900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 </a:t>
            </a:r>
            <a:r>
              <a:rPr lang="en-US" altLang="ja-JP" sz="19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ARM architecture needs </a:t>
            </a:r>
            <a:r>
              <a:rPr lang="en-US" altLang="ja-JP" sz="1900" dirty="0">
                <a:solidFill>
                  <a:srgbClr val="00B0F0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better orchestration</a:t>
            </a:r>
            <a:r>
              <a:rPr lang="en-US" altLang="ja-JP" sz="19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 assembly instructions</a:t>
            </a:r>
            <a:endParaRPr lang="en-US" altLang="ja-JP" sz="19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285750" indent="-285750">
              <a:buFont typeface="Wingdings" panose="05000000000000000000" charset="0"/>
              <a:buChar char=""/>
            </a:pPr>
            <a:endParaRPr lang="en-US" altLang="ja-JP" sz="19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285750" indent="-285750">
              <a:buClr>
                <a:srgbClr val="FFFFFF"/>
              </a:buClr>
              <a:buFont typeface="Wingdings" panose="05000000000000000000" charset="0"/>
              <a:buChar char=""/>
            </a:pPr>
            <a:r>
              <a:rPr lang="en-US" altLang="ja-JP" sz="1900" dirty="0">
                <a:solidFill>
                  <a:srgbClr val="00B0F0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Load-store data</a:t>
            </a:r>
            <a:r>
              <a:rPr lang="en-US" altLang="ja-JP" sz="19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 </a:t>
            </a:r>
            <a:r>
              <a:rPr lang="en-US" altLang="ja-JP" sz="1900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from cache/memory is the key technology </a:t>
            </a:r>
            <a:r>
              <a:rPr lang="en-US" altLang="ja-JP" sz="19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for </a:t>
            </a:r>
            <a:r>
              <a:rPr lang="en-US" altLang="ja-JP" sz="1900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ARM </a:t>
            </a:r>
            <a:r>
              <a:rPr lang="en-US" altLang="ja-JP" sz="19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optimization </a:t>
            </a:r>
            <a:r>
              <a:rPr lang="en-US" altLang="ja-JP" sz="1900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 </a:t>
            </a:r>
            <a:endParaRPr lang="en-US" altLang="ja-JP" sz="19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73" name="コンテンツ プレースホルダー 2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95325" y="1203325"/>
            <a:ext cx="10801350" cy="4813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700" dirty="0">
                <a:sym typeface="+mn-ea"/>
              </a:rPr>
              <a:t>Coding Difficulties with ARM </a:t>
            </a:r>
            <a:r>
              <a:rPr lang="en-US" altLang="ja-JP" sz="2700" dirty="0">
                <a:solidFill>
                  <a:srgbClr val="00B0F0"/>
                </a:solidFill>
                <a:sym typeface="+mn-ea"/>
              </a:rPr>
              <a:t>(Second Challenge)</a:t>
            </a:r>
            <a:endParaRPr lang="en-US" altLang="ja-JP" sz="2700" dirty="0">
              <a:solidFill>
                <a:srgbClr val="00B0F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Background &amp; Challenges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29895" y="1867535"/>
          <a:ext cx="11096625" cy="39909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84350"/>
                <a:gridCol w="747395"/>
                <a:gridCol w="1646555"/>
                <a:gridCol w="1833245"/>
                <a:gridCol w="1833245"/>
                <a:gridCol w="1833245"/>
                <a:gridCol w="1418590"/>
              </a:tblGrid>
              <a:tr h="33337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dirty="0">
                          <a:effectLst/>
                          <a:latin typeface="微软雅黑" charset="-122"/>
                          <a:ea typeface="微软雅黑" charset="-122"/>
                        </a:rPr>
                        <a:t>CPU Name</a:t>
                      </a:r>
                      <a:endParaRPr lang="en-US" altLang="zh-CN" sz="1400" b="0" dirty="0"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dirty="0">
                          <a:effectLst/>
                          <a:latin typeface="微软雅黑" charset="-122"/>
                          <a:ea typeface="微软雅黑" charset="-122"/>
                        </a:rPr>
                        <a:t>Cores</a:t>
                      </a:r>
                      <a:endParaRPr lang="en-US" altLang="zh-CN" sz="1400" b="0" dirty="0"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dirty="0">
                          <a:effectLst/>
                          <a:latin typeface="微软雅黑" charset="-122"/>
                          <a:ea typeface="微软雅黑" charset="-122"/>
                        </a:rPr>
                        <a:t>CPUs (GHz)</a:t>
                      </a:r>
                      <a:endParaRPr lang="en-US" altLang="zh-CN" sz="1400" b="0" dirty="0"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L1 Cache (Bytes)</a:t>
                      </a:r>
                      <a:endParaRPr lang="en-US" altLang="zh-CN" sz="1400" b="0" i="0" u="none" strike="noStrike" kern="1200" dirty="0">
                        <a:solidFill>
                          <a:schemeClr val="lt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L2 Cache (Bytes)</a:t>
                      </a:r>
                      <a:endParaRPr lang="en-US" altLang="zh-CN" sz="1400" b="0" i="0" u="none" strike="noStrike" kern="1200" dirty="0">
                        <a:solidFill>
                          <a:schemeClr val="lt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L3 Cache (Bytes)</a:t>
                      </a:r>
                      <a:endParaRPr lang="en-US" altLang="zh-CN" sz="1400" b="0" i="0" u="none" strike="noStrike" kern="1200" dirty="0">
                        <a:solidFill>
                          <a:schemeClr val="lt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t" anchorCtr="0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dirty="0">
                          <a:effectLst/>
                          <a:latin typeface="微软雅黑" charset="-122"/>
                          <a:ea typeface="微软雅黑" charset="-122"/>
                        </a:rPr>
                        <a:t>Type</a:t>
                      </a:r>
                      <a:endParaRPr lang="en-US" altLang="zh-CN" sz="1400" b="0" dirty="0"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68580" marR="68580" marT="0" marB="0" anchor="t" anchorCtr="0"/>
                </a:tc>
              </a:tr>
              <a:tr h="6648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effectLst/>
                          <a:latin typeface="微软雅黑" charset="-122"/>
                          <a:ea typeface="微软雅黑" charset="-122"/>
                        </a:rPr>
                        <a:t>Snapdragon 855</a:t>
                      </a:r>
                      <a:endParaRPr lang="en-US" altLang="zh-CN" sz="1400" b="0" dirty="0"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4</a:t>
                      </a: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 </a:t>
                      </a:r>
                      <a:r>
                        <a:rPr lang="zh-CN" altLang="en-US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+</a:t>
                      </a: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 </a:t>
                      </a:r>
                      <a:r>
                        <a:rPr lang="zh-CN" altLang="en-US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4</a:t>
                      </a:r>
                      <a:endParaRPr lang="zh-CN" altLang="en-US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(1@2.84+3@2.42)</a:t>
                      </a:r>
                      <a:endParaRPr lang="zh-CN" altLang="en-US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+4@1.80</a:t>
                      </a:r>
                      <a:endParaRPr lang="zh-CN" altLang="en-US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-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(1@512K+3@256K)</a:t>
                      </a:r>
                      <a:endParaRPr lang="zh-CN" altLang="en-US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+4@128K</a:t>
                      </a:r>
                      <a:endParaRPr lang="zh-CN" altLang="en-US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 4M-share</a:t>
                      </a:r>
                      <a:endParaRPr lang="zh-CN" altLang="en-US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sz="140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mobile</a:t>
                      </a:r>
                      <a:endParaRPr lang="en-US" altLang="en-US" sz="140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  <a:sym typeface="+mn-ea"/>
                      </a:endParaRPr>
                    </a:p>
                  </a:txBody>
                  <a:tcPr marL="68580" marR="68580" marT="0" marB="0" anchor="ctr"/>
                </a:tc>
              </a:tr>
              <a:tr h="6648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altLang="zh-CN" sz="1400" b="0" dirty="0">
                          <a:effectLst/>
                          <a:latin typeface="微软雅黑" charset="-122"/>
                          <a:ea typeface="微软雅黑" charset="-122"/>
                        </a:rPr>
                        <a:t>Snapdragon 888</a:t>
                      </a:r>
                      <a:endParaRPr lang="en-US" altLang="zh-CN" sz="1400" b="0" dirty="0"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微软雅黑" charset="-122"/>
                          <a:ea typeface="微软雅黑" charset="-122"/>
                        </a:rPr>
                        <a:t>4 + 4</a:t>
                      </a:r>
                      <a:endParaRPr lang="en-US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(1@2.84+3@2.42)</a:t>
                      </a:r>
                      <a:endParaRPr lang="en-US" altLang="zh-CN" sz="1400" b="0" i="0" u="none" strike="noStrike" kern="1200" dirty="0">
                        <a:solidFill>
                          <a:schemeClr val="dk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+4@1.80</a:t>
                      </a:r>
                      <a:endParaRPr lang="en-US" altLang="zh-CN" sz="1400" b="0" i="0" u="none" strike="noStrike" kern="1200" dirty="0">
                        <a:solidFill>
                          <a:schemeClr val="dk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-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(1@1M+3@512K)</a:t>
                      </a:r>
                      <a:endParaRPr lang="en-US" altLang="zh-CN" sz="1400" b="0" i="0" u="none" strike="noStrike" kern="1200" dirty="0">
                        <a:solidFill>
                          <a:schemeClr val="dk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+4@128K</a:t>
                      </a:r>
                      <a:endParaRPr lang="en-US" altLang="zh-CN" sz="1400" b="0" i="0" u="none" strike="noStrike" kern="1200" dirty="0">
                        <a:solidFill>
                          <a:schemeClr val="dk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4M-share</a:t>
                      </a:r>
                      <a:endParaRPr lang="en-US" altLang="zh-CN" sz="1400" b="0" i="0" u="none" strike="noStrike" kern="1200" dirty="0">
                        <a:solidFill>
                          <a:schemeClr val="dk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  <a:latin typeface="微软雅黑" charset="-122"/>
                          <a:ea typeface="微软雅黑" charset="-122"/>
                        </a:rPr>
                        <a:t>mobile</a:t>
                      </a:r>
                      <a:endParaRPr lang="en-US" sz="140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6648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altLang="zh-CN" sz="1400" b="0" dirty="0">
                          <a:effectLst/>
                          <a:latin typeface="微软雅黑" charset="-122"/>
                          <a:ea typeface="微软雅黑" charset="-122"/>
                        </a:rPr>
                        <a:t>Apple M1</a:t>
                      </a:r>
                      <a:endParaRPr lang="en-US" altLang="zh-CN" sz="1400" b="0" dirty="0"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微软雅黑" charset="-122"/>
                          <a:ea typeface="微软雅黑" charset="-122"/>
                        </a:rPr>
                        <a:t>4 + 4</a:t>
                      </a:r>
                      <a:endParaRPr lang="en-US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4@3.20</a:t>
                      </a:r>
                      <a:endParaRPr lang="en-US" altLang="zh-CN" sz="1400" b="0" i="0" u="none" strike="noStrike" kern="1200" dirty="0">
                        <a:solidFill>
                          <a:schemeClr val="dk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+4@2.06</a:t>
                      </a:r>
                      <a:endParaRPr lang="en-US" altLang="zh-CN" sz="1400" b="0" i="0" u="none" strike="noStrike" kern="1200" dirty="0">
                        <a:solidFill>
                          <a:schemeClr val="dk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4@128K</a:t>
                      </a:r>
                      <a:endParaRPr 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+4@64K</a:t>
                      </a:r>
                      <a:endParaRPr 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12M-share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+4M-share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None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Consumer PC</a:t>
                      </a:r>
                      <a:endParaRPr lang="en-US" altLang="zh-CN" sz="1400" b="0" i="0" u="none" strike="noStrike" kern="1200" dirty="0">
                        <a:solidFill>
                          <a:schemeClr val="dk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</a:tr>
              <a:tr h="66484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altLang="zh-CN" sz="1400" b="0" dirty="0">
                          <a:effectLst/>
                          <a:latin typeface="微软雅黑" charset="-122"/>
                          <a:ea typeface="微软雅黑" charset="-122"/>
                        </a:rPr>
                        <a:t>Apple M2</a:t>
                      </a:r>
                      <a:endParaRPr lang="en-US" altLang="zh-CN" sz="1400" b="0" dirty="0"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微软雅黑" charset="-122"/>
                          <a:ea typeface="微软雅黑" charset="-122"/>
                        </a:rPr>
                        <a:t>4 + 4</a:t>
                      </a:r>
                      <a:endParaRPr lang="en-US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4@3.49</a:t>
                      </a:r>
                      <a:endParaRPr lang="en-US" altLang="zh-CN" sz="1400" b="0" i="0" u="none" strike="noStrike" kern="1200" dirty="0">
                        <a:solidFill>
                          <a:schemeClr val="dk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+4@2.06</a:t>
                      </a:r>
                      <a:endParaRPr lang="en-US" altLang="zh-CN" sz="1400" b="0" i="0" u="none" strike="noStrike" kern="1200" dirty="0">
                        <a:solidFill>
                          <a:schemeClr val="dk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4@128K</a:t>
                      </a:r>
                      <a:endParaRPr 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+4@64K</a:t>
                      </a:r>
                      <a:endParaRPr 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16M-share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+4M-share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None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Consumer PC</a:t>
                      </a:r>
                      <a:endParaRPr lang="en-US" altLang="zh-CN" sz="1400" b="0" i="0" u="none" strike="noStrike" kern="1200" dirty="0">
                        <a:solidFill>
                          <a:schemeClr val="dk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</a:tr>
              <a:tr h="33337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Huawei KP920</a:t>
                      </a:r>
                      <a:endParaRPr lang="en-US" altLang="zh-CN" sz="1400" b="0" dirty="0"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8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 8@2.60</a:t>
                      </a:r>
                      <a:endParaRPr lang="zh-CN" altLang="en-US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8@64K</a:t>
                      </a:r>
                      <a:endParaRPr lang="zh-CN" altLang="en-US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 8@512K</a:t>
                      </a:r>
                      <a:endParaRPr lang="zh-CN" altLang="en-US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32M-share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server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331470">
                <a:tc>
                  <a:txBody>
                    <a:bodyPr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altLang="zh-CN" sz="1400" b="0" kern="1200" dirty="0">
                          <a:solidFill>
                            <a:schemeClr val="lt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AWS Graviton2</a:t>
                      </a:r>
                      <a:endParaRPr lang="en-US" altLang="zh-CN" sz="1400" b="0" kern="1200" dirty="0">
                        <a:solidFill>
                          <a:schemeClr val="lt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16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16@2.50</a:t>
                      </a:r>
                      <a:endParaRPr lang="en-US" altLang="zh-CN" sz="1400" b="0" i="0" u="none" strike="noStrike" kern="1200" dirty="0">
                        <a:solidFill>
                          <a:schemeClr val="dk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16@64K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16@1M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32M-share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server</a:t>
                      </a:r>
                      <a:endParaRPr lang="en-US" altLang="zh-CN" sz="1400" b="0" i="0" u="none" strike="noStrike" kern="1200" dirty="0">
                        <a:solidFill>
                          <a:schemeClr val="dk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</a:tr>
              <a:tr h="33337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0" dirty="0">
                          <a:effectLst/>
                          <a:latin typeface="微软雅黑" charset="-122"/>
                          <a:ea typeface="微软雅黑" charset="-122"/>
                        </a:rPr>
                        <a:t>Ampere Altra</a:t>
                      </a:r>
                      <a:endParaRPr lang="en-US" altLang="zh-CN" sz="1400" b="0" dirty="0"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70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70@3.00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7</a:t>
                      </a:r>
                      <a:r>
                        <a:rPr lang="zh-CN" altLang="en-US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0@64K</a:t>
                      </a:r>
                      <a:endParaRPr lang="zh-CN" altLang="en-US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7</a:t>
                      </a:r>
                      <a:r>
                        <a:rPr lang="zh-CN" altLang="en-US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0@1M</a:t>
                      </a:r>
                      <a:endParaRPr lang="zh-CN" altLang="en-US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32M-</a:t>
                      </a: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share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server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3" name="コンテンツ プレースホルダー 2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95325" y="1203325"/>
            <a:ext cx="10801350" cy="48133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7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7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sz="2700" dirty="0">
                <a:sym typeface="+mn-ea"/>
              </a:rPr>
              <a:t>Hardware Diversity </a:t>
            </a:r>
            <a:r>
              <a:rPr lang="en-US" altLang="ja-JP" sz="2700" dirty="0">
                <a:solidFill>
                  <a:srgbClr val="00B0F0"/>
                </a:solidFill>
                <a:sym typeface="+mn-ea"/>
              </a:rPr>
              <a:t>(Third Challenge)</a:t>
            </a:r>
            <a:endParaRPr lang="en-US" altLang="ja-JP" sz="2700" dirty="0">
              <a:solidFill>
                <a:srgbClr val="00B0F0"/>
              </a:solidFill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539750" y="6044565"/>
            <a:ext cx="11021060" cy="38354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285750" indent="-285750">
              <a:buFont typeface="Wingdings" panose="05000000000000000000" charset="0"/>
              <a:buChar char=""/>
            </a:pPr>
            <a:r>
              <a:rPr lang="en-US" altLang="ja-JP" sz="19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Different Arm SoC varies widely - </a:t>
            </a:r>
            <a:r>
              <a:rPr lang="en-US" altLang="ja-JP" sz="1900" dirty="0">
                <a:solidFill>
                  <a:srgbClr val="00B0F0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Huge portability efforts</a:t>
            </a:r>
            <a:endParaRPr lang="en-US" altLang="ja-JP" sz="19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014980" y="116840"/>
            <a:ext cx="886396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/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</a:rPr>
              <a:t>Content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</a:endParaRPr>
          </a:p>
        </p:txBody>
      </p:sp>
      <p:sp>
        <p:nvSpPr>
          <p:cNvPr id="17" name="コンテンツ プレースホルダー 2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3014345" y="1666875"/>
            <a:ext cx="7080885" cy="3887470"/>
          </a:xfrm>
        </p:spPr>
        <p:txBody>
          <a:bodyPr>
            <a:noAutofit/>
          </a:bodyPr>
          <a:p>
            <a:r>
              <a:rPr lang="en-US" altLang="ja-JP" sz="3600" dirty="0" err="1">
                <a:ln w="12700">
                  <a:noFill/>
                  <a:prstDash val="solid"/>
                </a:ln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Background &amp; Challenges</a:t>
            </a:r>
            <a:r>
              <a:rPr lang="en-US" altLang="ja-JP" sz="3600" dirty="0" err="1">
                <a:ln w="12700">
                  <a:noFill/>
                  <a:prstDash val="solid"/>
                </a:ln>
                <a:solidFill>
                  <a:srgbClr val="0070C0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</a:t>
            </a:r>
            <a:endParaRPr lang="en-US" altLang="ja-JP" sz="3600" dirty="0" err="1">
              <a:ln w="12700">
                <a:noFill/>
                <a:prstDash val="solid"/>
              </a:ln>
              <a:solidFill>
                <a:srgbClr val="0070C0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  <a:p>
            <a:r>
              <a:rPr lang="en-US" altLang="ja-JP" sz="3600" dirty="0" err="1">
                <a:ln w="12700">
                  <a:noFill/>
                  <a:prstDash val="solid"/>
                </a:ln>
                <a:solidFill>
                  <a:srgbClr val="00B0F0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Motivation</a:t>
            </a:r>
            <a:endParaRPr lang="en-US" altLang="ja-JP" sz="3600" dirty="0" err="1">
              <a:ln w="12700">
                <a:noFill/>
                <a:prstDash val="solid"/>
              </a:ln>
              <a:solidFill>
                <a:srgbClr val="00B0F0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  <a:p>
            <a:r>
              <a:rPr lang="en-US" altLang="ja-JP" sz="3600" dirty="0" err="1">
                <a:ln w="12700">
                  <a:noFill/>
                  <a:prstDash val="solid"/>
                </a:ln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Related Works</a:t>
            </a:r>
            <a:endParaRPr lang="en-US" altLang="ja-JP" sz="3600" dirty="0" err="1">
              <a:ln w="12700">
                <a:noFill/>
                <a:prstDash val="solid"/>
              </a:ln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  <a:p>
            <a:r>
              <a:rPr lang="en-US" altLang="ja-JP" sz="3600" dirty="0" err="1">
                <a:ln w="12700">
                  <a:noFill/>
                  <a:prstDash val="solid"/>
                </a:ln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Methods</a:t>
            </a:r>
            <a:endParaRPr lang="en-US" altLang="ja-JP" sz="3600" dirty="0" err="1">
              <a:ln w="12700">
                <a:noFill/>
                <a:prstDash val="solid"/>
              </a:ln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  <a:p>
            <a:r>
              <a:rPr lang="en-US" altLang="ja-JP" sz="3600" dirty="0" err="1">
                <a:ln w="12700">
                  <a:noFill/>
                  <a:prstDash val="solid"/>
                </a:ln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Performance Analysis</a:t>
            </a:r>
            <a:endParaRPr lang="en-US" altLang="ja-JP" sz="3600" dirty="0" err="1">
              <a:ln w="12700">
                <a:noFill/>
                <a:prstDash val="solid"/>
              </a:ln>
              <a:latin typeface="Verdana" panose="020B0604030504040204"/>
              <a:ea typeface="メイリオ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Motivation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sp>
        <p:nvSpPr>
          <p:cNvPr id="4" name="矩形 6"/>
          <p:cNvSpPr/>
          <p:nvPr>
            <p:custDataLst>
              <p:tags r:id="rId2"/>
            </p:custDataLst>
          </p:nvPr>
        </p:nvSpPr>
        <p:spPr>
          <a:xfrm>
            <a:off x="1334136" y="1017297"/>
            <a:ext cx="2411399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285750" indent="-285750" algn="ctr">
              <a:lnSpc>
                <a:spcPct val="150000"/>
              </a:lnSpc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en-US" altLang="ja-JP" sz="24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Challenges</a:t>
            </a:r>
            <a:endParaRPr lang="en-US" altLang="ja-JP" sz="24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118235" y="1845945"/>
            <a:ext cx="2904490" cy="922020"/>
          </a:xfrm>
          <a:prstGeom prst="rect">
            <a:avLst/>
          </a:prstGeom>
          <a:noFill/>
          <a:ln w="25400" cap="flat" cmpd="sng">
            <a:solidFill>
              <a:srgbClr val="00B0F0"/>
            </a:solidFill>
            <a:prstDash val="solid"/>
          </a:ln>
        </p:spPr>
        <p:txBody>
          <a:bodyPr wrap="square" anchor="ctr" anchorCtr="0">
            <a:spAutoFit/>
          </a:bodyPr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ja-JP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Low performance on small GEMM</a:t>
            </a:r>
            <a:endParaRPr lang="en-US" altLang="ja-JP" kern="100" dirty="0">
              <a:solidFill>
                <a:schemeClr val="tx1"/>
              </a:solidFill>
              <a:effectLst/>
              <a:latin typeface="Verdana" panose="020B0604030504040204" pitchFamily="34" charset="0"/>
              <a:ea typeface="メイリオ" panose="020B0604030504040204" pitchFamily="50" charset="-128"/>
              <a:cs typeface="宋体" charset="0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118235" y="4182745"/>
            <a:ext cx="2905125" cy="92202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txBody>
          <a:bodyPr wrap="square" anchor="ctr" anchorCtr="0">
            <a:spAutoFit/>
          </a:bodyPr>
          <a:p>
            <a:pPr marL="342900" indent="-342900">
              <a:lnSpc>
                <a:spcPct val="150000"/>
              </a:lnSpc>
              <a:buFont typeface="+mj-ea"/>
              <a:buAutoNum type="circleNumDbPlain" startAt="2"/>
            </a:pPr>
            <a:r>
              <a:rPr lang="en-US" altLang="ja-JP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Not perform well on ARM architecture</a:t>
            </a:r>
            <a:endParaRPr lang="en-US" altLang="ja-JP" kern="100" dirty="0">
              <a:solidFill>
                <a:schemeClr val="tx1"/>
              </a:solidFill>
              <a:effectLst/>
              <a:latin typeface="Verdana" panose="020B0604030504040204" pitchFamily="34" charset="0"/>
              <a:ea typeface="メイリオ" panose="020B0604030504040204" pitchFamily="50" charset="-128"/>
              <a:cs typeface="宋体" charset="0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1118235" y="5490845"/>
            <a:ext cx="2889250" cy="92202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txBody>
          <a:bodyPr wrap="square" anchor="ctr" anchorCtr="0">
            <a:spAutoFit/>
          </a:bodyPr>
          <a:p>
            <a:pPr marL="342900" lvl="1" indent="-342900" algn="l">
              <a:lnSpc>
                <a:spcPct val="150000"/>
              </a:lnSpc>
              <a:buClrTx/>
              <a:buSzTx/>
              <a:buFont typeface="+mj-ea"/>
              <a:buAutoNum type="circleNumDbPlain" startAt="3"/>
            </a:pPr>
            <a:r>
              <a:rPr lang="en-US" altLang="ja-JP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Huge Portability efforts</a:t>
            </a:r>
            <a:endParaRPr lang="en-US" altLang="ja-JP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1118235" y="2766695"/>
            <a:ext cx="2904490" cy="92202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txBody>
          <a:bodyPr wrap="square" anchor="ctr" anchorCtr="0">
            <a:spAutoFit/>
          </a:bodyPr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ja-JP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Low performance on irregular GEMM</a:t>
            </a:r>
            <a:endParaRPr lang="en-US" altLang="ja-JP" kern="100" dirty="0">
              <a:solidFill>
                <a:schemeClr val="tx1"/>
              </a:solidFill>
              <a:effectLst/>
              <a:latin typeface="Verdana" panose="020B0604030504040204" pitchFamily="34" charset="0"/>
              <a:ea typeface="メイリオ" panose="020B0604030504040204" pitchFamily="50" charset="-128"/>
              <a:cs typeface="宋体" charset="0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4580255" y="2658110"/>
            <a:ext cx="7128510" cy="2245360"/>
          </a:xfrm>
          <a:prstGeom prst="rect">
            <a:avLst/>
          </a:prstGeom>
          <a:noFill/>
          <a:ln w="25400">
            <a:noFill/>
          </a:ln>
        </p:spPr>
        <p:txBody>
          <a:bodyPr wrap="square" rtlCol="0" anchor="t">
            <a:spAutoFit/>
          </a:bodyPr>
          <a:p>
            <a:r>
              <a:rPr lang="en-US" altLang="ja-JP" sz="28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We want to develop an framework that provides high-performance GEMM, is compatible with small/irregular GEMM, and is easily ported to cover all ARM architectures.</a:t>
            </a:r>
            <a:endParaRPr lang="en-US" altLang="ja-JP" sz="28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014980" y="116840"/>
            <a:ext cx="886396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/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</a:rPr>
              <a:t>Content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</a:endParaRPr>
          </a:p>
        </p:txBody>
      </p:sp>
      <p:sp>
        <p:nvSpPr>
          <p:cNvPr id="17" name="コンテンツ プレースホルダー 2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3014345" y="1666875"/>
            <a:ext cx="7080885" cy="3887470"/>
          </a:xfrm>
        </p:spPr>
        <p:txBody>
          <a:bodyPr>
            <a:noAutofit/>
          </a:bodyPr>
          <a:p>
            <a:r>
              <a:rPr lang="en-US" altLang="ja-JP" sz="3600" dirty="0" err="1">
                <a:ln w="12700">
                  <a:noFill/>
                  <a:prstDash val="solid"/>
                </a:ln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Background &amp; Challenges</a:t>
            </a:r>
            <a:r>
              <a:rPr lang="en-US" altLang="ja-JP" sz="3600" dirty="0" err="1">
                <a:ln w="12700">
                  <a:noFill/>
                  <a:prstDash val="solid"/>
                </a:ln>
                <a:solidFill>
                  <a:srgbClr val="0070C0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</a:t>
            </a:r>
            <a:endParaRPr lang="en-US" altLang="ja-JP" sz="3600" dirty="0" err="1">
              <a:ln w="12700">
                <a:noFill/>
                <a:prstDash val="solid"/>
              </a:ln>
              <a:solidFill>
                <a:srgbClr val="0070C0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  <a:p>
            <a:r>
              <a:rPr lang="en-US" altLang="ja-JP" sz="3600" dirty="0" err="1">
                <a:ln w="12700">
                  <a:noFill/>
                  <a:prstDash val="solid"/>
                </a:ln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Motivation</a:t>
            </a:r>
            <a:endParaRPr lang="en-US" altLang="ja-JP" sz="3600" dirty="0" err="1">
              <a:ln w="12700">
                <a:noFill/>
                <a:prstDash val="solid"/>
              </a:ln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  <a:p>
            <a:r>
              <a:rPr lang="en-US" altLang="ja-JP" sz="3600" dirty="0" err="1">
                <a:ln w="12700">
                  <a:noFill/>
                  <a:prstDash val="solid"/>
                </a:ln>
                <a:solidFill>
                  <a:srgbClr val="00B0F0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Related Works</a:t>
            </a:r>
            <a:endParaRPr lang="en-US" altLang="ja-JP" sz="3600" dirty="0" err="1">
              <a:ln w="12700">
                <a:noFill/>
                <a:prstDash val="solid"/>
              </a:ln>
              <a:solidFill>
                <a:srgbClr val="00B0F0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  <a:p>
            <a:r>
              <a:rPr lang="en-US" altLang="ja-JP" sz="3600" dirty="0" err="1">
                <a:ln w="12700">
                  <a:noFill/>
                  <a:prstDash val="solid"/>
                </a:ln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Methods</a:t>
            </a:r>
            <a:endParaRPr lang="en-US" altLang="ja-JP" sz="3600" dirty="0" err="1">
              <a:ln w="12700">
                <a:noFill/>
                <a:prstDash val="solid"/>
              </a:ln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  <a:p>
            <a:r>
              <a:rPr lang="en-US" altLang="ja-JP" sz="3600" dirty="0" err="1">
                <a:ln w="12700">
                  <a:noFill/>
                  <a:prstDash val="solid"/>
                </a:ln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Performance Analysis</a:t>
            </a:r>
            <a:endParaRPr lang="en-US" altLang="ja-JP" sz="3600" dirty="0" err="1">
              <a:ln w="12700">
                <a:noFill/>
                <a:prstDash val="solid"/>
              </a:ln>
              <a:latin typeface="Verdana" panose="020B0604030504040204"/>
              <a:ea typeface="メイリオ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Manual tuning by experts 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Related Works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pic>
        <p:nvPicPr>
          <p:cNvPr id="2" name="图片 4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92"/>
          <a:stretch>
            <a:fillRect/>
          </a:stretch>
        </p:blipFill>
        <p:spPr bwMode="auto">
          <a:xfrm>
            <a:off x="5410835" y="1134745"/>
            <a:ext cx="5946140" cy="4625340"/>
          </a:xfrm>
          <a:prstGeom prst="rect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内容占位符 3"/>
          <p:cNvSpPr txBox="1"/>
          <p:nvPr>
            <p:custDataLst>
              <p:tags r:id="rId4"/>
            </p:custDataLst>
          </p:nvPr>
        </p:nvSpPr>
        <p:spPr>
          <a:xfrm>
            <a:off x="839470" y="1268730"/>
            <a:ext cx="4271010" cy="5090160"/>
          </a:xfrm>
          <a:prstGeom prst="rect">
            <a:avLst/>
          </a:prstGeom>
          <a:ln w="25400">
            <a:noFill/>
          </a:ln>
        </p:spPr>
        <p:txBody>
          <a:bodyPr rtlCol="0"/>
          <a:lstStyle>
            <a:lvl1pPr marL="342900" indent="-3429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anose="05020102010507070707" charset="2"/>
              <a:buChar char=""/>
              <a:defRPr sz="18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anose="05020102010507070707" charset="2"/>
              <a:buChar char=""/>
              <a:defRPr sz="16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anose="05020102010507070707" charset="2"/>
              <a:buChar char=""/>
              <a:defRPr sz="14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anose="05020102010507070707" charset="2"/>
              <a:buChar char=""/>
              <a:defRPr sz="1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 panose="05020102010507070707" charset="2"/>
              <a:buChar char=""/>
              <a:defRPr sz="1200" kern="1200">
                <a:solidFill>
                  <a:schemeClr val="tx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4003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panose="05020102010507070707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panose="05020102010507070707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panose="05020102010507070707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5998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Font typeface="Wingdings 2" panose="05020102010507070707" charset="2"/>
              <a:buChar char="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70000"/>
              </a:lnSpc>
              <a:buNone/>
            </a:pPr>
            <a:r>
              <a:rPr lang="zh-CN" altLang="en-US" sz="2200" b="1" dirty="0">
                <a:latin typeface="Times New Roman Bold" panose="02020603050405020304" charset="0"/>
                <a:ea typeface="宋体" charset="0"/>
                <a:cs typeface="Times New Roman Bold" panose="02020603050405020304" charset="0"/>
                <a:sym typeface="+mn-ea"/>
              </a:rPr>
              <a:t>Basic linear algebra library</a:t>
            </a:r>
            <a:endParaRPr lang="zh-CN" altLang="en-US" sz="2200" b="1" dirty="0">
              <a:latin typeface="Times New Roman Bold" panose="02020603050405020304" charset="0"/>
              <a:ea typeface="宋体" charset="0"/>
              <a:cs typeface="Times New Roman Bold" panose="02020603050405020304" charset="0"/>
              <a:sym typeface="+mn-ea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	</a:t>
            </a:r>
            <a:r>
              <a:rPr lang="zh-CN" altLang="en-US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Eigen</a:t>
            </a:r>
            <a:endParaRPr lang="zh-CN" altLang="en-US" sz="2000" dirty="0">
              <a:latin typeface="Times New Roman Regular" panose="02020603050405020304" charset="0"/>
              <a:ea typeface="宋体" charset="0"/>
              <a:cs typeface="Times New Roman Regular" panose="02020603050405020304" charset="0"/>
              <a:sym typeface="+mn-ea"/>
            </a:endParaRPr>
          </a:p>
          <a:p>
            <a:pPr marL="0" indent="0">
              <a:lnSpc>
                <a:spcPct val="70000"/>
              </a:lnSpc>
              <a:buNone/>
            </a:pPr>
            <a:r>
              <a:rPr lang="en-US" altLang="zh-CN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	</a:t>
            </a:r>
            <a:r>
              <a:rPr lang="zh-CN" altLang="en-US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BLIS</a:t>
            </a:r>
            <a:endParaRPr lang="zh-CN" altLang="en-US" sz="2000" dirty="0">
              <a:latin typeface="Times New Roman Regular" panose="02020603050405020304" charset="0"/>
              <a:ea typeface="宋体" charset="0"/>
              <a:cs typeface="Times New Roman Regular" panose="02020603050405020304" charset="0"/>
              <a:sym typeface="+mn-ea"/>
            </a:endParaRPr>
          </a:p>
          <a:p>
            <a:pPr marL="0" algn="l">
              <a:lnSpc>
                <a:spcPct val="70000"/>
              </a:lnSpc>
              <a:buNone/>
            </a:pPr>
            <a:r>
              <a:rPr lang="en-US" altLang="zh-CN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	</a:t>
            </a:r>
            <a:r>
              <a:rPr lang="zh-CN" altLang="en-US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OpenBLAS</a:t>
            </a:r>
            <a:r>
              <a:rPr lang="en-US" altLang="zh-CN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 </a:t>
            </a:r>
            <a:endParaRPr lang="en-US" altLang="zh-CN" sz="2000" dirty="0">
              <a:latin typeface="Times New Roman Regular" panose="02020603050405020304" charset="0"/>
              <a:ea typeface="宋体" charset="0"/>
              <a:cs typeface="Times New Roman Regular" panose="02020603050405020304" charset="0"/>
              <a:sym typeface="+mn-ea"/>
            </a:endParaRPr>
          </a:p>
          <a:p>
            <a:pPr marL="0" algn="l">
              <a:lnSpc>
                <a:spcPct val="90000"/>
              </a:lnSpc>
              <a:buNone/>
            </a:pPr>
            <a:r>
              <a:rPr lang="zh-CN" altLang="en-US" sz="2200" b="1" dirty="0">
                <a:latin typeface="Times New Roman Bold" panose="02020603050405020304" charset="0"/>
                <a:ea typeface="宋体" charset="0"/>
                <a:cs typeface="Times New Roman Bold" panose="02020603050405020304" charset="0"/>
                <a:sym typeface="+mn-ea"/>
              </a:rPr>
              <a:t>Inference framework library</a:t>
            </a:r>
            <a:endParaRPr lang="zh-CN" altLang="en-US" sz="2200" b="1" dirty="0">
              <a:latin typeface="Times New Roman Bold" panose="02020603050405020304" charset="0"/>
              <a:ea typeface="宋体" charset="0"/>
              <a:cs typeface="Times New Roman Bold" panose="02020603050405020304" charset="0"/>
            </a:endParaRPr>
          </a:p>
          <a:p>
            <a:pPr marL="0" algn="l">
              <a:lnSpc>
                <a:spcPct val="7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None/>
            </a:pPr>
            <a:r>
              <a:rPr lang="en-US" altLang="zh-CN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	</a:t>
            </a:r>
            <a:r>
              <a:rPr lang="zh-CN" altLang="en-US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NNPACK</a:t>
            </a:r>
            <a:endParaRPr lang="zh-CN" altLang="en-US" sz="2000" dirty="0">
              <a:latin typeface="Times New Roman Regular" panose="02020603050405020304" charset="0"/>
              <a:ea typeface="宋体" charset="0"/>
              <a:cs typeface="Times New Roman Regular" panose="02020603050405020304" charset="0"/>
            </a:endParaRPr>
          </a:p>
          <a:p>
            <a:pPr marL="0" algn="l">
              <a:lnSpc>
                <a:spcPct val="7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None/>
            </a:pPr>
            <a:r>
              <a:rPr lang="en-US" altLang="zh-CN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	</a:t>
            </a:r>
            <a:r>
              <a:rPr lang="zh-CN" altLang="en-US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MNN</a:t>
            </a:r>
            <a:endParaRPr lang="zh-CN" altLang="en-US" sz="2000" dirty="0">
              <a:latin typeface="Times New Roman Regular" panose="02020603050405020304" charset="0"/>
              <a:ea typeface="宋体" charset="0"/>
              <a:cs typeface="Times New Roman Regular" panose="02020603050405020304" charset="0"/>
            </a:endParaRPr>
          </a:p>
          <a:p>
            <a:pPr marL="0" algn="l">
              <a:lnSpc>
                <a:spcPct val="7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None/>
            </a:pPr>
            <a:r>
              <a:rPr lang="en-US" altLang="zh-CN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	</a:t>
            </a:r>
            <a:r>
              <a:rPr lang="zh-CN" altLang="en-US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FeatherCNN</a:t>
            </a:r>
            <a:endParaRPr lang="zh-CN" altLang="en-US" sz="2000" dirty="0">
              <a:latin typeface="Times New Roman Regular" panose="02020603050405020304" charset="0"/>
              <a:ea typeface="宋体" charset="0"/>
              <a:cs typeface="Times New Roman Regular" panose="02020603050405020304" charset="0"/>
            </a:endParaRPr>
          </a:p>
          <a:p>
            <a:pPr marL="0" algn="l">
              <a:lnSpc>
                <a:spcPct val="7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None/>
            </a:pPr>
            <a:r>
              <a:rPr lang="en-US" altLang="zh-CN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	</a:t>
            </a:r>
            <a:r>
              <a:rPr lang="zh-CN" altLang="en-US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NCNN</a:t>
            </a:r>
            <a:endParaRPr lang="zh-CN" altLang="en-US" sz="2000" dirty="0">
              <a:latin typeface="Times New Roman Regular" panose="02020603050405020304" charset="0"/>
              <a:ea typeface="宋体" charset="0"/>
              <a:cs typeface="Times New Roman Regular" panose="02020603050405020304" charset="0"/>
            </a:endParaRPr>
          </a:p>
          <a:p>
            <a:pPr marL="0" algn="l">
              <a:lnSpc>
                <a:spcPct val="7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None/>
            </a:pPr>
            <a:r>
              <a:rPr lang="en-US" altLang="zh-CN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	</a:t>
            </a:r>
            <a:r>
              <a:rPr lang="zh-CN" altLang="en-US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TNN</a:t>
            </a:r>
            <a:endParaRPr lang="zh-CN" altLang="en-US" sz="2000" dirty="0">
              <a:latin typeface="Times New Roman Regular" panose="02020603050405020304" charset="0"/>
              <a:ea typeface="宋体" charset="0"/>
              <a:cs typeface="Times New Roman Regular" panose="02020603050405020304" charset="0"/>
              <a:sym typeface="+mn-ea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None/>
            </a:pPr>
            <a:r>
              <a:rPr lang="zh-CN" altLang="en-US" sz="2200" b="1" dirty="0">
                <a:latin typeface="Times New Roman Bold" panose="02020603050405020304" charset="0"/>
                <a:ea typeface="宋体" charset="0"/>
                <a:cs typeface="Times New Roman Bold" panose="02020603050405020304" charset="0"/>
                <a:sym typeface="+mn-ea"/>
              </a:rPr>
              <a:t>Vendor's computing library</a:t>
            </a:r>
            <a:endParaRPr lang="zh-CN" altLang="en-US" sz="2200" b="1" dirty="0">
              <a:latin typeface="Times New Roman Bold" panose="02020603050405020304" charset="0"/>
              <a:ea typeface="宋体" charset="0"/>
              <a:cs typeface="Times New Roman Bold" panose="02020603050405020304" charset="0"/>
            </a:endParaRPr>
          </a:p>
          <a:p>
            <a:pPr>
              <a:lnSpc>
                <a:spcPct val="7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None/>
            </a:pPr>
            <a:r>
              <a:rPr lang="en-US" altLang="zh-CN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	</a:t>
            </a:r>
            <a:r>
              <a:rPr lang="zh-CN" altLang="en-US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Intel oneDNN</a:t>
            </a:r>
            <a:endParaRPr lang="zh-CN" altLang="en-US" sz="2000" b="0" dirty="0">
              <a:latin typeface="Times New Roman Regular" panose="02020603050405020304" charset="0"/>
              <a:ea typeface="宋体" charset="0"/>
              <a:cs typeface="Times New Roman Regular" panose="02020603050405020304" charset="0"/>
            </a:endParaRPr>
          </a:p>
          <a:p>
            <a:pPr>
              <a:lnSpc>
                <a:spcPct val="7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None/>
            </a:pPr>
            <a:r>
              <a:rPr lang="en-US" altLang="zh-CN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	</a:t>
            </a:r>
            <a:r>
              <a:rPr lang="zh-CN" altLang="en-US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AOCL</a:t>
            </a:r>
            <a:endParaRPr lang="zh-CN" altLang="en-US" sz="2000" b="0" dirty="0">
              <a:latin typeface="Times New Roman Regular" panose="02020603050405020304" charset="0"/>
              <a:ea typeface="宋体" charset="0"/>
              <a:cs typeface="Times New Roman Regular" panose="02020603050405020304" charset="0"/>
            </a:endParaRPr>
          </a:p>
          <a:p>
            <a:pPr>
              <a:lnSpc>
                <a:spcPct val="7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80000"/>
              <a:buNone/>
            </a:pPr>
            <a:r>
              <a:rPr lang="en-US" altLang="zh-CN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	</a:t>
            </a:r>
            <a:r>
              <a:rPr lang="zh-CN" altLang="en-US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ARM Computing Library</a:t>
            </a:r>
            <a:r>
              <a:rPr lang="en-US" altLang="zh-CN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 (</a:t>
            </a:r>
            <a:r>
              <a:rPr lang="zh-CN" altLang="en-US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ACL</a:t>
            </a:r>
            <a:r>
              <a:rPr lang="en-US" altLang="zh-CN" sz="2000" dirty="0">
                <a:latin typeface="Times New Roman Regular" panose="02020603050405020304" charset="0"/>
                <a:ea typeface="宋体" charset="0"/>
                <a:cs typeface="Times New Roman Regular" panose="02020603050405020304" charset="0"/>
                <a:sym typeface="+mn-ea"/>
              </a:rPr>
              <a:t>)</a:t>
            </a:r>
            <a:endParaRPr lang="en-US" altLang="zh-CN" sz="2000" dirty="0">
              <a:latin typeface="Times New Roman Regular" panose="02020603050405020304" charset="0"/>
              <a:ea typeface="宋体" charset="0"/>
              <a:cs typeface="Times New Roman Regular" panose="02020603050405020304" charset="0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5410835" y="5714365"/>
            <a:ext cx="5608955" cy="1014730"/>
          </a:xfrm>
          <a:prstGeom prst="rect">
            <a:avLst/>
          </a:prstGeom>
          <a:noFill/>
          <a:ln w="25400" cmpd="sng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Based on Goto's six block strategy 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Focus on </a:t>
            </a:r>
            <a:r>
              <a:rPr lang="en-US" altLang="ja-JP" sz="2000" dirty="0">
                <a:solidFill>
                  <a:srgbClr val="00B0F0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large</a:t>
            </a: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 and </a:t>
            </a:r>
            <a:r>
              <a:rPr lang="en-US" altLang="ja-JP" sz="2000" dirty="0">
                <a:solidFill>
                  <a:srgbClr val="00B0F0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regular-shaped</a:t>
            </a: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 GEMM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Manual tuning by experts 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Related Works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704215" y="1529080"/>
            <a:ext cx="10515600" cy="28613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The latest manual tuning work on ARM in recent years: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457200" indent="-457200" algn="l">
              <a:lnSpc>
                <a:spcPct val="150000"/>
              </a:lnSpc>
              <a:buClr>
                <a:srgbClr val="FFFFFF"/>
              </a:buClr>
              <a:buSzTx/>
              <a:buFont typeface="+mj-lt"/>
              <a:buAutoNum type="arabicPeriod"/>
            </a:pPr>
            <a:r>
              <a:rPr lang="en-US" altLang="ja-JP" sz="2000" dirty="0">
                <a:solidFill>
                  <a:srgbClr val="00B0F0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LibShalom</a:t>
            </a: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 (SC’21): it is the f</a:t>
            </a: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irst work </a:t>
            </a:r>
            <a:r>
              <a:rPr lang="en-US" altLang="ja-JP" sz="2000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push</a:t>
            </a: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 the micro-kernel performance up to 90% efficiency </a:t>
            </a:r>
            <a:r>
              <a:rPr lang="en-US" altLang="ja-JP" sz="2000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on ARM Architecture</a:t>
            </a: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, and provide an additional micro-kernel to handle irregular GEMM. But it mainly focus on Huawei KP920.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  <a:p>
            <a:pPr marL="457200" indent="-457200" algn="l">
              <a:lnSpc>
                <a:spcPct val="150000"/>
              </a:lnSpc>
              <a:buClr>
                <a:srgbClr val="FFFFFF"/>
              </a:buClr>
              <a:buSzTx/>
              <a:buFont typeface="+mj-lt"/>
              <a:buAutoNum type="arabicPeriod"/>
            </a:pPr>
            <a:r>
              <a:rPr lang="en-US" altLang="ja-JP" sz="2000" dirty="0">
                <a:solidFill>
                  <a:srgbClr val="00B0F0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FastConv</a:t>
            </a: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 (TPDS’22): Our previous work, implemente 7 micro-kernels and use a search approach to find strategies that fit irregular GEMM.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487170" y="4975225"/>
            <a:ext cx="9375775" cy="1014730"/>
          </a:xfrm>
          <a:prstGeom prst="rect">
            <a:avLst/>
          </a:prstGeom>
          <a:noFill/>
          <a:ln w="254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75000"/>
                  </a:schemeClr>
                </a:solidFill>
              </a14:hiddenFill>
            </a:ext>
          </a:extLst>
        </p:spPr>
        <p:txBody>
          <a:bodyPr wrap="square" rtlCol="0" anchor="t">
            <a:spAutoFit/>
          </a:bodyPr>
          <a:p>
            <a:pPr indent="0" algn="l">
              <a:buNone/>
            </a:pPr>
            <a:r>
              <a:rPr lang="en-US" altLang="ja-JP" sz="2000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Irregular GEMM </a:t>
            </a: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is optimized to some extent</a:t>
            </a:r>
            <a:endParaRPr lang="en-US" altLang="ja-JP" sz="2000" b="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  <a:p>
            <a:pPr indent="0" algn="l">
              <a:buNone/>
            </a:pPr>
            <a:r>
              <a:rPr lang="en-US" altLang="ja-JP" sz="2000" dirty="0">
                <a:solidFill>
                  <a:srgbClr val="00B0F0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Small GEMM</a:t>
            </a:r>
            <a:r>
              <a:rPr lang="en-US" altLang="ja-JP" sz="2000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 </a:t>
            </a: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are still not the focus of manual tuning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indent="0" algn="l">
              <a:buNone/>
            </a:pP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The biggest problem with manual tuning by experts is the </a:t>
            </a:r>
            <a:r>
              <a:rPr lang="en-US" altLang="ja-JP" sz="2000" dirty="0">
                <a:solidFill>
                  <a:srgbClr val="00B0F0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portability</a:t>
            </a:r>
            <a:endParaRPr lang="en-US" altLang="ja-JP" sz="2000" dirty="0">
              <a:solidFill>
                <a:srgbClr val="00B0F0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Runtime technology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Related Works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754380" y="1264920"/>
            <a:ext cx="10997565" cy="42462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ja-JP" sz="2000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To solve the problem of small GEMM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Runtime technology like </a:t>
            </a:r>
            <a:r>
              <a:rPr lang="en-US" altLang="ja-JP" sz="2000" dirty="0">
                <a:solidFill>
                  <a:srgbClr val="00B0F0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Just-in-time(JIT)</a:t>
            </a: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 compilation and </a:t>
            </a:r>
            <a:r>
              <a:rPr lang="en-US" altLang="ja-JP" sz="2000" dirty="0">
                <a:solidFill>
                  <a:srgbClr val="00B0F0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Code generation</a:t>
            </a: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 helps 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ja-JP" sz="2000" dirty="0">
                <a:solidFill>
                  <a:srgbClr val="00B0F0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LIBXSMM</a:t>
            </a: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 (SC’16) is the first effort to optimize small GEMM.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ja-JP" sz="2000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It uses JIT to tile edge columns and rows with different tile size other than padding.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>
              <a:lnSpc>
                <a:spcPct val="150000"/>
              </a:lnSpc>
            </a:pP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ja-JP" sz="2000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But LIBXSMM (Intel’s) works for the x86</a:t>
            </a:r>
            <a:r>
              <a:rPr lang="en-US" altLang="ja-JP" sz="2000" dirty="0">
                <a:solidFill>
                  <a:srgbClr val="203864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 </a:t>
            </a:r>
            <a:endParaRPr lang="en-US" altLang="ja-JP" sz="2000" dirty="0">
              <a:solidFill>
                <a:srgbClr val="203864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ja-JP" sz="2000" dirty="0">
                <a:solidFill>
                  <a:srgbClr val="00B0F0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Performance is not good porting to ARM</a:t>
            </a:r>
            <a:r>
              <a:rPr lang="en-US" altLang="ja-JP" sz="2000" dirty="0">
                <a:solidFill>
                  <a:srgbClr val="203864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 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563995" y="3871595"/>
            <a:ext cx="5188585" cy="23545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  <p:bldLst>
      <p:bldP spid="8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Tensor program compiler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Related Works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40385" y="1412875"/>
            <a:ext cx="6905625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Domain-specific compilers begin to appear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3"/>
            </p:custDataLst>
          </p:nvPr>
        </p:nvSpPr>
        <p:spPr>
          <a:xfrm>
            <a:off x="683895" y="2348865"/>
            <a:ext cx="5211445" cy="332295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State-of-the-art works include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MLIR（Google / LLVM）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ja-JP" sz="2000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Tensor Comprehensions（Facebook）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XLA (Google)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2000" dirty="0">
                <a:solidFill>
                  <a:srgbClr val="00B0F0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TVM</a:t>
            </a:r>
            <a:r>
              <a:rPr lang="en-US" altLang="ja-JP" sz="2000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（OSDI’18）</a:t>
            </a:r>
            <a:endParaRPr lang="en-US" altLang="ja-JP" sz="2000" dirty="0"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Halide（MIT）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Tiramisu（CGO’19）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6249035" y="1490980"/>
            <a:ext cx="5706110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sz="16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Reduce the labor required for high-performance computing across disparate hardware backends.</a:t>
            </a:r>
            <a:endParaRPr lang="en-US" altLang="ja-JP" sz="16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sz="16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Provide auto-tuning method to find the optimal configuration in parameter space.</a:t>
            </a:r>
            <a:endParaRPr lang="en-US" altLang="ja-JP" sz="16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5561330" y="4157980"/>
            <a:ext cx="6346825" cy="1938020"/>
          </a:xfrm>
          <a:prstGeom prst="rect">
            <a:avLst/>
          </a:prstGeom>
          <a:noFill/>
          <a:ln w="254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TVM is the first effort to address the problems arising from deep learning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en-US" altLang="ja-JP" sz="2000" dirty="0">
                <a:solidFill>
                  <a:srgbClr val="00B0F0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Support Ahead-of-time(AOT) tuning</a:t>
            </a:r>
            <a:endParaRPr lang="en-US" altLang="ja-JP" sz="2000" dirty="0">
              <a:solidFill>
                <a:srgbClr val="00B0F0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en-US" altLang="ja-JP" sz="2000" dirty="0">
                <a:solidFill>
                  <a:srgbClr val="00B0F0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Solve portability issue</a:t>
            </a:r>
            <a:endParaRPr lang="en-US" altLang="ja-JP" sz="2000" dirty="0">
              <a:solidFill>
                <a:srgbClr val="00B0F0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Tensor program compiler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Related Works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545590" y="2453640"/>
            <a:ext cx="9008110" cy="193802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TVM's kernel can be called in three ways: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by the default compiler (LLVM)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 typeface="+mj-ea"/>
              <a:buAutoNum type="circleNumDbPlain"/>
            </a:pP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by the intermediate expression (TIR) (Still depends on compiler）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by the external libraries (e.g. LIBXSMM, OpenBLAS)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1546860" y="3932555"/>
            <a:ext cx="8783955" cy="458470"/>
          </a:xfrm>
          <a:prstGeom prst="rect">
            <a:avLst/>
          </a:prstGeom>
          <a:noFill/>
          <a:ln w="1905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1546860" y="3080385"/>
            <a:ext cx="8788400" cy="780415"/>
          </a:xfrm>
          <a:prstGeom prst="rect">
            <a:avLst/>
          </a:prstGeom>
          <a:noFill/>
          <a:ln w="1905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1055370" y="1430655"/>
            <a:ext cx="10166985" cy="553085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But TVM cannot get a kernel with excellent performance  </a:t>
            </a:r>
            <a:r>
              <a:rPr lang="en-US" altLang="ja-JP" sz="2000" dirty="0">
                <a:solidFill>
                  <a:srgbClr val="00B0F0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(performance issue)</a:t>
            </a:r>
            <a:endParaRPr lang="en-US" altLang="ja-JP" sz="2000" dirty="0">
              <a:solidFill>
                <a:srgbClr val="00B0F0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1546225" y="4725035"/>
            <a:ext cx="9919335" cy="1014730"/>
          </a:xfrm>
          <a:prstGeom prst="rect">
            <a:avLst/>
          </a:prstGeom>
          <a:noFill/>
          <a:ln w="254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Performance gap between </a:t>
            </a:r>
            <a:r>
              <a:rPr lang="en-US" altLang="ja-JP" sz="2000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compiler(</a:t>
            </a: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①②) and expert manual tuning kernel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  <a:p>
            <a:pPr>
              <a:lnSpc>
                <a:spcPct val="150000"/>
              </a:lnSpc>
            </a:pP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Calling external libraries(</a:t>
            </a:r>
            <a:r>
              <a:rPr lang="en-US" altLang="ja-JP" sz="2000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③</a:t>
            </a:r>
            <a:r>
              <a:rPr lang="en-US" altLang="ja-JP" sz="20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) has additional overhead</a:t>
            </a:r>
            <a:endParaRPr lang="en-US" altLang="ja-JP" sz="20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Summary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Related Works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sp>
        <p:nvSpPr>
          <p:cNvPr id="3" name="矩形 6"/>
          <p:cNvSpPr/>
          <p:nvPr>
            <p:custDataLst>
              <p:tags r:id="rId2"/>
            </p:custDataLst>
          </p:nvPr>
        </p:nvSpPr>
        <p:spPr>
          <a:xfrm>
            <a:off x="626110" y="1017270"/>
            <a:ext cx="2889250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285750" indent="-285750" algn="ctr">
              <a:lnSpc>
                <a:spcPct val="150000"/>
              </a:lnSpc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en-US" altLang="ja-JP" sz="24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Challenges</a:t>
            </a:r>
            <a:endParaRPr lang="en-US" altLang="ja-JP" sz="24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13" name="矩形 6"/>
          <p:cNvSpPr/>
          <p:nvPr>
            <p:custDataLst>
              <p:tags r:id="rId3"/>
            </p:custDataLst>
          </p:nvPr>
        </p:nvSpPr>
        <p:spPr>
          <a:xfrm>
            <a:off x="7940675" y="1017270"/>
            <a:ext cx="309689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285750" indent="-285750" algn="ctr">
              <a:lnSpc>
                <a:spcPct val="150000"/>
              </a:lnSpc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en-US" altLang="ja-JP" sz="24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Methods</a:t>
            </a:r>
            <a:endParaRPr lang="en-US" altLang="ja-JP" sz="24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</p:txBody>
      </p:sp>
      <p:cxnSp>
        <p:nvCxnSpPr>
          <p:cNvPr id="6" name="Straight Arrow Connector 5"/>
          <p:cNvCxnSpPr>
            <a:stCxn id="14" idx="3"/>
            <a:endCxn id="19" idx="1"/>
          </p:cNvCxnSpPr>
          <p:nvPr>
            <p:custDataLst>
              <p:tags r:id="rId4"/>
            </p:custDataLst>
          </p:nvPr>
        </p:nvCxnSpPr>
        <p:spPr>
          <a:xfrm flipV="1">
            <a:off x="3514725" y="2658745"/>
            <a:ext cx="1012190" cy="56896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5"/>
            </p:custDataLst>
          </p:nvPr>
        </p:nvSpPr>
        <p:spPr>
          <a:xfrm>
            <a:off x="610235" y="1845945"/>
            <a:ext cx="2904490" cy="92202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txBody>
          <a:bodyPr wrap="square" anchor="ctr" anchorCtr="0">
            <a:spAutoFit/>
          </a:bodyPr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ja-JP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Low performance on small GEMM</a:t>
            </a:r>
            <a:endParaRPr lang="en-US" altLang="ja-JP" kern="100" dirty="0">
              <a:solidFill>
                <a:schemeClr val="tx1"/>
              </a:solidFill>
              <a:effectLst/>
              <a:latin typeface="Verdana" panose="020B0604030504040204" pitchFamily="34" charset="0"/>
              <a:ea typeface="メイリオ" panose="020B0604030504040204" pitchFamily="50" charset="-128"/>
              <a:cs typeface="宋体" charset="0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610235" y="4182745"/>
            <a:ext cx="2905125" cy="92202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txBody>
          <a:bodyPr wrap="square" anchor="ctr" anchorCtr="0">
            <a:spAutoFit/>
          </a:bodyPr>
          <a:p>
            <a:pPr marL="342900" indent="-342900">
              <a:lnSpc>
                <a:spcPct val="150000"/>
              </a:lnSpc>
              <a:buFont typeface="+mj-ea"/>
              <a:buAutoNum type="circleNumDbPlain" startAt="2"/>
            </a:pPr>
            <a:r>
              <a:rPr lang="en-US" altLang="ja-JP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Not perform well on ARM architecture</a:t>
            </a:r>
            <a:endParaRPr lang="en-US" altLang="ja-JP" kern="100" dirty="0">
              <a:solidFill>
                <a:schemeClr val="tx1"/>
              </a:solidFill>
              <a:effectLst/>
              <a:latin typeface="Verdana" panose="020B0604030504040204" pitchFamily="34" charset="0"/>
              <a:ea typeface="メイリオ" panose="020B0604030504040204" pitchFamily="50" charset="-128"/>
              <a:cs typeface="宋体" charset="0"/>
              <a:sym typeface="+mn-ea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610235" y="5490845"/>
            <a:ext cx="2889250" cy="92202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txBody>
          <a:bodyPr wrap="square" anchor="ctr" anchorCtr="0">
            <a:spAutoFit/>
          </a:bodyPr>
          <a:p>
            <a:pPr marL="342900" lvl="1" indent="-342900" algn="l">
              <a:lnSpc>
                <a:spcPct val="150000"/>
              </a:lnSpc>
              <a:buClrTx/>
              <a:buSzTx/>
              <a:buFont typeface="+mj-ea"/>
              <a:buAutoNum type="circleNumDbPlain" startAt="3"/>
            </a:pPr>
            <a:r>
              <a:rPr lang="en-US" altLang="ja-JP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Huge Portability efforts</a:t>
            </a:r>
            <a:endParaRPr lang="en-US" altLang="ja-JP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17" name="矩形 6"/>
          <p:cNvSpPr/>
          <p:nvPr>
            <p:custDataLst>
              <p:tags r:id="rId8"/>
            </p:custDataLst>
          </p:nvPr>
        </p:nvSpPr>
        <p:spPr>
          <a:xfrm>
            <a:off x="4057015" y="1017270"/>
            <a:ext cx="2905125" cy="645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285750" indent="-285750" algn="ctr">
              <a:lnSpc>
                <a:spcPct val="150000"/>
              </a:lnSpc>
              <a:buClr>
                <a:schemeClr val="tx2"/>
              </a:buClr>
              <a:buFont typeface="Wingdings" panose="05000000000000000000" pitchFamily="2" charset="2"/>
              <a:buChar char="v"/>
            </a:pPr>
            <a:r>
              <a:rPr lang="en-US" altLang="ja-JP" sz="24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Related Works</a:t>
            </a:r>
            <a:endParaRPr lang="en-US" altLang="ja-JP" sz="24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9"/>
            </p:custDataLst>
          </p:nvPr>
        </p:nvSpPr>
        <p:spPr>
          <a:xfrm>
            <a:off x="4526915" y="2197735"/>
            <a:ext cx="2037080" cy="92202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txBody>
          <a:bodyPr wrap="square" anchor="ctr" anchorCtr="0">
            <a:spAutoFit/>
          </a:bodyPr>
          <a:p>
            <a:pPr indent="0" algn="ctr">
              <a:lnSpc>
                <a:spcPct val="150000"/>
              </a:lnSpc>
              <a:buFont typeface="+mj-ea"/>
              <a:buNone/>
            </a:pPr>
            <a:r>
              <a:rPr lang="en-US" altLang="ja-JP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Manual tuning by experts</a:t>
            </a:r>
            <a:endParaRPr lang="en-US" altLang="ja-JP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20" name="文本框 19"/>
          <p:cNvSpPr txBox="1"/>
          <p:nvPr>
            <p:custDataLst>
              <p:tags r:id="rId10"/>
            </p:custDataLst>
          </p:nvPr>
        </p:nvSpPr>
        <p:spPr>
          <a:xfrm>
            <a:off x="4526915" y="3550285"/>
            <a:ext cx="2047875" cy="92202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txBody>
          <a:bodyPr wrap="square" anchor="ctr" anchorCtr="0">
            <a:spAutoFit/>
          </a:bodyPr>
          <a:p>
            <a:pPr indent="0" algn="ctr">
              <a:lnSpc>
                <a:spcPct val="150000"/>
              </a:lnSpc>
              <a:buFont typeface="+mj-ea"/>
              <a:buNone/>
            </a:pPr>
            <a:r>
              <a:rPr lang="en-US" altLang="ja-JP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Runtime technology</a:t>
            </a:r>
            <a:endParaRPr lang="en-US" altLang="ja-JP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11"/>
            </p:custDataLst>
          </p:nvPr>
        </p:nvSpPr>
        <p:spPr>
          <a:xfrm>
            <a:off x="4526915" y="4903470"/>
            <a:ext cx="2039620" cy="92202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txBody>
          <a:bodyPr wrap="square" anchor="ctr" anchorCtr="0">
            <a:spAutoFit/>
          </a:bodyPr>
          <a:p>
            <a:pPr indent="0" algn="ctr">
              <a:lnSpc>
                <a:spcPct val="150000"/>
              </a:lnSpc>
              <a:buFont typeface="+mj-ea"/>
              <a:buNone/>
            </a:pPr>
            <a:r>
              <a:rPr lang="en-US" altLang="ja-JP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Tenso</a:t>
            </a:r>
            <a:r>
              <a:rPr lang="en-US" altLang="ja-JP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r program compiler</a:t>
            </a:r>
            <a:endParaRPr lang="en-US" altLang="ja-JP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  <p:cxnSp>
        <p:nvCxnSpPr>
          <p:cNvPr id="23" name="Straight Arrow Connector 5"/>
          <p:cNvCxnSpPr>
            <a:stCxn id="7" idx="3"/>
            <a:endCxn id="19" idx="1"/>
          </p:cNvCxnSpPr>
          <p:nvPr>
            <p:custDataLst>
              <p:tags r:id="rId12"/>
            </p:custDataLst>
          </p:nvPr>
        </p:nvCxnSpPr>
        <p:spPr>
          <a:xfrm flipV="1">
            <a:off x="3515360" y="2658745"/>
            <a:ext cx="1011555" cy="198501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5"/>
          <p:cNvCxnSpPr>
            <a:stCxn id="2" idx="3"/>
            <a:endCxn id="20" idx="1"/>
          </p:cNvCxnSpPr>
          <p:nvPr>
            <p:custDataLst>
              <p:tags r:id="rId13"/>
            </p:custDataLst>
          </p:nvPr>
        </p:nvCxnSpPr>
        <p:spPr>
          <a:xfrm>
            <a:off x="3514725" y="2306955"/>
            <a:ext cx="1012190" cy="170434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5"/>
          <p:cNvCxnSpPr>
            <a:stCxn id="12" idx="3"/>
            <a:endCxn id="21" idx="1"/>
          </p:cNvCxnSpPr>
          <p:nvPr>
            <p:custDataLst>
              <p:tags r:id="rId14"/>
            </p:custDataLst>
          </p:nvPr>
        </p:nvCxnSpPr>
        <p:spPr>
          <a:xfrm flipV="1">
            <a:off x="3499485" y="5364480"/>
            <a:ext cx="1027430" cy="587375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5"/>
          <p:cNvCxnSpPr>
            <a:stCxn id="12" idx="3"/>
            <a:endCxn id="20" idx="1"/>
          </p:cNvCxnSpPr>
          <p:nvPr>
            <p:custDataLst>
              <p:tags r:id="rId15"/>
            </p:custDataLst>
          </p:nvPr>
        </p:nvCxnSpPr>
        <p:spPr>
          <a:xfrm flipV="1">
            <a:off x="3499485" y="4011295"/>
            <a:ext cx="1027430" cy="194056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5"/>
          <p:cNvCxnSpPr>
            <a:stCxn id="19" idx="3"/>
            <a:endCxn id="16" idx="1"/>
          </p:cNvCxnSpPr>
          <p:nvPr>
            <p:custDataLst>
              <p:tags r:id="rId16"/>
            </p:custDataLst>
          </p:nvPr>
        </p:nvCxnSpPr>
        <p:spPr>
          <a:xfrm>
            <a:off x="6563995" y="2658745"/>
            <a:ext cx="843280" cy="1354455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5"/>
          <p:cNvCxnSpPr>
            <a:stCxn id="20" idx="3"/>
            <a:endCxn id="16" idx="1"/>
          </p:cNvCxnSpPr>
          <p:nvPr>
            <p:custDataLst>
              <p:tags r:id="rId17"/>
            </p:custDataLst>
          </p:nvPr>
        </p:nvCxnSpPr>
        <p:spPr>
          <a:xfrm>
            <a:off x="6574790" y="4011295"/>
            <a:ext cx="832485" cy="1905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5"/>
          <p:cNvCxnSpPr>
            <a:stCxn id="21" idx="3"/>
            <a:endCxn id="16" idx="1"/>
          </p:cNvCxnSpPr>
          <p:nvPr>
            <p:custDataLst>
              <p:tags r:id="rId18"/>
            </p:custDataLst>
          </p:nvPr>
        </p:nvCxnSpPr>
        <p:spPr>
          <a:xfrm flipV="1">
            <a:off x="6566535" y="4013200"/>
            <a:ext cx="840740" cy="1351280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>
            <p:custDataLst>
              <p:tags r:id="rId19"/>
            </p:custDataLst>
          </p:nvPr>
        </p:nvSpPr>
        <p:spPr>
          <a:xfrm>
            <a:off x="610235" y="2766695"/>
            <a:ext cx="2904490" cy="92202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txBody>
          <a:bodyPr wrap="square" anchor="ctr" anchorCtr="0">
            <a:spAutoFit/>
          </a:bodyPr>
          <a:p>
            <a:pPr marL="342900" indent="-342900">
              <a:lnSpc>
                <a:spcPct val="150000"/>
              </a:lnSpc>
              <a:buFont typeface="+mj-ea"/>
              <a:buAutoNum type="circleNumDbPlain"/>
            </a:pPr>
            <a:r>
              <a:rPr lang="en-US" altLang="ja-JP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Low performance on irregular GEMM</a:t>
            </a:r>
            <a:endParaRPr lang="en-US" altLang="ja-JP" kern="100" dirty="0">
              <a:solidFill>
                <a:schemeClr val="tx1"/>
              </a:solidFill>
              <a:effectLst/>
              <a:latin typeface="Verdana" panose="020B0604030504040204" pitchFamily="34" charset="0"/>
              <a:ea typeface="メイリオ" panose="020B0604030504040204" pitchFamily="50" charset="-128"/>
              <a:cs typeface="宋体" charset="0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20"/>
            </p:custDataLst>
          </p:nvPr>
        </p:nvSpPr>
        <p:spPr>
          <a:xfrm>
            <a:off x="7407275" y="2073910"/>
            <a:ext cx="4451350" cy="3877945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txBody>
          <a:bodyPr wrap="square" anchor="ctr" anchorCtr="0">
            <a:noAutofit/>
          </a:bodyPr>
          <a:p>
            <a:pPr indent="0" algn="l">
              <a:lnSpc>
                <a:spcPct val="150000"/>
              </a:lnSpc>
              <a:buFont typeface="+mj-ea"/>
              <a:buNone/>
            </a:pPr>
            <a:r>
              <a:rPr lang="en-US" altLang="ja-JP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autoGEMM:</a:t>
            </a:r>
            <a:endParaRPr lang="en-US" altLang="ja-JP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auto-generate micro-kernels (</a:t>
            </a:r>
            <a:r>
              <a:rPr lang="en-US" altLang="ja-JP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Runtime technology</a:t>
            </a:r>
            <a:r>
              <a:rPr lang="en-US" altLang="ja-JP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)</a:t>
            </a:r>
            <a:endParaRPr lang="en-US" altLang="ja-JP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optimize </a:t>
            </a:r>
            <a:r>
              <a:rPr lang="en-US" altLang="ja-JP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micro-kernels </a:t>
            </a:r>
            <a:r>
              <a:rPr lang="en-US" altLang="ja-JP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pipeline </a:t>
            </a:r>
            <a:r>
              <a:rPr lang="en-US" altLang="ja-JP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(</a:t>
            </a:r>
            <a:r>
              <a:rPr lang="en-US" altLang="ja-JP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Manual tuning</a:t>
            </a:r>
            <a:r>
              <a:rPr lang="en-US" altLang="ja-JP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) </a:t>
            </a:r>
            <a:endParaRPr lang="en-US" altLang="ja-JP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apply dynamic micro-tiling </a:t>
            </a:r>
            <a:endParaRPr lang="en-US" altLang="ja-JP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build performance model</a:t>
            </a:r>
            <a:endParaRPr lang="en-US" altLang="ja-JP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285750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tune parameters with TVM (</a:t>
            </a:r>
            <a:r>
              <a:rPr lang="en-US" altLang="ja-JP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Tenso</a:t>
            </a:r>
            <a:r>
              <a:rPr lang="en-US" altLang="ja-JP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r program compiler</a:t>
            </a:r>
            <a:r>
              <a:rPr lang="en-US" altLang="ja-JP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)</a:t>
            </a:r>
            <a:endParaRPr lang="en-US" altLang="ja-JP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Summary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Related Works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graphicFrame>
        <p:nvGraphicFramePr>
          <p:cNvPr id="27" name="表格 26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335280" y="1052830"/>
          <a:ext cx="11409680" cy="4676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4990"/>
                <a:gridCol w="1768475"/>
                <a:gridCol w="1194435"/>
                <a:gridCol w="1096010"/>
                <a:gridCol w="1096645"/>
                <a:gridCol w="1096645"/>
                <a:gridCol w="1574800"/>
                <a:gridCol w="1757680"/>
              </a:tblGrid>
              <a:tr h="96012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endParaRPr lang="zh-CN" altLang="en-US" sz="1400" dirty="0"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zh-CN" sz="1400" dirty="0"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Times New Roman Regular" panose="02020603050405020304" charset="0"/>
                          <a:ea typeface="微软雅黑" charset="-122"/>
                          <a:cs typeface="Times New Roman Regular" panose="02020603050405020304" charset="0"/>
                        </a:rPr>
                        <a:t>Hand-Tuning</a:t>
                      </a:r>
                      <a:endParaRPr lang="en-US" sz="1400" b="0" dirty="0"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dirty="0">
                          <a:effectLst/>
                          <a:latin typeface="Times New Roman Regular" panose="02020603050405020304" charset="0"/>
                          <a:ea typeface="微软雅黑" charset="-122"/>
                          <a:cs typeface="Times New Roman Regular" panose="02020603050405020304" charset="0"/>
                        </a:rPr>
                        <a:t>Kernel</a:t>
                      </a:r>
                      <a:endParaRPr lang="en-US" sz="1400" b="0" dirty="0"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Times New Roman Regular" panose="02020603050405020304" charset="0"/>
                          <a:ea typeface="微软雅黑" charset="-122"/>
                          <a:cs typeface="Times New Roman Regular" panose="02020603050405020304" charset="0"/>
                        </a:rPr>
                        <a:t>Code Generation</a:t>
                      </a:r>
                      <a:endParaRPr lang="en-US" sz="1400" b="0" dirty="0"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Times New Roman Regular" panose="02020603050405020304" charset="0"/>
                          <a:ea typeface="微软雅黑" charset="-122"/>
                          <a:cs typeface="Times New Roman Regular" panose="02020603050405020304" charset="0"/>
                        </a:rPr>
                        <a:t>Auto-Tuning</a:t>
                      </a:r>
                      <a:endParaRPr lang="en-US" sz="1400" b="0" i="0" u="none" strike="noStrike" kern="1200" dirty="0">
                        <a:solidFill>
                          <a:schemeClr val="lt1"/>
                        </a:solidFill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Times New Roman Regular" panose="02020603050405020304" charset="0"/>
                          <a:ea typeface="微软雅黑" charset="-122"/>
                          <a:cs typeface="Times New Roman Regular" panose="02020603050405020304" charset="0"/>
                        </a:rPr>
                        <a:t>Loop-Scheduling</a:t>
                      </a:r>
                      <a:endParaRPr lang="en-US" sz="1400" b="0" i="0" u="none" strike="noStrike" kern="1200" dirty="0">
                        <a:solidFill>
                          <a:schemeClr val="lt1"/>
                        </a:solidFill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Times New Roman Regular" panose="02020603050405020304" charset="0"/>
                          <a:ea typeface="微软雅黑" charset="-122"/>
                          <a:cs typeface="Times New Roman Regular" panose="02020603050405020304" charset="0"/>
                        </a:rPr>
                        <a:t>Small GEMM</a:t>
                      </a:r>
                      <a:endParaRPr lang="en-US" sz="1400" b="0" i="0" u="none" strike="noStrike" kern="1200" dirty="0">
                        <a:solidFill>
                          <a:schemeClr val="lt1"/>
                        </a:solidFill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Times New Roman Regular" panose="02020603050405020304" charset="0"/>
                          <a:ea typeface="微软雅黑" charset="-122"/>
                          <a:cs typeface="Times New Roman Regular" panose="02020603050405020304" charset="0"/>
                        </a:rPr>
                        <a:t>efficiency</a:t>
                      </a:r>
                      <a:endParaRPr lang="en-US" sz="1400" b="0" dirty="0"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m=64 n=64 k=64</a:t>
                      </a:r>
                      <a:endParaRPr lang="en-US" sz="1400" b="0" dirty="0"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Times New Roman Regular" panose="02020603050405020304" charset="0"/>
                          <a:ea typeface="微软雅黑" charset="-122"/>
                          <a:cs typeface="Times New Roman Regular" panose="02020603050405020304" charset="0"/>
                          <a:sym typeface="+mn-ea"/>
                        </a:rPr>
                        <a:t>Irregular GEMM</a:t>
                      </a:r>
                      <a:endParaRPr lang="en-US" sz="1400" b="0" i="0" u="none" strike="noStrike" kern="1200" dirty="0">
                        <a:solidFill>
                          <a:schemeClr val="lt1"/>
                        </a:solidFill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Times New Roman Regular" panose="02020603050405020304" charset="0"/>
                          <a:ea typeface="微软雅黑" charset="-122"/>
                          <a:cs typeface="Times New Roman Regular" panose="02020603050405020304" charset="0"/>
                          <a:sym typeface="+mn-ea"/>
                        </a:rPr>
                        <a:t>efficiency</a:t>
                      </a:r>
                      <a:endParaRPr lang="en-US" sz="1400" b="0" dirty="0"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  <a:sym typeface="+mn-ea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dirty="0">
                          <a:solidFill>
                            <a:schemeClr val="tx1"/>
                          </a:solidFill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m=256 n=3136 k=64</a:t>
                      </a:r>
                      <a:endParaRPr lang="en-US" sz="1400" b="0" dirty="0"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530225">
                <a:tc rowSpan="4">
                  <a:txBody>
                    <a:bodyPr/>
                    <a:p>
                      <a:pPr indent="0" algn="ctr">
                        <a:lnSpc>
                          <a:spcPct val="150000"/>
                        </a:lnSpc>
                        <a:buFont typeface="+mj-ea"/>
                        <a:buNone/>
                      </a:pPr>
                      <a:r>
                        <a:rPr lang="en-US" altLang="ja-JP" sz="1600" dirty="0">
                          <a:solidFill>
                            <a:schemeClr val="bg1"/>
                          </a:solidFill>
                          <a:latin typeface="Times New Roman Regular" panose="02020603050405020304" charset="0"/>
                          <a:ea typeface="メイリオ" panose="020B0604030504040204" pitchFamily="50" charset="-128"/>
                          <a:cs typeface="Times New Roman Regular" panose="02020603050405020304" charset="0"/>
                          <a:sym typeface="+mn-ea"/>
                        </a:rPr>
                        <a:t>Manual tuning </a:t>
                      </a:r>
                      <a:endParaRPr lang="en-US" altLang="ja-JP" sz="1600" dirty="0">
                        <a:solidFill>
                          <a:schemeClr val="bg1"/>
                        </a:solidFill>
                        <a:latin typeface="Times New Roman Regular" panose="02020603050405020304" charset="0"/>
                        <a:ea typeface="メイリオ" panose="020B0604030504040204" pitchFamily="50" charset="-128"/>
                        <a:cs typeface="Times New Roman Regular" panose="02020603050405020304" charset="0"/>
                        <a:sym typeface="+mn-ea"/>
                      </a:endParaRPr>
                    </a:p>
                    <a:p>
                      <a:pPr indent="0" algn="ctr">
                        <a:lnSpc>
                          <a:spcPct val="150000"/>
                        </a:lnSpc>
                        <a:buFont typeface="+mj-ea"/>
                        <a:buNone/>
                      </a:pPr>
                      <a:r>
                        <a:rPr lang="en-US" altLang="ja-JP" sz="1600" dirty="0">
                          <a:solidFill>
                            <a:schemeClr val="bg1"/>
                          </a:solidFill>
                          <a:latin typeface="Times New Roman Regular" panose="02020603050405020304" charset="0"/>
                          <a:ea typeface="メイリオ" panose="020B0604030504040204" pitchFamily="50" charset="-128"/>
                          <a:cs typeface="Times New Roman Regular" panose="02020603050405020304" charset="0"/>
                          <a:sym typeface="+mn-ea"/>
                        </a:rPr>
                        <a:t>by experts</a:t>
                      </a:r>
                      <a:endParaRPr lang="en-US" altLang="ja-JP" sz="1600" dirty="0">
                        <a:solidFill>
                          <a:schemeClr val="bg1"/>
                        </a:solidFill>
                        <a:latin typeface="Times New Roman Regular" panose="02020603050405020304" charset="0"/>
                        <a:ea typeface="メイリオ" panose="020B0604030504040204" pitchFamily="50" charset="-128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 marL="68580" marR="68580" marT="0" marB="0" anchor="ctr">
                    <a:solidFill>
                      <a:srgbClr val="E3CECD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dirty="0"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OpenBLAS</a:t>
                      </a:r>
                      <a:endParaRPr lang="zh-CN" altLang="en-US" sz="1400" dirty="0"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</a:rPr>
                        <a:t>√</a:t>
                      </a:r>
                      <a:endParaRPr lang="en-US" altLang="zh-CN" sz="1400" b="1" dirty="0">
                        <a:solidFill>
                          <a:schemeClr val="bg1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endParaRPr lang="zh-CN" altLang="en-US" sz="1400" dirty="0">
                        <a:solidFill>
                          <a:schemeClr val="bg1"/>
                        </a:solidFill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endParaRPr lang="en-US" altLang="zh-CN" sz="1400" dirty="0">
                        <a:solidFill>
                          <a:schemeClr val="bg1"/>
                        </a:solidFill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endParaRPr lang="zh-CN" altLang="en-US" sz="1400" dirty="0">
                        <a:solidFill>
                          <a:schemeClr val="bg1"/>
                        </a:solidFill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dirty="0">
                          <a:effectLst/>
                          <a:latin typeface="Times New Roman Regular" panose="02020603050405020304" charset="0"/>
                          <a:ea typeface="微软雅黑" charset="-122"/>
                          <a:cs typeface="Times New Roman Regular" panose="02020603050405020304" charset="0"/>
                        </a:rPr>
                        <a:t>34.84%</a:t>
                      </a:r>
                      <a:endParaRPr lang="en-US" altLang="zh-CN" sz="1400" dirty="0"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>
                          <a:effectLst/>
                          <a:latin typeface="Times New Roman Regular" panose="02020603050405020304" charset="0"/>
                          <a:ea typeface="微软雅黑" charset="-122"/>
                          <a:cs typeface="Times New Roman Regular" panose="02020603050405020304" charset="0"/>
                        </a:rPr>
                        <a:t>47.41%</a:t>
                      </a:r>
                      <a:endParaRPr lang="en-US" altLang="zh-CN" sz="1400"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530860">
                <a:tc vMerge="1"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dirty="0"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Eigen</a:t>
                      </a:r>
                      <a:endParaRPr lang="zh-CN" altLang="en-US" sz="1400" dirty="0"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√</a:t>
                      </a:r>
                      <a:endParaRPr lang="en-US" altLang="zh-CN" sz="1400" b="1" dirty="0">
                        <a:solidFill>
                          <a:schemeClr val="bg1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zh-CN" sz="1400" b="1" dirty="0">
                        <a:solidFill>
                          <a:schemeClr val="bg1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zh-CN" sz="1400" b="1" dirty="0">
                        <a:solidFill>
                          <a:schemeClr val="bg1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zh-CN" sz="1400" b="1" dirty="0">
                        <a:solidFill>
                          <a:schemeClr val="bg1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dirty="0">
                          <a:effectLst/>
                          <a:latin typeface="Times New Roman Regular" panose="02020603050405020304" charset="0"/>
                          <a:ea typeface="微软雅黑" charset="-122"/>
                          <a:cs typeface="Times New Roman Regular" panose="02020603050405020304" charset="0"/>
                        </a:rPr>
                        <a:t>49.60%</a:t>
                      </a:r>
                      <a:endParaRPr lang="en-US" altLang="zh-CN" sz="1400" dirty="0"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>
                          <a:effectLst/>
                          <a:latin typeface="Times New Roman Regular" panose="02020603050405020304" charset="0"/>
                          <a:ea typeface="微软雅黑" charset="-122"/>
                          <a:cs typeface="Times New Roman Regular" panose="02020603050405020304" charset="0"/>
                        </a:rPr>
                        <a:t>49.00%</a:t>
                      </a:r>
                      <a:endParaRPr lang="en-US" altLang="zh-CN" sz="1400"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530860">
                <a:tc vMerge="1"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dirty="0"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LibShalom(SC</a:t>
                      </a:r>
                      <a:r>
                        <a:rPr lang="en-US" altLang="zh-CN" sz="1400" dirty="0"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’</a:t>
                      </a:r>
                      <a:r>
                        <a:rPr lang="zh-CN" altLang="en-US" sz="1400" dirty="0"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21)</a:t>
                      </a:r>
                      <a:endParaRPr lang="zh-CN" altLang="en-US" sz="1400" dirty="0"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√</a:t>
                      </a:r>
                      <a:endParaRPr lang="en-US" altLang="zh-CN" sz="1400" b="1" dirty="0">
                        <a:solidFill>
                          <a:schemeClr val="bg1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endParaRPr lang="en-US" altLang="zh-CN" sz="1400" b="1" dirty="0">
                        <a:solidFill>
                          <a:schemeClr val="bg1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endParaRPr lang="en-US" altLang="zh-CN" sz="1400" b="1" dirty="0">
                        <a:solidFill>
                          <a:schemeClr val="bg1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endParaRPr lang="en-US" altLang="zh-CN" sz="1400" b="1" dirty="0">
                        <a:solidFill>
                          <a:schemeClr val="bg1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Times New Roman Regular" panose="02020603050405020304" charset="0"/>
                          <a:ea typeface="微软雅黑" charset="-122"/>
                          <a:cs typeface="Times New Roman Regular" panose="02020603050405020304" charset="0"/>
                        </a:rPr>
                        <a:t>94.57%</a:t>
                      </a:r>
                      <a:endParaRPr lang="en-US" altLang="zh-CN" sz="1400" dirty="0"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>
                          <a:effectLst/>
                          <a:latin typeface="Times New Roman Regular" panose="02020603050405020304" charset="0"/>
                          <a:ea typeface="微软雅黑" charset="-122"/>
                          <a:cs typeface="Times New Roman Regular" panose="02020603050405020304" charset="0"/>
                        </a:rPr>
                        <a:t>85.70%</a:t>
                      </a:r>
                      <a:endParaRPr lang="en-US" altLang="zh-CN" sz="1400"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530860">
                <a:tc vMerge="1"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dirty="0"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FastConv(TPDS</a:t>
                      </a:r>
                      <a:r>
                        <a:rPr lang="en-US" altLang="zh-CN" sz="1400" dirty="0"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’</a:t>
                      </a:r>
                      <a:r>
                        <a:rPr lang="zh-CN" altLang="en-US" sz="1400" dirty="0"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22</a:t>
                      </a:r>
                      <a:r>
                        <a:rPr lang="en-US" altLang="zh-CN" sz="1400" dirty="0"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)</a:t>
                      </a:r>
                      <a:endParaRPr lang="en-US" altLang="zh-CN" sz="1400" dirty="0">
                        <a:effectLst/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√</a:t>
                      </a:r>
                      <a:endParaRPr lang="en-US" altLang="zh-CN" sz="1400" b="1" dirty="0">
                        <a:solidFill>
                          <a:schemeClr val="bg1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endParaRPr lang="en-US" altLang="zh-CN" sz="1400" b="1" dirty="0">
                        <a:solidFill>
                          <a:schemeClr val="bg1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√</a:t>
                      </a:r>
                      <a:endParaRPr lang="en-US" altLang="zh-CN" sz="1400" b="1" dirty="0">
                        <a:solidFill>
                          <a:schemeClr val="bg1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endParaRPr lang="en-US" altLang="zh-CN" sz="1400" b="1" dirty="0">
                        <a:solidFill>
                          <a:schemeClr val="bg1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Times New Roman Regular" panose="02020603050405020304" charset="0"/>
                          <a:ea typeface="微软雅黑" charset="-122"/>
                          <a:cs typeface="Times New Roman Regular" panose="02020603050405020304" charset="0"/>
                        </a:rPr>
                        <a:t>58.42%</a:t>
                      </a:r>
                      <a:endParaRPr lang="en-US" altLang="zh-CN" sz="1400" dirty="0"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Times New Roman Regular" panose="02020603050405020304" charset="0"/>
                          <a:ea typeface="微软雅黑" charset="-122"/>
                          <a:cs typeface="Times New Roman Regular" panose="02020603050405020304" charset="0"/>
                        </a:rPr>
                        <a:t>79.46%</a:t>
                      </a:r>
                      <a:endParaRPr lang="en-US" altLang="zh-CN" sz="1400" dirty="0"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531495">
                <a:tc>
                  <a:txBody>
                    <a:bodyPr/>
                    <a:p>
                      <a:pPr indent="0" algn="ctr">
                        <a:lnSpc>
                          <a:spcPct val="150000"/>
                        </a:lnSpc>
                        <a:buFont typeface="+mj-ea"/>
                        <a:buNone/>
                      </a:pPr>
                      <a:r>
                        <a:rPr lang="en-US" altLang="ja-JP" sz="1600" dirty="0">
                          <a:solidFill>
                            <a:schemeClr val="bg1"/>
                          </a:solidFill>
                          <a:latin typeface="Times New Roman Regular" panose="02020603050405020304" charset="0"/>
                          <a:ea typeface="メイリオ" panose="020B0604030504040204" pitchFamily="50" charset="-128"/>
                          <a:cs typeface="Times New Roman Regular" panose="02020603050405020304" charset="0"/>
                          <a:sym typeface="+mn-ea"/>
                        </a:rPr>
                        <a:t>Runtime technology</a:t>
                      </a:r>
                      <a:endParaRPr lang="en-US" altLang="ja-JP" sz="1600" dirty="0">
                        <a:solidFill>
                          <a:schemeClr val="bg1"/>
                        </a:solidFill>
                        <a:effectLst/>
                        <a:latin typeface="Times New Roman Regular" panose="02020603050405020304" charset="0"/>
                        <a:ea typeface="メイリオ" panose="020B0604030504040204" pitchFamily="50" charset="-128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 marL="68580" marR="68580" marT="0" marB="0" anchor="ctr">
                    <a:solidFill>
                      <a:srgbClr val="E3CECD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400" dirty="0"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LIBXSMM(SC</a:t>
                      </a:r>
                      <a:r>
                        <a:rPr lang="en-US" altLang="zh-CN" sz="1400" dirty="0"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’16)</a:t>
                      </a:r>
                      <a:endParaRPr lang="zh-CN" sz="1400" dirty="0">
                        <a:effectLst/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√</a:t>
                      </a:r>
                      <a:endParaRPr lang="en-US" altLang="zh-CN" sz="1400" b="1" dirty="0">
                        <a:solidFill>
                          <a:schemeClr val="bg1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√</a:t>
                      </a:r>
                      <a:endParaRPr lang="en-US" altLang="zh-CN" sz="1400" b="1" dirty="0">
                        <a:solidFill>
                          <a:schemeClr val="bg1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endParaRPr lang="en-US" altLang="zh-CN" sz="1400" b="1" dirty="0">
                        <a:solidFill>
                          <a:schemeClr val="bg1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endParaRPr lang="en-US" altLang="zh-CN" sz="1400" b="1" dirty="0">
                        <a:solidFill>
                          <a:schemeClr val="bg1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Times New Roman Regular" panose="02020603050405020304" charset="0"/>
                          <a:ea typeface="微软雅黑" charset="-122"/>
                          <a:cs typeface="Times New Roman Regular" panose="02020603050405020304" charset="0"/>
                        </a:rPr>
                        <a:t>67.70%</a:t>
                      </a:r>
                      <a:endParaRPr lang="en-US" altLang="zh-CN" sz="1400" dirty="0"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Times New Roman Regular" panose="02020603050405020304" charset="0"/>
                          <a:ea typeface="微软雅黑" charset="-122"/>
                          <a:cs typeface="Times New Roman Regular" panose="02020603050405020304" charset="0"/>
                        </a:rPr>
                        <a:t>N/A</a:t>
                      </a:r>
                      <a:endParaRPr lang="en-US" altLang="zh-CN" sz="1400" dirty="0"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53086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en-US" altLang="ja-JP" sz="1600" dirty="0">
                          <a:solidFill>
                            <a:schemeClr val="bg1"/>
                          </a:solidFill>
                          <a:latin typeface="Times New Roman Regular" panose="02020603050405020304" charset="0"/>
                          <a:ea typeface="メイリオ" panose="020B0604030504040204" pitchFamily="50" charset="-128"/>
                          <a:cs typeface="Times New Roman Regular" panose="02020603050405020304" charset="0"/>
                          <a:sym typeface="+mn-ea"/>
                        </a:rPr>
                        <a:t>Tensor compiler</a:t>
                      </a:r>
                      <a:endParaRPr lang="en-US" altLang="ja-JP" sz="1600" dirty="0">
                        <a:solidFill>
                          <a:schemeClr val="bg1"/>
                        </a:solidFill>
                        <a:effectLst/>
                        <a:latin typeface="Times New Roman Regular" panose="02020603050405020304" charset="0"/>
                        <a:ea typeface="メイリオ" panose="020B0604030504040204" pitchFamily="50" charset="-128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 marL="68580" marR="68580" marT="0" marB="0" anchor="ctr">
                    <a:solidFill>
                      <a:srgbClr val="E3CECD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1400" dirty="0"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TVM(OSDI</a:t>
                      </a:r>
                      <a:r>
                        <a:rPr lang="en-US" altLang="zh-CN" sz="1400" dirty="0"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’</a:t>
                      </a:r>
                      <a:r>
                        <a:rPr lang="zh-CN" altLang="en-US" sz="1400" dirty="0"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18</a:t>
                      </a:r>
                      <a:r>
                        <a:rPr lang="en-US" altLang="zh-CN" sz="1400" dirty="0"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)</a:t>
                      </a:r>
                      <a:endParaRPr lang="en-US" altLang="zh-CN" sz="1400" dirty="0">
                        <a:effectLst/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en-US" altLang="zh-CN" sz="1400" b="1" dirty="0">
                        <a:solidFill>
                          <a:schemeClr val="bg1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√</a:t>
                      </a:r>
                      <a:endParaRPr lang="en-US" altLang="zh-CN" sz="1400" b="1" dirty="0">
                        <a:solidFill>
                          <a:schemeClr val="bg1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√</a:t>
                      </a:r>
                      <a:endParaRPr lang="en-US" altLang="zh-CN" sz="1400" b="1" dirty="0">
                        <a:solidFill>
                          <a:schemeClr val="bg1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zh-CN" sz="1400" b="1" dirty="0">
                          <a:solidFill>
                            <a:schemeClr val="bg1"/>
                          </a:solidFill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√</a:t>
                      </a:r>
                      <a:endParaRPr lang="en-US" altLang="zh-CN" sz="1400" b="1" dirty="0">
                        <a:solidFill>
                          <a:schemeClr val="bg1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dirty="0">
                          <a:effectLst/>
                          <a:latin typeface="Times New Roman Regular" panose="02020603050405020304" charset="0"/>
                          <a:ea typeface="微软雅黑" charset="-122"/>
                          <a:cs typeface="Times New Roman Regular" panose="02020603050405020304" charset="0"/>
                        </a:rPr>
                        <a:t>77.53%</a:t>
                      </a:r>
                      <a:endParaRPr lang="en-US" altLang="zh-CN" sz="1400" dirty="0"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Times New Roman Regular" panose="02020603050405020304" charset="0"/>
                          <a:ea typeface="微软雅黑" charset="-122"/>
                          <a:cs typeface="Times New Roman Regular" panose="02020603050405020304" charset="0"/>
                        </a:rPr>
                        <a:t>72.23%</a:t>
                      </a:r>
                      <a:endParaRPr lang="en-US" altLang="zh-CN" sz="1400" dirty="0"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  <a:tr h="530860">
                <a:tc>
                  <a:txBody>
                    <a:bodyPr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endParaRPr lang="en-US" altLang="zh-CN" sz="1400" b="1" kern="1200" dirty="0">
                        <a:solidFill>
                          <a:schemeClr val="lt1"/>
                        </a:solidFill>
                        <a:effectLst/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>
                    <a:solidFill>
                      <a:srgbClr val="E3CECD"/>
                    </a:solidFill>
                  </a:tcPr>
                </a:tc>
                <a:tc>
                  <a:txBody>
                    <a:bodyPr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1" kern="1200" dirty="0">
                          <a:solidFill>
                            <a:srgbClr val="FF0000"/>
                          </a:solidFill>
                          <a:effectLst/>
                          <a:latin typeface="Times New Roman Regular" panose="02020603050405020304" charset="0"/>
                          <a:ea typeface="微软雅黑" charset="-122"/>
                          <a:cs typeface="Times New Roman Regular" panose="02020603050405020304" charset="0"/>
                        </a:rPr>
                        <a:t>autoGEMM</a:t>
                      </a:r>
                      <a:endParaRPr lang="en-US" altLang="zh-CN" sz="1400" b="1" kern="1200" dirty="0">
                        <a:solidFill>
                          <a:srgbClr val="FF0000"/>
                        </a:solidFill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√</a:t>
                      </a:r>
                      <a:endParaRPr lang="en-US" altLang="zh-CN" sz="1400" b="1" dirty="0">
                        <a:solidFill>
                          <a:srgbClr val="FF0000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√</a:t>
                      </a:r>
                      <a:endParaRPr lang="en-US" altLang="zh-CN" sz="1400" b="1" dirty="0">
                        <a:solidFill>
                          <a:srgbClr val="FF0000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√</a:t>
                      </a:r>
                      <a:endParaRPr lang="en-US" altLang="zh-CN" sz="1400" b="1" dirty="0">
                        <a:solidFill>
                          <a:srgbClr val="FF0000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</a:pPr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Times New Roman Regular" panose="02020603050405020304" charset="0"/>
                          <a:ea typeface="宋体" charset="0"/>
                          <a:cs typeface="Times New Roman Regular" panose="02020603050405020304" charset="0"/>
                          <a:sym typeface="+mn-ea"/>
                        </a:rPr>
                        <a:t>√</a:t>
                      </a:r>
                      <a:endParaRPr lang="en-US" altLang="zh-CN" sz="1400" b="1" dirty="0">
                        <a:solidFill>
                          <a:srgbClr val="FF0000"/>
                        </a:solidFill>
                        <a:latin typeface="Times New Roman Regular" panose="02020603050405020304" charset="0"/>
                        <a:ea typeface="宋体" charset="0"/>
                        <a:cs typeface="Times New Roman Regular" panose="02020603050405020304" charset="0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solidFill>
                            <a:srgbClr val="FF0000"/>
                          </a:solidFill>
                          <a:effectLst/>
                          <a:latin typeface="Times New Roman Regular" panose="02020603050405020304" charset="0"/>
                          <a:ea typeface="微软雅黑" charset="-122"/>
                          <a:cs typeface="Times New Roman Regular" panose="02020603050405020304" charset="0"/>
                        </a:rPr>
                        <a:t>97.64%</a:t>
                      </a:r>
                      <a:endParaRPr lang="en-US" altLang="zh-CN" sz="1400" dirty="0">
                        <a:solidFill>
                          <a:srgbClr val="FF0000"/>
                        </a:solidFill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solidFill>
                            <a:srgbClr val="FF0000"/>
                          </a:solidFill>
                          <a:effectLst/>
                          <a:latin typeface="Times New Roman Regular" panose="02020603050405020304" charset="0"/>
                          <a:ea typeface="微软雅黑" charset="-122"/>
                          <a:cs typeface="Times New Roman Regular" panose="02020603050405020304" charset="0"/>
                        </a:rPr>
                        <a:t>91.37%</a:t>
                      </a:r>
                      <a:endParaRPr lang="en-US" altLang="zh-CN" sz="1400" dirty="0">
                        <a:solidFill>
                          <a:srgbClr val="FF0000"/>
                        </a:solidFill>
                        <a:effectLst/>
                        <a:latin typeface="Times New Roman Regular" panose="02020603050405020304" charset="0"/>
                        <a:ea typeface="微软雅黑" charset="-122"/>
                        <a:cs typeface="Times New Roman Regular" panose="02020603050405020304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1134110" y="5870575"/>
            <a:ext cx="99568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ja-JP" sz="24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Combines </a:t>
            </a:r>
            <a:r>
              <a:rPr lang="en-US" altLang="ja-JP" sz="2400" dirty="0">
                <a:solidFill>
                  <a:srgbClr val="00B0F0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manual tuning</a:t>
            </a:r>
            <a:r>
              <a:rPr lang="en-US" altLang="ja-JP" sz="24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 (to ensure </a:t>
            </a:r>
            <a:r>
              <a:rPr lang="en-US" altLang="ja-JP" sz="24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near-optimal</a:t>
            </a:r>
            <a:r>
              <a:rPr lang="en-US" altLang="ja-JP" sz="24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 performance) </a:t>
            </a:r>
            <a:endParaRPr lang="en-US" altLang="ja-JP" sz="24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  <a:p>
            <a:r>
              <a:rPr lang="en-US" altLang="ja-JP" sz="24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and </a:t>
            </a:r>
            <a:r>
              <a:rPr lang="en-US" altLang="ja-JP" sz="2400" dirty="0">
                <a:solidFill>
                  <a:srgbClr val="00B0F0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auto-tuning</a:t>
            </a:r>
            <a:r>
              <a:rPr lang="en-US" altLang="ja-JP" sz="2400" dirty="0">
                <a:solidFill>
                  <a:schemeClr val="tx1"/>
                </a:solidFill>
                <a:latin typeface="Verdana" panose="020B0604030504040204" pitchFamily="34" charset="0"/>
                <a:ea typeface="メイリオ" panose="020B0604030504040204" pitchFamily="50" charset="-128"/>
              </a:rPr>
              <a:t> (to ensure high portability)</a:t>
            </a:r>
            <a:endParaRPr lang="en-US" altLang="ja-JP" sz="2400" dirty="0">
              <a:solidFill>
                <a:schemeClr val="tx1"/>
              </a:solidFill>
              <a:latin typeface="Verdana" panose="020B0604030504040204" pitchFamily="34" charset="0"/>
              <a:ea typeface="メイリオ" panose="020B0604030504040204" pitchFamily="50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014980" y="116840"/>
            <a:ext cx="886396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/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</a:rPr>
              <a:t>Content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</a:endParaRPr>
          </a:p>
        </p:txBody>
      </p:sp>
      <p:sp>
        <p:nvSpPr>
          <p:cNvPr id="17" name="コンテンツ プレースホルダー 2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3014345" y="1666875"/>
            <a:ext cx="7080885" cy="3887470"/>
          </a:xfrm>
        </p:spPr>
        <p:txBody>
          <a:bodyPr>
            <a:noAutofit/>
          </a:bodyPr>
          <a:p>
            <a:r>
              <a:rPr lang="en-US" altLang="ja-JP" sz="3600" dirty="0" err="1">
                <a:ln w="12700">
                  <a:noFill/>
                  <a:prstDash val="solid"/>
                </a:ln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Background &amp; Challenges </a:t>
            </a:r>
            <a:endParaRPr lang="en-US" altLang="ja-JP" sz="3600" dirty="0" err="1">
              <a:ln w="12700">
                <a:noFill/>
                <a:prstDash val="solid"/>
              </a:ln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  <a:p>
            <a:r>
              <a:rPr lang="en-US" altLang="ja-JP" sz="3600" dirty="0" err="1">
                <a:ln w="12700">
                  <a:noFill/>
                  <a:prstDash val="solid"/>
                </a:ln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Motivation</a:t>
            </a:r>
            <a:endParaRPr lang="en-US" altLang="ja-JP" sz="3600" dirty="0" err="1">
              <a:ln w="12700">
                <a:noFill/>
                <a:prstDash val="solid"/>
              </a:ln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  <a:p>
            <a:r>
              <a:rPr lang="en-US" altLang="ja-JP" sz="3600" dirty="0" err="1">
                <a:ln w="12700">
                  <a:noFill/>
                  <a:prstDash val="solid"/>
                </a:ln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Related Works</a:t>
            </a:r>
            <a:endParaRPr lang="en-US" altLang="ja-JP" sz="3600" dirty="0" err="1">
              <a:ln w="12700">
                <a:noFill/>
                <a:prstDash val="solid"/>
              </a:ln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  <a:p>
            <a:r>
              <a:rPr lang="en-US" altLang="ja-JP" sz="3600" dirty="0" err="1">
                <a:ln w="12700">
                  <a:noFill/>
                  <a:prstDash val="solid"/>
                </a:ln>
                <a:solidFill>
                  <a:srgbClr val="00B0F0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Methods</a:t>
            </a:r>
            <a:endParaRPr lang="en-US" altLang="ja-JP" sz="3600" dirty="0" err="1">
              <a:ln w="12700">
                <a:noFill/>
                <a:prstDash val="solid"/>
              </a:ln>
              <a:solidFill>
                <a:srgbClr val="00B0F0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  <a:p>
            <a:r>
              <a:rPr lang="en-US" altLang="ja-JP" sz="3600" dirty="0" err="1">
                <a:ln w="12700">
                  <a:noFill/>
                  <a:prstDash val="solid"/>
                </a:ln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Performance Analysis</a:t>
            </a:r>
            <a:endParaRPr lang="en-US" altLang="ja-JP" sz="3600" dirty="0" err="1">
              <a:ln w="12700">
                <a:noFill/>
                <a:prstDash val="solid"/>
              </a:ln>
              <a:latin typeface="Verdana" panose="020B0604030504040204"/>
              <a:ea typeface="メイリオ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Overview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Methods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b="322"/>
          <a:stretch>
            <a:fillRect/>
          </a:stretch>
        </p:blipFill>
        <p:spPr>
          <a:xfrm>
            <a:off x="156210" y="925195"/>
            <a:ext cx="11883390" cy="5420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1) Auto-generate micro-kernels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Methods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b="322"/>
          <a:stretch>
            <a:fillRect/>
          </a:stretch>
        </p:blipFill>
        <p:spPr>
          <a:xfrm>
            <a:off x="156210" y="925195"/>
            <a:ext cx="11883390" cy="542036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1654810" y="1511935"/>
            <a:ext cx="3722370" cy="2078990"/>
          </a:xfrm>
          <a:prstGeom prst="rect">
            <a:avLst/>
          </a:prstGeom>
          <a:solidFill>
            <a:srgbClr val="FADBDF"/>
          </a:solidFill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p>
            <a:pPr indent="0" algn="ctr">
              <a:lnSpc>
                <a:spcPct val="150000"/>
              </a:lnSpc>
              <a:buNone/>
            </a:pPr>
            <a:r>
              <a:rPr lang="en-US" altLang="ja-JP" sz="2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1)Auto-generate </a:t>
            </a:r>
            <a:endParaRPr lang="en-US" altLang="ja-JP" sz="2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indent="0" algn="ctr">
              <a:lnSpc>
                <a:spcPct val="150000"/>
              </a:lnSpc>
              <a:buNone/>
            </a:pPr>
            <a:r>
              <a:rPr lang="en-US" altLang="ja-JP" sz="2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micro-kernels</a:t>
            </a:r>
            <a:r>
              <a:rPr lang="en-US" altLang="ja-JP" sz="2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 </a:t>
            </a:r>
            <a:endParaRPr lang="en-US" altLang="ja-JP" sz="2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5518150" y="1049655"/>
            <a:ext cx="6375400" cy="2804160"/>
          </a:xfrm>
          <a:prstGeom prst="rect">
            <a:avLst/>
          </a:prstGeom>
          <a:solidFill>
            <a:srgbClr val="E3F2D9"/>
          </a:solidFill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p>
            <a:pPr indent="0" algn="ctr">
              <a:lnSpc>
                <a:spcPct val="150000"/>
              </a:lnSpc>
              <a:buNone/>
            </a:pPr>
            <a:r>
              <a:rPr lang="en-US" altLang="ja-JP" sz="2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2)Optimize micro-kernels pipeline</a:t>
            </a:r>
            <a:r>
              <a:rPr lang="en-US" altLang="ja-JP" sz="2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 </a:t>
            </a:r>
            <a:endParaRPr lang="en-US" altLang="ja-JP" sz="2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indent="0" algn="ctr">
              <a:lnSpc>
                <a:spcPct val="150000"/>
              </a:lnSpc>
              <a:buNone/>
            </a:pPr>
            <a:r>
              <a:rPr lang="en-US" altLang="ja-JP" sz="2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with a performance model</a:t>
            </a:r>
            <a:endParaRPr lang="en-US" altLang="ja-JP" sz="2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1647825" y="4526915"/>
            <a:ext cx="3257550" cy="1493520"/>
          </a:xfrm>
          <a:prstGeom prst="rect">
            <a:avLst/>
          </a:prstGeom>
          <a:solidFill>
            <a:srgbClr val="FFF2CA"/>
          </a:solidFill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p>
            <a:pPr indent="0" algn="ctr">
              <a:lnSpc>
                <a:spcPct val="150000"/>
              </a:lnSpc>
              <a:buNone/>
            </a:pPr>
            <a:r>
              <a:rPr lang="en-US" altLang="ja-JP" sz="2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3)Dynamic</a:t>
            </a:r>
            <a:endParaRPr lang="en-US" altLang="ja-JP" sz="2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indent="0" algn="ctr">
              <a:lnSpc>
                <a:spcPct val="150000"/>
              </a:lnSpc>
              <a:buNone/>
            </a:pPr>
            <a:r>
              <a:rPr lang="en-US" altLang="ja-JP" sz="2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micro-tiling </a:t>
            </a:r>
            <a:endParaRPr lang="en-US" altLang="ja-JP" sz="2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5398135" y="4109085"/>
            <a:ext cx="4675505" cy="2144395"/>
          </a:xfrm>
          <a:prstGeom prst="rect">
            <a:avLst/>
          </a:prstGeom>
          <a:solidFill>
            <a:srgbClr val="DAE3F5"/>
          </a:solidFill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p>
            <a:pPr indent="0" algn="ctr">
              <a:lnSpc>
                <a:spcPct val="150000"/>
              </a:lnSpc>
              <a:buNone/>
            </a:pPr>
            <a:r>
              <a:rPr lang="en-US" altLang="ja-JP" sz="2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4)Tune parameters with TVM </a:t>
            </a:r>
            <a:endParaRPr lang="en-US" altLang="ja-JP" sz="2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1657350" lvl="3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sz="1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Register block</a:t>
            </a:r>
            <a:endParaRPr lang="en-US" altLang="ja-JP" sz="1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1657350" lvl="3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sz="1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Cache block </a:t>
            </a:r>
            <a:endParaRPr lang="en-US" altLang="ja-JP" sz="1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1657350" lvl="3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sz="1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Loop order</a:t>
            </a:r>
            <a:endParaRPr lang="en-US" altLang="ja-JP" sz="1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1657350" lvl="3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sz="1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Packing strategy</a:t>
            </a:r>
            <a:endParaRPr lang="en-US" altLang="ja-JP" sz="1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Micro-kernel </a:t>
            </a:r>
            <a:r>
              <a:rPr lang="en-US" altLang="ja-JP" sz="2000" dirty="0">
                <a:solidFill>
                  <a:schemeClr val="tx1"/>
                </a:solidFill>
                <a:sym typeface="+mn-ea"/>
              </a:rPr>
              <a:t>Generater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Methods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35"/>
          <a:stretch>
            <a:fillRect/>
          </a:stretch>
        </p:blipFill>
        <p:spPr>
          <a:xfrm>
            <a:off x="393065" y="120650"/>
            <a:ext cx="4587875" cy="6618605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5372735" y="1711325"/>
            <a:ext cx="6681470" cy="396938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>
              <a:lnSpc>
                <a:spcPct val="100000"/>
              </a:lnSpc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Code generation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Python concat </a:t>
            </a:r>
            <a:r>
              <a:rPr lang="en-US" altLang="zh-CN">
                <a:sym typeface="+mn-ea"/>
              </a:rPr>
              <a:t>C code as string, inline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</a:t>
            </a:r>
            <a:r>
              <a:rPr lang="en-US" altLang="zh-CN">
                <a:sym typeface="+mn-ea"/>
              </a:rPr>
              <a:t>assembly in C code.</a:t>
            </a:r>
            <a:endParaRPr lang="en-US" altLang="zh-CN">
              <a:sym typeface="+mn-ea"/>
            </a:endParaRPr>
          </a:p>
          <a:p>
            <a:pPr>
              <a:lnSpc>
                <a:spcPct val="100000"/>
              </a:lnSpc>
            </a:pPr>
            <a:endParaRPr lang="en-US" altLang="zh-CN"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>
                <a:sym typeface="+mn-ea"/>
              </a:rPr>
              <a:t>m</a:t>
            </a:r>
            <a:r>
              <a:rPr lang="en-US" altLang="zh-CN" baseline="-25000">
                <a:sym typeface="+mn-ea"/>
              </a:rPr>
              <a:t>r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, </a:t>
            </a:r>
            <a:r>
              <a:rPr lang="en-US" altLang="zh-CN">
                <a:sym typeface="+mn-ea"/>
              </a:rPr>
              <a:t>n</a:t>
            </a:r>
            <a:r>
              <a:rPr lang="en-US" altLang="zh-CN" baseline="-25000">
                <a:sym typeface="+mn-ea"/>
              </a:rPr>
              <a:t>r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, and </a:t>
            </a:r>
            <a:r>
              <a:rPr lang="en-US" altLang="zh-CN">
                <a:sym typeface="+mn-ea"/>
              </a:rPr>
              <a:t>k</a:t>
            </a:r>
            <a:r>
              <a:rPr lang="en-US" altLang="zh-CN" baseline="-25000">
                <a:sym typeface="+mn-ea"/>
              </a:rPr>
              <a:t>c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as Python input to generate </a:t>
            </a:r>
            <a:r>
              <a:rPr lang="en-US" altLang="zh-CN">
                <a:sym typeface="+mn-ea"/>
              </a:rPr>
              <a:t>arbitrary shapes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.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>
              <a:lnSpc>
                <a:spcPct val="100000"/>
              </a:lnSpc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Three code blocks: 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342900" indent="-342900">
              <a:lnSpc>
                <a:spcPct val="100000"/>
              </a:lnSpc>
              <a:buClr>
                <a:srgbClr val="F2F2F2"/>
              </a:buClr>
              <a:buFont typeface="+mj-lt"/>
              <a:buAutoNum type="arabicPeriod"/>
            </a:pPr>
            <a:r>
              <a:rPr lang="en-US" altLang="zh-CN">
                <a:solidFill>
                  <a:srgbClr val="00B0F0"/>
                </a:solidFill>
                <a:sym typeface="+mn-ea"/>
              </a:rPr>
              <a:t>prologue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: define all of the needed scalar/vector registers and first load matrix A, B and C.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342900" indent="-342900">
              <a:lnSpc>
                <a:spcPct val="100000"/>
              </a:lnSpc>
              <a:buClr>
                <a:srgbClr val="F2F2F2"/>
              </a:buClr>
              <a:buFont typeface="+mj-lt"/>
              <a:buAutoNum type="arabicPeriod"/>
            </a:pPr>
            <a:r>
              <a:rPr lang="en-US" altLang="zh-CN">
                <a:solidFill>
                  <a:srgbClr val="00B0F0"/>
                </a:solidFill>
                <a:sym typeface="+mn-ea"/>
              </a:rPr>
              <a:t>mainloop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: calculate </a:t>
            </a:r>
            <a:r>
              <a:rPr lang="en-US" altLang="zh-CN">
                <a:sym typeface="+mn-ea"/>
              </a:rPr>
              <a:t>m</a:t>
            </a:r>
            <a:r>
              <a:rPr lang="en-US" altLang="zh-CN" baseline="-25000">
                <a:sym typeface="+mn-ea"/>
              </a:rPr>
              <a:t>r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x </a:t>
            </a:r>
            <a:r>
              <a:rPr lang="en-US" altLang="zh-CN">
                <a:sym typeface="+mn-ea"/>
              </a:rPr>
              <a:t>n</a:t>
            </a:r>
            <a:r>
              <a:rPr lang="en-US" altLang="zh-CN" baseline="-25000">
                <a:sym typeface="+mn-ea"/>
              </a:rPr>
              <a:t>r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Fused Multiply-Add (FMA) operations iteratively.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342900" indent="-342900">
              <a:lnSpc>
                <a:spcPct val="100000"/>
              </a:lnSpc>
              <a:buClr>
                <a:srgbClr val="F2F2F2"/>
              </a:buClr>
              <a:buFont typeface="+mj-lt"/>
              <a:buAutoNum type="arabicPeriod"/>
            </a:pPr>
            <a:r>
              <a:rPr lang="en-US" altLang="zh-CN">
                <a:solidFill>
                  <a:srgbClr val="00B0F0"/>
                </a:solidFill>
                <a:sym typeface="+mn-ea"/>
              </a:rPr>
              <a:t>epilogue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: calculate remain operations and store the accumulated results.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endParaRPr lang="en-US" altLang="zh-CN">
              <a:solidFill>
                <a:schemeClr val="tx1"/>
              </a:solidFill>
              <a:sym typeface="+mn-ea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altLang="zh-CN">
                <a:sym typeface="+mn-ea"/>
              </a:rPr>
              <a:t>The Generater in only 200 Python code lines.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6" name="矩形 5"/>
          <p:cNvSpPr/>
          <p:nvPr>
            <p:custDataLst>
              <p:tags r:id="rId5"/>
            </p:custDataLst>
          </p:nvPr>
        </p:nvSpPr>
        <p:spPr>
          <a:xfrm>
            <a:off x="309245" y="734695"/>
            <a:ext cx="4732655" cy="2466340"/>
          </a:xfrm>
          <a:prstGeom prst="rect">
            <a:avLst/>
          </a:prstGeom>
          <a:noFill/>
          <a:ln w="1905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309245" y="3201035"/>
            <a:ext cx="4732655" cy="2115185"/>
          </a:xfrm>
          <a:prstGeom prst="rect">
            <a:avLst/>
          </a:prstGeom>
          <a:noFill/>
          <a:ln w="1905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  <p:sp>
        <p:nvSpPr>
          <p:cNvPr id="12" name="矩形 11"/>
          <p:cNvSpPr/>
          <p:nvPr>
            <p:custDataLst>
              <p:tags r:id="rId7"/>
            </p:custDataLst>
          </p:nvPr>
        </p:nvSpPr>
        <p:spPr>
          <a:xfrm>
            <a:off x="309245" y="5316220"/>
            <a:ext cx="4732655" cy="502285"/>
          </a:xfrm>
          <a:prstGeom prst="rect">
            <a:avLst/>
          </a:prstGeom>
          <a:noFill/>
          <a:ln w="19050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ln>
                <a:solidFill>
                  <a:srgbClr val="FF0000"/>
                </a:solidFill>
              </a:ln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Select micro-kernels</a:t>
            </a: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Methods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363855" y="1266190"/>
            <a:ext cx="11596370" cy="2670175"/>
            <a:chOff x="573" y="1794"/>
            <a:chExt cx="18262" cy="4205"/>
          </a:xfrm>
        </p:grpSpPr>
        <p:pic>
          <p:nvPicPr>
            <p:cNvPr id="9" name="图片 8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/>
            <a:srcRect l="-8269" r="-5780"/>
            <a:stretch>
              <a:fillRect/>
            </a:stretch>
          </p:blipFill>
          <p:spPr>
            <a:xfrm>
              <a:off x="9442" y="1794"/>
              <a:ext cx="9393" cy="781"/>
            </a:xfrm>
            <a:prstGeom prst="rect">
              <a:avLst/>
            </a:prstGeom>
            <a:solidFill>
              <a:schemeClr val="tx1"/>
            </a:solidFill>
          </p:spPr>
        </p:pic>
        <p:pic>
          <p:nvPicPr>
            <p:cNvPr id="3" name="图片 2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rcRect l="-14678" r="-58228"/>
            <a:stretch>
              <a:fillRect/>
            </a:stretch>
          </p:blipFill>
          <p:spPr>
            <a:xfrm>
              <a:off x="573" y="1794"/>
              <a:ext cx="9330" cy="994"/>
            </a:xfrm>
            <a:prstGeom prst="rect">
              <a:avLst/>
            </a:prstGeom>
            <a:solidFill>
              <a:schemeClr val="tx1"/>
            </a:solidFill>
          </p:spPr>
        </p:pic>
        <p:pic>
          <p:nvPicPr>
            <p:cNvPr id="7" name="图片 6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573" y="2508"/>
              <a:ext cx="9330" cy="3491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rcRect r="-672"/>
            <a:stretch>
              <a:fillRect/>
            </a:stretch>
          </p:blipFill>
          <p:spPr>
            <a:xfrm>
              <a:off x="9843" y="2337"/>
              <a:ext cx="8992" cy="3647"/>
            </a:xfrm>
            <a:prstGeom prst="rect">
              <a:avLst/>
            </a:prstGeom>
            <a:solidFill>
              <a:schemeClr val="tx1"/>
            </a:solidFill>
          </p:spPr>
        </p:pic>
      </p:grp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363855" y="4161790"/>
            <a:ext cx="1159700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rgbClr val="00B0F0"/>
                </a:solidFill>
              </a:rPr>
              <a:t>Arithmetic Intensity</a:t>
            </a:r>
            <a:r>
              <a:rPr lang="en-US" altLang="zh-CN"/>
              <a:t> </a:t>
            </a:r>
            <a:r>
              <a:rPr lang="zh-CN" altLang="en-US"/>
              <a:t>(AI)</a:t>
            </a:r>
            <a:r>
              <a:rPr lang="en-US" altLang="zh-CN"/>
              <a:t> will guide the selection of</a:t>
            </a:r>
            <a:r>
              <a:rPr lang="en-US" altLang="zh-CN">
                <a:sym typeface="+mn-ea"/>
              </a:rPr>
              <a:t> micro-kernels</a:t>
            </a:r>
            <a:r>
              <a:rPr lang="en-US" altLang="zh-CN"/>
              <a:t>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For </a:t>
            </a:r>
            <a:r>
              <a:rPr lang="en-US" altLang="zh-CN">
                <a:sym typeface="+mn-ea"/>
              </a:rPr>
              <a:t>regular </a:t>
            </a:r>
            <a:r>
              <a:rPr lang="en-US" altLang="zh-CN"/>
              <a:t>GEMM, a default assumption is : k</a:t>
            </a:r>
            <a:r>
              <a:rPr lang="en-US" altLang="zh-CN" baseline="-25000"/>
              <a:t>c</a:t>
            </a:r>
            <a:r>
              <a:rPr lang="en-US" altLang="zh-CN"/>
              <a:t> ≫ m</a:t>
            </a:r>
            <a:r>
              <a:rPr lang="en-US" altLang="zh-CN" baseline="-25000"/>
              <a:t>r</a:t>
            </a:r>
            <a:r>
              <a:rPr lang="en-US" altLang="zh-CN"/>
              <a:t>(n</a:t>
            </a:r>
            <a:r>
              <a:rPr lang="en-US" altLang="zh-CN" baseline="-25000"/>
              <a:t>r</a:t>
            </a:r>
            <a:r>
              <a:rPr lang="en-US" altLang="zh-CN"/>
              <a:t>) and micro</a:t>
            </a:r>
            <a:r>
              <a:rPr lang="en-US" altLang="zh-CN">
                <a:sym typeface="+mn-ea"/>
              </a:rPr>
              <a:t>-kernels</a:t>
            </a:r>
            <a:r>
              <a:rPr lang="en-US" altLang="zh-CN"/>
              <a:t> can always reach AI</a:t>
            </a:r>
            <a:r>
              <a:rPr lang="en-US" altLang="zh-CN" baseline="-25000"/>
              <a:t>max</a:t>
            </a:r>
            <a:r>
              <a:rPr lang="en-US" altLang="zh-CN"/>
              <a:t>. </a:t>
            </a:r>
            <a:endParaRPr lang="en-US" altLang="zh-CN"/>
          </a:p>
          <a:p>
            <a:r>
              <a:rPr lang="en-US" altLang="zh-CN"/>
              <a:t>But for irregular GEMM, when </a:t>
            </a:r>
            <a:r>
              <a:rPr lang="en-US" altLang="zh-CN">
                <a:sym typeface="+mn-ea"/>
              </a:rPr>
              <a:t>k</a:t>
            </a:r>
            <a:r>
              <a:rPr lang="en-US" altLang="zh-CN" baseline="-25000">
                <a:sym typeface="+mn-ea"/>
              </a:rPr>
              <a:t>c</a:t>
            </a:r>
            <a:r>
              <a:rPr lang="en-US" altLang="zh-CN"/>
              <a:t> is small, </a:t>
            </a:r>
            <a:r>
              <a:rPr lang="en-US" altLang="zh-CN">
                <a:sym typeface="+mn-ea"/>
              </a:rPr>
              <a:t>the bottleneck of </a:t>
            </a:r>
            <a:r>
              <a:rPr lang="en-US" altLang="zh-CN"/>
              <a:t>micro-kernels are prologue and epilogue.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Note that </a:t>
            </a:r>
            <a:r>
              <a:rPr lang="en-US" altLang="zh-CN">
                <a:sym typeface="+mn-ea"/>
              </a:rPr>
              <a:t>larger </a:t>
            </a:r>
            <a:r>
              <a:rPr lang="en-US" altLang="zh-CN"/>
              <a:t>AI </a:t>
            </a:r>
            <a:r>
              <a:rPr lang="en-US" altLang="zh-CN">
                <a:sym typeface="+mn-ea"/>
              </a:rPr>
              <a:t>micro</a:t>
            </a:r>
            <a:r>
              <a:rPr lang="en-US" altLang="zh-CN">
                <a:sym typeface="+mn-ea"/>
              </a:rPr>
              <a:t>-kernel </a:t>
            </a:r>
            <a:r>
              <a:rPr lang="en-US" altLang="zh-CN"/>
              <a:t>is not necessarily better. </a:t>
            </a:r>
            <a:r>
              <a:rPr lang="en-US" altLang="zh-CN">
                <a:sym typeface="+mn-ea"/>
              </a:rPr>
              <a:t>There is a </a:t>
            </a:r>
            <a:r>
              <a:rPr lang="en-US" altLang="zh-CN">
                <a:solidFill>
                  <a:srgbClr val="00B0F0"/>
                </a:solidFill>
                <a:sym typeface="+mn-ea"/>
              </a:rPr>
              <a:t>threshold</a:t>
            </a:r>
            <a:r>
              <a:rPr lang="en-US" altLang="zh-CN">
                <a:sym typeface="+mn-ea"/>
              </a:rPr>
              <a:t> </a:t>
            </a:r>
            <a:r>
              <a:rPr lang="en-US" altLang="zh-CN">
                <a:solidFill>
                  <a:srgbClr val="00B0F0"/>
                </a:solidFill>
                <a:sym typeface="+mn-ea"/>
              </a:rPr>
              <a:t>σ</a:t>
            </a:r>
            <a:r>
              <a:rPr lang="en-US" altLang="zh-CN" baseline="-25000">
                <a:solidFill>
                  <a:srgbClr val="00B0F0"/>
                </a:solidFill>
                <a:sym typeface="+mn-ea"/>
              </a:rPr>
              <a:t>AI</a:t>
            </a:r>
            <a:r>
              <a:rPr lang="en-US" altLang="zh-CN" baseline="-25000">
                <a:sym typeface="+mn-ea"/>
              </a:rPr>
              <a:t> </a:t>
            </a:r>
            <a:r>
              <a:rPr lang="en-US" altLang="zh-CN">
                <a:sym typeface="+mn-ea"/>
              </a:rPr>
              <a:t> on different hardware.</a:t>
            </a:r>
            <a:endParaRPr lang="en-US" altLang="zh-CN"/>
          </a:p>
          <a:p>
            <a:pPr algn="l">
              <a:buClrTx/>
              <a:buSzTx/>
              <a:buFontTx/>
            </a:pPr>
            <a:r>
              <a:rPr lang="en-US" altLang="zh-CN">
                <a:sym typeface="+mn-ea"/>
              </a:rPr>
              <a:t>If </a:t>
            </a:r>
            <a:r>
              <a:rPr lang="en-US" altLang="zh-CN">
                <a:solidFill>
                  <a:srgbClr val="00B0F0"/>
                </a:solidFill>
                <a:sym typeface="+mn-ea"/>
              </a:rPr>
              <a:t>AI </a:t>
            </a:r>
            <a:r>
              <a:rPr lang="en-US" altLang="zh-CN">
                <a:solidFill>
                  <a:srgbClr val="00B0F0"/>
                </a:solidFill>
                <a:latin typeface="Arial" panose="020B0704020202020204" pitchFamily="34" charset="0"/>
                <a:cs typeface="Arial" panose="020B0704020202020204" pitchFamily="34" charset="0"/>
                <a:sym typeface="+mn-ea"/>
              </a:rPr>
              <a:t>≥</a:t>
            </a:r>
            <a:r>
              <a:rPr lang="en-US" altLang="zh-CN">
                <a:solidFill>
                  <a:srgbClr val="00B0F0"/>
                </a:solidFill>
                <a:sym typeface="+mn-ea"/>
              </a:rPr>
              <a:t> σ</a:t>
            </a:r>
            <a:r>
              <a:rPr lang="en-US" altLang="zh-CN" baseline="-25000">
                <a:solidFill>
                  <a:srgbClr val="00B0F0"/>
                </a:solidFill>
                <a:sym typeface="+mn-ea"/>
              </a:rPr>
              <a:t>AI</a:t>
            </a:r>
            <a:r>
              <a:rPr lang="en-US" altLang="zh-CN">
                <a:sym typeface="+mn-ea"/>
              </a:rPr>
              <a:t>, the micro-kernel performance does </a:t>
            </a:r>
            <a:r>
              <a:rPr lang="en-US" altLang="zh-CN">
                <a:solidFill>
                  <a:srgbClr val="00B0F0"/>
                </a:solidFill>
                <a:sym typeface="+mn-ea"/>
              </a:rPr>
              <a:t>not increase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(</a:t>
            </a:r>
            <a:r>
              <a:rPr lang="en-US" altLang="zh-CN" dirty="0">
                <a:solidFill>
                  <a:schemeClr val="tx1"/>
                </a:solidFill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have</a:t>
            </a:r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 </a:t>
            </a:r>
            <a:r>
              <a:rPr lang="en-US" altLang="zh-CN">
                <a:sym typeface="+mn-ea"/>
              </a:rPr>
              <a:t>potential </a:t>
            </a:r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to achieve peak performan</a:t>
            </a:r>
            <a:r>
              <a:rPr lang="en-US" altLang="zh-CN" dirty="0">
                <a:solidFill>
                  <a:schemeClr val="tx1"/>
                </a:solidFill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ce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)</a:t>
            </a:r>
            <a:endParaRPr lang="en-US" altLang="zh-CN">
              <a:solidFill>
                <a:schemeClr val="tx1"/>
              </a:solidFill>
              <a:sym typeface="+mn-ea"/>
            </a:endParaRPr>
          </a:p>
          <a:p>
            <a:pPr algn="l">
              <a:buClrTx/>
              <a:buSzTx/>
              <a:buFontTx/>
            </a:pPr>
            <a:r>
              <a:rPr lang="en-US" altLang="zh-CN">
                <a:sym typeface="+mn-ea"/>
              </a:rPr>
              <a:t>If </a:t>
            </a:r>
            <a:r>
              <a:rPr lang="en-US" altLang="zh-CN">
                <a:solidFill>
                  <a:srgbClr val="00B0F0"/>
                </a:solidFill>
                <a:sym typeface="+mn-ea"/>
              </a:rPr>
              <a:t>AI &lt; σ</a:t>
            </a:r>
            <a:r>
              <a:rPr lang="en-US" altLang="zh-CN" baseline="-25000">
                <a:solidFill>
                  <a:srgbClr val="00B0F0"/>
                </a:solidFill>
                <a:sym typeface="+mn-ea"/>
              </a:rPr>
              <a:t>AI</a:t>
            </a:r>
            <a:r>
              <a:rPr lang="en-US" altLang="zh-CN">
                <a:sym typeface="+mn-ea"/>
              </a:rPr>
              <a:t>, the micro-kernel performance </a:t>
            </a:r>
            <a:r>
              <a:rPr lang="en-US" altLang="zh-CN">
                <a:solidFill>
                  <a:srgbClr val="00B0F0"/>
                </a:solidFill>
                <a:sym typeface="+mn-ea"/>
              </a:rPr>
              <a:t>deteriorates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Evaluate micro-kernels</a:t>
            </a: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Methods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379095" y="5333365"/>
            <a:ext cx="1117917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U</a:t>
            </a:r>
            <a:r>
              <a:rPr lang="zh-CN" altLang="en-US">
                <a:sym typeface="+mn-ea"/>
              </a:rPr>
              <a:t>se </a:t>
            </a:r>
            <a:r>
              <a:rPr lang="zh-CN" altLang="en-US">
                <a:solidFill>
                  <a:srgbClr val="00B0F0"/>
                </a:solidFill>
                <a:sym typeface="+mn-ea"/>
              </a:rPr>
              <a:t>performance model</a:t>
            </a:r>
            <a:r>
              <a:rPr lang="zh-CN" altLang="en-US">
                <a:sym typeface="+mn-ea"/>
              </a:rPr>
              <a:t> to e</a:t>
            </a:r>
            <a:r>
              <a:rPr lang="zh-CN" altLang="en-US">
                <a:sym typeface="+mn-ea"/>
              </a:rPr>
              <a:t>valuate</a:t>
            </a:r>
            <a:r>
              <a:rPr lang="zh-CN" altLang="en-US">
                <a:sym typeface="+mn-ea"/>
              </a:rPr>
              <a:t> the micro-kernel</a:t>
            </a:r>
            <a:r>
              <a:rPr lang="en-US" altLang="zh-CN">
                <a:sym typeface="+mn-ea"/>
              </a:rPr>
              <a:t>, be that </a:t>
            </a:r>
            <a:r>
              <a:rPr lang="en-US" altLang="zh-CN">
                <a:solidFill>
                  <a:srgbClr val="00B0F0"/>
                </a:solidFill>
                <a:sym typeface="+mn-ea"/>
              </a:rPr>
              <a:t>compute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or</a:t>
            </a:r>
            <a:r>
              <a:rPr lang="en-US" altLang="zh-CN">
                <a:solidFill>
                  <a:srgbClr val="00B0F0"/>
                </a:solidFill>
                <a:sym typeface="+mn-ea"/>
              </a:rPr>
              <a:t> memory bound</a:t>
            </a:r>
            <a:r>
              <a:rPr lang="en-US" altLang="zh-CN">
                <a:sym typeface="+mn-ea"/>
              </a:rPr>
              <a:t>.</a:t>
            </a:r>
            <a:endParaRPr lang="zh-CN" altLang="en-US"/>
          </a:p>
          <a:p>
            <a:r>
              <a:rPr lang="en-US" altLang="zh-CN">
                <a:sym typeface="+mn-ea"/>
              </a:rPr>
              <a:t>Leverage the concepts of instructions per cycle (</a:t>
            </a:r>
            <a:r>
              <a:rPr lang="en-US" altLang="zh-CN">
                <a:solidFill>
                  <a:srgbClr val="00B0F0"/>
                </a:solidFill>
                <a:sym typeface="+mn-ea"/>
              </a:rPr>
              <a:t>IPC</a:t>
            </a:r>
            <a:r>
              <a:rPr lang="en-US" altLang="zh-CN">
                <a:sym typeface="+mn-ea"/>
              </a:rPr>
              <a:t>) and instruction cycles (</a:t>
            </a:r>
            <a:r>
              <a:rPr lang="en-US" altLang="zh-CN">
                <a:solidFill>
                  <a:srgbClr val="00B0F0"/>
                </a:solidFill>
                <a:sym typeface="+mn-ea"/>
              </a:rPr>
              <a:t>latency</a:t>
            </a:r>
            <a:r>
              <a:rPr lang="en-US" altLang="zh-CN">
                <a:sym typeface="+mn-ea"/>
              </a:rPr>
              <a:t>).</a:t>
            </a:r>
            <a:endParaRPr lang="en-US" altLang="zh-CN">
              <a:sym typeface="+mn-ea"/>
            </a:endParaRPr>
          </a:p>
          <a:p>
            <a:r>
              <a:rPr lang="en-US" altLang="zh-CN"/>
              <a:t>No data dependencies: IPC# instructions issued each clock cycle. </a:t>
            </a:r>
            <a:endParaRPr lang="en-US" altLang="zh-CN"/>
          </a:p>
          <a:p>
            <a:r>
              <a:rPr lang="en-US" altLang="zh-CN"/>
              <a:t>Data dependencies: wait L# latency cycles before executing subsequent dependent instruction.</a:t>
            </a: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1919605" y="1271270"/>
            <a:ext cx="8537575" cy="3898900"/>
            <a:chOff x="3023" y="2002"/>
            <a:chExt cx="13445" cy="6140"/>
          </a:xfrm>
        </p:grpSpPr>
        <p:pic>
          <p:nvPicPr>
            <p:cNvPr id="4" name="图片 3"/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4"/>
            <a:srcRect r="44987"/>
            <a:stretch>
              <a:fillRect/>
            </a:stretch>
          </p:blipFill>
          <p:spPr>
            <a:xfrm>
              <a:off x="3035" y="2002"/>
              <a:ext cx="13433" cy="314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4"/>
            <a:srcRect l="55239" r="-1088"/>
            <a:stretch>
              <a:fillRect/>
            </a:stretch>
          </p:blipFill>
          <p:spPr>
            <a:xfrm>
              <a:off x="5533" y="5075"/>
              <a:ext cx="10919" cy="3067"/>
            </a:xfrm>
            <a:prstGeom prst="rect">
              <a:avLst/>
            </a:prstGeom>
            <a:solidFill>
              <a:schemeClr val="tx1"/>
            </a:solidFill>
          </p:spPr>
        </p:pic>
        <p:sp>
          <p:nvSpPr>
            <p:cNvPr id="2" name="矩形 1"/>
            <p:cNvSpPr/>
            <p:nvPr/>
          </p:nvSpPr>
          <p:spPr>
            <a:xfrm>
              <a:off x="3023" y="5064"/>
              <a:ext cx="2532" cy="306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12" name="图片 1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3067" y="5698"/>
              <a:ext cx="2315" cy="182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lang="en-US" altLang="ja-JP" sz="2000" dirty="0">
                <a:solidFill>
                  <a:schemeClr val="tx1"/>
                </a:solidFill>
                <a:sym typeface="+mn-ea"/>
              </a:rPr>
              <a:t>2) Optimize micro-kernels pipeline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Methods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b="322"/>
          <a:stretch>
            <a:fillRect/>
          </a:stretch>
        </p:blipFill>
        <p:spPr>
          <a:xfrm>
            <a:off x="156210" y="925195"/>
            <a:ext cx="11883390" cy="5420360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5518150" y="1049655"/>
            <a:ext cx="6375400" cy="2804160"/>
          </a:xfrm>
          <a:prstGeom prst="rect">
            <a:avLst/>
          </a:prstGeom>
          <a:solidFill>
            <a:srgbClr val="E3F2D9"/>
          </a:solidFill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p>
            <a:pPr indent="0" algn="ctr">
              <a:lnSpc>
                <a:spcPct val="150000"/>
              </a:lnSpc>
              <a:buNone/>
            </a:pPr>
            <a:r>
              <a:rPr lang="en-US" altLang="ja-JP" sz="2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2)Optimize micro-kernels pipeline</a:t>
            </a:r>
            <a:r>
              <a:rPr lang="en-US" altLang="ja-JP" sz="2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 </a:t>
            </a:r>
            <a:endParaRPr lang="en-US" altLang="ja-JP" sz="2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indent="0" algn="ctr">
              <a:lnSpc>
                <a:spcPct val="150000"/>
              </a:lnSpc>
              <a:buNone/>
            </a:pPr>
            <a:r>
              <a:rPr lang="en-US" altLang="ja-JP" sz="2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with a performance model</a:t>
            </a:r>
            <a:endParaRPr lang="en-US" altLang="ja-JP" sz="2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1647825" y="4526915"/>
            <a:ext cx="3257550" cy="1493520"/>
          </a:xfrm>
          <a:prstGeom prst="rect">
            <a:avLst/>
          </a:prstGeom>
          <a:solidFill>
            <a:srgbClr val="FFF2CA"/>
          </a:solidFill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p>
            <a:pPr indent="0" algn="ctr">
              <a:lnSpc>
                <a:spcPct val="150000"/>
              </a:lnSpc>
              <a:buNone/>
            </a:pPr>
            <a:r>
              <a:rPr lang="en-US" altLang="ja-JP" sz="2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3)Dynamic</a:t>
            </a:r>
            <a:endParaRPr lang="en-US" altLang="ja-JP" sz="2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indent="0" algn="ctr">
              <a:lnSpc>
                <a:spcPct val="150000"/>
              </a:lnSpc>
              <a:buNone/>
            </a:pPr>
            <a:r>
              <a:rPr lang="en-US" altLang="ja-JP" sz="2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micro-tiling </a:t>
            </a:r>
            <a:endParaRPr lang="en-US" altLang="ja-JP" sz="2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5398135" y="4109085"/>
            <a:ext cx="4675505" cy="2144395"/>
          </a:xfrm>
          <a:prstGeom prst="rect">
            <a:avLst/>
          </a:prstGeom>
          <a:solidFill>
            <a:srgbClr val="DAE3F5"/>
          </a:solidFill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p>
            <a:pPr indent="0" algn="ctr">
              <a:lnSpc>
                <a:spcPct val="150000"/>
              </a:lnSpc>
              <a:buNone/>
            </a:pPr>
            <a:r>
              <a:rPr lang="en-US" altLang="ja-JP" sz="2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4)Tune parameters with TVM </a:t>
            </a:r>
            <a:endParaRPr lang="en-US" altLang="ja-JP" sz="2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1657350" lvl="3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sz="1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Register block</a:t>
            </a:r>
            <a:endParaRPr lang="en-US" altLang="ja-JP" sz="1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1657350" lvl="3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sz="1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Cache block </a:t>
            </a:r>
            <a:endParaRPr lang="en-US" altLang="ja-JP" sz="1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1657350" lvl="3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sz="1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Loop order</a:t>
            </a:r>
            <a:endParaRPr lang="en-US" altLang="ja-JP" sz="1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1657350" lvl="3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sz="1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Packing strategy</a:t>
            </a:r>
            <a:endParaRPr lang="en-US" altLang="ja-JP" sz="1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sz="2000">
                <a:solidFill>
                  <a:schemeClr val="tx1"/>
                </a:solidFill>
                <a:sym typeface="+mn-ea"/>
              </a:rPr>
              <a:t>Rotating Register Allocation</a:t>
            </a: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Methods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4509135" y="5100320"/>
            <a:ext cx="706437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>
                <a:sym typeface="+mn-ea"/>
              </a:rPr>
              <a:t>For compute-bound micro-kernels</a:t>
            </a:r>
            <a:r>
              <a:rPr lang="en-US">
                <a:sym typeface="+mn-ea"/>
              </a:rPr>
              <a:t>: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help in overlapping the</a:t>
            </a:r>
            <a:r>
              <a:rPr lang="en-US">
                <a:sym typeface="+mn-ea"/>
              </a:rPr>
              <a:t> </a:t>
            </a:r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FMA</a:t>
            </a:r>
            <a:r>
              <a:rPr>
                <a:sym typeface="+mn-ea"/>
              </a:rPr>
              <a:t> and load instructions of sub-matrices A(m</a:t>
            </a:r>
            <a:r>
              <a:rPr baseline="-25000">
                <a:sym typeface="+mn-ea"/>
              </a:rPr>
              <a:t>r</a:t>
            </a:r>
            <a:r>
              <a:rPr>
                <a:sym typeface="+mn-ea"/>
              </a:rPr>
              <a:t>, k</a:t>
            </a:r>
            <a:r>
              <a:rPr baseline="-25000">
                <a:sym typeface="+mn-ea"/>
              </a:rPr>
              <a:t>c</a:t>
            </a:r>
            <a:r>
              <a:rPr>
                <a:sym typeface="+mn-ea"/>
              </a:rPr>
              <a:t>).</a:t>
            </a:r>
            <a:endParaRPr>
              <a:sym typeface="+mn-ea"/>
            </a:endParaRPr>
          </a:p>
          <a:p>
            <a:endParaRPr>
              <a:sym typeface="+mn-ea"/>
            </a:endParaRPr>
          </a:p>
          <a:p>
            <a:r>
              <a:rPr>
                <a:sym typeface="+mn-ea"/>
              </a:rPr>
              <a:t>For memory-bound micro-kernels</a:t>
            </a:r>
            <a:r>
              <a:rPr lang="en-US">
                <a:sym typeface="+mn-ea"/>
              </a:rPr>
              <a:t>: </a:t>
            </a:r>
            <a:r>
              <a:rPr>
                <a:sym typeface="+mn-ea"/>
              </a:rPr>
              <a:t>allow to overlap </a:t>
            </a:r>
            <a:r>
              <a:rPr>
                <a:sym typeface="+mn-ea"/>
              </a:rPr>
              <a:t>the</a:t>
            </a:r>
            <a:r>
              <a:rPr lang="en-US">
                <a:sym typeface="+mn-ea"/>
              </a:rPr>
              <a:t> </a:t>
            </a:r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FMA and </a:t>
            </a:r>
            <a:r>
              <a:rPr>
                <a:sym typeface="+mn-ea"/>
              </a:rPr>
              <a:t>the load instructions</a:t>
            </a:r>
            <a:r>
              <a:rPr lang="en-US">
                <a:sym typeface="+mn-ea"/>
              </a:rPr>
              <a:t> </a:t>
            </a:r>
            <a:r>
              <a:rPr>
                <a:sym typeface="+mn-ea"/>
              </a:rPr>
              <a:t>of sub-matrices B(k</a:t>
            </a:r>
            <a:r>
              <a:rPr baseline="-25000">
                <a:sym typeface="+mn-ea"/>
              </a:rPr>
              <a:t>c</a:t>
            </a:r>
            <a:r>
              <a:rPr>
                <a:sym typeface="+mn-ea"/>
              </a:rPr>
              <a:t>, n</a:t>
            </a:r>
            <a:r>
              <a:rPr baseline="-25000">
                <a:sym typeface="+mn-ea"/>
              </a:rPr>
              <a:t>r</a:t>
            </a:r>
            <a:r>
              <a:rPr>
                <a:sym typeface="+mn-ea"/>
              </a:rPr>
              <a:t>).</a:t>
            </a:r>
            <a:endParaRPr lang="zh-CN" altLang="en-US"/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400050" y="5132070"/>
            <a:ext cx="3912870" cy="1537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2200">
                <a:sym typeface="+mn-ea"/>
              </a:rPr>
              <a:t>Rotating Register Allocation</a:t>
            </a:r>
            <a:endParaRPr>
              <a:sym typeface="+mn-ea"/>
            </a:endParaRPr>
          </a:p>
          <a:p>
            <a:endParaRPr>
              <a:sym typeface="+mn-ea"/>
            </a:endParaRPr>
          </a:p>
          <a:p>
            <a:r>
              <a:rPr>
                <a:solidFill>
                  <a:srgbClr val="00B0F0"/>
                </a:solidFill>
                <a:sym typeface="+mn-ea"/>
              </a:rPr>
              <a:t>Use hardware</a:t>
            </a:r>
            <a:r>
              <a:rPr lang="en-US">
                <a:solidFill>
                  <a:srgbClr val="00B0F0"/>
                </a:solidFill>
                <a:sym typeface="+mn-ea"/>
              </a:rPr>
              <a:t> </a:t>
            </a:r>
            <a:r>
              <a:rPr>
                <a:solidFill>
                  <a:srgbClr val="00B0F0"/>
                </a:solidFill>
                <a:sym typeface="+mn-ea"/>
              </a:rPr>
              <a:t>redundant registers</a:t>
            </a:r>
            <a:r>
              <a:rPr>
                <a:solidFill>
                  <a:schemeClr val="tx1"/>
                </a:solidFill>
                <a:sym typeface="+mn-ea"/>
              </a:rPr>
              <a:t> to increase the volume of </a:t>
            </a:r>
            <a:r>
              <a:rPr>
                <a:solidFill>
                  <a:schemeClr val="tx1"/>
                </a:solidFill>
                <a:sym typeface="+mn-ea"/>
              </a:rPr>
              <a:t>overlap between FMA and load.</a:t>
            </a:r>
            <a:endParaRPr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400050" y="1271270"/>
            <a:ext cx="11417300" cy="3648710"/>
            <a:chOff x="630" y="2002"/>
            <a:chExt cx="17980" cy="5746"/>
          </a:xfrm>
        </p:grpSpPr>
        <p:pic>
          <p:nvPicPr>
            <p:cNvPr id="15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rcRect l="1159" t="-108549" r="1682"/>
            <a:stretch>
              <a:fillRect/>
            </a:stretch>
          </p:blipFill>
          <p:spPr>
            <a:xfrm>
              <a:off x="6539" y="2002"/>
              <a:ext cx="12071" cy="5733"/>
            </a:xfrm>
            <a:prstGeom prst="rect">
              <a:avLst/>
            </a:prstGeom>
            <a:solidFill>
              <a:schemeClr val="tx1"/>
            </a:solidFill>
          </p:spPr>
        </p:pic>
        <p:pic>
          <p:nvPicPr>
            <p:cNvPr id="8" name="图片 7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rcRect l="-3641" t="-8974" r="-5207"/>
            <a:stretch>
              <a:fillRect/>
            </a:stretch>
          </p:blipFill>
          <p:spPr>
            <a:xfrm>
              <a:off x="630" y="5380"/>
              <a:ext cx="5979" cy="2368"/>
            </a:xfrm>
            <a:prstGeom prst="rect">
              <a:avLst/>
            </a:prstGeom>
            <a:solidFill>
              <a:schemeClr val="tx1"/>
            </a:solidFill>
          </p:spPr>
        </p:pic>
        <p:pic>
          <p:nvPicPr>
            <p:cNvPr id="9" name="图片 8"/>
            <p:cNvPicPr>
              <a:picLocks noChangeAspect="1"/>
            </p:cNvPicPr>
            <p:nvPr>
              <p:custDataLst>
                <p:tags r:id="rId8"/>
              </p:custDataLst>
            </p:nvPr>
          </p:nvPicPr>
          <p:blipFill>
            <a:blip r:embed="rId9"/>
            <a:srcRect t="-3561" r="-4327" b="-4230"/>
            <a:stretch>
              <a:fillRect/>
            </a:stretch>
          </p:blipFill>
          <p:spPr>
            <a:xfrm>
              <a:off x="630" y="2002"/>
              <a:ext cx="5979" cy="3542"/>
            </a:xfrm>
            <a:prstGeom prst="rect">
              <a:avLst/>
            </a:prstGeom>
            <a:solidFill>
              <a:schemeClr val="tx1"/>
            </a:solidFill>
          </p:spPr>
        </p:pic>
        <p:pic>
          <p:nvPicPr>
            <p:cNvPr id="7" name="图片 6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/>
            <a:srcRect l="14038" r="63923" b="18904"/>
            <a:stretch>
              <a:fillRect/>
            </a:stretch>
          </p:blipFill>
          <p:spPr>
            <a:xfrm>
              <a:off x="7718" y="2210"/>
              <a:ext cx="4779" cy="2265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1"/>
            <a:srcRect l="14038" r="63923" b="18904"/>
            <a:stretch>
              <a:fillRect/>
            </a:stretch>
          </p:blipFill>
          <p:spPr>
            <a:xfrm>
              <a:off x="12434" y="2218"/>
              <a:ext cx="4779" cy="2265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1"/>
            <a:srcRect t="81633" r="44332"/>
            <a:stretch>
              <a:fillRect/>
            </a:stretch>
          </p:blipFill>
          <p:spPr>
            <a:xfrm>
              <a:off x="6539" y="4482"/>
              <a:ext cx="12071" cy="513"/>
            </a:xfrm>
            <a:prstGeom prst="rect">
              <a:avLst/>
            </a:prstGeom>
          </p:spPr>
        </p:pic>
        <p:cxnSp>
          <p:nvCxnSpPr>
            <p:cNvPr id="16" name="直接箭头连接符 15"/>
            <p:cNvCxnSpPr/>
            <p:nvPr>
              <p:custDataLst>
                <p:tags r:id="rId14"/>
              </p:custDataLst>
            </p:nvPr>
          </p:nvCxnSpPr>
          <p:spPr>
            <a:xfrm flipH="1">
              <a:off x="9983" y="3407"/>
              <a:ext cx="1943" cy="2328"/>
            </a:xfrm>
            <a:prstGeom prst="straightConnector1">
              <a:avLst/>
            </a:prstGeom>
            <a:ln>
              <a:solidFill>
                <a:srgbClr val="FF33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7" name="直接箭头连接符 16"/>
            <p:cNvCxnSpPr/>
            <p:nvPr>
              <p:custDataLst>
                <p:tags r:id="rId15"/>
              </p:custDataLst>
            </p:nvPr>
          </p:nvCxnSpPr>
          <p:spPr>
            <a:xfrm>
              <a:off x="11898" y="3380"/>
              <a:ext cx="458" cy="2355"/>
            </a:xfrm>
            <a:prstGeom prst="straightConnector1">
              <a:avLst/>
            </a:prstGeom>
            <a:ln>
              <a:solidFill>
                <a:srgbClr val="FF33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/>
            <p:nvPr>
              <p:custDataLst>
                <p:tags r:id="rId16"/>
              </p:custDataLst>
            </p:nvPr>
          </p:nvCxnSpPr>
          <p:spPr>
            <a:xfrm flipH="1">
              <a:off x="14455" y="3421"/>
              <a:ext cx="2168" cy="2287"/>
            </a:xfrm>
            <a:prstGeom prst="straightConnector1">
              <a:avLst/>
            </a:prstGeom>
            <a:ln>
              <a:solidFill>
                <a:srgbClr val="FF33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>
              <p:custDataLst>
                <p:tags r:id="rId17"/>
              </p:custDataLst>
            </p:nvPr>
          </p:nvCxnSpPr>
          <p:spPr>
            <a:xfrm>
              <a:off x="16609" y="3407"/>
              <a:ext cx="207" cy="2372"/>
            </a:xfrm>
            <a:prstGeom prst="straightConnector1">
              <a:avLst/>
            </a:prstGeom>
            <a:ln>
              <a:solidFill>
                <a:srgbClr val="FF33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sz="2000">
                <a:solidFill>
                  <a:schemeClr val="tx1"/>
                </a:solidFill>
                <a:sym typeface="+mn-ea"/>
              </a:rPr>
              <a:t>Fusing the Epilogue with Prologue</a:t>
            </a: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Methods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8229600" y="2236470"/>
            <a:ext cx="37725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ym typeface="+mn-ea"/>
              </a:rPr>
              <a:t>We fuse the epilogue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FMA with the ending store operations and load instructions in</a:t>
            </a:r>
            <a:r>
              <a:rPr lang="en-US" altLang="zh-CN">
                <a:sym typeface="+mn-ea"/>
              </a:rPr>
              <a:t> </a:t>
            </a:r>
            <a:r>
              <a:rPr lang="zh-CN" altLang="en-US">
                <a:sym typeface="+mn-ea"/>
              </a:rPr>
              <a:t>the next loop prologue.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379095" y="1341120"/>
            <a:ext cx="7632700" cy="299021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379095" y="4998085"/>
            <a:ext cx="11426825" cy="127698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noAutofit/>
          </a:bodyPr>
          <a:p>
            <a:r>
              <a:rPr lang="en-US" altLang="zh-CN"/>
              <a:t>T</a:t>
            </a:r>
            <a:r>
              <a:rPr lang="zh-CN" altLang="en-US"/>
              <a:t>he traditional method of manually implementing</a:t>
            </a:r>
            <a:r>
              <a:rPr lang="en-US" altLang="zh-CN"/>
              <a:t> </a:t>
            </a:r>
            <a:r>
              <a:rPr lang="zh-CN" altLang="en-US"/>
              <a:t>the above</a:t>
            </a:r>
            <a:r>
              <a:rPr lang="en-US" altLang="zh-CN"/>
              <a:t> </a:t>
            </a:r>
            <a:r>
              <a:rPr lang="zh-CN" altLang="en-US"/>
              <a:t>optimizations on all chips, </a:t>
            </a:r>
            <a:r>
              <a:rPr>
                <a:sym typeface="+mn-ea"/>
              </a:rPr>
              <a:t>micro-kernel</a:t>
            </a:r>
            <a:r>
              <a:rPr lang="zh-CN" altLang="en-US"/>
              <a:t> sizes</a:t>
            </a:r>
            <a:r>
              <a:rPr lang="en-US" altLang="zh-CN"/>
              <a:t> </a:t>
            </a:r>
            <a:r>
              <a:rPr lang="zh-CN" altLang="en-US"/>
              <a:t>and different numbers of epilogue iterations is</a:t>
            </a:r>
            <a:r>
              <a:rPr lang="en-US" altLang="zh-CN"/>
              <a:t> </a:t>
            </a:r>
            <a:r>
              <a:rPr lang="zh-CN" altLang="en-US"/>
              <a:t>not practical.</a:t>
            </a:r>
            <a:endParaRPr lang="zh-CN" altLang="en-US"/>
          </a:p>
          <a:p>
            <a:endParaRPr lang="zh-CN" altLang="en-US">
              <a:solidFill>
                <a:srgbClr val="FF0000"/>
              </a:solidFill>
            </a:endParaRPr>
          </a:p>
          <a:p>
            <a:pPr algn="ctr"/>
            <a:r>
              <a:rPr lang="en-US" sz="2200">
                <a:solidFill>
                  <a:srgbClr val="00B0F0"/>
                </a:solidFill>
              </a:rPr>
              <a:t>M</a:t>
            </a:r>
            <a:r>
              <a:rPr lang="zh-CN" altLang="en-US" sz="2200">
                <a:solidFill>
                  <a:srgbClr val="00B0F0"/>
                </a:solidFill>
              </a:rPr>
              <a:t>icro-kernel </a:t>
            </a:r>
            <a:r>
              <a:rPr lang="en-US" altLang="zh-CN" sz="2200">
                <a:solidFill>
                  <a:srgbClr val="00B0F0"/>
                </a:solidFill>
              </a:rPr>
              <a:t>G</a:t>
            </a:r>
            <a:r>
              <a:rPr lang="zh-CN" altLang="en-US" sz="2200">
                <a:solidFill>
                  <a:srgbClr val="00B0F0"/>
                </a:solidFill>
                <a:sym typeface="+mn-ea"/>
              </a:rPr>
              <a:t>enerater</a:t>
            </a:r>
            <a:r>
              <a:rPr lang="zh-CN" altLang="en-US" sz="2200">
                <a:solidFill>
                  <a:srgbClr val="00B0F0"/>
                </a:solidFill>
              </a:rPr>
              <a:t> with above optimization is </a:t>
            </a:r>
            <a:r>
              <a:rPr lang="en-US" altLang="zh-CN" sz="2200">
                <a:solidFill>
                  <a:srgbClr val="00B0F0"/>
                </a:solidFill>
              </a:rPr>
              <a:t>the</a:t>
            </a:r>
            <a:r>
              <a:rPr lang="zh-CN" altLang="en-US" sz="2200">
                <a:solidFill>
                  <a:srgbClr val="00B0F0"/>
                </a:solidFill>
              </a:rPr>
              <a:t> practical</a:t>
            </a:r>
            <a:r>
              <a:rPr lang="en-US" altLang="zh-CN" sz="2200">
                <a:solidFill>
                  <a:srgbClr val="00B0F0"/>
                </a:solidFill>
              </a:rPr>
              <a:t> </a:t>
            </a:r>
            <a:r>
              <a:rPr lang="zh-CN" altLang="en-US" sz="2200">
                <a:solidFill>
                  <a:srgbClr val="00B0F0"/>
                </a:solidFill>
              </a:rPr>
              <a:t>solution.</a:t>
            </a:r>
            <a:endParaRPr lang="zh-CN" altLang="en-US" sz="220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lang="en-US" altLang="ja-JP" sz="2000" dirty="0">
                <a:solidFill>
                  <a:schemeClr val="tx1"/>
                </a:solidFill>
                <a:sym typeface="+mn-ea"/>
              </a:rPr>
              <a:t>3) </a:t>
            </a: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D</a:t>
            </a:r>
            <a:r>
              <a:rPr lang="en-US" altLang="ja-JP" sz="2000" dirty="0">
                <a:solidFill>
                  <a:schemeClr val="tx1"/>
                </a:solidFill>
                <a:sym typeface="+mn-ea"/>
              </a:rPr>
              <a:t>ynamic Micro-Tiling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Methods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b="322"/>
          <a:stretch>
            <a:fillRect/>
          </a:stretch>
        </p:blipFill>
        <p:spPr>
          <a:xfrm>
            <a:off x="156210" y="925195"/>
            <a:ext cx="11883390" cy="542036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647825" y="4526915"/>
            <a:ext cx="3257550" cy="1493520"/>
          </a:xfrm>
          <a:prstGeom prst="rect">
            <a:avLst/>
          </a:prstGeom>
          <a:solidFill>
            <a:srgbClr val="FFF2CA"/>
          </a:solidFill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p>
            <a:pPr indent="0" algn="ctr">
              <a:lnSpc>
                <a:spcPct val="150000"/>
              </a:lnSpc>
              <a:buNone/>
            </a:pPr>
            <a:r>
              <a:rPr lang="en-US" altLang="ja-JP" sz="2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3)Dynamic</a:t>
            </a:r>
            <a:endParaRPr lang="en-US" altLang="ja-JP" sz="2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indent="0" algn="ctr">
              <a:lnSpc>
                <a:spcPct val="150000"/>
              </a:lnSpc>
              <a:buNone/>
            </a:pPr>
            <a:r>
              <a:rPr lang="en-US" altLang="ja-JP" sz="2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micro-tiling </a:t>
            </a:r>
            <a:endParaRPr lang="en-US" altLang="ja-JP" sz="2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5398135" y="4109085"/>
            <a:ext cx="4675505" cy="2144395"/>
          </a:xfrm>
          <a:prstGeom prst="rect">
            <a:avLst/>
          </a:prstGeom>
          <a:solidFill>
            <a:srgbClr val="DAE3F5"/>
          </a:solidFill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p>
            <a:pPr indent="0" algn="ctr">
              <a:lnSpc>
                <a:spcPct val="150000"/>
              </a:lnSpc>
              <a:buNone/>
            </a:pPr>
            <a:r>
              <a:rPr lang="en-US" altLang="ja-JP" sz="2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4)Tune parameters with TVM </a:t>
            </a:r>
            <a:endParaRPr lang="en-US" altLang="ja-JP" sz="2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1657350" lvl="3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sz="1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Register block</a:t>
            </a:r>
            <a:endParaRPr lang="en-US" altLang="ja-JP" sz="1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1657350" lvl="3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sz="1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Cache block </a:t>
            </a:r>
            <a:endParaRPr lang="en-US" altLang="ja-JP" sz="1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1657350" lvl="3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sz="1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Loop order</a:t>
            </a:r>
            <a:endParaRPr lang="en-US" altLang="ja-JP" sz="1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1657350" lvl="3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sz="1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Packing strategy</a:t>
            </a:r>
            <a:endParaRPr lang="en-US" altLang="ja-JP" sz="1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D</a:t>
            </a:r>
            <a:r>
              <a:rPr lang="en-US" altLang="ja-JP" sz="2000" dirty="0">
                <a:solidFill>
                  <a:schemeClr val="tx1"/>
                </a:solidFill>
                <a:sym typeface="+mn-ea"/>
              </a:rPr>
              <a:t>ynamic Micro-Tiling</a:t>
            </a: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Methods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13715" y="1412240"/>
            <a:ext cx="10850245" cy="2630170"/>
          </a:xfrm>
          <a:prstGeom prst="rect">
            <a:avLst/>
          </a:prstGeom>
        </p:spPr>
      </p:pic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918210" y="4551045"/>
            <a:ext cx="1044575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OpenBLAS </a:t>
            </a:r>
            <a:r>
              <a:rPr lang="en-US"/>
              <a:t>and </a:t>
            </a:r>
            <a:r>
              <a:rPr lang="en-US" altLang="zh-CN"/>
              <a:t>LIBXSMM use static m</a:t>
            </a:r>
            <a:r>
              <a:rPr lang="en-US" altLang="ja-JP" dirty="0">
                <a:sym typeface="+mn-ea"/>
              </a:rPr>
              <a:t>icro-tiling : padding or tiling edge columns and rows</a:t>
            </a:r>
            <a:endParaRPr lang="en-US" altLang="ja-JP" dirty="0">
              <a:sym typeface="+mn-ea"/>
            </a:endParaRPr>
          </a:p>
          <a:p>
            <a:endParaRPr lang="en-US" altLang="zh-CN"/>
          </a:p>
          <a:p>
            <a:r>
              <a:rPr lang="en-US" altLang="zh-CN"/>
              <a:t>Our Dynamic Micro-Tilling (DMT) show two possible tilings:</a:t>
            </a:r>
            <a:endParaRPr lang="en-US" altLang="zh-CN"/>
          </a:p>
          <a:p>
            <a:r>
              <a:rPr lang="en-US" altLang="zh-CN"/>
              <a:t>For hardware with </a:t>
            </a:r>
            <a:r>
              <a:rPr lang="en-US" altLang="zh-CN">
                <a:solidFill>
                  <a:srgbClr val="00B0F0"/>
                </a:solidFill>
              </a:rPr>
              <a:t>high σ</a:t>
            </a:r>
            <a:r>
              <a:rPr lang="en-US" altLang="zh-CN" baseline="-25000">
                <a:solidFill>
                  <a:srgbClr val="00B0F0"/>
                </a:solidFill>
              </a:rPr>
              <a:t>AI </a:t>
            </a:r>
            <a:r>
              <a:rPr lang="en-US" altLang="zh-CN"/>
              <a:t>(left): DMT generate the fewest low arithmetic intensity tiles.</a:t>
            </a:r>
            <a:endParaRPr lang="en-US" altLang="zh-CN"/>
          </a:p>
          <a:p>
            <a:r>
              <a:rPr lang="en-US" altLang="zh-CN"/>
              <a:t>For hardware with </a:t>
            </a:r>
            <a:r>
              <a:rPr lang="en-US" altLang="zh-CN">
                <a:solidFill>
                  <a:srgbClr val="00B0F0"/>
                </a:solidFill>
              </a:rPr>
              <a:t>low σ</a:t>
            </a:r>
            <a:r>
              <a:rPr lang="en-US" altLang="zh-CN" baseline="-25000">
                <a:solidFill>
                  <a:srgbClr val="00B0F0"/>
                </a:solidFill>
              </a:rPr>
              <a:t>AI</a:t>
            </a:r>
            <a:r>
              <a:rPr lang="en-US" altLang="zh-CN" baseline="-25000">
                <a:solidFill>
                  <a:srgbClr val="00B0F0"/>
                </a:solidFill>
                <a:sym typeface="+mn-ea"/>
              </a:rPr>
              <a:t> </a:t>
            </a:r>
            <a:r>
              <a:rPr lang="en-US" altLang="zh-CN">
                <a:sym typeface="+mn-ea"/>
              </a:rPr>
              <a:t>(right):</a:t>
            </a:r>
            <a:r>
              <a:rPr lang="en-US" altLang="zh-CN"/>
              <a:t> micro-kernels of shapes 4×16 and 3×20 can also achieve close-to-peak performance, </a:t>
            </a:r>
            <a:r>
              <a:rPr lang="en-US" altLang="zh-CN">
                <a:sym typeface="+mn-ea"/>
              </a:rPr>
              <a:t>and is a preferable solution.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D</a:t>
            </a:r>
            <a:r>
              <a:rPr lang="en-US" altLang="ja-JP" sz="2000" dirty="0">
                <a:solidFill>
                  <a:schemeClr val="tx1"/>
                </a:solidFill>
                <a:sym typeface="+mn-ea"/>
              </a:rPr>
              <a:t>ynamic Micro-Tiling</a:t>
            </a: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Methods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68350" y="1019175"/>
            <a:ext cx="4162425" cy="306832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780415" y="4467225"/>
            <a:ext cx="10779125" cy="2030095"/>
          </a:xfrm>
          <a:prstGeom prst="rect">
            <a:avLst/>
          </a:prstGeom>
          <a:noFill/>
          <a:ln>
            <a:solidFill>
              <a:srgbClr val="000000">
                <a:alpha val="0"/>
              </a:srgbClr>
            </a:solidFill>
          </a:ln>
        </p:spPr>
        <p:txBody>
          <a:bodyPr wrap="square" rtlCol="0" anchor="t">
            <a:spAutoFit/>
          </a:bodyPr>
          <a:p>
            <a:r>
              <a:rPr lang="zh-CN" altLang="en-US"/>
              <a:t>For a given sub-matrix shape</a:t>
            </a:r>
            <a:r>
              <a:rPr lang="en-US" altLang="zh-CN"/>
              <a:t>, </a:t>
            </a:r>
            <a:r>
              <a:rPr lang="zh-CN" altLang="en-US"/>
              <a:t>the total </a:t>
            </a:r>
            <a:r>
              <a:rPr lang="zh-CN" altLang="en-US">
                <a:solidFill>
                  <a:srgbClr val="00B0F0"/>
                </a:solidFill>
              </a:rPr>
              <a:t>number of</a:t>
            </a:r>
            <a:r>
              <a:rPr lang="en-US" altLang="zh-CN">
                <a:solidFill>
                  <a:srgbClr val="00B0F0"/>
                </a:solidFill>
              </a:rPr>
              <a:t> </a:t>
            </a:r>
            <a:r>
              <a:rPr lang="zh-CN" altLang="en-US">
                <a:solidFill>
                  <a:srgbClr val="00B0F0"/>
                </a:solidFill>
              </a:rPr>
              <a:t>FMA</a:t>
            </a:r>
            <a:r>
              <a:rPr lang="zh-CN" altLang="en-US"/>
              <a:t> instructions used is</a:t>
            </a:r>
            <a:r>
              <a:rPr lang="en-US" altLang="zh-CN"/>
              <a:t> </a:t>
            </a:r>
            <a:r>
              <a:rPr lang="zh-CN" altLang="en-US">
                <a:solidFill>
                  <a:srgbClr val="00B0F0"/>
                </a:solidFill>
              </a:rPr>
              <a:t>fixed</a:t>
            </a:r>
            <a:r>
              <a:rPr lang="zh-CN" altLang="en-US"/>
              <a:t>. </a:t>
            </a:r>
            <a:endParaRPr lang="zh-CN" altLang="en-US"/>
          </a:p>
          <a:p>
            <a:endParaRPr lang="zh-CN" altLang="en-US"/>
          </a:p>
          <a:p>
            <a:r>
              <a:rPr lang="en-US" altLang="zh-CN">
                <a:sym typeface="+mn-ea"/>
              </a:rPr>
              <a:t>Large and Regular-shaped GEMM: </a:t>
            </a:r>
            <a:r>
              <a:rPr lang="zh-CN" altLang="en-US"/>
              <a:t>If load/store can be fully overlapped with the FMA, the best</a:t>
            </a:r>
            <a:r>
              <a:rPr lang="en-US" altLang="zh-CN"/>
              <a:t> </a:t>
            </a:r>
            <a:r>
              <a:rPr lang="zh-CN" altLang="en-US"/>
              <a:t>performance can be achieved </a:t>
            </a:r>
            <a:r>
              <a:rPr lang="zh-CN" altLang="en-US">
                <a:solidFill>
                  <a:srgbClr val="00B0F0"/>
                </a:solidFill>
              </a:rPr>
              <a:t>regardless of the </a:t>
            </a:r>
            <a:r>
              <a:rPr lang="en-US" altLang="zh-CN">
                <a:solidFill>
                  <a:srgbClr val="00B0F0"/>
                </a:solidFill>
              </a:rPr>
              <a:t>m</a:t>
            </a:r>
            <a:r>
              <a:rPr lang="en-US" altLang="ja-JP" dirty="0">
                <a:solidFill>
                  <a:srgbClr val="00B0F0"/>
                </a:solidFill>
                <a:sym typeface="+mn-ea"/>
              </a:rPr>
              <a:t>icro-tiling</a:t>
            </a:r>
            <a:r>
              <a:rPr lang="en-US" altLang="zh-CN"/>
              <a:t> </a:t>
            </a:r>
            <a:r>
              <a:rPr lang="zh-CN" altLang="en-US"/>
              <a:t>chosen.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Small and I</a:t>
            </a:r>
            <a:r>
              <a:rPr lang="en-US" altLang="zh-CN">
                <a:sym typeface="+mn-ea"/>
              </a:rPr>
              <a:t>r</a:t>
            </a:r>
            <a:r>
              <a:rPr lang="en-US" altLang="zh-CN">
                <a:sym typeface="+mn-ea"/>
              </a:rPr>
              <a:t>regular GEMM: </a:t>
            </a:r>
            <a:r>
              <a:rPr lang="en-US" altLang="zh-CN"/>
              <a:t>the performance of </a:t>
            </a:r>
            <a:r>
              <a:rPr lang="en-US" altLang="zh-CN">
                <a:solidFill>
                  <a:srgbClr val="00B0F0"/>
                </a:solidFill>
              </a:rPr>
              <a:t>edge tiles</a:t>
            </a:r>
            <a:r>
              <a:rPr lang="en-US" altLang="zh-CN"/>
              <a:t> is much lower than the non-edge tiles,</a:t>
            </a:r>
            <a:endParaRPr lang="en-US" altLang="zh-CN"/>
          </a:p>
          <a:p>
            <a:r>
              <a:rPr lang="en-US" altLang="ja-JP" dirty="0">
                <a:sym typeface="+mn-ea"/>
              </a:rPr>
              <a:t>dynamic micro-til</a:t>
            </a:r>
            <a:r>
              <a:rPr lang="en-US" altLang="zh-CN">
                <a:sym typeface="+mn-ea"/>
              </a:rPr>
              <a:t>ing </a:t>
            </a:r>
            <a:r>
              <a:rPr lang="en-US" altLang="zh-CN">
                <a:sym typeface="+mn-ea"/>
              </a:rPr>
              <a:t>as an essential solution</a:t>
            </a:r>
            <a:r>
              <a:rPr lang="en-US" altLang="zh-CN">
                <a:sym typeface="+mn-ea"/>
              </a:rPr>
              <a:t>.</a:t>
            </a:r>
            <a:endParaRPr lang="en-US" altLang="ja-JP" dirty="0"/>
          </a:p>
        </p:txBody>
      </p:sp>
      <p:sp>
        <p:nvSpPr>
          <p:cNvPr id="2" name="文本框 1"/>
          <p:cNvSpPr txBox="1"/>
          <p:nvPr/>
        </p:nvSpPr>
        <p:spPr>
          <a:xfrm>
            <a:off x="5341620" y="1643380"/>
            <a:ext cx="653669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For general case, DMT use dynamic programming algorithm to find the optimal solution.</a:t>
            </a:r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  <a:p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  <a:p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Three steps:</a:t>
            </a:r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divide sub-matrix into 4 parts using three parameters</a:t>
            </a:r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for each divided part, traverse all micro-kernel shapes</a:t>
            </a:r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altLang="zh-CN" dirty="0">
                <a:effectLst/>
                <a:latin typeface="微软雅黑" charset="-122"/>
                <a:ea typeface="微软雅黑" charset="-122"/>
                <a:cs typeface="宋体" pitchFamily="2" charset="-122"/>
                <a:sym typeface="+mn-ea"/>
              </a:rPr>
              <a:t>accumulate four parts, and record the minimum</a:t>
            </a:r>
            <a:endParaRPr lang="en-US" altLang="zh-CN" dirty="0">
              <a:effectLst/>
              <a:latin typeface="微软雅黑" charset="-122"/>
              <a:ea typeface="微软雅黑" charset="-122"/>
              <a:cs typeface="宋体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lang="en-US" altLang="ja-JP" sz="2000" dirty="0">
                <a:solidFill>
                  <a:schemeClr val="tx1"/>
                </a:solidFill>
                <a:sym typeface="+mn-ea"/>
              </a:rPr>
              <a:t>4) T</a:t>
            </a:r>
            <a:r>
              <a:rPr lang="en-US" altLang="ja-JP" sz="2000">
                <a:solidFill>
                  <a:schemeClr val="tx1"/>
                </a:solidFill>
                <a:sym typeface="+mn-ea"/>
              </a:rPr>
              <a:t>uning with TVM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Methods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b="322"/>
          <a:stretch>
            <a:fillRect/>
          </a:stretch>
        </p:blipFill>
        <p:spPr>
          <a:xfrm>
            <a:off x="156210" y="925195"/>
            <a:ext cx="11883390" cy="542036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5398135" y="4109085"/>
            <a:ext cx="4675505" cy="2144395"/>
          </a:xfrm>
          <a:prstGeom prst="rect">
            <a:avLst/>
          </a:prstGeom>
          <a:solidFill>
            <a:srgbClr val="DAE3F5"/>
          </a:solidFill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p>
            <a:pPr indent="0" algn="ctr">
              <a:lnSpc>
                <a:spcPct val="150000"/>
              </a:lnSpc>
              <a:buNone/>
            </a:pPr>
            <a:r>
              <a:rPr lang="en-US" altLang="ja-JP" sz="2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4)Tune parameters with TVM </a:t>
            </a:r>
            <a:endParaRPr lang="en-US" altLang="ja-JP" sz="2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1657350" lvl="3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sz="1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Register block</a:t>
            </a:r>
            <a:endParaRPr lang="en-US" altLang="ja-JP" sz="1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1657350" lvl="3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sz="1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Cache block </a:t>
            </a:r>
            <a:endParaRPr lang="en-US" altLang="ja-JP" sz="1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1657350" lvl="3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sz="1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Loop order</a:t>
            </a:r>
            <a:endParaRPr lang="en-US" altLang="ja-JP" sz="1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1657350" lvl="3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sz="1400" dirty="0">
                <a:solidFill>
                  <a:schemeClr val="bg1"/>
                </a:solidFill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Packing strategy</a:t>
            </a:r>
            <a:endParaRPr lang="en-US" altLang="ja-JP" sz="1400" dirty="0">
              <a:solidFill>
                <a:schemeClr val="bg1"/>
              </a:solidFill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lang="en-US" altLang="ja-JP" sz="2000" dirty="0">
                <a:solidFill>
                  <a:schemeClr val="tx1"/>
                </a:solidFill>
                <a:sym typeface="+mn-ea"/>
              </a:rPr>
              <a:t>T</a:t>
            </a:r>
            <a:r>
              <a:rPr lang="en-US" altLang="ja-JP" sz="2000">
                <a:solidFill>
                  <a:schemeClr val="tx1"/>
                </a:solidFill>
                <a:sym typeface="+mn-ea"/>
              </a:rPr>
              <a:t>uning with TVM</a:t>
            </a: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Methods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450215" y="5227320"/>
            <a:ext cx="11189970" cy="92202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r>
              <a:rPr lang="zh-CN" altLang="en-US"/>
              <a:t>The generated kernel</a:t>
            </a:r>
            <a:r>
              <a:rPr lang="en-US" altLang="zh-CN"/>
              <a:t> </a:t>
            </a:r>
            <a:r>
              <a:rPr lang="zh-CN" altLang="en-US"/>
              <a:t>appears as an external library to TVM.</a:t>
            </a:r>
            <a:endParaRPr lang="zh-CN" altLang="en-US"/>
          </a:p>
          <a:p>
            <a:endParaRPr lang="zh-CN" altLang="en-US"/>
          </a:p>
          <a:p>
            <a:r>
              <a:rPr lang="en-US" altLang="zh-CN">
                <a:sym typeface="+mn-ea"/>
              </a:rPr>
              <a:t>Ahead-of-time</a:t>
            </a:r>
            <a:r>
              <a:rPr lang="en-US" altLang="zh-CN"/>
              <a:t> tuning + code generation + </a:t>
            </a:r>
            <a:r>
              <a:rPr lang="en-US" altLang="ja-JP" dirty="0">
                <a:latin typeface="Verdana" panose="020B0604030504040204" pitchFamily="34" charset="0"/>
                <a:ea typeface="メイリオ" panose="020B0604030504040204" pitchFamily="50" charset="-128"/>
                <a:cs typeface="+mj-cs"/>
                <a:sym typeface="+mn-ea"/>
              </a:rPr>
              <a:t>assembly = </a:t>
            </a:r>
            <a:r>
              <a:rPr lang="en-US" altLang="ja-JP" dirty="0">
                <a:solidFill>
                  <a:srgbClr val="00B0F0"/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  <a:sym typeface="+mn-ea"/>
              </a:rPr>
              <a:t>Tuning </a:t>
            </a:r>
            <a:r>
              <a:rPr lang="en-US" altLang="zh-CN">
                <a:solidFill>
                  <a:srgbClr val="00B0F0"/>
                </a:solidFill>
              </a:rPr>
              <a:t>parameters directly into the assembly</a:t>
            </a:r>
            <a:r>
              <a:rPr lang="en-US" altLang="zh-CN"/>
              <a:t>.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23240" y="1337310"/>
            <a:ext cx="7566025" cy="349313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8558530" y="1667510"/>
            <a:ext cx="3320415" cy="27654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indent="0" algn="l">
              <a:lnSpc>
                <a:spcPct val="150000"/>
              </a:lnSpc>
              <a:buFont typeface="Arial" panose="020B0704020202020204" pitchFamily="34" charset="0"/>
              <a:buNone/>
            </a:pPr>
            <a:r>
              <a:rPr lang="en-US" altLang="ja-JP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Common optimization as Parameters Space:</a:t>
            </a:r>
            <a:endParaRPr lang="en-US" altLang="ja-JP" dirty="0"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Register block</a:t>
            </a:r>
            <a:endParaRPr lang="en-US" altLang="ja-JP" dirty="0"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Cache block </a:t>
            </a:r>
            <a:endParaRPr lang="en-US" altLang="ja-JP" dirty="0"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Loop order</a:t>
            </a:r>
            <a:endParaRPr lang="en-US" altLang="ja-JP" dirty="0"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  <a:p>
            <a:pPr marL="285750" lvl="0" indent="-285750" algn="l">
              <a:lnSpc>
                <a:spcPct val="150000"/>
              </a:lnSpc>
              <a:buFont typeface="Arial" panose="020B0704020202020204" pitchFamily="34" charset="0"/>
              <a:buChar char="•"/>
            </a:pPr>
            <a:r>
              <a:rPr lang="en-US" altLang="ja-JP" dirty="0">
                <a:latin typeface="Verdana" panose="020B0604030504040204" pitchFamily="34" charset="0"/>
                <a:ea typeface="メイリオ" panose="020B0604030504040204" pitchFamily="50" charset="-128"/>
                <a:sym typeface="+mn-ea"/>
              </a:rPr>
              <a:t>Packing strategy</a:t>
            </a:r>
            <a:endParaRPr lang="en-US" altLang="ja-JP" dirty="0">
              <a:latin typeface="Verdana" panose="020B0604030504040204" pitchFamily="34" charset="0"/>
              <a:ea typeface="メイリオ" panose="020B0604030504040204" pitchFamily="50" charset="-128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3014980" y="116840"/>
            <a:ext cx="886396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/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</a:rPr>
              <a:t>Content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</a:endParaRPr>
          </a:p>
        </p:txBody>
      </p:sp>
      <p:sp>
        <p:nvSpPr>
          <p:cNvPr id="17" name="コンテンツ プレースホルダー 2"/>
          <p:cNvSpPr>
            <a:spLocks noGrp="1"/>
          </p:cNvSpPr>
          <p:nvPr>
            <p:ph idx="4294967295"/>
            <p:custDataLst>
              <p:tags r:id="rId2"/>
            </p:custDataLst>
          </p:nvPr>
        </p:nvSpPr>
        <p:spPr>
          <a:xfrm>
            <a:off x="3014345" y="1666875"/>
            <a:ext cx="7080885" cy="3887470"/>
          </a:xfrm>
        </p:spPr>
        <p:txBody>
          <a:bodyPr>
            <a:noAutofit/>
          </a:bodyPr>
          <a:p>
            <a:r>
              <a:rPr lang="en-US" altLang="ja-JP" sz="3600" dirty="0" err="1">
                <a:ln w="12700">
                  <a:noFill/>
                  <a:prstDash val="solid"/>
                </a:ln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Background &amp; Challenges </a:t>
            </a:r>
            <a:endParaRPr lang="en-US" altLang="ja-JP" sz="3600" dirty="0" err="1">
              <a:ln w="12700">
                <a:noFill/>
                <a:prstDash val="solid"/>
              </a:ln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  <a:p>
            <a:r>
              <a:rPr lang="en-US" altLang="ja-JP" sz="3600" dirty="0" err="1">
                <a:ln w="12700">
                  <a:noFill/>
                  <a:prstDash val="solid"/>
                </a:ln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Motivation</a:t>
            </a:r>
            <a:endParaRPr lang="en-US" altLang="ja-JP" sz="3600" dirty="0" err="1">
              <a:ln w="12700">
                <a:noFill/>
                <a:prstDash val="solid"/>
              </a:ln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  <a:p>
            <a:r>
              <a:rPr lang="en-US" altLang="ja-JP" sz="3600" dirty="0" err="1">
                <a:ln w="12700">
                  <a:noFill/>
                  <a:prstDash val="solid"/>
                </a:ln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Related Works</a:t>
            </a:r>
            <a:endParaRPr lang="en-US" altLang="ja-JP" sz="3600" dirty="0" err="1">
              <a:ln w="12700">
                <a:noFill/>
                <a:prstDash val="solid"/>
              </a:ln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  <a:p>
            <a:r>
              <a:rPr lang="en-US" altLang="ja-JP" sz="3600" dirty="0" err="1">
                <a:ln w="12700">
                  <a:noFill/>
                  <a:prstDash val="solid"/>
                </a:ln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Methods</a:t>
            </a:r>
            <a:endParaRPr lang="en-US" altLang="ja-JP" sz="3600" dirty="0" err="1">
              <a:ln w="12700">
                <a:noFill/>
                <a:prstDash val="solid"/>
              </a:ln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  <a:p>
            <a:r>
              <a:rPr lang="en-US" altLang="ja-JP" sz="3600" dirty="0" err="1">
                <a:ln w="12700">
                  <a:noFill/>
                  <a:prstDash val="solid"/>
                </a:ln>
                <a:solidFill>
                  <a:srgbClr val="00B0F0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Performance Analysis</a:t>
            </a:r>
            <a:endParaRPr lang="en-US" altLang="ja-JP" sz="3600" dirty="0" err="1">
              <a:ln w="12700">
                <a:noFill/>
                <a:prstDash val="solid"/>
              </a:ln>
              <a:latin typeface="Verdana" panose="020B0604030504040204"/>
              <a:ea typeface="メイリオ"/>
              <a:cs typeface="Verdana" panose="020B060403050404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Hardware configuration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Performance Analysis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34975" y="1104265"/>
          <a:ext cx="11341100" cy="44742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4355"/>
                <a:gridCol w="763270"/>
                <a:gridCol w="1682750"/>
                <a:gridCol w="1793240"/>
                <a:gridCol w="1968500"/>
                <a:gridCol w="1751965"/>
                <a:gridCol w="1557020"/>
              </a:tblGrid>
              <a:tr h="73596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微软雅黑" charset="-122"/>
                          <a:ea typeface="微软雅黑" charset="-122"/>
                        </a:rPr>
                        <a:t>CPU Name</a:t>
                      </a:r>
                      <a:endParaRPr lang="en-US" sz="1400" b="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微软雅黑" charset="-122"/>
                          <a:ea typeface="微软雅黑" charset="-122"/>
                        </a:rPr>
                        <a:t>Cores</a:t>
                      </a:r>
                      <a:endParaRPr lang="en-US" sz="1400" b="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微软雅黑" charset="-122"/>
                          <a:ea typeface="微软雅黑" charset="-122"/>
                        </a:rPr>
                        <a:t>#CPUs (GHz)</a:t>
                      </a:r>
                      <a:endParaRPr lang="en-US" sz="1400" b="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L1 Cache (Bytes)</a:t>
                      </a:r>
                      <a:endParaRPr lang="en-US" altLang="zh-CN" sz="1400" b="0" i="0" u="none" strike="noStrike" kern="1200" dirty="0">
                        <a:solidFill>
                          <a:schemeClr val="lt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L2 Cache (Bytes)</a:t>
                      </a:r>
                      <a:endParaRPr lang="en-US" altLang="zh-CN" sz="1400" b="0" i="0" u="none" strike="noStrike" kern="1200" dirty="0">
                        <a:solidFill>
                          <a:schemeClr val="lt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lt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L3 Cache (Bytes)</a:t>
                      </a:r>
                      <a:endParaRPr lang="en-US" altLang="zh-CN" sz="1400" b="0" i="0" u="none" strike="noStrike" kern="1200" dirty="0">
                        <a:solidFill>
                          <a:schemeClr val="lt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微软雅黑" charset="-122"/>
                          <a:ea typeface="微软雅黑" charset="-122"/>
                        </a:rPr>
                        <a:t>Type</a:t>
                      </a:r>
                      <a:endParaRPr lang="en-US" sz="1400" b="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74803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Huawei KP</a:t>
                      </a:r>
                      <a:r>
                        <a:rPr lang="zh-CN" altLang="en-US" sz="1400" b="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920</a:t>
                      </a:r>
                      <a:endParaRPr lang="zh-CN" altLang="en-US" sz="1400" b="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8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 8@2.60</a:t>
                      </a:r>
                      <a:endParaRPr lang="zh-CN" altLang="en-US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8@64K</a:t>
                      </a:r>
                      <a:endParaRPr lang="zh-CN" altLang="en-US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zh-CN" altLang="en-US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 8@512K</a:t>
                      </a:r>
                      <a:endParaRPr lang="zh-CN" altLang="en-US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32M-share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SoC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748030">
                <a:tc>
                  <a:txBody>
                    <a:bodyPr/>
                    <a:p>
                      <a:pPr marL="0" algn="ctr" defTabSz="914400" rtl="0" eaLnBrk="1" latinLnBrk="0" hangingPunct="1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kern="1200" dirty="0">
                          <a:solidFill>
                            <a:schemeClr val="lt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AWS Graviton2</a:t>
                      </a:r>
                      <a:endParaRPr lang="en-US" altLang="zh-CN" sz="1400" b="0" kern="1200" dirty="0">
                        <a:solidFill>
                          <a:schemeClr val="lt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16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16@2.50</a:t>
                      </a:r>
                      <a:endParaRPr lang="en-US" altLang="zh-CN" sz="1400" b="0" i="0" u="none" strike="noStrike" kern="1200" dirty="0">
                        <a:solidFill>
                          <a:schemeClr val="dk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16@64K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16@1M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32M-share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server</a:t>
                      </a:r>
                      <a:endParaRPr lang="en-US" altLang="zh-CN" sz="1400" b="0" i="0" u="none" strike="noStrike" kern="1200" dirty="0">
                        <a:solidFill>
                          <a:schemeClr val="dk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</a:tr>
              <a:tr h="746125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b="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Ampere Altra</a:t>
                      </a:r>
                      <a:endParaRPr lang="en-US" altLang="zh-CN" sz="1400" b="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70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70@3.00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  <a:sym typeface="+mn-ea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7</a:t>
                      </a:r>
                      <a:r>
                        <a:rPr lang="zh-CN" altLang="en-US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0@64K</a:t>
                      </a:r>
                      <a:endParaRPr lang="zh-CN" altLang="en-US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7</a:t>
                      </a:r>
                      <a:r>
                        <a:rPr lang="zh-CN" altLang="en-US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0@1M</a:t>
                      </a:r>
                      <a:endParaRPr lang="zh-CN" altLang="en-US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32M-</a:t>
                      </a: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share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sym typeface="+mn-ea"/>
                        </a:rPr>
                        <a:t>server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</a:tr>
              <a:tr h="74803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微软雅黑" charset="-122"/>
                          <a:ea typeface="微软雅黑" charset="-122"/>
                        </a:rPr>
                        <a:t>Apple</a:t>
                      </a:r>
                      <a:r>
                        <a:rPr lang="zh-CN" altLang="en-US" sz="1400" b="0" dirty="0">
                          <a:effectLst/>
                          <a:latin typeface="微软雅黑" charset="-122"/>
                          <a:ea typeface="微软雅黑" charset="-122"/>
                        </a:rPr>
                        <a:t> </a:t>
                      </a:r>
                      <a:r>
                        <a:rPr lang="en-US" altLang="zh-CN" sz="1400" b="0" dirty="0">
                          <a:effectLst/>
                          <a:latin typeface="微软雅黑" charset="-122"/>
                          <a:ea typeface="微软雅黑" charset="-122"/>
                        </a:rPr>
                        <a:t>M2</a:t>
                      </a:r>
                      <a:endParaRPr lang="zh-CN" sz="1400" b="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微软雅黑" charset="-122"/>
                          <a:ea typeface="微软雅黑" charset="-122"/>
                        </a:rPr>
                        <a:t>4(+ 4)</a:t>
                      </a:r>
                      <a:endParaRPr lang="en-US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4@3.49</a:t>
                      </a:r>
                      <a:endParaRPr lang="en-US" altLang="zh-CN" sz="1400" b="0" i="0" u="none" strike="noStrike" kern="1200" dirty="0">
                        <a:solidFill>
                          <a:schemeClr val="dk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4@1</a:t>
                      </a: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92</a:t>
                      </a:r>
                      <a:r>
                        <a:rPr 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K</a:t>
                      </a:r>
                      <a:endParaRPr 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16M-share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none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Consumer PC</a:t>
                      </a:r>
                      <a:endParaRPr lang="en-US" altLang="zh-CN" sz="1400" b="0" i="0" u="none" strike="noStrike" kern="1200" dirty="0">
                        <a:solidFill>
                          <a:schemeClr val="dk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</a:tr>
              <a:tr h="748030"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微软雅黑" charset="-122"/>
                          <a:ea typeface="微软雅黑" charset="-122"/>
                        </a:rPr>
                        <a:t>Fujitsu</a:t>
                      </a:r>
                      <a:r>
                        <a:rPr lang="zh-CN" altLang="en-US" sz="1400" b="0" dirty="0">
                          <a:effectLst/>
                          <a:latin typeface="微软雅黑" charset="-122"/>
                          <a:ea typeface="微软雅黑" charset="-122"/>
                        </a:rPr>
                        <a:t> </a:t>
                      </a:r>
                      <a:r>
                        <a:rPr lang="en-US" altLang="zh-CN" sz="1400" b="0" dirty="0">
                          <a:effectLst/>
                          <a:latin typeface="微软雅黑" charset="-122"/>
                          <a:ea typeface="微软雅黑" charset="-122"/>
                        </a:rPr>
                        <a:t>A64FX</a:t>
                      </a:r>
                      <a:endParaRPr lang="en-US" altLang="zh-CN" sz="1400" b="0" dirty="0">
                        <a:effectLst/>
                        <a:latin typeface="微软雅黑" charset="-122"/>
                        <a:ea typeface="微软雅黑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微软雅黑" charset="-122"/>
                          <a:ea typeface="微软雅黑" charset="-122"/>
                        </a:rPr>
                        <a:t>48(+2)</a:t>
                      </a:r>
                      <a:endParaRPr lang="en-US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48@2.20</a:t>
                      </a:r>
                      <a:endParaRPr lang="en-US" altLang="zh-CN" sz="1400" b="0" i="0" u="none" strike="noStrike" kern="1200" dirty="0">
                        <a:solidFill>
                          <a:schemeClr val="dk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48@64K</a:t>
                      </a:r>
                      <a:endParaRPr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4@8M-share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dirty="0">
                          <a:effectLst/>
                          <a:latin typeface="微软雅黑" charset="-122"/>
                          <a:ea typeface="微软雅黑" charset="-122"/>
                          <a:cs typeface="宋体" pitchFamily="2" charset="-122"/>
                        </a:rPr>
                        <a:t>none</a:t>
                      </a:r>
                      <a:endParaRPr lang="en-US" altLang="zh-CN" sz="1400" dirty="0">
                        <a:effectLst/>
                        <a:latin typeface="微软雅黑" charset="-122"/>
                        <a:ea typeface="微软雅黑" charset="-122"/>
                        <a:cs typeface="宋体" pitchFamily="2" charset="-122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400" b="0" i="0" u="none" strike="noStrike" kern="1200" dirty="0">
                          <a:solidFill>
                            <a:schemeClr val="dk1"/>
                          </a:solidFill>
                          <a:effectLst/>
                          <a:latin typeface="微软雅黑" charset="-122"/>
                          <a:ea typeface="微软雅黑" charset="-122"/>
                          <a:cs typeface="+mn-cs"/>
                        </a:rPr>
                        <a:t>Supercomputer</a:t>
                      </a:r>
                      <a:endParaRPr lang="en-US" altLang="zh-CN" sz="1400" b="0" i="0" u="none" strike="noStrike" kern="1200" dirty="0">
                        <a:solidFill>
                          <a:schemeClr val="dk1"/>
                        </a:solidFill>
                        <a:effectLst/>
                        <a:latin typeface="微软雅黑" charset="-122"/>
                        <a:ea typeface="微软雅黑" charset="-122"/>
                        <a:cs typeface="+mn-cs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Small GEMM performance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Performance Analysis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5401" t="-1247" r="35828" b="86827"/>
          <a:stretch>
            <a:fillRect/>
          </a:stretch>
        </p:blipFill>
        <p:spPr>
          <a:xfrm>
            <a:off x="365125" y="1000760"/>
            <a:ext cx="11241405" cy="46037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8362315" y="3984625"/>
            <a:ext cx="3463290" cy="25469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wrap="square" rtlCol="0" anchor="t">
            <a:noAutofit/>
          </a:bodyPr>
          <a:p>
            <a:pPr algn="l"/>
            <a:r>
              <a:rPr>
                <a:sym typeface="+mn-ea"/>
              </a:rPr>
              <a:t>When M=N=K=64, autoGEMM reaches </a:t>
            </a:r>
            <a:r>
              <a:rPr>
                <a:solidFill>
                  <a:srgbClr val="00B0F0"/>
                </a:solidFill>
                <a:sym typeface="+mn-ea"/>
              </a:rPr>
              <a:t>97.6%</a:t>
            </a:r>
            <a:r>
              <a:rPr>
                <a:sym typeface="+mn-ea"/>
              </a:rPr>
              <a:t>, </a:t>
            </a:r>
            <a:r>
              <a:rPr>
                <a:solidFill>
                  <a:srgbClr val="00B0F0"/>
                </a:solidFill>
                <a:sym typeface="+mn-ea"/>
              </a:rPr>
              <a:t>98.3%</a:t>
            </a:r>
            <a:r>
              <a:rPr>
                <a:sym typeface="+mn-ea"/>
              </a:rPr>
              <a:t>, </a:t>
            </a:r>
            <a:r>
              <a:rPr>
                <a:solidFill>
                  <a:srgbClr val="00B0F0"/>
                </a:solidFill>
                <a:sym typeface="+mn-ea"/>
              </a:rPr>
              <a:t>98.4%</a:t>
            </a:r>
            <a:r>
              <a:rPr>
                <a:sym typeface="+mn-ea"/>
              </a:rPr>
              <a:t>,</a:t>
            </a:r>
            <a:r>
              <a:rPr lang="en-US">
                <a:sym typeface="+mn-ea"/>
              </a:rPr>
              <a:t> </a:t>
            </a:r>
            <a:r>
              <a:rPr>
                <a:solidFill>
                  <a:srgbClr val="00B0F0"/>
                </a:solidFill>
                <a:sym typeface="+mn-ea"/>
              </a:rPr>
              <a:t>96.5%</a:t>
            </a:r>
            <a:r>
              <a:rPr lang="en-US">
                <a:solidFill>
                  <a:schemeClr val="tx1"/>
                </a:solidFill>
                <a:sym typeface="+mn-ea"/>
              </a:rPr>
              <a:t>, and</a:t>
            </a:r>
            <a:r>
              <a:rPr>
                <a:solidFill>
                  <a:schemeClr val="tx1"/>
                </a:solidFill>
                <a:sym typeface="+mn-ea"/>
              </a:rPr>
              <a:t> </a:t>
            </a:r>
            <a:r>
              <a:rPr lang="en-US">
                <a:solidFill>
                  <a:srgbClr val="00B0F0"/>
                </a:solidFill>
                <a:sym typeface="+mn-ea"/>
              </a:rPr>
              <a:t>93.2%</a:t>
            </a:r>
            <a:r>
              <a:rPr lang="en-US">
                <a:solidFill>
                  <a:srgbClr val="FF0000"/>
                </a:solidFill>
                <a:sym typeface="+mn-ea"/>
              </a:rPr>
              <a:t> </a:t>
            </a:r>
            <a:r>
              <a:rPr>
                <a:sym typeface="+mn-ea"/>
              </a:rPr>
              <a:t>of the theoretical peak </a:t>
            </a:r>
            <a:r>
              <a:rPr lang="en-US">
                <a:sym typeface="+mn-ea"/>
              </a:rPr>
              <a:t>efficiency </a:t>
            </a:r>
            <a:r>
              <a:rPr>
                <a:sym typeface="+mn-ea"/>
              </a:rPr>
              <a:t>on </a:t>
            </a:r>
            <a:r>
              <a:rPr lang="en-US">
                <a:sym typeface="+mn-ea"/>
              </a:rPr>
              <a:t>five</a:t>
            </a:r>
            <a:r>
              <a:rPr>
                <a:sym typeface="+mn-ea"/>
              </a:rPr>
              <a:t> hardware</a:t>
            </a:r>
            <a:r>
              <a:rPr lang="en-US">
                <a:sym typeface="+mn-ea"/>
              </a:rPr>
              <a:t>.</a:t>
            </a:r>
            <a:endParaRPr lang="en-US">
              <a:sym typeface="+mn-ea"/>
            </a:endParaRPr>
          </a:p>
          <a:p>
            <a:pPr algn="l"/>
            <a:endParaRPr lang="en-US">
              <a:sym typeface="+mn-ea"/>
            </a:endParaRPr>
          </a:p>
          <a:p>
            <a:pPr algn="l"/>
            <a:r>
              <a:rPr lang="en-US">
                <a:sym typeface="+mn-ea"/>
              </a:rPr>
              <a:t>A</a:t>
            </a:r>
            <a:r>
              <a:rPr>
                <a:sym typeface="+mn-ea"/>
              </a:rPr>
              <a:t>t least </a:t>
            </a:r>
            <a:r>
              <a:rPr>
                <a:solidFill>
                  <a:srgbClr val="00B0F0"/>
                </a:solidFill>
                <a:sym typeface="+mn-ea"/>
              </a:rPr>
              <a:t>5%</a:t>
            </a:r>
            <a:r>
              <a:rPr>
                <a:sym typeface="+mn-ea"/>
              </a:rPr>
              <a:t> performance advantage over the second-ranked library</a:t>
            </a:r>
            <a:r>
              <a:rPr lang="en-US">
                <a:sym typeface="+mn-ea"/>
              </a:rPr>
              <a:t>.</a:t>
            </a:r>
            <a:endParaRPr lang="en-US">
              <a:sym typeface="+mn-ea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8396" b="-1880"/>
          <a:stretch>
            <a:fillRect/>
          </a:stretch>
        </p:blipFill>
        <p:spPr>
          <a:xfrm>
            <a:off x="365125" y="1447165"/>
            <a:ext cx="7877175" cy="5083810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"/>
          <a:srcRect l="80990" t="10973" b="9133"/>
          <a:stretch>
            <a:fillRect/>
          </a:stretch>
        </p:blipFill>
        <p:spPr>
          <a:xfrm>
            <a:off x="8143240" y="1447165"/>
            <a:ext cx="3463290" cy="24320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8362315" y="3954145"/>
            <a:ext cx="3600450" cy="2338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7E6E6"/>
                </a:solidFill>
              </a14:hiddenFill>
            </a:ext>
          </a:extLst>
        </p:spPr>
        <p:txBody>
          <a:bodyPr wrap="square" rtlCol="0" anchor="t">
            <a:noAutofit/>
          </a:bodyPr>
          <a:p>
            <a:pPr algn="l"/>
            <a:r>
              <a:rPr lang="en-US">
                <a:sym typeface="+mn-ea"/>
              </a:rPr>
              <a:t>a</a:t>
            </a:r>
            <a:r>
              <a:rPr>
                <a:sym typeface="+mn-ea"/>
              </a:rPr>
              <a:t>utoGEMM </a:t>
            </a:r>
            <a:r>
              <a:rPr>
                <a:solidFill>
                  <a:srgbClr val="00B0F0"/>
                </a:solidFill>
                <a:sym typeface="+mn-ea"/>
              </a:rPr>
              <a:t>single-core</a:t>
            </a:r>
            <a:r>
              <a:rPr>
                <a:sym typeface="+mn-ea"/>
              </a:rPr>
              <a:t> performance on </a:t>
            </a:r>
            <a:r>
              <a:rPr lang="en-US">
                <a:sym typeface="+mn-ea"/>
              </a:rPr>
              <a:t>five </a:t>
            </a:r>
            <a:r>
              <a:rPr>
                <a:sym typeface="+mn-ea"/>
              </a:rPr>
              <a:t>hardware</a:t>
            </a:r>
            <a:endParaRPr>
              <a:sym typeface="+mn-ea"/>
            </a:endParaRPr>
          </a:p>
          <a:p>
            <a:pPr algn="l"/>
            <a:r>
              <a:rPr lang="en-US">
                <a:sym typeface="+mn-ea"/>
              </a:rPr>
              <a:t>- </a:t>
            </a:r>
            <a:r>
              <a:rPr>
                <a:sym typeface="+mn-ea"/>
              </a:rPr>
              <a:t>Average performance improved by </a:t>
            </a:r>
            <a:r>
              <a:rPr>
                <a:solidFill>
                  <a:srgbClr val="00B0F0"/>
                </a:solidFill>
                <a:sym typeface="+mn-ea"/>
              </a:rPr>
              <a:t>1.3x</a:t>
            </a:r>
            <a:r>
              <a:rPr>
                <a:sym typeface="+mn-ea"/>
              </a:rPr>
              <a:t> (up to 1.9x) compared to OpenBLAS</a:t>
            </a:r>
            <a:r>
              <a:rPr lang="en-US">
                <a:sym typeface="+mn-ea"/>
              </a:rPr>
              <a:t>.</a:t>
            </a:r>
            <a:endParaRPr>
              <a:sym typeface="+mn-ea"/>
            </a:endParaRPr>
          </a:p>
          <a:p>
            <a:pPr algn="l"/>
            <a:r>
              <a:rPr lang="en-US">
                <a:sym typeface="+mn-ea"/>
              </a:rPr>
              <a:t>- </a:t>
            </a:r>
            <a:r>
              <a:rPr>
                <a:sym typeface="+mn-ea"/>
              </a:rPr>
              <a:t>Average performance improved by </a:t>
            </a:r>
            <a:r>
              <a:rPr>
                <a:solidFill>
                  <a:srgbClr val="00B0F0"/>
                </a:solidFill>
                <a:sym typeface="+mn-ea"/>
              </a:rPr>
              <a:t>1.5x</a:t>
            </a:r>
            <a:r>
              <a:rPr>
                <a:sym typeface="+mn-ea"/>
              </a:rPr>
              <a:t> (up to 2.0x) compared to Eigen</a:t>
            </a:r>
            <a:r>
              <a:rPr lang="en-US">
                <a:sym typeface="+mn-ea"/>
              </a:rPr>
              <a:t>.</a:t>
            </a:r>
            <a:endParaRPr lang="en-US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0584" r="-24537" b="-26423"/>
          <a:stretch>
            <a:fillRect/>
          </a:stretch>
        </p:blipFill>
        <p:spPr>
          <a:xfrm>
            <a:off x="365125" y="1038225"/>
            <a:ext cx="11241405" cy="460375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5" name="タイトル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Irregular GEMM performance (1)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Performance Analysis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6966"/>
          <a:stretch>
            <a:fillRect/>
          </a:stretch>
        </p:blipFill>
        <p:spPr>
          <a:xfrm>
            <a:off x="365125" y="1451610"/>
            <a:ext cx="7934960" cy="50800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b="-27"/>
          <a:stretch>
            <a:fillRect/>
          </a:stretch>
        </p:blipFill>
        <p:spPr>
          <a:xfrm>
            <a:off x="8108315" y="1405255"/>
            <a:ext cx="3505200" cy="2338070"/>
          </a:xfrm>
          <a:prstGeom prst="rect">
            <a:avLst/>
          </a:prstGeom>
          <a:solidFill>
            <a:schemeClr val="tx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8362315" y="3954145"/>
            <a:ext cx="3600450" cy="23380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7E6E6"/>
                </a:solidFill>
              </a14:hiddenFill>
            </a:ext>
          </a:extLst>
        </p:spPr>
        <p:txBody>
          <a:bodyPr wrap="square" rtlCol="0" anchor="t">
            <a:noAutofit/>
          </a:bodyPr>
          <a:p>
            <a:pPr algn="l"/>
            <a:r>
              <a:rPr lang="en-US">
                <a:sym typeface="+mn-ea"/>
              </a:rPr>
              <a:t>a</a:t>
            </a:r>
            <a:r>
              <a:rPr>
                <a:sym typeface="+mn-ea"/>
              </a:rPr>
              <a:t>utoGEMM </a:t>
            </a:r>
            <a:r>
              <a:rPr>
                <a:solidFill>
                  <a:srgbClr val="00B0F0"/>
                </a:solidFill>
                <a:sym typeface="+mn-ea"/>
              </a:rPr>
              <a:t>multi-core</a:t>
            </a:r>
            <a:r>
              <a:rPr>
                <a:sym typeface="+mn-ea"/>
              </a:rPr>
              <a:t> performance on </a:t>
            </a:r>
            <a:r>
              <a:rPr lang="en-US">
                <a:sym typeface="+mn-ea"/>
              </a:rPr>
              <a:t>five </a:t>
            </a:r>
            <a:r>
              <a:rPr>
                <a:sym typeface="+mn-ea"/>
              </a:rPr>
              <a:t>hardware</a:t>
            </a:r>
            <a:endParaRPr>
              <a:sym typeface="+mn-ea"/>
            </a:endParaRPr>
          </a:p>
          <a:p>
            <a:pPr algn="l"/>
            <a:r>
              <a:rPr lang="en-US">
                <a:sym typeface="+mn-ea"/>
              </a:rPr>
              <a:t>- </a:t>
            </a:r>
            <a:r>
              <a:rPr>
                <a:sym typeface="+mn-ea"/>
              </a:rPr>
              <a:t>Average performance improved by </a:t>
            </a:r>
            <a:r>
              <a:rPr>
                <a:solidFill>
                  <a:srgbClr val="00B0F0"/>
                </a:solidFill>
                <a:sym typeface="+mn-ea"/>
              </a:rPr>
              <a:t>1.8x</a:t>
            </a:r>
            <a:r>
              <a:rPr>
                <a:sym typeface="+mn-ea"/>
              </a:rPr>
              <a:t> (up to 3.4x)</a:t>
            </a:r>
            <a:r>
              <a:rPr>
                <a:sym typeface="+mn-ea"/>
              </a:rPr>
              <a:t> compared to OpenBLAS</a:t>
            </a:r>
            <a:r>
              <a:rPr lang="en-US">
                <a:sym typeface="+mn-ea"/>
              </a:rPr>
              <a:t>.</a:t>
            </a:r>
            <a:endParaRPr>
              <a:sym typeface="+mn-ea"/>
            </a:endParaRPr>
          </a:p>
          <a:p>
            <a:pPr algn="l"/>
            <a:r>
              <a:rPr lang="en-US">
                <a:sym typeface="+mn-ea"/>
              </a:rPr>
              <a:t>- </a:t>
            </a:r>
            <a:r>
              <a:rPr>
                <a:sym typeface="+mn-ea"/>
              </a:rPr>
              <a:t>Average performance improved by </a:t>
            </a:r>
            <a:r>
              <a:rPr>
                <a:solidFill>
                  <a:srgbClr val="00B0F0"/>
                </a:solidFill>
                <a:sym typeface="+mn-ea"/>
              </a:rPr>
              <a:t>2.0x</a:t>
            </a:r>
            <a:r>
              <a:rPr>
                <a:sym typeface="+mn-ea"/>
              </a:rPr>
              <a:t> (up to 4.0x)</a:t>
            </a:r>
            <a:r>
              <a:rPr>
                <a:sym typeface="+mn-ea"/>
              </a:rPr>
              <a:t> compared to Eigen</a:t>
            </a:r>
            <a:r>
              <a:rPr lang="en-US">
                <a:sym typeface="+mn-ea"/>
              </a:rPr>
              <a:t>.</a:t>
            </a:r>
            <a:endParaRPr lang="en-US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0584" r="-24537" b="-26423"/>
          <a:stretch>
            <a:fillRect/>
          </a:stretch>
        </p:blipFill>
        <p:spPr>
          <a:xfrm>
            <a:off x="365125" y="1038225"/>
            <a:ext cx="11241405" cy="460375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5" name="タイトル 1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Irregular GEMM performance (2)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Performance Analysis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8453"/>
          <a:stretch>
            <a:fillRect/>
          </a:stretch>
        </p:blipFill>
        <p:spPr>
          <a:xfrm>
            <a:off x="365125" y="1456055"/>
            <a:ext cx="7908925" cy="50755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 b="-7097"/>
          <a:stretch>
            <a:fillRect/>
          </a:stretch>
        </p:blipFill>
        <p:spPr>
          <a:xfrm>
            <a:off x="8161020" y="1395730"/>
            <a:ext cx="3452495" cy="2338070"/>
          </a:xfrm>
          <a:prstGeom prst="rect">
            <a:avLst/>
          </a:prstGeom>
          <a:solidFill>
            <a:schemeClr val="tx1"/>
          </a:solidFill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889635" y="5645150"/>
            <a:ext cx="7303135" cy="3943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7E6E6"/>
                </a:solidFill>
              </a14:hiddenFill>
            </a:ext>
          </a:extLst>
        </p:spPr>
        <p:txBody>
          <a:bodyPr wrap="square" rtlCol="0" anchor="t">
            <a:noAutofit/>
          </a:bodyPr>
          <a:p>
            <a:pPr algn="l"/>
            <a:r>
              <a:rPr>
                <a:sym typeface="+mn-ea"/>
              </a:rPr>
              <a:t>autoGEMM </a:t>
            </a:r>
            <a:r>
              <a:rPr lang="en-US">
                <a:sym typeface="+mn-ea"/>
              </a:rPr>
              <a:t>can </a:t>
            </a:r>
            <a:r>
              <a:rPr>
                <a:sym typeface="+mn-ea"/>
              </a:rPr>
              <a:t>approach the peak performance of the hardware.</a:t>
            </a:r>
            <a:endParaRPr>
              <a:sym typeface="+mn-ea"/>
            </a:endParaRPr>
          </a:p>
        </p:txBody>
      </p:sp>
      <p:sp>
        <p:nvSpPr>
          <p:cNvPr id="5" name="タイトル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Roofline model analysis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Performance Analysis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r="32414" b="19132"/>
          <a:stretch>
            <a:fillRect/>
          </a:stretch>
        </p:blipFill>
        <p:spPr>
          <a:xfrm>
            <a:off x="140335" y="1007745"/>
            <a:ext cx="11908155" cy="42208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889635" y="5807710"/>
            <a:ext cx="9774555" cy="653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7E6E6"/>
                </a:solidFill>
              </a14:hiddenFill>
            </a:ext>
          </a:extLst>
        </p:spPr>
        <p:txBody>
          <a:bodyPr wrap="square" rtlCol="0" anchor="t">
            <a:noAutofit/>
          </a:bodyPr>
          <a:p>
            <a:pPr algn="l"/>
            <a:r>
              <a:rPr>
                <a:sym typeface="+mn-ea"/>
              </a:rPr>
              <a:t>autoGEMM achieves almost linear expansion on </a:t>
            </a:r>
            <a:r>
              <a:rPr lang="en-US">
                <a:sym typeface="+mn-ea"/>
              </a:rPr>
              <a:t>five</a:t>
            </a:r>
            <a:r>
              <a:rPr>
                <a:sym typeface="+mn-ea"/>
              </a:rPr>
              <a:t> hardware, with parallel efficiency reaching </a:t>
            </a:r>
            <a:r>
              <a:rPr>
                <a:solidFill>
                  <a:srgbClr val="00B0F0"/>
                </a:solidFill>
                <a:sym typeface="+mn-ea"/>
              </a:rPr>
              <a:t>98%</a:t>
            </a:r>
            <a:r>
              <a:rPr>
                <a:sym typeface="+mn-ea"/>
              </a:rPr>
              <a:t>, </a:t>
            </a:r>
            <a:r>
              <a:rPr>
                <a:solidFill>
                  <a:srgbClr val="00B0F0"/>
                </a:solidFill>
                <a:sym typeface="+mn-ea"/>
              </a:rPr>
              <a:t>98.2%</a:t>
            </a:r>
            <a:r>
              <a:rPr>
                <a:sym typeface="+mn-ea"/>
              </a:rPr>
              <a:t>,</a:t>
            </a:r>
            <a:r>
              <a:rPr>
                <a:solidFill>
                  <a:srgbClr val="FF0000"/>
                </a:solidFill>
                <a:sym typeface="+mn-ea"/>
              </a:rPr>
              <a:t> </a:t>
            </a:r>
            <a:r>
              <a:rPr>
                <a:solidFill>
                  <a:srgbClr val="00B0F0"/>
                </a:solidFill>
                <a:sym typeface="+mn-ea"/>
              </a:rPr>
              <a:t>83.2%</a:t>
            </a:r>
            <a:r>
              <a:rPr lang="en-US">
                <a:sym typeface="+mn-ea"/>
              </a:rPr>
              <a:t>, </a:t>
            </a:r>
            <a:r>
              <a:rPr>
                <a:solidFill>
                  <a:srgbClr val="00B0F0"/>
                </a:solidFill>
                <a:sym typeface="+mn-ea"/>
              </a:rPr>
              <a:t>93.5%</a:t>
            </a:r>
            <a:r>
              <a:rPr lang="en-US">
                <a:sym typeface="+mn-ea"/>
              </a:rPr>
              <a:t>,</a:t>
            </a:r>
            <a:r>
              <a:rPr>
                <a:sym typeface="+mn-ea"/>
              </a:rPr>
              <a:t> and </a:t>
            </a:r>
            <a:r>
              <a:rPr>
                <a:solidFill>
                  <a:srgbClr val="00B0F0"/>
                </a:solidFill>
                <a:sym typeface="+mn-ea"/>
              </a:rPr>
              <a:t>30.3%</a:t>
            </a:r>
            <a:r>
              <a:rPr lang="en-US">
                <a:sym typeface="+mn-ea"/>
              </a:rPr>
              <a:t>.</a:t>
            </a:r>
            <a:endParaRPr>
              <a:sym typeface="+mn-ea"/>
            </a:endParaRPr>
          </a:p>
        </p:txBody>
      </p:sp>
      <p:sp>
        <p:nvSpPr>
          <p:cNvPr id="5" name="タイトル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Scalability analysis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Performance Analysis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b="134"/>
          <a:stretch>
            <a:fillRect/>
          </a:stretch>
        </p:blipFill>
        <p:spPr>
          <a:xfrm>
            <a:off x="844550" y="1078230"/>
            <a:ext cx="10510520" cy="43795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889635" y="5645150"/>
            <a:ext cx="10374630" cy="918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7E6E6"/>
                </a:solidFill>
              </a14:hiddenFill>
            </a:ext>
          </a:extLst>
        </p:spPr>
        <p:txBody>
          <a:bodyPr wrap="square" rtlCol="0" anchor="t">
            <a:noAutofit/>
          </a:bodyPr>
          <a:p>
            <a:pPr algn="l"/>
            <a:r>
              <a:rPr lang="en-US">
                <a:sym typeface="+mn-ea"/>
              </a:rPr>
              <a:t>I</a:t>
            </a:r>
            <a:r>
              <a:rPr>
                <a:sym typeface="+mn-ea"/>
              </a:rPr>
              <a:t>ntegrated autoGEMM into the Tencent TNN framework and tested four deep learning models:</a:t>
            </a:r>
            <a:endParaRPr>
              <a:sym typeface="+mn-ea"/>
            </a:endParaRPr>
          </a:p>
          <a:p>
            <a:pPr algn="l"/>
            <a:r>
              <a:rPr>
                <a:sym typeface="+mn-ea"/>
              </a:rPr>
              <a:t>ResNet50 (N1), Inception-V3 (N2), Mobilenet-V1 (N3) and Squeezenet (N4)</a:t>
            </a:r>
            <a:endParaRPr>
              <a:sym typeface="+mn-ea"/>
            </a:endParaRPr>
          </a:p>
          <a:p>
            <a:pPr algn="l"/>
            <a:r>
              <a:rPr>
                <a:sym typeface="+mn-ea"/>
              </a:rPr>
              <a:t>The end-to-end deep learning model acceleration ratio is between </a:t>
            </a:r>
            <a:r>
              <a:rPr>
                <a:solidFill>
                  <a:srgbClr val="00B0F0"/>
                </a:solidFill>
                <a:sym typeface="+mn-ea"/>
              </a:rPr>
              <a:t>1.08x</a:t>
            </a:r>
            <a:r>
              <a:rPr>
                <a:solidFill>
                  <a:srgbClr val="FF0000"/>
                </a:solidFill>
                <a:sym typeface="+mn-ea"/>
              </a:rPr>
              <a:t> </a:t>
            </a:r>
            <a:r>
              <a:rPr>
                <a:sym typeface="+mn-ea"/>
              </a:rPr>
              <a:t>and</a:t>
            </a:r>
            <a:r>
              <a:rPr>
                <a:solidFill>
                  <a:srgbClr val="FF0000"/>
                </a:solidFill>
                <a:sym typeface="+mn-ea"/>
              </a:rPr>
              <a:t> </a:t>
            </a:r>
            <a:r>
              <a:rPr>
                <a:solidFill>
                  <a:srgbClr val="00B0F0"/>
                </a:solidFill>
                <a:sym typeface="+mn-ea"/>
              </a:rPr>
              <a:t>1.</a:t>
            </a:r>
            <a:r>
              <a:rPr lang="en-US">
                <a:solidFill>
                  <a:srgbClr val="00B0F0"/>
                </a:solidFill>
                <a:sym typeface="+mn-ea"/>
              </a:rPr>
              <a:t>30</a:t>
            </a:r>
            <a:r>
              <a:rPr>
                <a:solidFill>
                  <a:srgbClr val="00B0F0"/>
                </a:solidFill>
                <a:sym typeface="+mn-ea"/>
              </a:rPr>
              <a:t>x</a:t>
            </a:r>
            <a:r>
              <a:rPr lang="en-US">
                <a:sym typeface="+mn-ea"/>
              </a:rPr>
              <a:t>.</a:t>
            </a:r>
            <a:endParaRPr>
              <a:sym typeface="+mn-ea"/>
            </a:endParaRPr>
          </a:p>
        </p:txBody>
      </p:sp>
      <p:sp>
        <p:nvSpPr>
          <p:cNvPr id="5" name="タイトル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259840" y="116840"/>
            <a:ext cx="1061910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End-to-end</a:t>
            </a:r>
            <a:r>
              <a:rPr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analysis</a:t>
            </a:r>
            <a:r>
              <a:rPr kumimoji="0" lang="en-US" altLang="ja-JP" sz="2000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-</a:t>
            </a: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 Performance Analysis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41300" y="1196975"/>
            <a:ext cx="11696065" cy="41281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2092325" y="2969260"/>
            <a:ext cx="8007350" cy="918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E7E6E6"/>
                </a:solidFill>
              </a14:hiddenFill>
            </a:ext>
          </a:extLst>
        </p:spPr>
        <p:txBody>
          <a:bodyPr wrap="square" rtlCol="0" anchor="t">
            <a:noAutofit/>
          </a:bodyPr>
          <a:p>
            <a:pPr algn="l"/>
            <a:r>
              <a:rPr sz="2400">
                <a:sym typeface="+mn-ea"/>
              </a:rPr>
              <a:t>Open source: </a:t>
            </a:r>
            <a:r>
              <a:rPr sz="2400">
                <a:solidFill>
                  <a:srgbClr val="00B0F0"/>
                </a:solidFill>
                <a:sym typeface="+mn-ea"/>
              </a:rPr>
              <a:t>https://github.com/wudu98/autoGEMM</a:t>
            </a:r>
            <a:endParaRPr sz="2400">
              <a:sym typeface="+mn-ea"/>
            </a:endParaRPr>
          </a:p>
          <a:p>
            <a:pPr algn="l"/>
            <a:r>
              <a:rPr sz="2400">
                <a:sym typeface="+mn-ea"/>
              </a:rPr>
              <a:t>Contact information: </a:t>
            </a:r>
            <a:r>
              <a:rPr lang="en-US" sz="2400">
                <a:sym typeface="+mn-ea"/>
              </a:rPr>
              <a:t>du.wu</a:t>
            </a:r>
            <a:r>
              <a:rPr sz="2400">
                <a:sym typeface="+mn-ea"/>
              </a:rPr>
              <a:t>@</a:t>
            </a:r>
            <a:r>
              <a:rPr lang="en-US" sz="2400">
                <a:sym typeface="+mn-ea"/>
              </a:rPr>
              <a:t>riken</a:t>
            </a:r>
            <a:r>
              <a:rPr sz="2400">
                <a:sym typeface="+mn-ea"/>
              </a:rPr>
              <a:t>.</a:t>
            </a:r>
            <a:r>
              <a:rPr lang="en-US" sz="2400">
                <a:sym typeface="+mn-ea"/>
              </a:rPr>
              <a:t>jp</a:t>
            </a:r>
            <a:endParaRPr lang="en-US" sz="2400">
              <a:sym typeface="+mn-ea"/>
            </a:endParaRPr>
          </a:p>
        </p:txBody>
      </p:sp>
      <p:sp>
        <p:nvSpPr>
          <p:cNvPr id="5" name="タイトル 1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735455" y="1635760"/>
            <a:ext cx="1553845" cy="720090"/>
          </a:xfrm>
          <a:prstGeom prst="rect">
            <a:avLst/>
          </a:prstGeom>
        </p:spPr>
        <p:txBody>
          <a:bodyPr vert="horz" lIns="91440" tIns="45720" rIns="91440" bIns="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kumimoji="1" sz="3600" kern="1200" baseline="0">
                <a:solidFill>
                  <a:schemeClr val="accent5">
                    <a:lumMod val="50000"/>
                  </a:schemeClr>
                </a:solidFill>
                <a:latin typeface="Verdana" panose="020B0604030504040204" pitchFamily="34" charset="0"/>
                <a:ea typeface="メイリオ" panose="020B0604030504040204" pitchFamily="50" charset="-128"/>
                <a:cs typeface="+mj-cs"/>
              </a:defRPr>
            </a:lvl1pPr>
          </a:lstStyle>
          <a:p>
            <a:pPr algn="r">
              <a:buClrTx/>
              <a:buSzTx/>
              <a:buFontTx/>
            </a:pPr>
            <a:r>
              <a:rPr kumimoji="0" lang="en-US" altLang="ja-JP" dirty="0" err="1">
                <a:ln w="12700">
                  <a:noFill/>
                  <a:prstDash val="solid"/>
                </a:ln>
                <a:solidFill>
                  <a:schemeClr val="tx1"/>
                </a:solidFill>
                <a:latin typeface="Verdana" panose="020B0604030504040204"/>
                <a:ea typeface="メイリオ"/>
                <a:cs typeface="Verdana" panose="020B0604030504040204"/>
                <a:sym typeface="+mn-ea"/>
              </a:rPr>
              <a:t>Q &amp; A</a:t>
            </a:r>
            <a:endParaRPr kumimoji="0" lang="en-US" altLang="ja-JP" dirty="0" err="1">
              <a:ln w="12700">
                <a:noFill/>
                <a:prstDash val="solid"/>
              </a:ln>
              <a:solidFill>
                <a:schemeClr val="tx1"/>
              </a:solidFill>
              <a:latin typeface="Verdana" panose="020B0604030504040204"/>
              <a:ea typeface="メイリオ"/>
              <a:cs typeface="Verdana" panose="020B0604030504040204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UNIT_TABLE_BEAUTIFY" val="smartTable{57f2e1f9-d1c8-42bb-aa99-7f6e89c2929e}"/>
  <p:tag name="TABLE_ENDDRAG_ORIGIN_RECT" val="816*174"/>
  <p:tag name="TABLE_ENDDRAG_RECT" val="66*148*816*174"/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UNIT_TABLE_BEAUTIFY" val="smartTable{18a9eb8d-864c-4bab-a2f8-1c8510b2740c}"/>
  <p:tag name="TABLE_ENDDRAG_ORIGIN_RECT" val="873*314"/>
  <p:tag name="TABLE_ENDDRAG_RECT" val="33*147*873*314"/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UNIT_TABLE_BEAUTIFY" val="smartTable{38314a14-b860-4415-8390-429936175650}"/>
  <p:tag name="TABLE_ENDDRAG_ORIGIN_RECT" val="898*372"/>
  <p:tag name="TABLE_ENDDRAG_RECT" val="26*82*898*372"/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UNIT_TABLE_BEAUTIFY" val="smartTable{45e6a853-1da0-462c-9463-984688ef0b20}"/>
  <p:tag name="TABLE_ENDDRAG_ORIGIN_RECT" val="893*352"/>
  <p:tag name="TABLE_ENDDRAG_RECT" val="29*138*893*352"/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Vapor Trail">
  <a:themeElements>
    <a:clrScheme name="sc24">
      <a:dk1>
        <a:srgbClr val="000000"/>
      </a:dk1>
      <a:lt1>
        <a:srgbClr val="FFFFFF"/>
      </a:lt1>
      <a:dk2>
        <a:srgbClr val="454545"/>
      </a:dk2>
      <a:lt2>
        <a:srgbClr val="DADADA"/>
      </a:lt2>
      <a:accent1>
        <a:srgbClr val="AC3634"/>
      </a:accent1>
      <a:accent2>
        <a:srgbClr val="D33730"/>
      </a:accent2>
      <a:accent3>
        <a:srgbClr val="DA6437"/>
      </a:accent3>
      <a:accent4>
        <a:srgbClr val="E3923C"/>
      </a:accent4>
      <a:accent5>
        <a:srgbClr val="EAAD51"/>
      </a:accent5>
      <a:accent6>
        <a:srgbClr val="812827"/>
      </a:accent6>
      <a:hlink>
        <a:srgbClr val="DA6E37"/>
      </a:hlink>
      <a:folHlink>
        <a:srgbClr val="F38B53"/>
      </a:folHlink>
    </a:clrScheme>
    <a:fontScheme name="Vapor Trail">
      <a:maj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0</TotalTime>
  <Words>12552</Words>
  <Application>WPS 演示</Application>
  <PresentationFormat>Widescreen</PresentationFormat>
  <Paragraphs>774</Paragraphs>
  <Slides>40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67" baseType="lpstr">
      <vt:lpstr>Arial</vt:lpstr>
      <vt:lpstr>宋体</vt:lpstr>
      <vt:lpstr>Wingdings</vt:lpstr>
      <vt:lpstr>Times New Roman Regular</vt:lpstr>
      <vt:lpstr>Times New Roman</vt:lpstr>
      <vt:lpstr>宋体</vt:lpstr>
      <vt:lpstr>汉仪书宋二KW</vt:lpstr>
      <vt:lpstr>Times New Roman Bold</vt:lpstr>
      <vt:lpstr>Verdana</vt:lpstr>
      <vt:lpstr>メイリオ</vt:lpstr>
      <vt:lpstr>Hiragino Sans</vt:lpstr>
      <vt:lpstr>Verdana</vt:lpstr>
      <vt:lpstr>メイリオ</vt:lpstr>
      <vt:lpstr>微软雅黑</vt:lpstr>
      <vt:lpstr>Wingdings</vt:lpstr>
      <vt:lpstr>Century Gothic</vt:lpstr>
      <vt:lpstr>苹方-简</vt:lpstr>
      <vt:lpstr>汉仪旗黑</vt:lpstr>
      <vt:lpstr>Arial Unicode MS</vt:lpstr>
      <vt:lpstr>Calibri</vt:lpstr>
      <vt:lpstr>Helvetica Neue</vt:lpstr>
      <vt:lpstr>Wingdings 2</vt:lpstr>
      <vt:lpstr>Microsoft YaHei UI</vt:lpstr>
      <vt:lpstr>MS PGothic</vt:lpstr>
      <vt:lpstr>等线</vt:lpstr>
      <vt:lpstr>汉仪中等线KW</vt:lpstr>
      <vt:lpstr>Vapor Trail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Todd Szymanski</dc:creator>
  <cp:lastModifiedBy>WPS_1657285749</cp:lastModifiedBy>
  <cp:revision>784</cp:revision>
  <dcterms:created xsi:type="dcterms:W3CDTF">2024-11-18T11:49:35Z</dcterms:created>
  <dcterms:modified xsi:type="dcterms:W3CDTF">2024-11-18T11:49:35Z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A147A843517D0B21B7FE32675B587C96_42</vt:lpwstr>
  </property>
  <property fmtid="{D5CDD505-2E9C-101B-9397-08002B2CF9AE}" pid="3" name="KSOProductBuildVer">
    <vt:lpwstr>2052-6.4.0.8550</vt:lpwstr>
  </property>
</Properties>
</file>