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311" r:id="rId2"/>
    <p:sldId id="293" r:id="rId3"/>
    <p:sldId id="313" r:id="rId4"/>
    <p:sldId id="314" r:id="rId5"/>
    <p:sldId id="315" r:id="rId6"/>
    <p:sldId id="323" r:id="rId7"/>
    <p:sldId id="316" r:id="rId8"/>
    <p:sldId id="318" r:id="rId9"/>
    <p:sldId id="319" r:id="rId10"/>
    <p:sldId id="320" r:id="rId11"/>
    <p:sldId id="321" r:id="rId12"/>
    <p:sldId id="317" r:id="rId13"/>
    <p:sldId id="322" r:id="rId14"/>
    <p:sldId id="306" r:id="rId15"/>
    <p:sldId id="307" r:id="rId16"/>
    <p:sldId id="309" r:id="rId17"/>
    <p:sldId id="310" r:id="rId18"/>
  </p:sldIdLst>
  <p:sldSz cx="9144000" cy="6858000" type="screen4x3"/>
  <p:notesSz cx="9144000" cy="6858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66FF"/>
    <a:srgbClr val="993300"/>
    <a:srgbClr val="80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90" autoAdjust="0"/>
    <p:restoredTop sz="94683" autoAdjust="0"/>
  </p:normalViewPr>
  <p:slideViewPr>
    <p:cSldViewPr>
      <p:cViewPr varScale="1">
        <p:scale>
          <a:sx n="71" d="100"/>
          <a:sy n="71" d="100"/>
        </p:scale>
        <p:origin x="-107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88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AA33EB3F-22B8-4826-A47B-DCFD36BB3E1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3185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5B94FF8-D8D0-41F3-A354-AE0A6BC56DB1}" type="datetimeFigureOut">
              <a:rPr lang="zh-CN" altLang="en-US"/>
              <a:pPr>
                <a:defRPr/>
              </a:pPr>
              <a:t>2016/1/22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851EF5C0-4347-4E94-BAA5-B0FF293B38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8117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1" descr="PPT模版1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67544" y="2130425"/>
            <a:ext cx="8280920" cy="1470025"/>
          </a:xfrm>
        </p:spPr>
        <p:txBody>
          <a:bodyPr/>
          <a:lstStyle/>
          <a:p>
            <a:r>
              <a:rPr lang="zh-CN" altLang="en-US" dirty="0" smtClean="0"/>
              <a:t>图</a:t>
            </a:r>
            <a:r>
              <a:rPr lang="zh-CN" altLang="en-US" dirty="0" smtClean="0"/>
              <a:t>计算</a:t>
            </a:r>
            <a:r>
              <a:rPr lang="zh-CN" altLang="en-US" dirty="0"/>
              <a:t>系统</a:t>
            </a:r>
            <a:r>
              <a:rPr lang="zh-CN" altLang="en-US" dirty="0" smtClean="0"/>
              <a:t>及</a:t>
            </a:r>
            <a:r>
              <a:rPr lang="zh-CN" altLang="en-US" dirty="0" smtClean="0"/>
              <a:t>最新硬件</a:t>
            </a:r>
            <a:r>
              <a:rPr lang="zh-CN" altLang="en-US" dirty="0" smtClean="0"/>
              <a:t>平台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z="2800" dirty="0" smtClean="0"/>
              <a:t>孟金涛</a:t>
            </a:r>
            <a:endParaRPr lang="en-US" altLang="zh-CN" sz="2800" dirty="0" smtClean="0"/>
          </a:p>
          <a:p>
            <a:r>
              <a:rPr lang="zh-CN" altLang="en-US" sz="2800" dirty="0"/>
              <a:t>中科院深圳先进技术研究院</a:t>
            </a:r>
            <a:endParaRPr lang="en-US" altLang="zh-CN" sz="2800" dirty="0"/>
          </a:p>
          <a:p>
            <a:r>
              <a:rPr lang="en-US" altLang="zh-CN" sz="2800" dirty="0"/>
              <a:t>2016.1.4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1201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959598" y="-26894"/>
            <a:ext cx="51117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320" tIns="45660" rIns="91320" bIns="45660" anchor="ctr"/>
          <a:lstStyle/>
          <a:p>
            <a:pPr algn="r" eaLnBrk="0" hangingPunct="0">
              <a:buFontTx/>
              <a:buNone/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研究内容</a:t>
            </a:r>
            <a:endParaRPr 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611560" y="1268759"/>
            <a:ext cx="4464496" cy="46782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研发大规模</a:t>
            </a:r>
            <a:r>
              <a:rPr lang="zh-CN" altLang="zh-CN" sz="2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zh-CN" sz="2400" dirty="0" smtClean="0">
                <a:latin typeface="微软雅黑" pitchFamily="34" charset="-122"/>
                <a:ea typeface="微软雅黑" pitchFamily="34" charset="-122"/>
              </a:rPr>
              <a:t>并行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计算系统</a:t>
            </a:r>
            <a:r>
              <a:rPr lang="zh-CN" altLang="zh-CN" sz="2400" dirty="0" smtClean="0">
                <a:latin typeface="微软雅黑" pitchFamily="34" charset="-122"/>
                <a:ea typeface="微软雅黑" pitchFamily="34" charset="-122"/>
              </a:rPr>
              <a:t>，系统在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多个实际应用中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zh-CN" sz="2000" dirty="0" smtClean="0">
                <a:latin typeface="微软雅黑" pitchFamily="34" charset="-122"/>
                <a:ea typeface="微软雅黑" pitchFamily="34" charset="-122"/>
              </a:rPr>
              <a:t>性能伸缩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性进一步提高，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128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,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000</a:t>
            </a:r>
            <a:r>
              <a:rPr lang="zh-CN" altLang="zh-CN" sz="2000" dirty="0" smtClean="0">
                <a:latin typeface="微软雅黑" pitchFamily="34" charset="-122"/>
                <a:ea typeface="微软雅黑" pitchFamily="34" charset="-122"/>
              </a:rPr>
              <a:t>核规模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实现线性加速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保持高</a:t>
            </a:r>
            <a:r>
              <a:rPr lang="zh-CN" altLang="zh-CN" sz="2000" dirty="0" smtClean="0">
                <a:latin typeface="微软雅黑" pitchFamily="34" charset="-122"/>
                <a:ea typeface="微软雅黑" pitchFamily="34" charset="-122"/>
              </a:rPr>
              <a:t>计算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效率， 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万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核</a:t>
            </a:r>
            <a:r>
              <a:rPr lang="zh-CN" altLang="zh-CN" sz="2000" dirty="0" smtClean="0">
                <a:latin typeface="微软雅黑" pitchFamily="34" charset="-122"/>
                <a:ea typeface="微软雅黑" pitchFamily="34" charset="-122"/>
              </a:rPr>
              <a:t>效率不低于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30%</a:t>
            </a:r>
          </a:p>
          <a:p>
            <a:pPr marL="742950" lvl="1" indent="-285750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处理问题规模提高，</a:t>
            </a:r>
            <a:r>
              <a:rPr lang="zh-CN" altLang="zh-CN" sz="2000" dirty="0" smtClean="0">
                <a:latin typeface="微软雅黑" pitchFamily="34" charset="-122"/>
                <a:ea typeface="微软雅黑" pitchFamily="34" charset="-122"/>
              </a:rPr>
              <a:t>可处理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万亿</a:t>
            </a:r>
            <a:r>
              <a:rPr lang="zh-CN" altLang="zh-CN" sz="2000" dirty="0" smtClean="0">
                <a:latin typeface="微软雅黑" pitchFamily="34" charset="-122"/>
                <a:ea typeface="微软雅黑" pitchFamily="34" charset="-122"/>
              </a:rPr>
              <a:t>超大规模图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比</a:t>
            </a:r>
            <a:r>
              <a:rPr lang="zh-CN" altLang="zh-CN" sz="2000" dirty="0" smtClean="0">
                <a:latin typeface="微软雅黑" pitchFamily="34" charset="-122"/>
                <a:ea typeface="微软雅黑" pitchFamily="34" charset="-122"/>
              </a:rPr>
              <a:t>现有图处理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系统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000" dirty="0" err="1" smtClean="0">
                <a:latin typeface="微软雅黑" pitchFamily="34" charset="-122"/>
                <a:ea typeface="微软雅黑" pitchFamily="34" charset="-122"/>
              </a:rPr>
              <a:t>Graphlab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000" dirty="0" err="1" smtClean="0">
                <a:latin typeface="微软雅黑" pitchFamily="34" charset="-122"/>
                <a:ea typeface="微软雅黑" pitchFamily="34" charset="-122"/>
              </a:rPr>
              <a:t>Trility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) </a:t>
            </a: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zh-CN" sz="2000" dirty="0" smtClean="0">
                <a:latin typeface="微软雅黑" pitchFamily="34" charset="-122"/>
                <a:ea typeface="微软雅黑" pitchFamily="34" charset="-122"/>
              </a:rPr>
              <a:t>问题规模和扩展性，分别有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1000</a:t>
            </a:r>
            <a:r>
              <a:rPr lang="zh-CN" altLang="zh-CN" sz="2000" dirty="0" smtClean="0">
                <a:latin typeface="微软雅黑" pitchFamily="34" charset="-122"/>
                <a:ea typeface="微软雅黑" pitchFamily="34" charset="-122"/>
              </a:rPr>
              <a:t>倍和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40</a:t>
            </a:r>
            <a:r>
              <a:rPr lang="zh-CN" altLang="zh-CN" sz="2000" dirty="0" smtClean="0">
                <a:latin typeface="微软雅黑" pitchFamily="34" charset="-122"/>
                <a:ea typeface="微软雅黑" pitchFamily="34" charset="-122"/>
              </a:rPr>
              <a:t>倍的提升。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ct val="50000"/>
              </a:spcBef>
            </a:pP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5" descr="http://www.top500.org/static/media/uploads/blog/tianhe-2-jack-dongarra-pd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330" y="4280587"/>
            <a:ext cx="3744308" cy="202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5293331" y="3933056"/>
            <a:ext cx="36855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/>
            <a:r>
              <a:rPr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SWAP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使用天河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2B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超级计算机</a:t>
            </a:r>
            <a:endParaRPr lang="zh-CN" altLang="en-US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5293330" y="1124744"/>
            <a:ext cx="3778018" cy="5018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  <a:cs typeface="+mj-cs"/>
              </a:rPr>
              <a:t> SWAP-Assembler </a:t>
            </a:r>
            <a:r>
              <a:rPr lang="zh-CN" altLang="en-US" sz="2000" kern="0" dirty="0" smtClean="0">
                <a:latin typeface="微软雅黑" pitchFamily="34" charset="-122"/>
                <a:ea typeface="微软雅黑" pitchFamily="34" charset="-122"/>
                <a:cs typeface="+mj-cs"/>
              </a:rPr>
              <a:t>软件结构</a:t>
            </a:r>
            <a:endParaRPr lang="en-US" altLang="zh-CN" sz="2000" kern="0" dirty="0"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pic>
        <p:nvPicPr>
          <p:cNvPr id="1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4922" y="1628800"/>
            <a:ext cx="3816425" cy="20474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89700"/>
            <a:ext cx="384175" cy="365125"/>
          </a:xfrm>
          <a:prstGeom prst="rect">
            <a:avLst/>
          </a:prstGeom>
        </p:spPr>
        <p:txBody>
          <a:bodyPr/>
          <a:lstStyle/>
          <a:p>
            <a:fld id="{87034D8C-3CB4-402A-BC46-2AB14C0FE90A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13891" y="980728"/>
            <a:ext cx="8089051" cy="23762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/>
              <a:t>基因组装，序列比对是最基本的生物数据分析</a:t>
            </a:r>
            <a:r>
              <a:rPr lang="zh-CN" altLang="en-US" sz="2000" dirty="0" smtClean="0"/>
              <a:t>工具</a:t>
            </a:r>
            <a:r>
              <a:rPr lang="en-US" altLang="zh-CN" sz="2000" dirty="0" smtClean="0"/>
              <a:t>. </a:t>
            </a:r>
          </a:p>
          <a:p>
            <a:pPr marL="0" indent="0">
              <a:buNone/>
            </a:pPr>
            <a:r>
              <a:rPr lang="zh-CN" altLang="en-US" sz="2000" dirty="0" smtClean="0"/>
              <a:t>并行基因组装软件通常是先构造</a:t>
            </a:r>
            <a:r>
              <a:rPr lang="en-US" altLang="zh-CN" sz="2000" dirty="0" smtClean="0"/>
              <a:t>De </a:t>
            </a:r>
            <a:r>
              <a:rPr lang="en-US" altLang="zh-CN" sz="2000" dirty="0" err="1" smtClean="0"/>
              <a:t>Bruijn</a:t>
            </a:r>
            <a:r>
              <a:rPr lang="zh-CN" altLang="en-US" sz="2000" dirty="0" smtClean="0"/>
              <a:t>图，进而收缩图得到</a:t>
            </a:r>
            <a:r>
              <a:rPr lang="en-US" altLang="zh-CN" sz="2000" dirty="0" err="1" smtClean="0"/>
              <a:t>contigs</a:t>
            </a:r>
            <a:r>
              <a:rPr lang="en-US" altLang="zh-CN" sz="2000" dirty="0" smtClean="0"/>
              <a:t>.</a:t>
            </a:r>
          </a:p>
          <a:p>
            <a:pPr marL="0" indent="0">
              <a:buNone/>
            </a:pPr>
            <a:r>
              <a:rPr lang="en-US" altLang="zh-CN" sz="2000" dirty="0" smtClean="0"/>
              <a:t> </a:t>
            </a:r>
          </a:p>
          <a:p>
            <a:pPr marL="0" indent="0">
              <a:buNone/>
            </a:pPr>
            <a:r>
              <a:rPr lang="zh-CN" altLang="en-US" sz="2000" dirty="0" smtClean="0"/>
              <a:t>但通常这些图都非常巨大： </a:t>
            </a:r>
            <a:endParaRPr lang="en-US" altLang="zh-CN" sz="2000" dirty="0" smtClean="0"/>
          </a:p>
          <a:p>
            <a:pPr>
              <a:buFont typeface="Wingdings" pitchFamily="2" charset="2"/>
              <a:buChar char="l"/>
            </a:pPr>
            <a:r>
              <a:rPr lang="zh-CN" altLang="en-US" sz="2000" dirty="0" smtClean="0"/>
              <a:t>炎黄基因组数据 </a:t>
            </a:r>
            <a:r>
              <a:rPr lang="en-US" altLang="zh-CN" sz="2000" dirty="0" smtClean="0"/>
              <a:t>(512G</a:t>
            </a:r>
            <a:r>
              <a:rPr lang="zh-CN" altLang="en-US" sz="2000" dirty="0"/>
              <a:t>序列</a:t>
            </a:r>
            <a:r>
              <a:rPr lang="en-US" altLang="zh-CN" sz="2000" dirty="0" smtClean="0"/>
              <a:t>,    3 billion</a:t>
            </a:r>
            <a:r>
              <a:rPr lang="zh-CN" altLang="en-US" sz="2000" dirty="0" smtClean="0"/>
              <a:t>个顶点</a:t>
            </a:r>
            <a:r>
              <a:rPr lang="en-US" altLang="zh-CN" sz="2000" dirty="0" smtClean="0"/>
              <a:t>,     6~10 billion</a:t>
            </a:r>
            <a:r>
              <a:rPr lang="zh-CN" altLang="en-US" sz="2000" dirty="0" smtClean="0"/>
              <a:t>边</a:t>
            </a:r>
            <a:r>
              <a:rPr lang="en-US" altLang="zh-CN" sz="2000" dirty="0" smtClean="0"/>
              <a:t>) </a:t>
            </a:r>
            <a:endParaRPr lang="en-US" altLang="zh-CN" sz="2000" dirty="0"/>
          </a:p>
          <a:p>
            <a:pPr>
              <a:buFont typeface="Wingdings" pitchFamily="2" charset="2"/>
              <a:buChar char="l"/>
            </a:pPr>
            <a:r>
              <a:rPr lang="zh-CN" altLang="en-US" sz="2000" dirty="0" smtClean="0"/>
              <a:t>千人基因组的数据</a:t>
            </a:r>
            <a:r>
              <a:rPr lang="en-US" altLang="zh-CN" sz="2000" dirty="0" smtClean="0"/>
              <a:t> (24T</a:t>
            </a:r>
            <a:r>
              <a:rPr lang="zh-CN" altLang="en-US" sz="2000" dirty="0" smtClean="0"/>
              <a:t>序列，</a:t>
            </a:r>
            <a:r>
              <a:rPr lang="en-US" altLang="zh-CN" sz="2000" dirty="0" smtClean="0"/>
              <a:t>30 billion</a:t>
            </a:r>
            <a:r>
              <a:rPr lang="zh-CN" altLang="en-US" sz="2000" dirty="0" smtClean="0"/>
              <a:t>个顶点，</a:t>
            </a:r>
            <a:r>
              <a:rPr lang="en-US" altLang="zh-CN" sz="2000" dirty="0" smtClean="0"/>
              <a:t>100 billion</a:t>
            </a:r>
            <a:r>
              <a:rPr lang="zh-CN" altLang="en-US" sz="2000" dirty="0" smtClean="0"/>
              <a:t>边</a:t>
            </a:r>
            <a:r>
              <a:rPr lang="en-US" altLang="zh-CN" sz="2000" dirty="0" smtClean="0"/>
              <a:t>)</a:t>
            </a:r>
            <a:endParaRPr lang="en-US" altLang="zh-CN" sz="1800" dirty="0" smtClean="0">
              <a:solidFill>
                <a:srgbClr val="FF0000"/>
              </a:solidFill>
            </a:endParaRPr>
          </a:p>
        </p:txBody>
      </p:sp>
      <p:sp>
        <p:nvSpPr>
          <p:cNvPr id="9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基因组组装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605" y="3356992"/>
            <a:ext cx="9144000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980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8610600" y="6489700"/>
            <a:ext cx="384175" cy="365125"/>
          </a:xfrm>
          <a:prstGeom prst="rect">
            <a:avLst/>
          </a:prstGeom>
        </p:spPr>
        <p:txBody>
          <a:bodyPr/>
          <a:lstStyle/>
          <a:p>
            <a:fld id="{87034D8C-3CB4-402A-BC46-2AB14C0FE90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513891" y="980728"/>
            <a:ext cx="8089051" cy="23762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 smtClean="0"/>
              <a:t>蓝</a:t>
            </a:r>
            <a:r>
              <a:rPr lang="zh-CN" altLang="en-US" sz="2000" dirty="0"/>
              <a:t>脑</a:t>
            </a:r>
            <a:r>
              <a:rPr lang="zh-CN" altLang="en-US" sz="2000" dirty="0" smtClean="0"/>
              <a:t>计划： 大</a:t>
            </a:r>
            <a:r>
              <a:rPr lang="zh-CN" altLang="en-US" sz="2000" dirty="0"/>
              <a:t>尺度</a:t>
            </a:r>
            <a:r>
              <a:rPr lang="zh-CN" altLang="en-US" sz="2000" dirty="0" smtClean="0"/>
              <a:t>脑网络分析，可对</a:t>
            </a:r>
            <a:r>
              <a:rPr lang="zh-CN" altLang="en-US" sz="2000" dirty="0"/>
              <a:t>脑的神经</a:t>
            </a:r>
            <a:r>
              <a:rPr lang="zh-CN" altLang="en-US" sz="2000" dirty="0" smtClean="0"/>
              <a:t>疾病分析和诊断（精神</a:t>
            </a:r>
            <a:r>
              <a:rPr lang="zh-CN" altLang="en-US" sz="2000" dirty="0"/>
              <a:t>分裂，老年痴呆，多动</a:t>
            </a:r>
            <a:r>
              <a:rPr lang="zh-CN" altLang="en-US" sz="2000" dirty="0" smtClean="0"/>
              <a:t>症）</a:t>
            </a:r>
            <a:endParaRPr lang="en-US" altLang="zh-CN" sz="2000" dirty="0" smtClean="0"/>
          </a:p>
          <a:p>
            <a:pPr marL="0" indent="0">
              <a:buNone/>
            </a:pPr>
            <a:r>
              <a:rPr lang="zh-CN" altLang="en-US" sz="2000" dirty="0" smtClean="0"/>
              <a:t>类脑人工智能： 训练基于神经元的认知网络</a:t>
            </a:r>
            <a:endParaRPr lang="en-US" altLang="zh-CN" sz="2000" dirty="0" smtClean="0"/>
          </a:p>
          <a:p>
            <a:pPr marL="0" indent="0">
              <a:buNone/>
            </a:pPr>
            <a:endParaRPr lang="en-US" altLang="zh-CN" sz="2000" dirty="0" smtClean="0"/>
          </a:p>
          <a:p>
            <a:pPr marL="0" indent="0">
              <a:buNone/>
            </a:pPr>
            <a:r>
              <a:rPr lang="zh-CN" altLang="en-US" sz="2000" dirty="0" smtClean="0"/>
              <a:t>实际中脑网络也非常巨大： </a:t>
            </a:r>
            <a:endParaRPr lang="en-US" altLang="zh-CN" sz="2000" dirty="0" smtClean="0"/>
          </a:p>
          <a:p>
            <a:pPr>
              <a:buFont typeface="Wingdings" pitchFamily="2" charset="2"/>
              <a:buChar char="l"/>
            </a:pPr>
            <a:r>
              <a:rPr lang="zh-CN" altLang="en-US" sz="2000" dirty="0" smtClean="0"/>
              <a:t>小鼠大脑约有百亿神经元 （可用</a:t>
            </a:r>
            <a:r>
              <a:rPr lang="en-US" altLang="zh-CN" sz="2000" dirty="0" err="1" smtClean="0"/>
              <a:t>TrueNorth</a:t>
            </a:r>
            <a:r>
              <a:rPr lang="en-US" altLang="zh-CN" sz="2000" dirty="0"/>
              <a:t>, </a:t>
            </a:r>
            <a:r>
              <a:rPr lang="en-US" altLang="zh-CN" sz="2000" dirty="0" err="1" smtClean="0"/>
              <a:t>SpiNNaker</a:t>
            </a:r>
            <a:r>
              <a:rPr lang="zh-CN" altLang="en-US" sz="2000" dirty="0" smtClean="0"/>
              <a:t>模拟）</a:t>
            </a:r>
            <a:endParaRPr lang="en-US" altLang="zh-CN" sz="2000" dirty="0"/>
          </a:p>
          <a:p>
            <a:pPr>
              <a:buFont typeface="Wingdings" pitchFamily="2" charset="2"/>
              <a:buChar char="l"/>
            </a:pPr>
            <a:r>
              <a:rPr lang="zh-CN" altLang="en-US" sz="2000" dirty="0" smtClean="0"/>
              <a:t>人类大脑约有千亿神经元 </a:t>
            </a:r>
            <a:endParaRPr lang="en-US" altLang="zh-CN" sz="1800" dirty="0" smtClean="0">
              <a:solidFill>
                <a:srgbClr val="FF0000"/>
              </a:solidFill>
            </a:endParaRPr>
          </a:p>
        </p:txBody>
      </p:sp>
      <p:sp>
        <p:nvSpPr>
          <p:cNvPr id="9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脑网络分析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287" y="3501960"/>
            <a:ext cx="4445713" cy="32267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 descr="C:\Users\yzhang\Desktop\human-brain-project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489270"/>
            <a:ext cx="4698287" cy="32520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71054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计算系统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323528" y="980728"/>
            <a:ext cx="8680601" cy="237626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000" dirty="0" smtClean="0"/>
              <a:t>通用图计算系统</a:t>
            </a:r>
            <a:r>
              <a:rPr lang="en-US" altLang="zh-CN" sz="2000" dirty="0" smtClean="0"/>
              <a:t>(BFS/Graph 500, SSSP, PageRank, </a:t>
            </a:r>
            <a:r>
              <a:rPr lang="en-US" altLang="zh-CN" sz="2000" smtClean="0"/>
              <a:t>Clustering coefficient</a:t>
            </a:r>
            <a:r>
              <a:rPr lang="en-US" altLang="zh-CN" sz="2000" dirty="0" smtClean="0"/>
              <a:t>) </a:t>
            </a:r>
          </a:p>
          <a:p>
            <a:pPr marL="0" indent="0">
              <a:buNone/>
            </a:pPr>
            <a:r>
              <a:rPr lang="zh-CN" altLang="en-US" sz="2000" dirty="0" smtClean="0"/>
              <a:t>图挖掘和图推荐</a:t>
            </a:r>
            <a:r>
              <a:rPr lang="en-US" altLang="zh-CN" sz="2000" dirty="0" smtClean="0"/>
              <a:t>(Personal PR, </a:t>
            </a:r>
            <a:r>
              <a:rPr lang="en-US" altLang="zh-CN" sz="2000" dirty="0" err="1" smtClean="0"/>
              <a:t>SimRank</a:t>
            </a:r>
            <a:r>
              <a:rPr lang="en-US" altLang="zh-CN" sz="2000" dirty="0" smtClean="0"/>
              <a:t>, CD, </a:t>
            </a:r>
            <a:r>
              <a:rPr lang="en-US" altLang="zh-CN" sz="2000" dirty="0" err="1" smtClean="0"/>
              <a:t>etc</a:t>
            </a:r>
            <a:r>
              <a:rPr lang="en-US" altLang="zh-CN" sz="2000" dirty="0" smtClean="0"/>
              <a:t>).</a:t>
            </a:r>
          </a:p>
          <a:p>
            <a:pPr marL="0" indent="0">
              <a:buNone/>
            </a:pPr>
            <a:r>
              <a:rPr lang="en-US" altLang="zh-CN" sz="2000" dirty="0" smtClean="0"/>
              <a:t> </a:t>
            </a:r>
          </a:p>
          <a:p>
            <a:pPr marL="0" indent="0">
              <a:buNone/>
            </a:pPr>
            <a:r>
              <a:rPr lang="zh-CN" altLang="en-US" sz="2000" dirty="0" smtClean="0"/>
              <a:t>图不大，计算量巨大： </a:t>
            </a:r>
            <a:endParaRPr lang="en-US" altLang="zh-CN" sz="2000" dirty="0" smtClean="0"/>
          </a:p>
          <a:p>
            <a:pPr>
              <a:buFont typeface="Wingdings" pitchFamily="2" charset="2"/>
              <a:buChar char="l"/>
            </a:pPr>
            <a:r>
              <a:rPr lang="en-US" altLang="zh-CN" sz="2000" dirty="0" smtClean="0"/>
              <a:t>Twitter graph (65 million</a:t>
            </a:r>
            <a:r>
              <a:rPr lang="zh-CN" altLang="en-US" sz="2000" dirty="0" smtClean="0"/>
              <a:t>顶点， </a:t>
            </a:r>
            <a:r>
              <a:rPr lang="en-US" altLang="zh-CN" sz="2000" dirty="0" smtClean="0"/>
              <a:t>1.47billion</a:t>
            </a:r>
            <a:r>
              <a:rPr lang="zh-CN" altLang="en-US" sz="2000" dirty="0" smtClean="0"/>
              <a:t>边</a:t>
            </a:r>
            <a:r>
              <a:rPr lang="en-US" altLang="zh-CN" sz="2000" dirty="0" smtClean="0"/>
              <a:t>)</a:t>
            </a:r>
          </a:p>
          <a:p>
            <a:pPr>
              <a:buFont typeface="Wingdings" pitchFamily="2" charset="2"/>
              <a:buChar char="l"/>
            </a:pPr>
            <a:r>
              <a:rPr lang="en-US" altLang="zh-CN" sz="2000" dirty="0" smtClean="0"/>
              <a:t>Graph 500</a:t>
            </a:r>
            <a:r>
              <a:rPr lang="zh-CN" altLang="en-US" sz="2000" dirty="0" smtClean="0"/>
              <a:t>数据集  </a:t>
            </a:r>
            <a:r>
              <a:rPr lang="en-US" altLang="zh-CN" sz="2000" dirty="0" smtClean="0"/>
              <a:t>(2</a:t>
            </a:r>
            <a:r>
              <a:rPr lang="en-US" altLang="zh-CN" sz="2000" baseline="30000" dirty="0" smtClean="0"/>
              <a:t>40</a:t>
            </a:r>
            <a:r>
              <a:rPr lang="zh-CN" altLang="en-US" sz="2000" dirty="0" smtClean="0"/>
              <a:t>顶点， </a:t>
            </a:r>
            <a:r>
              <a:rPr lang="en-US" altLang="zh-CN" sz="2000" dirty="0" smtClean="0"/>
              <a:t>d </a:t>
            </a:r>
            <a:r>
              <a:rPr lang="en-US" altLang="zh-CN" sz="2000" dirty="0"/>
              <a:t>2</a:t>
            </a:r>
            <a:r>
              <a:rPr lang="en-US" altLang="zh-CN" sz="2000" baseline="30000" dirty="0"/>
              <a:t>40 </a:t>
            </a:r>
            <a:r>
              <a:rPr lang="zh-CN" altLang="en-US" sz="2000" dirty="0" smtClean="0"/>
              <a:t>个边</a:t>
            </a:r>
            <a:r>
              <a:rPr lang="en-US" altLang="zh-CN" sz="2000" dirty="0" smtClean="0"/>
              <a:t>)</a:t>
            </a:r>
          </a:p>
          <a:p>
            <a:pPr marL="0" indent="0">
              <a:buNone/>
            </a:pPr>
            <a:endParaRPr lang="en-US" altLang="zh-CN" sz="1800" dirty="0" smtClean="0">
              <a:solidFill>
                <a:srgbClr val="FF0000"/>
              </a:solidFill>
            </a:endParaRPr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19" y="3212141"/>
            <a:ext cx="4681377" cy="3601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251" y="3220091"/>
            <a:ext cx="4366370" cy="35932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8590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图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计算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908720"/>
            <a:ext cx="8286750" cy="557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598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现有</a:t>
            </a: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超算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平台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086056" y="3933056"/>
            <a:ext cx="36855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/>
            <a:r>
              <a:rPr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IBM BGQ Mira</a:t>
            </a:r>
            <a:endParaRPr lang="zh-CN" altLang="en-US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Picture 5" descr="http://www.top500.org/static/media/uploads/blog/tianhe-2-jack-dongarra-pd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258919"/>
            <a:ext cx="3744308" cy="2028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395537" y="3911388"/>
            <a:ext cx="36855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国防科大 天河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1A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， 天河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2B</a:t>
            </a:r>
            <a:endParaRPr lang="zh-CN" altLang="en-US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5" descr="IMG_0009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1340768"/>
            <a:ext cx="3528391" cy="208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6" descr="dawning5k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8"/>
            <a:ext cx="4742492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267690" y="39330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373832" y="956881"/>
            <a:ext cx="36855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曙光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5k, 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联想深腾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7k</a:t>
            </a:r>
            <a:endParaRPr lang="zh-CN" altLang="en-US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4809727" y="909226"/>
            <a:ext cx="368557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1pPr>
            <a:lvl2pPr marL="742950" indent="-28575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2pPr>
            <a:lvl3pPr marL="11430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3pPr>
            <a:lvl4pPr marL="16002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4pPr>
            <a:lvl5pPr marL="2057400" indent="-228600"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/>
            <a:r>
              <a:rPr lang="zh-CN" altLang="en-US" sz="2000" dirty="0" smtClean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曙光，星云</a:t>
            </a:r>
            <a:endParaRPr lang="zh-CN" altLang="en-US" sz="2000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 descr="http://s13.sinaimg.cn/mw690/005NWgDCty6Nn7sWWgA3c&amp;69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7" y="4258920"/>
            <a:ext cx="3528391" cy="202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46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异构平台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-NV K80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8" name="Picture 6" descr="http://easyread.ph.126.net/Aat5QCwFW90gt1XcgDFXJg==/791666733842990118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4" y="1143000"/>
            <a:ext cx="8895643" cy="516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78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异构平台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-Knights Landing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Picture 4" descr="http://images.anandtech.com/doci/9436/Knights_Landin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1095" y="1076600"/>
            <a:ext cx="9086317" cy="511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420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其他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平台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神经网络</a:t>
            </a: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芯片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5162" y="3893564"/>
            <a:ext cx="572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IBM True North for neural network</a:t>
            </a:r>
            <a:r>
              <a:rPr lang="zh-CN" altLang="en-US" dirty="0" smtClean="0"/>
              <a:t>，应用</a:t>
            </a:r>
            <a:r>
              <a:rPr lang="en-US" altLang="zh-CN" dirty="0" smtClean="0"/>
              <a:t>IBM Watson</a:t>
            </a:r>
            <a:endParaRPr lang="zh-CN" altLang="en-US" dirty="0"/>
          </a:p>
        </p:txBody>
      </p:sp>
      <p:pic>
        <p:nvPicPr>
          <p:cNvPr id="4100" name="Picture 4" descr="TrueNorth：IBM 的百万神经元类人脑芯片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7" y="1058995"/>
            <a:ext cx="2987825" cy="2814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TrueNorth：IBM 的百万神经元类人脑芯片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395" y="1057325"/>
            <a:ext cx="3192789" cy="281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349025" y="454991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 Google Brain </a:t>
            </a:r>
            <a:r>
              <a:rPr lang="zh-CN" altLang="en-US" dirty="0"/>
              <a:t>就采用了 </a:t>
            </a:r>
            <a:r>
              <a:rPr lang="en-US" altLang="zh-CN" dirty="0"/>
              <a:t>1000 </a:t>
            </a:r>
            <a:r>
              <a:rPr lang="zh-CN" altLang="en-US" dirty="0"/>
              <a:t>台各带 </a:t>
            </a:r>
            <a:r>
              <a:rPr lang="en-US" altLang="zh-CN" dirty="0"/>
              <a:t>16 </a:t>
            </a:r>
            <a:r>
              <a:rPr lang="zh-CN" altLang="en-US" dirty="0"/>
              <a:t>核处理器的计算机</a:t>
            </a:r>
          </a:p>
        </p:txBody>
      </p:sp>
      <p:sp>
        <p:nvSpPr>
          <p:cNvPr id="9" name="矩形 8"/>
          <p:cNvSpPr/>
          <p:nvPr/>
        </p:nvSpPr>
        <p:spPr>
          <a:xfrm>
            <a:off x="469377" y="528141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 smtClean="0"/>
              <a:t>微软 </a:t>
            </a:r>
            <a:r>
              <a:rPr lang="en-US" altLang="zh-CN" dirty="0" smtClean="0"/>
              <a:t>Adam</a:t>
            </a:r>
            <a:r>
              <a:rPr lang="zh-CN" altLang="en-US" dirty="0"/>
              <a:t>运行于一组标准服务器（由微软 </a:t>
            </a:r>
            <a:r>
              <a:rPr lang="en-US" altLang="zh-CN" dirty="0"/>
              <a:t>Azure </a:t>
            </a:r>
            <a:r>
              <a:rPr lang="zh-CN" altLang="en-US" dirty="0"/>
              <a:t>提供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469823" y="592774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 smtClean="0"/>
              <a:t>商汤科技</a:t>
            </a:r>
            <a:r>
              <a:rPr lang="en-US" altLang="zh-CN" dirty="0" smtClean="0"/>
              <a:t>, Apple, NASA</a:t>
            </a:r>
            <a:endParaRPr lang="zh-CN" altLang="en-US" dirty="0"/>
          </a:p>
        </p:txBody>
      </p:sp>
      <p:pic>
        <p:nvPicPr>
          <p:cNvPr id="4104" name="Picture 8" descr="http://img1.cache.netease.com/catchpic/7/7C/7C4B89B0B6CBE547CF3CC0C09DA33B1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8394" y="1057324"/>
            <a:ext cx="2870110" cy="2815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http://neuromorphs.net/nm/raw-attachment/wiki/2013/uns13/48node_pcb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2333" y="3854107"/>
            <a:ext cx="2866172" cy="2527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43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4400" dirty="0">
                <a:latin typeface="微软雅黑" pitchFamily="34" charset="-122"/>
                <a:ea typeface="微软雅黑" pitchFamily="34" charset="-122"/>
              </a:rPr>
              <a:t>其他</a:t>
            </a: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平台</a:t>
            </a:r>
            <a:r>
              <a:rPr lang="en-US" altLang="zh-CN" sz="4400" dirty="0" smtClean="0">
                <a:latin typeface="微软雅黑" pitchFamily="34" charset="-122"/>
                <a:ea typeface="微软雅黑" pitchFamily="34" charset="-122"/>
              </a:rPr>
              <a:t>-ARM64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172" name="Picture 4" descr="http://static.cnbetacdn.com/newsimg/2014/0605/90_1401948668.jpg_600x6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75" y="980728"/>
            <a:ext cx="4660576" cy="266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联想加入惠普/戴尔阵营 开发ARM服务器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980728"/>
            <a:ext cx="4044492" cy="539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108775" y="4005064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err="1" smtClean="0"/>
              <a:t>ThunderX</a:t>
            </a:r>
            <a:r>
              <a:rPr lang="zh-CN" altLang="en-US" dirty="0" smtClean="0"/>
              <a:t>单片功耗 </a:t>
            </a:r>
            <a:r>
              <a:rPr lang="en-US" altLang="zh-CN" dirty="0" smtClean="0"/>
              <a:t>96</a:t>
            </a:r>
            <a:r>
              <a:rPr lang="zh-CN" altLang="en-US" dirty="0" smtClean="0"/>
              <a:t>核</a:t>
            </a:r>
            <a:r>
              <a:rPr lang="en-US" altLang="zh-CN" dirty="0" smtClean="0"/>
              <a:t>, </a:t>
            </a:r>
            <a:r>
              <a:rPr lang="zh-CN" altLang="en-US" dirty="0" smtClean="0"/>
              <a:t>～</a:t>
            </a:r>
            <a:r>
              <a:rPr lang="en-US" altLang="zh-CN" dirty="0"/>
              <a:t>2</a:t>
            </a:r>
            <a:r>
              <a:rPr lang="en-US" altLang="zh-CN" dirty="0" smtClean="0"/>
              <a:t>00</a:t>
            </a:r>
            <a:r>
              <a:rPr lang="zh-CN" altLang="en-US" dirty="0" smtClean="0"/>
              <a:t>瓦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联想采用</a:t>
            </a:r>
            <a:r>
              <a:rPr lang="en-US" altLang="zh-CN" dirty="0" err="1"/>
              <a:t>Cavium</a:t>
            </a:r>
            <a:r>
              <a:rPr lang="zh-CN" altLang="en-US" dirty="0"/>
              <a:t>的基于</a:t>
            </a:r>
            <a:r>
              <a:rPr lang="en-US" altLang="zh-CN" dirty="0"/>
              <a:t>ARM</a:t>
            </a:r>
            <a:r>
              <a:rPr lang="zh-CN" altLang="en-US" dirty="0"/>
              <a:t>的</a:t>
            </a:r>
            <a:r>
              <a:rPr lang="en-US" altLang="zh-CN" dirty="0" err="1"/>
              <a:t>SoC</a:t>
            </a:r>
            <a:r>
              <a:rPr lang="en-US" altLang="zh-CN" dirty="0"/>
              <a:t> </a:t>
            </a:r>
            <a:r>
              <a:rPr lang="en-US" altLang="zh-CN" dirty="0" err="1"/>
              <a:t>ThunderX</a:t>
            </a:r>
            <a:r>
              <a:rPr lang="zh-CN" altLang="en-US" dirty="0"/>
              <a:t>芯片放到收购的</a:t>
            </a:r>
            <a:r>
              <a:rPr lang="en-US" altLang="zh-CN" dirty="0" err="1"/>
              <a:t>NeXtScale</a:t>
            </a:r>
            <a:r>
              <a:rPr lang="zh-CN" altLang="en-US" dirty="0"/>
              <a:t>系统</a:t>
            </a:r>
            <a:r>
              <a:rPr lang="zh-CN" altLang="en-US" dirty="0" smtClean="0"/>
              <a:t>中</a:t>
            </a:r>
            <a:r>
              <a:rPr lang="en-US" altLang="zh-CN" dirty="0" smtClean="0"/>
              <a:t>, 6U 1152</a:t>
            </a:r>
            <a:r>
              <a:rPr lang="zh-CN" altLang="en-US" dirty="0" smtClean="0"/>
              <a:t>核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708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6"/>
          <p:cNvSpPr>
            <a:spLocks/>
          </p:cNvSpPr>
          <p:nvPr/>
        </p:nvSpPr>
        <p:spPr bwMode="auto">
          <a:xfrm>
            <a:off x="-1" y="0"/>
            <a:ext cx="900413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4400" dirty="0" smtClean="0">
                <a:latin typeface="微软雅黑" pitchFamily="34" charset="-122"/>
                <a:ea typeface="微软雅黑" pitchFamily="34" charset="-122"/>
              </a:rPr>
              <a:t>现有合作单位</a:t>
            </a:r>
            <a:endParaRPr lang="en-US" altLang="zh-CN" sz="44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6" name="Picture 2" descr="http://img0.pconline.com.cn/pconline/1212/25/3115207_2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617" y="1110462"/>
            <a:ext cx="3096344" cy="2322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8089" y="3435333"/>
            <a:ext cx="2215399" cy="1518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044" y="3905365"/>
            <a:ext cx="5670630" cy="853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 descr="AN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134" y="1508398"/>
            <a:ext cx="3311859" cy="124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SIA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12563"/>
            <a:ext cx="2092035" cy="2092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99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021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4214810" y="0"/>
            <a:ext cx="51117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320" tIns="45660" rIns="91320" bIns="45660" anchor="ctr"/>
          <a:lstStyle/>
          <a:p>
            <a:pPr algn="ctr" eaLnBrk="0" hangingPunct="0">
              <a:buFontTx/>
              <a:buNone/>
            </a:pPr>
            <a:r>
              <a:rPr lang="en-US" altLang="zh-CN" sz="36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2016</a:t>
            </a:r>
            <a:r>
              <a:rPr lang="zh-CN" altLang="en-US" sz="36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年图关键问题</a:t>
            </a:r>
            <a:endParaRPr lang="zh-CN" sz="36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Freeform 87"/>
          <p:cNvSpPr/>
          <p:nvPr/>
        </p:nvSpPr>
        <p:spPr bwMode="auto">
          <a:xfrm>
            <a:off x="1016000" y="1854200"/>
            <a:ext cx="2957513" cy="2157413"/>
          </a:xfrm>
          <a:custGeom>
            <a:avLst/>
            <a:gdLst>
              <a:gd name="connsiteX0" fmla="*/ 1930400 w 3149600"/>
              <a:gd name="connsiteY0" fmla="*/ 159926 h 2455333"/>
              <a:gd name="connsiteX1" fmla="*/ 237067 w 3149600"/>
              <a:gd name="connsiteY1" fmla="*/ 193793 h 2455333"/>
              <a:gd name="connsiteX2" fmla="*/ 508000 w 3149600"/>
              <a:gd name="connsiteY2" fmla="*/ 1322682 h 2455333"/>
              <a:gd name="connsiteX3" fmla="*/ 993423 w 3149600"/>
              <a:gd name="connsiteY3" fmla="*/ 2304815 h 2455333"/>
              <a:gd name="connsiteX4" fmla="*/ 1569156 w 3149600"/>
              <a:gd name="connsiteY4" fmla="*/ 2225793 h 2455333"/>
              <a:gd name="connsiteX5" fmla="*/ 1919111 w 3149600"/>
              <a:gd name="connsiteY5" fmla="*/ 1175926 h 2455333"/>
              <a:gd name="connsiteX6" fmla="*/ 2291645 w 3149600"/>
              <a:gd name="connsiteY6" fmla="*/ 2135482 h 2455333"/>
              <a:gd name="connsiteX7" fmla="*/ 2889956 w 3149600"/>
              <a:gd name="connsiteY7" fmla="*/ 2304815 h 2455333"/>
              <a:gd name="connsiteX8" fmla="*/ 3081867 w 3149600"/>
              <a:gd name="connsiteY8" fmla="*/ 1841970 h 2455333"/>
              <a:gd name="connsiteX9" fmla="*/ 2483556 w 3149600"/>
              <a:gd name="connsiteY9" fmla="*/ 600193 h 2455333"/>
              <a:gd name="connsiteX10" fmla="*/ 1930400 w 3149600"/>
              <a:gd name="connsiteY10" fmla="*/ 159926 h 2455333"/>
              <a:gd name="connsiteX0" fmla="*/ 1969911 w 3155244"/>
              <a:gd name="connsiteY0" fmla="*/ 96426 h 2468033"/>
              <a:gd name="connsiteX1" fmla="*/ 242711 w 3155244"/>
              <a:gd name="connsiteY1" fmla="*/ 206493 h 2468033"/>
              <a:gd name="connsiteX2" fmla="*/ 513644 w 3155244"/>
              <a:gd name="connsiteY2" fmla="*/ 1335382 h 2468033"/>
              <a:gd name="connsiteX3" fmla="*/ 999067 w 3155244"/>
              <a:gd name="connsiteY3" fmla="*/ 2317515 h 2468033"/>
              <a:gd name="connsiteX4" fmla="*/ 1574800 w 3155244"/>
              <a:gd name="connsiteY4" fmla="*/ 2238493 h 2468033"/>
              <a:gd name="connsiteX5" fmla="*/ 1924755 w 3155244"/>
              <a:gd name="connsiteY5" fmla="*/ 1188626 h 2468033"/>
              <a:gd name="connsiteX6" fmla="*/ 2297289 w 3155244"/>
              <a:gd name="connsiteY6" fmla="*/ 2148182 h 2468033"/>
              <a:gd name="connsiteX7" fmla="*/ 2895600 w 3155244"/>
              <a:gd name="connsiteY7" fmla="*/ 2317515 h 2468033"/>
              <a:gd name="connsiteX8" fmla="*/ 3087511 w 3155244"/>
              <a:gd name="connsiteY8" fmla="*/ 1854670 h 2468033"/>
              <a:gd name="connsiteX9" fmla="*/ 2489200 w 3155244"/>
              <a:gd name="connsiteY9" fmla="*/ 612893 h 2468033"/>
              <a:gd name="connsiteX10" fmla="*/ 1969911 w 3155244"/>
              <a:gd name="connsiteY10" fmla="*/ 96426 h 2468033"/>
              <a:gd name="connsiteX0" fmla="*/ 1969911 w 3165592"/>
              <a:gd name="connsiteY0" fmla="*/ 96426 h 2468033"/>
              <a:gd name="connsiteX1" fmla="*/ 242711 w 3165592"/>
              <a:gd name="connsiteY1" fmla="*/ 206493 h 2468033"/>
              <a:gd name="connsiteX2" fmla="*/ 513644 w 3165592"/>
              <a:gd name="connsiteY2" fmla="*/ 1335382 h 2468033"/>
              <a:gd name="connsiteX3" fmla="*/ 999067 w 3165592"/>
              <a:gd name="connsiteY3" fmla="*/ 2317515 h 2468033"/>
              <a:gd name="connsiteX4" fmla="*/ 1574800 w 3165592"/>
              <a:gd name="connsiteY4" fmla="*/ 2238493 h 2468033"/>
              <a:gd name="connsiteX5" fmla="*/ 1924755 w 3165592"/>
              <a:gd name="connsiteY5" fmla="*/ 1188626 h 2468033"/>
              <a:gd name="connsiteX6" fmla="*/ 2297289 w 3165592"/>
              <a:gd name="connsiteY6" fmla="*/ 2148182 h 2468033"/>
              <a:gd name="connsiteX7" fmla="*/ 2895600 w 3165592"/>
              <a:gd name="connsiteY7" fmla="*/ 2317515 h 2468033"/>
              <a:gd name="connsiteX8" fmla="*/ 3087511 w 3165592"/>
              <a:gd name="connsiteY8" fmla="*/ 1854670 h 2468033"/>
              <a:gd name="connsiteX9" fmla="*/ 2427111 w 3165592"/>
              <a:gd name="connsiteY9" fmla="*/ 477426 h 2468033"/>
              <a:gd name="connsiteX10" fmla="*/ 1969911 w 3165592"/>
              <a:gd name="connsiteY10" fmla="*/ 96426 h 2468033"/>
              <a:gd name="connsiteX0" fmla="*/ 1881011 w 3152892"/>
              <a:gd name="connsiteY0" fmla="*/ 96426 h 2468033"/>
              <a:gd name="connsiteX1" fmla="*/ 230011 w 3152892"/>
              <a:gd name="connsiteY1" fmla="*/ 206493 h 2468033"/>
              <a:gd name="connsiteX2" fmla="*/ 500944 w 3152892"/>
              <a:gd name="connsiteY2" fmla="*/ 1335382 h 2468033"/>
              <a:gd name="connsiteX3" fmla="*/ 986367 w 3152892"/>
              <a:gd name="connsiteY3" fmla="*/ 2317515 h 2468033"/>
              <a:gd name="connsiteX4" fmla="*/ 1562100 w 3152892"/>
              <a:gd name="connsiteY4" fmla="*/ 2238493 h 2468033"/>
              <a:gd name="connsiteX5" fmla="*/ 1912055 w 3152892"/>
              <a:gd name="connsiteY5" fmla="*/ 1188626 h 2468033"/>
              <a:gd name="connsiteX6" fmla="*/ 2284589 w 3152892"/>
              <a:gd name="connsiteY6" fmla="*/ 2148182 h 2468033"/>
              <a:gd name="connsiteX7" fmla="*/ 2882900 w 3152892"/>
              <a:gd name="connsiteY7" fmla="*/ 2317515 h 2468033"/>
              <a:gd name="connsiteX8" fmla="*/ 3074811 w 3152892"/>
              <a:gd name="connsiteY8" fmla="*/ 1854670 h 2468033"/>
              <a:gd name="connsiteX9" fmla="*/ 2414411 w 3152892"/>
              <a:gd name="connsiteY9" fmla="*/ 477426 h 2468033"/>
              <a:gd name="connsiteX10" fmla="*/ 1881011 w 3152892"/>
              <a:gd name="connsiteY10" fmla="*/ 96426 h 2468033"/>
              <a:gd name="connsiteX0" fmla="*/ 1690511 w 2962392"/>
              <a:gd name="connsiteY0" fmla="*/ 83726 h 2455333"/>
              <a:gd name="connsiteX1" fmla="*/ 547511 w 2962392"/>
              <a:gd name="connsiteY1" fmla="*/ 159926 h 2455333"/>
              <a:gd name="connsiteX2" fmla="*/ 39511 w 2962392"/>
              <a:gd name="connsiteY2" fmla="*/ 193793 h 2455333"/>
              <a:gd name="connsiteX3" fmla="*/ 310444 w 2962392"/>
              <a:gd name="connsiteY3" fmla="*/ 1322682 h 2455333"/>
              <a:gd name="connsiteX4" fmla="*/ 795867 w 2962392"/>
              <a:gd name="connsiteY4" fmla="*/ 2304815 h 2455333"/>
              <a:gd name="connsiteX5" fmla="*/ 1371600 w 2962392"/>
              <a:gd name="connsiteY5" fmla="*/ 2225793 h 2455333"/>
              <a:gd name="connsiteX6" fmla="*/ 1721555 w 2962392"/>
              <a:gd name="connsiteY6" fmla="*/ 1175926 h 2455333"/>
              <a:gd name="connsiteX7" fmla="*/ 2094089 w 2962392"/>
              <a:gd name="connsiteY7" fmla="*/ 2135482 h 2455333"/>
              <a:gd name="connsiteX8" fmla="*/ 2692400 w 2962392"/>
              <a:gd name="connsiteY8" fmla="*/ 2304815 h 2455333"/>
              <a:gd name="connsiteX9" fmla="*/ 2884311 w 2962392"/>
              <a:gd name="connsiteY9" fmla="*/ 1841970 h 2455333"/>
              <a:gd name="connsiteX10" fmla="*/ 2223911 w 2962392"/>
              <a:gd name="connsiteY10" fmla="*/ 464726 h 2455333"/>
              <a:gd name="connsiteX11" fmla="*/ 1690511 w 2962392"/>
              <a:gd name="connsiteY11" fmla="*/ 83726 h 2455333"/>
              <a:gd name="connsiteX0" fmla="*/ 1690511 w 2962392"/>
              <a:gd name="connsiteY0" fmla="*/ 83726 h 2455333"/>
              <a:gd name="connsiteX1" fmla="*/ 547511 w 2962392"/>
              <a:gd name="connsiteY1" fmla="*/ 159926 h 2455333"/>
              <a:gd name="connsiteX2" fmla="*/ 39511 w 2962392"/>
              <a:gd name="connsiteY2" fmla="*/ 193793 h 2455333"/>
              <a:gd name="connsiteX3" fmla="*/ 310444 w 2962392"/>
              <a:gd name="connsiteY3" fmla="*/ 1322682 h 2455333"/>
              <a:gd name="connsiteX4" fmla="*/ 795867 w 2962392"/>
              <a:gd name="connsiteY4" fmla="*/ 2304815 h 2455333"/>
              <a:gd name="connsiteX5" fmla="*/ 1371600 w 2962392"/>
              <a:gd name="connsiteY5" fmla="*/ 2225793 h 2455333"/>
              <a:gd name="connsiteX6" fmla="*/ 1721555 w 2962392"/>
              <a:gd name="connsiteY6" fmla="*/ 1175926 h 2455333"/>
              <a:gd name="connsiteX7" fmla="*/ 2094089 w 2962392"/>
              <a:gd name="connsiteY7" fmla="*/ 2135482 h 2455333"/>
              <a:gd name="connsiteX8" fmla="*/ 2692400 w 2962392"/>
              <a:gd name="connsiteY8" fmla="*/ 2304815 h 2455333"/>
              <a:gd name="connsiteX9" fmla="*/ 2884311 w 2962392"/>
              <a:gd name="connsiteY9" fmla="*/ 1841970 h 2455333"/>
              <a:gd name="connsiteX10" fmla="*/ 2223911 w 2962392"/>
              <a:gd name="connsiteY10" fmla="*/ 464726 h 2455333"/>
              <a:gd name="connsiteX11" fmla="*/ 1690511 w 2962392"/>
              <a:gd name="connsiteY11" fmla="*/ 83726 h 2455333"/>
              <a:gd name="connsiteX0" fmla="*/ 1792111 w 3063992"/>
              <a:gd name="connsiteY0" fmla="*/ 50800 h 2422407"/>
              <a:gd name="connsiteX1" fmla="*/ 649111 w 3063992"/>
              <a:gd name="connsiteY1" fmla="*/ 127000 h 2422407"/>
              <a:gd name="connsiteX2" fmla="*/ 39511 w 3063992"/>
              <a:gd name="connsiteY2" fmla="*/ 279400 h 2422407"/>
              <a:gd name="connsiteX3" fmla="*/ 412044 w 3063992"/>
              <a:gd name="connsiteY3" fmla="*/ 1289756 h 2422407"/>
              <a:gd name="connsiteX4" fmla="*/ 897467 w 3063992"/>
              <a:gd name="connsiteY4" fmla="*/ 2271889 h 2422407"/>
              <a:gd name="connsiteX5" fmla="*/ 1473200 w 3063992"/>
              <a:gd name="connsiteY5" fmla="*/ 2192867 h 2422407"/>
              <a:gd name="connsiteX6" fmla="*/ 1823155 w 3063992"/>
              <a:gd name="connsiteY6" fmla="*/ 1143000 h 2422407"/>
              <a:gd name="connsiteX7" fmla="*/ 2195689 w 3063992"/>
              <a:gd name="connsiteY7" fmla="*/ 2102556 h 2422407"/>
              <a:gd name="connsiteX8" fmla="*/ 2794000 w 3063992"/>
              <a:gd name="connsiteY8" fmla="*/ 2271889 h 2422407"/>
              <a:gd name="connsiteX9" fmla="*/ 2985911 w 3063992"/>
              <a:gd name="connsiteY9" fmla="*/ 1809044 h 2422407"/>
              <a:gd name="connsiteX10" fmla="*/ 2325511 w 3063992"/>
              <a:gd name="connsiteY10" fmla="*/ 431800 h 2422407"/>
              <a:gd name="connsiteX11" fmla="*/ 1792111 w 3063992"/>
              <a:gd name="connsiteY11" fmla="*/ 50800 h 2422407"/>
              <a:gd name="connsiteX0" fmla="*/ 1715911 w 3063992"/>
              <a:gd name="connsiteY0" fmla="*/ 50800 h 2422407"/>
              <a:gd name="connsiteX1" fmla="*/ 649111 w 3063992"/>
              <a:gd name="connsiteY1" fmla="*/ 127000 h 2422407"/>
              <a:gd name="connsiteX2" fmla="*/ 39511 w 3063992"/>
              <a:gd name="connsiteY2" fmla="*/ 279400 h 2422407"/>
              <a:gd name="connsiteX3" fmla="*/ 412044 w 3063992"/>
              <a:gd name="connsiteY3" fmla="*/ 1289756 h 2422407"/>
              <a:gd name="connsiteX4" fmla="*/ 897467 w 3063992"/>
              <a:gd name="connsiteY4" fmla="*/ 2271889 h 2422407"/>
              <a:gd name="connsiteX5" fmla="*/ 1473200 w 3063992"/>
              <a:gd name="connsiteY5" fmla="*/ 2192867 h 2422407"/>
              <a:gd name="connsiteX6" fmla="*/ 1823155 w 3063992"/>
              <a:gd name="connsiteY6" fmla="*/ 1143000 h 2422407"/>
              <a:gd name="connsiteX7" fmla="*/ 2195689 w 3063992"/>
              <a:gd name="connsiteY7" fmla="*/ 2102556 h 2422407"/>
              <a:gd name="connsiteX8" fmla="*/ 2794000 w 3063992"/>
              <a:gd name="connsiteY8" fmla="*/ 2271889 h 2422407"/>
              <a:gd name="connsiteX9" fmla="*/ 2985911 w 3063992"/>
              <a:gd name="connsiteY9" fmla="*/ 1809044 h 2422407"/>
              <a:gd name="connsiteX10" fmla="*/ 2325511 w 3063992"/>
              <a:gd name="connsiteY10" fmla="*/ 431800 h 2422407"/>
              <a:gd name="connsiteX11" fmla="*/ 1715911 w 3063992"/>
              <a:gd name="connsiteY11" fmla="*/ 50800 h 2422407"/>
              <a:gd name="connsiteX0" fmla="*/ 1779411 w 3127492"/>
              <a:gd name="connsiteY0" fmla="*/ 38100 h 2409707"/>
              <a:gd name="connsiteX1" fmla="*/ 1093611 w 3127492"/>
              <a:gd name="connsiteY1" fmla="*/ 190500 h 2409707"/>
              <a:gd name="connsiteX2" fmla="*/ 103011 w 3127492"/>
              <a:gd name="connsiteY2" fmla="*/ 266700 h 2409707"/>
              <a:gd name="connsiteX3" fmla="*/ 475544 w 3127492"/>
              <a:gd name="connsiteY3" fmla="*/ 1277056 h 2409707"/>
              <a:gd name="connsiteX4" fmla="*/ 960967 w 3127492"/>
              <a:gd name="connsiteY4" fmla="*/ 2259189 h 2409707"/>
              <a:gd name="connsiteX5" fmla="*/ 1536700 w 3127492"/>
              <a:gd name="connsiteY5" fmla="*/ 2180167 h 2409707"/>
              <a:gd name="connsiteX6" fmla="*/ 1886655 w 3127492"/>
              <a:gd name="connsiteY6" fmla="*/ 1130300 h 2409707"/>
              <a:gd name="connsiteX7" fmla="*/ 2259189 w 3127492"/>
              <a:gd name="connsiteY7" fmla="*/ 2089856 h 2409707"/>
              <a:gd name="connsiteX8" fmla="*/ 2857500 w 3127492"/>
              <a:gd name="connsiteY8" fmla="*/ 2259189 h 2409707"/>
              <a:gd name="connsiteX9" fmla="*/ 3049411 w 3127492"/>
              <a:gd name="connsiteY9" fmla="*/ 1796344 h 2409707"/>
              <a:gd name="connsiteX10" fmla="*/ 2389011 w 3127492"/>
              <a:gd name="connsiteY10" fmla="*/ 419100 h 2409707"/>
              <a:gd name="connsiteX11" fmla="*/ 1779411 w 3127492"/>
              <a:gd name="connsiteY11" fmla="*/ 38100 h 2409707"/>
              <a:gd name="connsiteX0" fmla="*/ 1855611 w 3127492"/>
              <a:gd name="connsiteY0" fmla="*/ 38100 h 2333507"/>
              <a:gd name="connsiteX1" fmla="*/ 1093611 w 3127492"/>
              <a:gd name="connsiteY1" fmla="*/ 114300 h 2333507"/>
              <a:gd name="connsiteX2" fmla="*/ 103011 w 3127492"/>
              <a:gd name="connsiteY2" fmla="*/ 190500 h 2333507"/>
              <a:gd name="connsiteX3" fmla="*/ 475544 w 3127492"/>
              <a:gd name="connsiteY3" fmla="*/ 1200856 h 2333507"/>
              <a:gd name="connsiteX4" fmla="*/ 960967 w 3127492"/>
              <a:gd name="connsiteY4" fmla="*/ 2182989 h 2333507"/>
              <a:gd name="connsiteX5" fmla="*/ 1536700 w 3127492"/>
              <a:gd name="connsiteY5" fmla="*/ 2103967 h 2333507"/>
              <a:gd name="connsiteX6" fmla="*/ 1886655 w 3127492"/>
              <a:gd name="connsiteY6" fmla="*/ 1054100 h 2333507"/>
              <a:gd name="connsiteX7" fmla="*/ 2259189 w 3127492"/>
              <a:gd name="connsiteY7" fmla="*/ 2013656 h 2333507"/>
              <a:gd name="connsiteX8" fmla="*/ 2857500 w 3127492"/>
              <a:gd name="connsiteY8" fmla="*/ 2182989 h 2333507"/>
              <a:gd name="connsiteX9" fmla="*/ 3049411 w 3127492"/>
              <a:gd name="connsiteY9" fmla="*/ 1720144 h 2333507"/>
              <a:gd name="connsiteX10" fmla="*/ 2389011 w 3127492"/>
              <a:gd name="connsiteY10" fmla="*/ 342900 h 2333507"/>
              <a:gd name="connsiteX11" fmla="*/ 1855611 w 3127492"/>
              <a:gd name="connsiteY11" fmla="*/ 38100 h 2333507"/>
              <a:gd name="connsiteX0" fmla="*/ 1765300 w 3037181"/>
              <a:gd name="connsiteY0" fmla="*/ 38100 h 2374900"/>
              <a:gd name="connsiteX1" fmla="*/ 1003300 w 3037181"/>
              <a:gd name="connsiteY1" fmla="*/ 114300 h 2374900"/>
              <a:gd name="connsiteX2" fmla="*/ 12700 w 3037181"/>
              <a:gd name="connsiteY2" fmla="*/ 190500 h 2374900"/>
              <a:gd name="connsiteX3" fmla="*/ 1079500 w 3037181"/>
              <a:gd name="connsiteY3" fmla="*/ 952500 h 2374900"/>
              <a:gd name="connsiteX4" fmla="*/ 870656 w 3037181"/>
              <a:gd name="connsiteY4" fmla="*/ 2182989 h 2374900"/>
              <a:gd name="connsiteX5" fmla="*/ 1446389 w 3037181"/>
              <a:gd name="connsiteY5" fmla="*/ 2103967 h 2374900"/>
              <a:gd name="connsiteX6" fmla="*/ 1796344 w 3037181"/>
              <a:gd name="connsiteY6" fmla="*/ 1054100 h 2374900"/>
              <a:gd name="connsiteX7" fmla="*/ 2168878 w 3037181"/>
              <a:gd name="connsiteY7" fmla="*/ 2013656 h 2374900"/>
              <a:gd name="connsiteX8" fmla="*/ 2767189 w 3037181"/>
              <a:gd name="connsiteY8" fmla="*/ 2182989 h 2374900"/>
              <a:gd name="connsiteX9" fmla="*/ 2959100 w 3037181"/>
              <a:gd name="connsiteY9" fmla="*/ 1720144 h 2374900"/>
              <a:gd name="connsiteX10" fmla="*/ 2298700 w 3037181"/>
              <a:gd name="connsiteY10" fmla="*/ 342900 h 2374900"/>
              <a:gd name="connsiteX11" fmla="*/ 1765300 w 3037181"/>
              <a:gd name="connsiteY11" fmla="*/ 38100 h 2374900"/>
              <a:gd name="connsiteX0" fmla="*/ 1765300 w 3037181"/>
              <a:gd name="connsiteY0" fmla="*/ 38100 h 2239433"/>
              <a:gd name="connsiteX1" fmla="*/ 1003300 w 3037181"/>
              <a:gd name="connsiteY1" fmla="*/ 114300 h 2239433"/>
              <a:gd name="connsiteX2" fmla="*/ 12700 w 3037181"/>
              <a:gd name="connsiteY2" fmla="*/ 190500 h 2239433"/>
              <a:gd name="connsiteX3" fmla="*/ 1079500 w 3037181"/>
              <a:gd name="connsiteY3" fmla="*/ 952500 h 2239433"/>
              <a:gd name="connsiteX4" fmla="*/ 698500 w 3037181"/>
              <a:gd name="connsiteY4" fmla="*/ 1866899 h 2239433"/>
              <a:gd name="connsiteX5" fmla="*/ 1446389 w 3037181"/>
              <a:gd name="connsiteY5" fmla="*/ 2103967 h 2239433"/>
              <a:gd name="connsiteX6" fmla="*/ 1796344 w 3037181"/>
              <a:gd name="connsiteY6" fmla="*/ 1054100 h 2239433"/>
              <a:gd name="connsiteX7" fmla="*/ 2168878 w 3037181"/>
              <a:gd name="connsiteY7" fmla="*/ 2013656 h 2239433"/>
              <a:gd name="connsiteX8" fmla="*/ 2767189 w 3037181"/>
              <a:gd name="connsiteY8" fmla="*/ 2182989 h 2239433"/>
              <a:gd name="connsiteX9" fmla="*/ 2959100 w 3037181"/>
              <a:gd name="connsiteY9" fmla="*/ 1720144 h 2239433"/>
              <a:gd name="connsiteX10" fmla="*/ 2298700 w 3037181"/>
              <a:gd name="connsiteY10" fmla="*/ 342900 h 2239433"/>
              <a:gd name="connsiteX11" fmla="*/ 1765300 w 3037181"/>
              <a:gd name="connsiteY11" fmla="*/ 38100 h 2239433"/>
              <a:gd name="connsiteX0" fmla="*/ 1765300 w 3037181"/>
              <a:gd name="connsiteY0" fmla="*/ 38100 h 2231908"/>
              <a:gd name="connsiteX1" fmla="*/ 1003300 w 3037181"/>
              <a:gd name="connsiteY1" fmla="*/ 114300 h 2231908"/>
              <a:gd name="connsiteX2" fmla="*/ 12700 w 3037181"/>
              <a:gd name="connsiteY2" fmla="*/ 190500 h 2231908"/>
              <a:gd name="connsiteX3" fmla="*/ 1079500 w 3037181"/>
              <a:gd name="connsiteY3" fmla="*/ 952500 h 2231908"/>
              <a:gd name="connsiteX4" fmla="*/ 698500 w 3037181"/>
              <a:gd name="connsiteY4" fmla="*/ 1866899 h 2231908"/>
              <a:gd name="connsiteX5" fmla="*/ 1384300 w 3037181"/>
              <a:gd name="connsiteY5" fmla="*/ 2095500 h 2231908"/>
              <a:gd name="connsiteX6" fmla="*/ 1796344 w 3037181"/>
              <a:gd name="connsiteY6" fmla="*/ 1054100 h 2231908"/>
              <a:gd name="connsiteX7" fmla="*/ 2168878 w 3037181"/>
              <a:gd name="connsiteY7" fmla="*/ 2013656 h 2231908"/>
              <a:gd name="connsiteX8" fmla="*/ 2767189 w 3037181"/>
              <a:gd name="connsiteY8" fmla="*/ 2182989 h 2231908"/>
              <a:gd name="connsiteX9" fmla="*/ 2959100 w 3037181"/>
              <a:gd name="connsiteY9" fmla="*/ 1720144 h 2231908"/>
              <a:gd name="connsiteX10" fmla="*/ 2298700 w 3037181"/>
              <a:gd name="connsiteY10" fmla="*/ 342900 h 2231908"/>
              <a:gd name="connsiteX11" fmla="*/ 1765300 w 3037181"/>
              <a:gd name="connsiteY11" fmla="*/ 38100 h 2231908"/>
              <a:gd name="connsiteX0" fmla="*/ 1854200 w 3126081"/>
              <a:gd name="connsiteY0" fmla="*/ 38100 h 2231908"/>
              <a:gd name="connsiteX1" fmla="*/ 1092200 w 3126081"/>
              <a:gd name="connsiteY1" fmla="*/ 114300 h 2231908"/>
              <a:gd name="connsiteX2" fmla="*/ 101600 w 3126081"/>
              <a:gd name="connsiteY2" fmla="*/ 190500 h 2231908"/>
              <a:gd name="connsiteX3" fmla="*/ 177800 w 3126081"/>
              <a:gd name="connsiteY3" fmla="*/ 647700 h 2231908"/>
              <a:gd name="connsiteX4" fmla="*/ 1168400 w 3126081"/>
              <a:gd name="connsiteY4" fmla="*/ 952500 h 2231908"/>
              <a:gd name="connsiteX5" fmla="*/ 787400 w 3126081"/>
              <a:gd name="connsiteY5" fmla="*/ 1866899 h 2231908"/>
              <a:gd name="connsiteX6" fmla="*/ 1473200 w 3126081"/>
              <a:gd name="connsiteY6" fmla="*/ 2095500 h 2231908"/>
              <a:gd name="connsiteX7" fmla="*/ 1885244 w 3126081"/>
              <a:gd name="connsiteY7" fmla="*/ 1054100 h 2231908"/>
              <a:gd name="connsiteX8" fmla="*/ 2257778 w 3126081"/>
              <a:gd name="connsiteY8" fmla="*/ 2013656 h 2231908"/>
              <a:gd name="connsiteX9" fmla="*/ 2856089 w 3126081"/>
              <a:gd name="connsiteY9" fmla="*/ 2182989 h 2231908"/>
              <a:gd name="connsiteX10" fmla="*/ 3048000 w 3126081"/>
              <a:gd name="connsiteY10" fmla="*/ 1720144 h 2231908"/>
              <a:gd name="connsiteX11" fmla="*/ 2387600 w 3126081"/>
              <a:gd name="connsiteY11" fmla="*/ 342900 h 2231908"/>
              <a:gd name="connsiteX12" fmla="*/ 1854200 w 3126081"/>
              <a:gd name="connsiteY12" fmla="*/ 38100 h 2231908"/>
              <a:gd name="connsiteX0" fmla="*/ 1854200 w 3126081"/>
              <a:gd name="connsiteY0" fmla="*/ 38100 h 2231908"/>
              <a:gd name="connsiteX1" fmla="*/ 1092200 w 3126081"/>
              <a:gd name="connsiteY1" fmla="*/ 114300 h 2231908"/>
              <a:gd name="connsiteX2" fmla="*/ 101600 w 3126081"/>
              <a:gd name="connsiteY2" fmla="*/ 190500 h 2231908"/>
              <a:gd name="connsiteX3" fmla="*/ 177800 w 3126081"/>
              <a:gd name="connsiteY3" fmla="*/ 647700 h 2231908"/>
              <a:gd name="connsiteX4" fmla="*/ 1168400 w 3126081"/>
              <a:gd name="connsiteY4" fmla="*/ 952500 h 2231908"/>
              <a:gd name="connsiteX5" fmla="*/ 787400 w 3126081"/>
              <a:gd name="connsiteY5" fmla="*/ 1866899 h 2231908"/>
              <a:gd name="connsiteX6" fmla="*/ 1473200 w 3126081"/>
              <a:gd name="connsiteY6" fmla="*/ 2095500 h 2231908"/>
              <a:gd name="connsiteX7" fmla="*/ 1885244 w 3126081"/>
              <a:gd name="connsiteY7" fmla="*/ 1054100 h 2231908"/>
              <a:gd name="connsiteX8" fmla="*/ 2257778 w 3126081"/>
              <a:gd name="connsiteY8" fmla="*/ 2013656 h 2231908"/>
              <a:gd name="connsiteX9" fmla="*/ 2856089 w 3126081"/>
              <a:gd name="connsiteY9" fmla="*/ 2182989 h 2231908"/>
              <a:gd name="connsiteX10" fmla="*/ 3048000 w 3126081"/>
              <a:gd name="connsiteY10" fmla="*/ 1720144 h 2231908"/>
              <a:gd name="connsiteX11" fmla="*/ 2387600 w 3126081"/>
              <a:gd name="connsiteY11" fmla="*/ 342900 h 2231908"/>
              <a:gd name="connsiteX12" fmla="*/ 1854200 w 3126081"/>
              <a:gd name="connsiteY12" fmla="*/ 38100 h 2231908"/>
              <a:gd name="connsiteX0" fmla="*/ 1854200 w 3126081"/>
              <a:gd name="connsiteY0" fmla="*/ 51741 h 2245549"/>
              <a:gd name="connsiteX1" fmla="*/ 1092200 w 3126081"/>
              <a:gd name="connsiteY1" fmla="*/ 127941 h 2245549"/>
              <a:gd name="connsiteX2" fmla="*/ 101600 w 3126081"/>
              <a:gd name="connsiteY2" fmla="*/ 204141 h 2245549"/>
              <a:gd name="connsiteX3" fmla="*/ 177800 w 3126081"/>
              <a:gd name="connsiteY3" fmla="*/ 661341 h 2245549"/>
              <a:gd name="connsiteX4" fmla="*/ 1168400 w 3126081"/>
              <a:gd name="connsiteY4" fmla="*/ 966141 h 2245549"/>
              <a:gd name="connsiteX5" fmla="*/ 787400 w 3126081"/>
              <a:gd name="connsiteY5" fmla="*/ 1880540 h 2245549"/>
              <a:gd name="connsiteX6" fmla="*/ 1473200 w 3126081"/>
              <a:gd name="connsiteY6" fmla="*/ 2109141 h 2245549"/>
              <a:gd name="connsiteX7" fmla="*/ 1885244 w 3126081"/>
              <a:gd name="connsiteY7" fmla="*/ 1067741 h 2245549"/>
              <a:gd name="connsiteX8" fmla="*/ 2257778 w 3126081"/>
              <a:gd name="connsiteY8" fmla="*/ 2027297 h 2245549"/>
              <a:gd name="connsiteX9" fmla="*/ 2856089 w 3126081"/>
              <a:gd name="connsiteY9" fmla="*/ 2196630 h 2245549"/>
              <a:gd name="connsiteX10" fmla="*/ 3048000 w 3126081"/>
              <a:gd name="connsiteY10" fmla="*/ 1733785 h 2245549"/>
              <a:gd name="connsiteX11" fmla="*/ 2387600 w 3126081"/>
              <a:gd name="connsiteY11" fmla="*/ 280341 h 2245549"/>
              <a:gd name="connsiteX12" fmla="*/ 1854200 w 3126081"/>
              <a:gd name="connsiteY12" fmla="*/ 51741 h 2245549"/>
              <a:gd name="connsiteX0" fmla="*/ 1778000 w 3126081"/>
              <a:gd name="connsiteY0" fmla="*/ 25400 h 2295407"/>
              <a:gd name="connsiteX1" fmla="*/ 1092200 w 3126081"/>
              <a:gd name="connsiteY1" fmla="*/ 177799 h 2295407"/>
              <a:gd name="connsiteX2" fmla="*/ 101600 w 3126081"/>
              <a:gd name="connsiteY2" fmla="*/ 253999 h 2295407"/>
              <a:gd name="connsiteX3" fmla="*/ 177800 w 3126081"/>
              <a:gd name="connsiteY3" fmla="*/ 711199 h 2295407"/>
              <a:gd name="connsiteX4" fmla="*/ 1168400 w 3126081"/>
              <a:gd name="connsiteY4" fmla="*/ 1015999 h 2295407"/>
              <a:gd name="connsiteX5" fmla="*/ 787400 w 3126081"/>
              <a:gd name="connsiteY5" fmla="*/ 1930398 h 2295407"/>
              <a:gd name="connsiteX6" fmla="*/ 1473200 w 3126081"/>
              <a:gd name="connsiteY6" fmla="*/ 2158999 h 2295407"/>
              <a:gd name="connsiteX7" fmla="*/ 1885244 w 3126081"/>
              <a:gd name="connsiteY7" fmla="*/ 1117599 h 2295407"/>
              <a:gd name="connsiteX8" fmla="*/ 2257778 w 3126081"/>
              <a:gd name="connsiteY8" fmla="*/ 2077155 h 2295407"/>
              <a:gd name="connsiteX9" fmla="*/ 2856089 w 3126081"/>
              <a:gd name="connsiteY9" fmla="*/ 2246488 h 2295407"/>
              <a:gd name="connsiteX10" fmla="*/ 3048000 w 3126081"/>
              <a:gd name="connsiteY10" fmla="*/ 1783643 h 2295407"/>
              <a:gd name="connsiteX11" fmla="*/ 2387600 w 3126081"/>
              <a:gd name="connsiteY11" fmla="*/ 330199 h 2295407"/>
              <a:gd name="connsiteX12" fmla="*/ 1778000 w 3126081"/>
              <a:gd name="connsiteY12" fmla="*/ 25400 h 2295407"/>
              <a:gd name="connsiteX0" fmla="*/ 1778000 w 3126081"/>
              <a:gd name="connsiteY0" fmla="*/ 25400 h 2295407"/>
              <a:gd name="connsiteX1" fmla="*/ 1092200 w 3126081"/>
              <a:gd name="connsiteY1" fmla="*/ 177799 h 2295407"/>
              <a:gd name="connsiteX2" fmla="*/ 101600 w 3126081"/>
              <a:gd name="connsiteY2" fmla="*/ 253999 h 2295407"/>
              <a:gd name="connsiteX3" fmla="*/ 177800 w 3126081"/>
              <a:gd name="connsiteY3" fmla="*/ 711199 h 2295407"/>
              <a:gd name="connsiteX4" fmla="*/ 1168400 w 3126081"/>
              <a:gd name="connsiteY4" fmla="*/ 1015999 h 2295407"/>
              <a:gd name="connsiteX5" fmla="*/ 787400 w 3126081"/>
              <a:gd name="connsiteY5" fmla="*/ 1930398 h 2295407"/>
              <a:gd name="connsiteX6" fmla="*/ 1473200 w 3126081"/>
              <a:gd name="connsiteY6" fmla="*/ 2158999 h 2295407"/>
              <a:gd name="connsiteX7" fmla="*/ 1885244 w 3126081"/>
              <a:gd name="connsiteY7" fmla="*/ 1117599 h 2295407"/>
              <a:gd name="connsiteX8" fmla="*/ 2257778 w 3126081"/>
              <a:gd name="connsiteY8" fmla="*/ 2077155 h 2295407"/>
              <a:gd name="connsiteX9" fmla="*/ 2856089 w 3126081"/>
              <a:gd name="connsiteY9" fmla="*/ 2246488 h 2295407"/>
              <a:gd name="connsiteX10" fmla="*/ 3048000 w 3126081"/>
              <a:gd name="connsiteY10" fmla="*/ 1783643 h 2295407"/>
              <a:gd name="connsiteX11" fmla="*/ 2387600 w 3126081"/>
              <a:gd name="connsiteY11" fmla="*/ 330199 h 2295407"/>
              <a:gd name="connsiteX12" fmla="*/ 1778000 w 3126081"/>
              <a:gd name="connsiteY12" fmla="*/ 25400 h 2295407"/>
              <a:gd name="connsiteX0" fmla="*/ 1798931 w 3147012"/>
              <a:gd name="connsiteY0" fmla="*/ 25400 h 2295407"/>
              <a:gd name="connsiteX1" fmla="*/ 1113131 w 3147012"/>
              <a:gd name="connsiteY1" fmla="*/ 177799 h 2295407"/>
              <a:gd name="connsiteX2" fmla="*/ 122531 w 3147012"/>
              <a:gd name="connsiteY2" fmla="*/ 253999 h 2295407"/>
              <a:gd name="connsiteX3" fmla="*/ 198731 w 3147012"/>
              <a:gd name="connsiteY3" fmla="*/ 711199 h 2295407"/>
              <a:gd name="connsiteX4" fmla="*/ 1189331 w 3147012"/>
              <a:gd name="connsiteY4" fmla="*/ 1015999 h 2295407"/>
              <a:gd name="connsiteX5" fmla="*/ 808331 w 3147012"/>
              <a:gd name="connsiteY5" fmla="*/ 1930398 h 2295407"/>
              <a:gd name="connsiteX6" fmla="*/ 1494131 w 3147012"/>
              <a:gd name="connsiteY6" fmla="*/ 2158999 h 2295407"/>
              <a:gd name="connsiteX7" fmla="*/ 1906175 w 3147012"/>
              <a:gd name="connsiteY7" fmla="*/ 1117599 h 2295407"/>
              <a:gd name="connsiteX8" fmla="*/ 2278709 w 3147012"/>
              <a:gd name="connsiteY8" fmla="*/ 2077155 h 2295407"/>
              <a:gd name="connsiteX9" fmla="*/ 2877020 w 3147012"/>
              <a:gd name="connsiteY9" fmla="*/ 2246488 h 2295407"/>
              <a:gd name="connsiteX10" fmla="*/ 3068931 w 3147012"/>
              <a:gd name="connsiteY10" fmla="*/ 1783643 h 2295407"/>
              <a:gd name="connsiteX11" fmla="*/ 2408531 w 3147012"/>
              <a:gd name="connsiteY11" fmla="*/ 330199 h 2295407"/>
              <a:gd name="connsiteX12" fmla="*/ 1798931 w 3147012"/>
              <a:gd name="connsiteY12" fmla="*/ 25400 h 2295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147012" h="2295407">
                <a:moveTo>
                  <a:pt x="1798931" y="25400"/>
                </a:moveTo>
                <a:cubicBezTo>
                  <a:pt x="1583031" y="0"/>
                  <a:pt x="1467320" y="173566"/>
                  <a:pt x="1113131" y="177799"/>
                </a:cubicBezTo>
                <a:cubicBezTo>
                  <a:pt x="837964" y="196143"/>
                  <a:pt x="332081" y="76199"/>
                  <a:pt x="122531" y="253999"/>
                </a:cubicBezTo>
                <a:cubicBezTo>
                  <a:pt x="0" y="433210"/>
                  <a:pt x="20931" y="584199"/>
                  <a:pt x="198731" y="711199"/>
                </a:cubicBezTo>
                <a:cubicBezTo>
                  <a:pt x="376531" y="838199"/>
                  <a:pt x="1087731" y="812799"/>
                  <a:pt x="1189331" y="1015999"/>
                </a:cubicBezTo>
                <a:cubicBezTo>
                  <a:pt x="1290931" y="1219199"/>
                  <a:pt x="757531" y="1739898"/>
                  <a:pt x="808331" y="1930398"/>
                </a:cubicBezTo>
                <a:cubicBezTo>
                  <a:pt x="859131" y="2120898"/>
                  <a:pt x="1311157" y="2294465"/>
                  <a:pt x="1494131" y="2158999"/>
                </a:cubicBezTo>
                <a:cubicBezTo>
                  <a:pt x="1677105" y="2023533"/>
                  <a:pt x="1775412" y="1131240"/>
                  <a:pt x="1906175" y="1117599"/>
                </a:cubicBezTo>
                <a:cubicBezTo>
                  <a:pt x="2036938" y="1103958"/>
                  <a:pt x="2116902" y="1889007"/>
                  <a:pt x="2278709" y="2077155"/>
                </a:cubicBezTo>
                <a:cubicBezTo>
                  <a:pt x="2440516" y="2265303"/>
                  <a:pt x="2745316" y="2295407"/>
                  <a:pt x="2877020" y="2246488"/>
                </a:cubicBezTo>
                <a:cubicBezTo>
                  <a:pt x="3008724" y="2197569"/>
                  <a:pt x="3147012" y="2103024"/>
                  <a:pt x="3068931" y="1783643"/>
                </a:cubicBezTo>
                <a:cubicBezTo>
                  <a:pt x="2990850" y="1464262"/>
                  <a:pt x="2620198" y="623240"/>
                  <a:pt x="2408531" y="330199"/>
                </a:cubicBezTo>
                <a:cubicBezTo>
                  <a:pt x="2196864" y="37158"/>
                  <a:pt x="2014831" y="50800"/>
                  <a:pt x="1798931" y="25400"/>
                </a:cubicBezTo>
                <a:close/>
              </a:path>
            </a:pathLst>
          </a:cu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sz="2800">
              <a:solidFill>
                <a:prstClr val="black"/>
              </a:solidFill>
              <a:latin typeface="Tahoma" pitchFamily="-64" charset="0"/>
            </a:endParaRPr>
          </a:p>
        </p:txBody>
      </p:sp>
      <p:sp>
        <p:nvSpPr>
          <p:cNvPr id="5" name="Oval 88"/>
          <p:cNvSpPr/>
          <p:nvPr/>
        </p:nvSpPr>
        <p:spPr bwMode="auto">
          <a:xfrm>
            <a:off x="2546350" y="1989138"/>
            <a:ext cx="644525" cy="644525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sz="2800">
              <a:solidFill>
                <a:prstClr val="black"/>
              </a:solidFill>
              <a:latin typeface="Tahoma" pitchFamily="-64" charset="0"/>
            </a:endParaRPr>
          </a:p>
        </p:txBody>
      </p:sp>
      <p:cxnSp>
        <p:nvCxnSpPr>
          <p:cNvPr id="6" name="Straight Arrow Connector 90"/>
          <p:cNvCxnSpPr>
            <a:stCxn id="11" idx="6"/>
            <a:endCxn id="12" idx="2"/>
          </p:cNvCxnSpPr>
          <p:nvPr/>
        </p:nvCxnSpPr>
        <p:spPr bwMode="auto">
          <a:xfrm>
            <a:off x="1646238" y="2295525"/>
            <a:ext cx="1028700" cy="158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7" name="Straight Arrow Connector 91"/>
          <p:cNvCxnSpPr>
            <a:stCxn id="15" idx="0"/>
            <a:endCxn id="11" idx="3"/>
          </p:cNvCxnSpPr>
          <p:nvPr/>
        </p:nvCxnSpPr>
        <p:spPr bwMode="auto">
          <a:xfrm flipV="1">
            <a:off x="1111250" y="2425700"/>
            <a:ext cx="220663" cy="100330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8" name="Straight Arrow Connector 92"/>
          <p:cNvCxnSpPr>
            <a:stCxn id="17" idx="1"/>
            <a:endCxn id="12" idx="5"/>
          </p:cNvCxnSpPr>
          <p:nvPr/>
        </p:nvCxnSpPr>
        <p:spPr bwMode="auto">
          <a:xfrm rot="16200000" flipV="1">
            <a:off x="2682875" y="2732088"/>
            <a:ext cx="1057275" cy="44450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9" name="Straight Arrow Connector 93"/>
          <p:cNvCxnSpPr>
            <a:stCxn id="16" idx="7"/>
            <a:endCxn id="12" idx="3"/>
          </p:cNvCxnSpPr>
          <p:nvPr/>
        </p:nvCxnSpPr>
        <p:spPr bwMode="auto">
          <a:xfrm rot="5400000" flipH="1" flipV="1">
            <a:off x="1984375" y="2738438"/>
            <a:ext cx="1057275" cy="43180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10" name="Straight Arrow Connector 94"/>
          <p:cNvCxnSpPr>
            <a:stCxn id="16" idx="1"/>
            <a:endCxn id="11" idx="5"/>
          </p:cNvCxnSpPr>
          <p:nvPr/>
        </p:nvCxnSpPr>
        <p:spPr bwMode="auto">
          <a:xfrm rot="16200000" flipV="1">
            <a:off x="1285875" y="2732088"/>
            <a:ext cx="1057275" cy="44450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sp>
        <p:nvSpPr>
          <p:cNvPr id="11" name="Oval 96"/>
          <p:cNvSpPr/>
          <p:nvPr/>
        </p:nvSpPr>
        <p:spPr bwMode="auto">
          <a:xfrm>
            <a:off x="1277938" y="2109788"/>
            <a:ext cx="368300" cy="36988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zh-CN" sz="2400">
              <a:solidFill>
                <a:srgbClr val="000000"/>
              </a:solidFill>
              <a:latin typeface="Tahoma" pitchFamily="34" charset="0"/>
              <a:ea typeface="MS PGothic" pitchFamily="34" charset="-128"/>
            </a:endParaRPr>
          </a:p>
        </p:txBody>
      </p:sp>
      <p:sp>
        <p:nvSpPr>
          <p:cNvPr id="12" name="Oval 97"/>
          <p:cNvSpPr/>
          <p:nvPr/>
        </p:nvSpPr>
        <p:spPr bwMode="auto">
          <a:xfrm>
            <a:off x="2674938" y="2109788"/>
            <a:ext cx="368300" cy="369887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zh-CN" sz="2400">
                <a:solidFill>
                  <a:srgbClr val="000000"/>
                </a:solidFill>
                <a:latin typeface="Tahoma" pitchFamily="34" charset="0"/>
                <a:ea typeface="MS PGothic" pitchFamily="34" charset="-128"/>
              </a:rPr>
              <a:t>i</a:t>
            </a:r>
          </a:p>
        </p:txBody>
      </p:sp>
      <p:sp>
        <p:nvSpPr>
          <p:cNvPr id="13" name="Oval 99"/>
          <p:cNvSpPr/>
          <p:nvPr/>
        </p:nvSpPr>
        <p:spPr bwMode="auto">
          <a:xfrm>
            <a:off x="1277938" y="4613275"/>
            <a:ext cx="368300" cy="3683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zh-CN" sz="2400">
              <a:solidFill>
                <a:srgbClr val="000000"/>
              </a:solidFill>
              <a:latin typeface="Tahoma" pitchFamily="34" charset="0"/>
              <a:ea typeface="MS PGothic" pitchFamily="34" charset="-128"/>
            </a:endParaRPr>
          </a:p>
        </p:txBody>
      </p:sp>
      <p:sp>
        <p:nvSpPr>
          <p:cNvPr id="14" name="Oval 100"/>
          <p:cNvSpPr/>
          <p:nvPr/>
        </p:nvSpPr>
        <p:spPr bwMode="auto">
          <a:xfrm>
            <a:off x="2674938" y="4613275"/>
            <a:ext cx="368300" cy="3683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zh-CN" sz="2400">
              <a:solidFill>
                <a:srgbClr val="000000"/>
              </a:solidFill>
              <a:latin typeface="Tahoma" pitchFamily="34" charset="0"/>
              <a:ea typeface="MS PGothic" pitchFamily="34" charset="-128"/>
            </a:endParaRPr>
          </a:p>
        </p:txBody>
      </p:sp>
      <p:sp>
        <p:nvSpPr>
          <p:cNvPr id="15" name="Oval 4"/>
          <p:cNvSpPr/>
          <p:nvPr/>
        </p:nvSpPr>
        <p:spPr bwMode="auto">
          <a:xfrm>
            <a:off x="927100" y="3429000"/>
            <a:ext cx="369888" cy="3683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zh-CN" sz="2400">
              <a:solidFill>
                <a:srgbClr val="000000"/>
              </a:solidFill>
              <a:latin typeface="Tahoma" pitchFamily="34" charset="0"/>
              <a:ea typeface="MS PGothic" pitchFamily="34" charset="-128"/>
            </a:endParaRPr>
          </a:p>
        </p:txBody>
      </p:sp>
      <p:sp>
        <p:nvSpPr>
          <p:cNvPr id="16" name="Oval 102"/>
          <p:cNvSpPr/>
          <p:nvPr/>
        </p:nvSpPr>
        <p:spPr bwMode="auto">
          <a:xfrm>
            <a:off x="1982788" y="3429000"/>
            <a:ext cx="368300" cy="3683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zh-CN" sz="2400">
              <a:solidFill>
                <a:srgbClr val="000000"/>
              </a:solidFill>
              <a:latin typeface="Tahoma" pitchFamily="34" charset="0"/>
              <a:ea typeface="MS PGothic" pitchFamily="34" charset="-128"/>
            </a:endParaRPr>
          </a:p>
        </p:txBody>
      </p:sp>
      <p:sp>
        <p:nvSpPr>
          <p:cNvPr id="17" name="Oval 103"/>
          <p:cNvSpPr/>
          <p:nvPr/>
        </p:nvSpPr>
        <p:spPr bwMode="auto">
          <a:xfrm>
            <a:off x="3379788" y="3429000"/>
            <a:ext cx="368300" cy="36830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zh-CN" sz="2400">
              <a:solidFill>
                <a:srgbClr val="000000"/>
              </a:solidFill>
              <a:latin typeface="Tahoma" pitchFamily="34" charset="0"/>
              <a:ea typeface="MS PGothic" pitchFamily="34" charset="-128"/>
            </a:endParaRPr>
          </a:p>
        </p:txBody>
      </p:sp>
      <p:cxnSp>
        <p:nvCxnSpPr>
          <p:cNvPr id="18" name="Straight Arrow Connector 105"/>
          <p:cNvCxnSpPr>
            <a:stCxn id="13" idx="6"/>
            <a:endCxn id="14" idx="2"/>
          </p:cNvCxnSpPr>
          <p:nvPr/>
        </p:nvCxnSpPr>
        <p:spPr bwMode="auto">
          <a:xfrm>
            <a:off x="1646238" y="4797425"/>
            <a:ext cx="1028700" cy="1588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06"/>
          <p:cNvCxnSpPr>
            <a:stCxn id="13" idx="1"/>
            <a:endCxn id="15" idx="4"/>
          </p:cNvCxnSpPr>
          <p:nvPr/>
        </p:nvCxnSpPr>
        <p:spPr bwMode="auto">
          <a:xfrm flipH="1" flipV="1">
            <a:off x="1111250" y="3797300"/>
            <a:ext cx="220663" cy="86995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20" name="Straight Arrow Connector 107"/>
          <p:cNvCxnSpPr>
            <a:stCxn id="14" idx="7"/>
            <a:endCxn id="17" idx="3"/>
          </p:cNvCxnSpPr>
          <p:nvPr/>
        </p:nvCxnSpPr>
        <p:spPr bwMode="auto">
          <a:xfrm rot="5400000" flipH="1" flipV="1">
            <a:off x="2749550" y="3983038"/>
            <a:ext cx="923925" cy="44450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21" name="Straight Arrow Connector 108"/>
          <p:cNvCxnSpPr>
            <a:stCxn id="14" idx="1"/>
            <a:endCxn id="16" idx="5"/>
          </p:cNvCxnSpPr>
          <p:nvPr/>
        </p:nvCxnSpPr>
        <p:spPr bwMode="auto">
          <a:xfrm rot="16200000" flipV="1">
            <a:off x="2051050" y="3989388"/>
            <a:ext cx="923925" cy="43180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cxnSp>
        <p:nvCxnSpPr>
          <p:cNvPr id="22" name="Straight Arrow Connector 109"/>
          <p:cNvCxnSpPr>
            <a:stCxn id="13" idx="7"/>
            <a:endCxn id="16" idx="3"/>
          </p:cNvCxnSpPr>
          <p:nvPr/>
        </p:nvCxnSpPr>
        <p:spPr bwMode="auto">
          <a:xfrm rot="5400000" flipH="1" flipV="1">
            <a:off x="1352550" y="3983038"/>
            <a:ext cx="923925" cy="44450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grpSp>
        <p:nvGrpSpPr>
          <p:cNvPr id="23" name="Group 4"/>
          <p:cNvGrpSpPr>
            <a:grpSpLocks/>
          </p:cNvGrpSpPr>
          <p:nvPr/>
        </p:nvGrpSpPr>
        <p:grpSpPr bwMode="auto">
          <a:xfrm>
            <a:off x="1719263" y="2085975"/>
            <a:ext cx="1420812" cy="1306513"/>
            <a:chOff x="6705600" y="2286000"/>
            <a:chExt cx="1420706" cy="1305851"/>
          </a:xfrm>
        </p:grpSpPr>
        <p:grpSp>
          <p:nvGrpSpPr>
            <p:cNvPr id="24" name="Group 29"/>
            <p:cNvGrpSpPr>
              <a:grpSpLocks/>
            </p:cNvGrpSpPr>
            <p:nvPr/>
          </p:nvGrpSpPr>
          <p:grpSpPr bwMode="auto">
            <a:xfrm>
              <a:off x="6705600" y="2286000"/>
              <a:ext cx="838200" cy="190500"/>
              <a:chOff x="838200" y="4800600"/>
              <a:chExt cx="838200" cy="190500"/>
            </a:xfrm>
          </p:grpSpPr>
          <p:cxnSp>
            <p:nvCxnSpPr>
              <p:cNvPr id="35" name="Straight Arrow Connector 41"/>
              <p:cNvCxnSpPr/>
              <p:nvPr/>
            </p:nvCxnSpPr>
            <p:spPr bwMode="auto">
              <a:xfrm>
                <a:off x="1219171" y="4876761"/>
                <a:ext cx="457166" cy="1587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6" name="Group 132"/>
              <p:cNvGrpSpPr>
                <a:grpSpLocks/>
              </p:cNvGrpSpPr>
              <p:nvPr/>
            </p:nvGrpSpPr>
            <p:grpSpPr bwMode="auto">
              <a:xfrm>
                <a:off x="838200" y="4800600"/>
                <a:ext cx="381000" cy="190500"/>
                <a:chOff x="762000" y="2971800"/>
                <a:chExt cx="838200" cy="381000"/>
              </a:xfrm>
            </p:grpSpPr>
            <p:sp>
              <p:nvSpPr>
                <p:cNvPr id="37" name="Rectangle 43"/>
                <p:cNvSpPr/>
                <p:nvPr/>
              </p:nvSpPr>
              <p:spPr bwMode="auto">
                <a:xfrm>
                  <a:off x="762000" y="2971800"/>
                  <a:ext cx="838136" cy="380806"/>
                </a:xfrm>
                <a:prstGeom prst="rect">
                  <a:avLst/>
                </a:prstGeom>
                <a:solidFill>
                  <a:schemeClr val="accent6"/>
                </a:solidFill>
                <a:ln w="38100" cap="flat" cmpd="sng" algn="ctr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  <p:sp>
              <p:nvSpPr>
                <p:cNvPr id="38" name="Isosceles Triangle 44"/>
                <p:cNvSpPr>
                  <a:spLocks noChangeArrowheads="1"/>
                </p:cNvSpPr>
                <p:nvPr/>
              </p:nvSpPr>
              <p:spPr bwMode="auto">
                <a:xfrm rot="10800000">
                  <a:off x="762000" y="2971800"/>
                  <a:ext cx="838136" cy="152322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79646"/>
                </a:solidFill>
                <a:ln w="38100" algn="ctr">
                  <a:solidFill>
                    <a:srgbClr val="0D0D0D"/>
                  </a:solidFill>
                  <a:round/>
                  <a:headEnd/>
                  <a:tailEnd/>
                </a:ln>
              </p:spPr>
              <p:txBody>
                <a:bodyPr rot="10800000"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</p:grpSp>
        </p:grpSp>
        <p:grpSp>
          <p:nvGrpSpPr>
            <p:cNvPr id="25" name="Group 30"/>
            <p:cNvGrpSpPr>
              <a:grpSpLocks/>
            </p:cNvGrpSpPr>
            <p:nvPr/>
          </p:nvGrpSpPr>
          <p:grpSpPr bwMode="auto">
            <a:xfrm rot="-4090220">
              <a:off x="6958118" y="2982894"/>
              <a:ext cx="838200" cy="190500"/>
              <a:chOff x="838200" y="4800600"/>
              <a:chExt cx="838200" cy="190500"/>
            </a:xfrm>
          </p:grpSpPr>
          <p:cxnSp>
            <p:nvCxnSpPr>
              <p:cNvPr id="31" name="Straight Arrow Connector 37"/>
              <p:cNvCxnSpPr/>
              <p:nvPr/>
            </p:nvCxnSpPr>
            <p:spPr bwMode="auto">
              <a:xfrm>
                <a:off x="1219146" y="4874189"/>
                <a:ext cx="456968" cy="1588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2" name="Group 132"/>
              <p:cNvGrpSpPr>
                <a:grpSpLocks/>
              </p:cNvGrpSpPr>
              <p:nvPr/>
            </p:nvGrpSpPr>
            <p:grpSpPr bwMode="auto">
              <a:xfrm>
                <a:off x="838200" y="4800600"/>
                <a:ext cx="381000" cy="190500"/>
                <a:chOff x="762000" y="2971800"/>
                <a:chExt cx="838200" cy="381000"/>
              </a:xfrm>
            </p:grpSpPr>
            <p:sp>
              <p:nvSpPr>
                <p:cNvPr id="33" name="Rectangle 39"/>
                <p:cNvSpPr>
                  <a:spLocks noChangeArrowheads="1"/>
                </p:cNvSpPr>
                <p:nvPr/>
              </p:nvSpPr>
              <p:spPr bwMode="auto">
                <a:xfrm>
                  <a:off x="764715" y="2969107"/>
                  <a:ext cx="837776" cy="380972"/>
                </a:xfrm>
                <a:prstGeom prst="rect">
                  <a:avLst/>
                </a:prstGeom>
                <a:solidFill>
                  <a:srgbClr val="F79646"/>
                </a:solidFill>
                <a:ln w="38100" algn="ctr">
                  <a:solidFill>
                    <a:srgbClr val="0D0D0D"/>
                  </a:solidFill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  <p:sp>
              <p:nvSpPr>
                <p:cNvPr id="34" name="Isosceles Triangle 40"/>
                <p:cNvSpPr>
                  <a:spLocks noChangeArrowheads="1"/>
                </p:cNvSpPr>
                <p:nvPr/>
              </p:nvSpPr>
              <p:spPr bwMode="auto">
                <a:xfrm rot="10800000">
                  <a:off x="765948" y="2966669"/>
                  <a:ext cx="837776" cy="152389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79646"/>
                </a:solidFill>
                <a:ln w="38100" algn="ctr">
                  <a:solidFill>
                    <a:srgbClr val="0D0D0D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</p:grpSp>
        </p:grpSp>
        <p:grpSp>
          <p:nvGrpSpPr>
            <p:cNvPr id="26" name="Group 31"/>
            <p:cNvGrpSpPr>
              <a:grpSpLocks/>
            </p:cNvGrpSpPr>
            <p:nvPr/>
          </p:nvGrpSpPr>
          <p:grpSpPr bwMode="auto">
            <a:xfrm rot="-6659896">
              <a:off x="7611956" y="3077501"/>
              <a:ext cx="838200" cy="190500"/>
              <a:chOff x="838200" y="4800600"/>
              <a:chExt cx="838200" cy="190500"/>
            </a:xfrm>
          </p:grpSpPr>
          <p:cxnSp>
            <p:nvCxnSpPr>
              <p:cNvPr id="27" name="Straight Arrow Connector 32"/>
              <p:cNvCxnSpPr/>
              <p:nvPr/>
            </p:nvCxnSpPr>
            <p:spPr bwMode="auto">
              <a:xfrm>
                <a:off x="1222548" y="4876791"/>
                <a:ext cx="456968" cy="1587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8" name="Group 132"/>
              <p:cNvGrpSpPr>
                <a:grpSpLocks/>
              </p:cNvGrpSpPr>
              <p:nvPr/>
            </p:nvGrpSpPr>
            <p:grpSpPr bwMode="auto">
              <a:xfrm>
                <a:off x="838200" y="4800600"/>
                <a:ext cx="381000" cy="190500"/>
                <a:chOff x="762000" y="2971800"/>
                <a:chExt cx="838200" cy="381000"/>
              </a:xfrm>
            </p:grpSpPr>
            <p:sp>
              <p:nvSpPr>
                <p:cNvPr id="29" name="Rectangle 35"/>
                <p:cNvSpPr>
                  <a:spLocks noChangeArrowheads="1"/>
                </p:cNvSpPr>
                <p:nvPr/>
              </p:nvSpPr>
              <p:spPr bwMode="auto">
                <a:xfrm>
                  <a:off x="764199" y="2970392"/>
                  <a:ext cx="837776" cy="380972"/>
                </a:xfrm>
                <a:prstGeom prst="rect">
                  <a:avLst/>
                </a:prstGeom>
                <a:solidFill>
                  <a:srgbClr val="F79646"/>
                </a:solidFill>
                <a:ln w="38100" algn="ctr">
                  <a:solidFill>
                    <a:srgbClr val="0D0D0D"/>
                  </a:solidFill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  <p:sp>
              <p:nvSpPr>
                <p:cNvPr id="30" name="Isosceles Triangle 36"/>
                <p:cNvSpPr>
                  <a:spLocks noChangeArrowheads="1"/>
                </p:cNvSpPr>
                <p:nvPr/>
              </p:nvSpPr>
              <p:spPr bwMode="auto">
                <a:xfrm rot="10800000">
                  <a:off x="767622" y="2970258"/>
                  <a:ext cx="837776" cy="152389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79646"/>
                </a:solidFill>
                <a:ln w="38100" algn="ctr">
                  <a:solidFill>
                    <a:srgbClr val="0D0D0D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</p:grpSp>
        </p:grpSp>
      </p:grpSp>
      <p:grpSp>
        <p:nvGrpSpPr>
          <p:cNvPr id="39" name="Group 5"/>
          <p:cNvGrpSpPr>
            <a:grpSpLocks/>
          </p:cNvGrpSpPr>
          <p:nvPr/>
        </p:nvGrpSpPr>
        <p:grpSpPr bwMode="auto">
          <a:xfrm>
            <a:off x="1736725" y="2393950"/>
            <a:ext cx="1749425" cy="1138238"/>
            <a:chOff x="6705600" y="2590800"/>
            <a:chExt cx="1749545" cy="1138430"/>
          </a:xfrm>
        </p:grpSpPr>
        <p:grpSp>
          <p:nvGrpSpPr>
            <p:cNvPr id="40" name="Group 64"/>
            <p:cNvGrpSpPr>
              <a:grpSpLocks/>
            </p:cNvGrpSpPr>
            <p:nvPr/>
          </p:nvGrpSpPr>
          <p:grpSpPr bwMode="auto">
            <a:xfrm flipH="1">
              <a:off x="6705600" y="2590800"/>
              <a:ext cx="838200" cy="190500"/>
              <a:chOff x="838200" y="4800600"/>
              <a:chExt cx="838200" cy="190500"/>
            </a:xfrm>
          </p:grpSpPr>
          <p:cxnSp>
            <p:nvCxnSpPr>
              <p:cNvPr id="51" name="Straight Arrow Connector 75"/>
              <p:cNvCxnSpPr/>
              <p:nvPr/>
            </p:nvCxnSpPr>
            <p:spPr bwMode="auto">
              <a:xfrm>
                <a:off x="1219169" y="4876813"/>
                <a:ext cx="457231" cy="1588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52" name="Group 132"/>
              <p:cNvGrpSpPr>
                <a:grpSpLocks/>
              </p:cNvGrpSpPr>
              <p:nvPr/>
            </p:nvGrpSpPr>
            <p:grpSpPr bwMode="auto">
              <a:xfrm>
                <a:off x="838200" y="4800600"/>
                <a:ext cx="381000" cy="190500"/>
                <a:chOff x="762000" y="2971800"/>
                <a:chExt cx="838200" cy="381000"/>
              </a:xfrm>
            </p:grpSpPr>
            <p:sp>
              <p:nvSpPr>
                <p:cNvPr id="53" name="Rectangle 77"/>
                <p:cNvSpPr/>
                <p:nvPr/>
              </p:nvSpPr>
              <p:spPr bwMode="auto">
                <a:xfrm>
                  <a:off x="761875" y="2971800"/>
                  <a:ext cx="838257" cy="381064"/>
                </a:xfrm>
                <a:prstGeom prst="rect">
                  <a:avLst/>
                </a:prstGeom>
                <a:solidFill>
                  <a:schemeClr val="accent6"/>
                </a:solidFill>
                <a:ln w="38100" cap="flat" cmpd="sng" algn="ctr">
                  <a:solidFill>
                    <a:schemeClr val="tx1">
                      <a:lumMod val="95000"/>
                      <a:lumOff val="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  <p:sp>
              <p:nvSpPr>
                <p:cNvPr id="54" name="Isosceles Triangle 78"/>
                <p:cNvSpPr>
                  <a:spLocks noChangeArrowheads="1"/>
                </p:cNvSpPr>
                <p:nvPr/>
              </p:nvSpPr>
              <p:spPr bwMode="auto">
                <a:xfrm rot="10800000">
                  <a:off x="761875" y="2971800"/>
                  <a:ext cx="838257" cy="152426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79646"/>
                </a:solidFill>
                <a:ln w="38100" algn="ctr">
                  <a:solidFill>
                    <a:srgbClr val="0D0D0D"/>
                  </a:solidFill>
                  <a:round/>
                  <a:headEnd/>
                  <a:tailEnd/>
                </a:ln>
              </p:spPr>
              <p:txBody>
                <a:bodyPr rot="10800000"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</p:grpSp>
        </p:grpSp>
        <p:grpSp>
          <p:nvGrpSpPr>
            <p:cNvPr id="41" name="Group 66"/>
            <p:cNvGrpSpPr>
              <a:grpSpLocks/>
            </p:cNvGrpSpPr>
            <p:nvPr/>
          </p:nvGrpSpPr>
          <p:grpSpPr bwMode="auto">
            <a:xfrm rot="4027185">
              <a:off x="7940795" y="2994909"/>
              <a:ext cx="838200" cy="190500"/>
              <a:chOff x="838200" y="4800600"/>
              <a:chExt cx="838200" cy="190500"/>
            </a:xfrm>
          </p:grpSpPr>
          <p:cxnSp>
            <p:nvCxnSpPr>
              <p:cNvPr id="47" name="Straight Arrow Connector 67"/>
              <p:cNvCxnSpPr/>
              <p:nvPr/>
            </p:nvCxnSpPr>
            <p:spPr bwMode="auto">
              <a:xfrm>
                <a:off x="1217536" y="4882236"/>
                <a:ext cx="455689" cy="1587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8" name="Group 132"/>
              <p:cNvGrpSpPr>
                <a:grpSpLocks/>
              </p:cNvGrpSpPr>
              <p:nvPr/>
            </p:nvGrpSpPr>
            <p:grpSpPr bwMode="auto">
              <a:xfrm>
                <a:off x="838200" y="4800600"/>
                <a:ext cx="381000" cy="190500"/>
                <a:chOff x="762000" y="2971800"/>
                <a:chExt cx="838200" cy="381000"/>
              </a:xfrm>
            </p:grpSpPr>
            <p:sp>
              <p:nvSpPr>
                <p:cNvPr id="49" name="Rectangle 69"/>
                <p:cNvSpPr>
                  <a:spLocks noChangeArrowheads="1"/>
                </p:cNvSpPr>
                <p:nvPr/>
              </p:nvSpPr>
              <p:spPr bwMode="auto">
                <a:xfrm>
                  <a:off x="762359" y="2972038"/>
                  <a:ext cx="838341" cy="381026"/>
                </a:xfrm>
                <a:prstGeom prst="rect">
                  <a:avLst/>
                </a:prstGeom>
                <a:solidFill>
                  <a:srgbClr val="F79646"/>
                </a:solidFill>
                <a:ln w="38100" algn="ctr">
                  <a:solidFill>
                    <a:srgbClr val="0D0D0D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  <p:sp>
              <p:nvSpPr>
                <p:cNvPr id="50" name="Isosceles Triangle 70"/>
                <p:cNvSpPr>
                  <a:spLocks noChangeArrowheads="1"/>
                </p:cNvSpPr>
                <p:nvPr/>
              </p:nvSpPr>
              <p:spPr bwMode="auto">
                <a:xfrm rot="10800000">
                  <a:off x="762122" y="2972524"/>
                  <a:ext cx="838341" cy="15241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79646"/>
                </a:solidFill>
                <a:ln w="38100" algn="ctr">
                  <a:solidFill>
                    <a:srgbClr val="0D0D0D"/>
                  </a:solidFill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</p:grpSp>
        </p:grpSp>
        <p:grpSp>
          <p:nvGrpSpPr>
            <p:cNvPr id="42" name="Group 79"/>
            <p:cNvGrpSpPr>
              <a:grpSpLocks/>
            </p:cNvGrpSpPr>
            <p:nvPr/>
          </p:nvGrpSpPr>
          <p:grpSpPr bwMode="auto">
            <a:xfrm rot="17445069" flipH="1">
              <a:off x="7177618" y="3214880"/>
              <a:ext cx="838200" cy="190500"/>
              <a:chOff x="838200" y="4800600"/>
              <a:chExt cx="838200" cy="190500"/>
            </a:xfrm>
          </p:grpSpPr>
          <p:cxnSp>
            <p:nvCxnSpPr>
              <p:cNvPr id="43" name="Straight Arrow Connector 80"/>
              <p:cNvCxnSpPr/>
              <p:nvPr/>
            </p:nvCxnSpPr>
            <p:spPr bwMode="auto">
              <a:xfrm>
                <a:off x="1218291" y="4873868"/>
                <a:ext cx="457277" cy="1588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ffec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4" name="Group 132"/>
              <p:cNvGrpSpPr>
                <a:grpSpLocks/>
              </p:cNvGrpSpPr>
              <p:nvPr/>
            </p:nvGrpSpPr>
            <p:grpSpPr bwMode="auto">
              <a:xfrm>
                <a:off x="838200" y="4800600"/>
                <a:ext cx="381000" cy="190500"/>
                <a:chOff x="762000" y="2971800"/>
                <a:chExt cx="838200" cy="381000"/>
              </a:xfrm>
            </p:grpSpPr>
            <p:sp>
              <p:nvSpPr>
                <p:cNvPr id="45" name="Rectangle 82"/>
                <p:cNvSpPr>
                  <a:spLocks noChangeArrowheads="1"/>
                </p:cNvSpPr>
                <p:nvPr/>
              </p:nvSpPr>
              <p:spPr bwMode="auto">
                <a:xfrm>
                  <a:off x="760974" y="2970412"/>
                  <a:ext cx="838341" cy="381026"/>
                </a:xfrm>
                <a:prstGeom prst="rect">
                  <a:avLst/>
                </a:prstGeom>
                <a:solidFill>
                  <a:srgbClr val="F79646"/>
                </a:solidFill>
                <a:ln w="38100" algn="ctr">
                  <a:solidFill>
                    <a:srgbClr val="0D0D0D"/>
                  </a:solidFill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  <p:sp>
              <p:nvSpPr>
                <p:cNvPr id="46" name="Isosceles Triangle 83"/>
                <p:cNvSpPr>
                  <a:spLocks noChangeArrowheads="1"/>
                </p:cNvSpPr>
                <p:nvPr/>
              </p:nvSpPr>
              <p:spPr bwMode="auto">
                <a:xfrm rot="10800000">
                  <a:off x="760591" y="2969141"/>
                  <a:ext cx="838341" cy="152410"/>
                </a:xfrm>
                <a:prstGeom prst="triangle">
                  <a:avLst>
                    <a:gd name="adj" fmla="val 50000"/>
                  </a:avLst>
                </a:prstGeom>
                <a:solidFill>
                  <a:srgbClr val="F79646"/>
                </a:solidFill>
                <a:ln w="38100" algn="ctr">
                  <a:solidFill>
                    <a:srgbClr val="0D0D0D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 algn="ctr" eaLnBrk="1" hangingPunct="1">
                    <a:spcBef>
                      <a:spcPct val="0"/>
                    </a:spcBef>
                    <a:buFontTx/>
                    <a:buNone/>
                    <a:defRPr/>
                  </a:pPr>
                  <a:endParaRPr lang="en-US" sz="2800">
                    <a:solidFill>
                      <a:prstClr val="black"/>
                    </a:solidFill>
                    <a:latin typeface="Tahoma" pitchFamily="-64" charset="0"/>
                    <a:ea typeface="+mn-ea"/>
                  </a:endParaRPr>
                </a:p>
              </p:txBody>
            </p:sp>
          </p:grpSp>
        </p:grpSp>
      </p:grpSp>
      <p:sp>
        <p:nvSpPr>
          <p:cNvPr id="55" name="Rectangle 98"/>
          <p:cNvSpPr>
            <a:spLocks noChangeArrowheads="1"/>
          </p:cNvSpPr>
          <p:nvPr/>
        </p:nvSpPr>
        <p:spPr bwMode="auto">
          <a:xfrm>
            <a:off x="3973512" y="1511843"/>
            <a:ext cx="5062983" cy="390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/>
            <a:r>
              <a:rPr lang="zh-CN" altLang="en-US" sz="2800" dirty="0" smtClean="0">
                <a:ea typeface="微软雅黑" pitchFamily="34" charset="-122"/>
              </a:rPr>
              <a:t>大规模图计算的关键问题包括：</a:t>
            </a:r>
            <a:endParaRPr lang="en-US" altLang="zh-CN" sz="2800" dirty="0" smtClean="0">
              <a:ea typeface="微软雅黑" pitchFamily="34" charset="-122"/>
            </a:endParaRPr>
          </a:p>
          <a:p>
            <a:pPr lvl="1"/>
            <a:r>
              <a:rPr lang="en-US" altLang="zh-CN" sz="2400" dirty="0" smtClean="0">
                <a:ea typeface="微软雅黑" pitchFamily="34" charset="-122"/>
              </a:rPr>
              <a:t>	1. </a:t>
            </a:r>
            <a:r>
              <a:rPr lang="zh-CN" altLang="en-US" sz="2400" dirty="0">
                <a:ea typeface="微软雅黑" pitchFamily="34" charset="-122"/>
              </a:rPr>
              <a:t>图如何分布式</a:t>
            </a:r>
            <a:r>
              <a:rPr lang="zh-CN" altLang="en-US" sz="2400" dirty="0" smtClean="0">
                <a:ea typeface="微软雅黑" pitchFamily="34" charset="-122"/>
              </a:rPr>
              <a:t>存储</a:t>
            </a:r>
            <a:endParaRPr lang="en-US" altLang="zh-CN" sz="2400" dirty="0" smtClean="0">
              <a:ea typeface="微软雅黑" pitchFamily="34" charset="-122"/>
            </a:endParaRPr>
          </a:p>
          <a:p>
            <a:pPr lvl="1"/>
            <a:r>
              <a:rPr lang="en-US" altLang="zh-CN" sz="2400" dirty="0" smtClean="0">
                <a:ea typeface="微软雅黑" pitchFamily="34" charset="-122"/>
              </a:rPr>
              <a:t>	2. </a:t>
            </a:r>
            <a:r>
              <a:rPr lang="zh-CN" altLang="en-US" sz="2400" dirty="0" smtClean="0">
                <a:ea typeface="微软雅黑" pitchFamily="34" charset="-122"/>
              </a:rPr>
              <a:t>图如何划分</a:t>
            </a:r>
            <a:endParaRPr lang="en-US" altLang="zh-CN" sz="2400" dirty="0" smtClean="0">
              <a:ea typeface="微软雅黑" pitchFamily="34" charset="-122"/>
            </a:endParaRPr>
          </a:p>
          <a:p>
            <a:pPr lvl="1"/>
            <a:r>
              <a:rPr lang="en-US" altLang="zh-CN" sz="2400" dirty="0" smtClean="0">
                <a:ea typeface="微软雅黑" pitchFamily="34" charset="-122"/>
              </a:rPr>
              <a:t>	3. </a:t>
            </a:r>
            <a:r>
              <a:rPr lang="zh-CN" altLang="en-US" sz="2400" dirty="0" smtClean="0">
                <a:ea typeface="微软雅黑" pitchFamily="34" charset="-122"/>
              </a:rPr>
              <a:t>图的通讯如何压缩</a:t>
            </a:r>
            <a:endParaRPr lang="en-US" altLang="zh-CN" sz="2400" dirty="0">
              <a:ea typeface="微软雅黑" pitchFamily="34" charset="-122"/>
            </a:endParaRPr>
          </a:p>
          <a:p>
            <a:pPr lvl="1"/>
            <a:r>
              <a:rPr lang="en-US" altLang="zh-CN" sz="2400" dirty="0" smtClean="0">
                <a:ea typeface="微软雅黑" pitchFamily="34" charset="-122"/>
              </a:rPr>
              <a:t>	4. </a:t>
            </a:r>
            <a:r>
              <a:rPr lang="zh-CN" altLang="en-US" sz="2400" dirty="0" smtClean="0">
                <a:ea typeface="微软雅黑" pitchFamily="34" charset="-122"/>
              </a:rPr>
              <a:t>常用图算法如何表达</a:t>
            </a:r>
            <a:endParaRPr lang="en-US" altLang="zh-CN" sz="2400" dirty="0" smtClean="0">
              <a:ea typeface="微软雅黑" pitchFamily="34" charset="-122"/>
            </a:endParaRPr>
          </a:p>
          <a:p>
            <a:pPr lvl="1"/>
            <a:endParaRPr lang="en-US" altLang="zh-CN" sz="2400" dirty="0" smtClean="0">
              <a:ea typeface="微软雅黑" pitchFamily="34" charset="-122"/>
            </a:endParaRPr>
          </a:p>
          <a:p>
            <a:pPr lvl="1"/>
            <a:r>
              <a:rPr lang="zh-CN" altLang="en-US" sz="2400" dirty="0" smtClean="0">
                <a:ea typeface="微软雅黑" pitchFamily="34" charset="-122"/>
              </a:rPr>
              <a:t>以上</a:t>
            </a:r>
            <a:r>
              <a:rPr lang="en-US" altLang="zh-CN" sz="2400" dirty="0" smtClean="0">
                <a:ea typeface="微软雅黑" pitchFamily="34" charset="-122"/>
              </a:rPr>
              <a:t>4</a:t>
            </a:r>
            <a:r>
              <a:rPr lang="zh-CN" altLang="en-US" sz="2400" dirty="0" smtClean="0">
                <a:ea typeface="微软雅黑" pitchFamily="34" charset="-122"/>
              </a:rPr>
              <a:t>个问题能否解决直接影响大规模图计算系统的扩展性和通用性</a:t>
            </a:r>
            <a:endParaRPr lang="en-US" altLang="zh-CN" sz="2400" dirty="0" smtClean="0"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0970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7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13" y="2168525"/>
            <a:ext cx="5157787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11973" name="Text Box 5"/>
          <p:cNvSpPr txBox="1">
            <a:spLocks noChangeArrowheads="1"/>
          </p:cNvSpPr>
          <p:nvPr/>
        </p:nvSpPr>
        <p:spPr bwMode="auto">
          <a:xfrm>
            <a:off x="4731615" y="4914899"/>
            <a:ext cx="3563796" cy="1200329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en-US" altLang="zh-CN" sz="2400" dirty="0"/>
              <a:t>1. </a:t>
            </a:r>
            <a:r>
              <a:rPr lang="zh-CN" altLang="en-US" sz="2400" dirty="0"/>
              <a:t>数据有组织的</a:t>
            </a:r>
            <a:r>
              <a:rPr lang="zh-CN" altLang="en-US" sz="2400" dirty="0" smtClean="0"/>
              <a:t>哈希分布</a:t>
            </a:r>
            <a:endParaRPr lang="zh-CN" altLang="en-US" sz="2400" dirty="0"/>
          </a:p>
          <a:p>
            <a:r>
              <a:rPr lang="en-US" altLang="zh-CN" sz="2400" dirty="0"/>
              <a:t>2. </a:t>
            </a:r>
            <a:r>
              <a:rPr lang="zh-CN" altLang="en-US" sz="2400" dirty="0"/>
              <a:t>每个进程既有通讯部，</a:t>
            </a:r>
          </a:p>
          <a:p>
            <a:r>
              <a:rPr lang="zh-CN" altLang="en-US" sz="2400" dirty="0"/>
              <a:t>    又有计算部</a:t>
            </a:r>
          </a:p>
        </p:txBody>
      </p:sp>
      <p:sp>
        <p:nvSpPr>
          <p:cNvPr id="211974" name="Text Box 6"/>
          <p:cNvSpPr txBox="1">
            <a:spLocks noChangeArrowheads="1"/>
          </p:cNvSpPr>
          <p:nvPr/>
        </p:nvSpPr>
        <p:spPr bwMode="auto">
          <a:xfrm>
            <a:off x="5202238" y="1493838"/>
            <a:ext cx="2622550" cy="579437"/>
          </a:xfrm>
          <a:prstGeom prst="rect">
            <a:avLst/>
          </a:pr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r>
              <a:rPr lang="zh-CN" altLang="en-US" dirty="0"/>
              <a:t>系统抽象结构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4067944" y="0"/>
            <a:ext cx="51117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320" tIns="45660" rIns="91320" bIns="45660" anchor="ctr"/>
          <a:lstStyle/>
          <a:p>
            <a:pPr algn="ctr" eaLnBrk="0" hangingPunct="0">
              <a:buFontTx/>
              <a:buNone/>
            </a:pPr>
            <a:r>
              <a:rPr lang="zh-CN" altLang="en-US" sz="36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技术路线</a:t>
            </a:r>
            <a:endParaRPr lang="zh-CN" sz="36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type="body" idx="1"/>
          </p:nvPr>
        </p:nvSpPr>
        <p:spPr>
          <a:xfrm>
            <a:off x="428944" y="1117600"/>
            <a:ext cx="4647111" cy="562376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系统开发优化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异步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计算模型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的实现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支持图划分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高效系统框架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的抽象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支持通讯压缩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统一算法接口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的提供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支持通用图算法</a:t>
            </a:r>
          </a:p>
          <a:p>
            <a:pPr lvl="1">
              <a:lnSpc>
                <a:spcPct val="90000"/>
              </a:lnSpc>
              <a:buFont typeface="Arial" charset="0"/>
              <a:buNone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	</a:t>
            </a:r>
          </a:p>
          <a:p>
            <a:pPr>
              <a:lnSpc>
                <a:spcPct val="90000"/>
              </a:lnSpc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系统扩展应用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生物数据组装</a:t>
            </a:r>
          </a:p>
          <a:p>
            <a:pPr lvl="1">
              <a:lnSpc>
                <a:spcPct val="9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图数据分析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双链表排序</a:t>
            </a:r>
          </a:p>
          <a:p>
            <a:pPr lvl="1">
              <a:lnSpc>
                <a:spcPct val="90000"/>
              </a:lnSpc>
              <a:buFont typeface="Arial" charset="0"/>
              <a:buNone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2508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1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1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1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973" grpId="0" animBg="1"/>
      <p:bldP spid="21197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067944" y="0"/>
            <a:ext cx="51117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320" tIns="45660" rIns="91320" bIns="45660" anchor="ctr"/>
          <a:lstStyle/>
          <a:p>
            <a:pPr algn="ctr" eaLnBrk="0" hangingPunct="0">
              <a:buFontTx/>
              <a:buNone/>
            </a:pPr>
            <a:r>
              <a:rPr lang="zh-CN" altLang="en-US" sz="36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性能指标</a:t>
            </a:r>
            <a:r>
              <a:rPr lang="zh-CN" altLang="en-US" sz="360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和成果</a:t>
            </a:r>
            <a:endParaRPr lang="en-US" altLang="zh-CN" sz="3600" smtClean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198" y="1340768"/>
            <a:ext cx="4566581" cy="3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467544" y="1484784"/>
            <a:ext cx="4572000" cy="38472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图计算系统的性能指标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：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2400" dirty="0" smtClean="0"/>
              <a:t>系统</a:t>
            </a:r>
            <a:r>
              <a:rPr lang="zh-CN" altLang="en-US" sz="2400" dirty="0"/>
              <a:t>扩展性到</a:t>
            </a:r>
            <a:r>
              <a:rPr lang="en-US" altLang="zh-CN" sz="2400" dirty="0" smtClean="0"/>
              <a:t>128000</a:t>
            </a:r>
            <a:r>
              <a:rPr lang="zh-CN" altLang="en-US" sz="2400" dirty="0" smtClean="0"/>
              <a:t>核</a:t>
            </a:r>
            <a:endParaRPr lang="en-US" altLang="zh-CN" sz="2400" dirty="0"/>
          </a:p>
          <a:p>
            <a:pPr marL="342900" indent="-342900"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2400" dirty="0" smtClean="0"/>
              <a:t>万</a:t>
            </a:r>
            <a:r>
              <a:rPr lang="zh-CN" altLang="en-US" sz="2400" dirty="0"/>
              <a:t>核图计算系统效率保持</a:t>
            </a:r>
            <a:r>
              <a:rPr lang="en-US" altLang="zh-CN" sz="2400" dirty="0" smtClean="0"/>
              <a:t>30%</a:t>
            </a:r>
            <a:endParaRPr lang="en-US" altLang="zh-CN" sz="2400" dirty="0"/>
          </a:p>
          <a:p>
            <a:pPr marL="342900" indent="-342900"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2400" dirty="0" smtClean="0"/>
              <a:t>支持实际图应用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～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个</a:t>
            </a:r>
            <a:endParaRPr lang="en-US" altLang="zh-CN" sz="2400" dirty="0" smtClean="0"/>
          </a:p>
          <a:p>
            <a:pPr marL="342900" indent="-342900"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2400" dirty="0" smtClean="0"/>
              <a:t>发表高质量论文</a:t>
            </a:r>
            <a:r>
              <a:rPr lang="en-US" altLang="zh-CN" sz="2400" dirty="0"/>
              <a:t>2</a:t>
            </a:r>
            <a:r>
              <a:rPr lang="zh-CN" altLang="en-US" sz="2400" dirty="0" smtClean="0"/>
              <a:t>篇</a:t>
            </a:r>
            <a:endParaRPr lang="en-US" altLang="zh-CN" sz="2400" dirty="0" smtClean="0"/>
          </a:p>
          <a:p>
            <a:pPr marL="342900" indent="-342900"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2400" dirty="0" smtClean="0"/>
              <a:t>项目专利</a:t>
            </a:r>
            <a:r>
              <a:rPr lang="en-US" altLang="zh-CN" sz="2400" dirty="0" smtClean="0"/>
              <a:t>3</a:t>
            </a:r>
            <a:r>
              <a:rPr lang="zh-CN" altLang="en-US" sz="2400" dirty="0" smtClean="0"/>
              <a:t>个</a:t>
            </a:r>
            <a:endParaRPr lang="en-US" altLang="zh-CN" sz="2400" dirty="0" smtClean="0"/>
          </a:p>
          <a:p>
            <a:pPr marL="342900" indent="-342900"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2400" dirty="0"/>
              <a:t>第三</a:t>
            </a:r>
            <a:r>
              <a:rPr lang="zh-CN" altLang="en-US" sz="2400" dirty="0" smtClean="0"/>
              <a:t>方机构测试</a:t>
            </a:r>
            <a:endParaRPr lang="en-US" altLang="zh-CN" sz="2400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580112" y="4827733"/>
            <a:ext cx="336716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just"/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图计算实例： 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Font typeface="Arial" pitchFamily="34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基因组组装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Font typeface="Arial" pitchFamily="34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图数据清洗 </a:t>
            </a:r>
            <a:endParaRPr lang="en-US" altLang="zh-CN" sz="20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buFont typeface="Arial" pitchFamily="34" charset="0"/>
              <a:buChar char="•"/>
            </a:pPr>
            <a:r>
              <a:rPr lang="zh-CN" altLang="en-US" sz="2000" dirty="0" smtClean="0">
                <a:latin typeface="微软雅黑" pitchFamily="34" charset="-122"/>
                <a:ea typeface="微软雅黑" pitchFamily="34" charset="-122"/>
              </a:rPr>
              <a:t>双向链表排序</a:t>
            </a:r>
            <a:r>
              <a:rPr lang="en-US" altLang="zh-CN" sz="2000" dirty="0" smtClean="0">
                <a:latin typeface="微软雅黑" pitchFamily="34" charset="-122"/>
                <a:ea typeface="微软雅黑" pitchFamily="34" charset="-122"/>
              </a:rPr>
              <a:t>…</a:t>
            </a:r>
            <a:endParaRPr lang="zh-CN" altLang="en-US" sz="20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056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系统先进性</a:t>
            </a:r>
            <a:endParaRPr lang="en-US" altLang="zh-CN" dirty="0" smtClean="0"/>
          </a:p>
          <a:p>
            <a:pPr lvl="1"/>
            <a:r>
              <a:rPr lang="zh-CN" altLang="en-US" dirty="0"/>
              <a:t>异步计算模型 </a:t>
            </a:r>
            <a:r>
              <a:rPr lang="en-US" altLang="zh-CN" sz="2400" dirty="0"/>
              <a:t>(</a:t>
            </a:r>
            <a:r>
              <a:rPr lang="zh-CN" altLang="en-US" sz="2400" dirty="0"/>
              <a:t>区别于</a:t>
            </a:r>
            <a:r>
              <a:rPr lang="en-US" altLang="zh-CN" sz="2400" dirty="0"/>
              <a:t>P2P, BSP, Map-Reduce)</a:t>
            </a:r>
            <a:endParaRPr lang="en-US" altLang="zh-CN" dirty="0"/>
          </a:p>
          <a:p>
            <a:pPr lvl="1"/>
            <a:r>
              <a:rPr lang="zh-CN" altLang="en-US" dirty="0"/>
              <a:t>对图算法的代数系统抽象</a:t>
            </a:r>
            <a:r>
              <a:rPr lang="en-US" altLang="zh-CN" dirty="0"/>
              <a:t>(</a:t>
            </a:r>
            <a:r>
              <a:rPr lang="zh-CN" altLang="en-US" dirty="0"/>
              <a:t>开创性研究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系统扩展性</a:t>
            </a:r>
            <a:r>
              <a:rPr lang="zh-CN" altLang="en-US" dirty="0" smtClean="0"/>
              <a:t>达到十万</a:t>
            </a:r>
            <a:r>
              <a:rPr lang="zh-CN" altLang="en-US" dirty="0"/>
              <a:t>核 </a:t>
            </a:r>
            <a:r>
              <a:rPr lang="en-US" altLang="zh-CN" dirty="0"/>
              <a:t>(</a:t>
            </a:r>
            <a:r>
              <a:rPr lang="zh-CN" altLang="en-US" dirty="0"/>
              <a:t>国际领先</a:t>
            </a:r>
            <a:r>
              <a:rPr lang="en-US" altLang="zh-CN" dirty="0"/>
              <a:t>)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现有系统比较</a:t>
            </a:r>
            <a:r>
              <a:rPr lang="en-US" altLang="zh-CN" sz="2400" dirty="0" smtClean="0"/>
              <a:t>(swap, </a:t>
            </a:r>
            <a:r>
              <a:rPr lang="zh-CN" altLang="en-US" sz="2400" dirty="0" smtClean="0"/>
              <a:t>扩展万核，支持万亿图</a:t>
            </a:r>
            <a:r>
              <a:rPr lang="en-US" altLang="zh-CN" sz="2400" dirty="0" smtClean="0"/>
              <a:t>)</a:t>
            </a:r>
          </a:p>
          <a:p>
            <a:pPr lvl="1"/>
            <a:r>
              <a:rPr lang="en-US" altLang="zh-CN" dirty="0" err="1" smtClean="0"/>
              <a:t>Graphlab</a:t>
            </a:r>
            <a:r>
              <a:rPr lang="en-US" altLang="zh-CN" dirty="0" smtClean="0"/>
              <a:t> </a:t>
            </a:r>
            <a:r>
              <a:rPr lang="en-US" altLang="zh-CN" sz="2400" dirty="0" smtClean="0"/>
              <a:t>(</a:t>
            </a:r>
            <a:r>
              <a:rPr lang="zh-CN" altLang="en-US" sz="2400" dirty="0" smtClean="0"/>
              <a:t>扩展</a:t>
            </a:r>
            <a:r>
              <a:rPr lang="en-US" altLang="zh-CN" sz="2400" dirty="0" smtClean="0"/>
              <a:t>1024</a:t>
            </a:r>
            <a:r>
              <a:rPr lang="zh-CN" altLang="en-US" sz="2400" dirty="0" smtClean="0"/>
              <a:t>核， 支持十亿规模图计算</a:t>
            </a:r>
            <a:r>
              <a:rPr lang="en-US" altLang="zh-CN" sz="2400" dirty="0" smtClean="0"/>
              <a:t>)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Trility</a:t>
            </a:r>
            <a:r>
              <a:rPr lang="zh-CN" altLang="en-US" dirty="0" smtClean="0"/>
              <a:t> </a:t>
            </a:r>
            <a:r>
              <a:rPr lang="en-US" altLang="zh-CN" sz="2400" dirty="0" smtClean="0"/>
              <a:t>(</a:t>
            </a:r>
            <a:r>
              <a:rPr lang="zh-CN" altLang="en-US" sz="2400" dirty="0"/>
              <a:t>扩展</a:t>
            </a:r>
            <a:r>
              <a:rPr lang="en-US" altLang="zh-CN" sz="2400" dirty="0"/>
              <a:t>1024</a:t>
            </a:r>
            <a:r>
              <a:rPr lang="zh-CN" altLang="en-US" sz="2400" dirty="0"/>
              <a:t>核， </a:t>
            </a:r>
            <a:r>
              <a:rPr lang="zh-CN" altLang="en-US" sz="2400" dirty="0" smtClean="0"/>
              <a:t>支持千万规模</a:t>
            </a:r>
            <a:r>
              <a:rPr lang="zh-CN" altLang="en-US" sz="2400" dirty="0"/>
              <a:t>图计算</a:t>
            </a:r>
            <a:r>
              <a:rPr lang="en-US" altLang="zh-CN" sz="2400" dirty="0" smtClean="0"/>
              <a:t>)</a:t>
            </a:r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067944" y="0"/>
            <a:ext cx="51117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1320" tIns="45660" rIns="91320" bIns="45660" anchor="ctr"/>
          <a:lstStyle/>
          <a:p>
            <a:pPr algn="ctr" eaLnBrk="0" hangingPunct="0">
              <a:buFontTx/>
              <a:buNone/>
            </a:pPr>
            <a:r>
              <a:rPr lang="zh-CN" altLang="en-US" sz="36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先进性比较</a:t>
            </a:r>
            <a:endParaRPr lang="zh-CN" sz="36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6881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13415</TotalTime>
  <Words>597</Words>
  <Application>Microsoft Office PowerPoint</Application>
  <PresentationFormat>全屏显示(4:3)</PresentationFormat>
  <Paragraphs>102</Paragraphs>
  <Slides>17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18" baseType="lpstr">
      <vt:lpstr>默认设计模板</vt:lpstr>
      <vt:lpstr>图计算系统及最新硬件平台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qin</dc:creator>
  <cp:lastModifiedBy>孟金涛</cp:lastModifiedBy>
  <cp:revision>1018</cp:revision>
  <dcterms:created xsi:type="dcterms:W3CDTF">2006-09-26T02:35:56Z</dcterms:created>
  <dcterms:modified xsi:type="dcterms:W3CDTF">2016-01-22T04:19:37Z</dcterms:modified>
</cp:coreProperties>
</file>