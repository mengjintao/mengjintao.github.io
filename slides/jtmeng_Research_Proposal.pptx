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933" r:id="rId2"/>
    <p:sldId id="1514" r:id="rId3"/>
    <p:sldId id="1665" r:id="rId4"/>
    <p:sldId id="1614" r:id="rId5"/>
    <p:sldId id="1619" r:id="rId6"/>
    <p:sldId id="1666" r:id="rId7"/>
    <p:sldId id="1615" r:id="rId8"/>
    <p:sldId id="1616" r:id="rId9"/>
    <p:sldId id="1621" r:id="rId10"/>
    <p:sldId id="1622" r:id="rId11"/>
    <p:sldId id="1629" r:id="rId12"/>
    <p:sldId id="1624" r:id="rId13"/>
    <p:sldId id="1626" r:id="rId14"/>
    <p:sldId id="1672" r:id="rId15"/>
    <p:sldId id="1639" r:id="rId16"/>
    <p:sldId id="1681" r:id="rId17"/>
    <p:sldId id="1674" r:id="rId18"/>
    <p:sldId id="1677" r:id="rId19"/>
    <p:sldId id="1648" r:id="rId20"/>
    <p:sldId id="1652" r:id="rId21"/>
    <p:sldId id="1654" r:id="rId22"/>
    <p:sldId id="1632" r:id="rId23"/>
    <p:sldId id="1644" r:id="rId24"/>
    <p:sldId id="1668" r:id="rId25"/>
    <p:sldId id="1671" r:id="rId26"/>
    <p:sldId id="1531" r:id="rId27"/>
    <p:sldId id="1645" r:id="rId28"/>
    <p:sldId id="1532" r:id="rId29"/>
    <p:sldId id="1611" r:id="rId30"/>
    <p:sldId id="1679" r:id="rId31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Font typeface="Arial" charset="0"/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3333CC"/>
    <a:srgbClr val="669900"/>
    <a:srgbClr val="FF6600"/>
    <a:srgbClr val="FEFEDA"/>
    <a:srgbClr val="D8E4FC"/>
    <a:srgbClr val="DDFFFF"/>
    <a:srgbClr val="B2D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69" autoAdjust="0"/>
    <p:restoredTop sz="92630" autoAdjust="0"/>
  </p:normalViewPr>
  <p:slideViewPr>
    <p:cSldViewPr>
      <p:cViewPr varScale="1">
        <p:scale>
          <a:sx n="70" d="100"/>
          <a:sy n="70" d="100"/>
        </p:scale>
        <p:origin x="-8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360&#20113;&#30424;\U&#30424;\&#27979;&#35797;&#32467;&#26524;\BGQ%20Comparison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360&#20113;&#30424;\U&#30424;\&#27979;&#35797;&#32467;&#26524;\1khuman4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Sheet1!$C$30</c:f>
              <c:strCache>
                <c:ptCount val="1"/>
                <c:pt idx="0">
                  <c:v>Input Parallelization</c:v>
                </c:pt>
              </c:strCache>
            </c:strRef>
          </c:tx>
          <c:invertIfNegative val="0"/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Sheet1!$C$31:$C$36</c:f>
              <c:numCache>
                <c:formatCode>General</c:formatCode>
                <c:ptCount val="6"/>
                <c:pt idx="0">
                  <c:v>415.83</c:v>
                </c:pt>
                <c:pt idx="1">
                  <c:v>426.4599</c:v>
                </c:pt>
                <c:pt idx="2">
                  <c:v>224.92</c:v>
                </c:pt>
                <c:pt idx="3">
                  <c:v>103.06</c:v>
                </c:pt>
                <c:pt idx="4">
                  <c:v>64.89</c:v>
                </c:pt>
                <c:pt idx="5">
                  <c:v>99.54</c:v>
                </c:pt>
              </c:numCache>
            </c:numRef>
          </c:val>
        </c:ser>
        <c:ser>
          <c:idx val="1"/>
          <c:order val="1"/>
          <c:tx>
            <c:strRef>
              <c:f>Sheet1!$D$30</c:f>
              <c:strCache>
                <c:ptCount val="1"/>
                <c:pt idx="0">
                  <c:v>Construct k-mer Graph </c:v>
                </c:pt>
              </c:strCache>
            </c:strRef>
          </c:tx>
          <c:invertIfNegative val="0"/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Sheet1!$D$31:$D$36</c:f>
              <c:numCache>
                <c:formatCode>General</c:formatCode>
                <c:ptCount val="6"/>
                <c:pt idx="0">
                  <c:v>1272.8</c:v>
                </c:pt>
                <c:pt idx="1">
                  <c:v>591.15989999999999</c:v>
                </c:pt>
                <c:pt idx="2">
                  <c:v>331.12</c:v>
                </c:pt>
                <c:pt idx="3">
                  <c:v>200.08</c:v>
                </c:pt>
                <c:pt idx="4">
                  <c:v>119.05</c:v>
                </c:pt>
                <c:pt idx="5">
                  <c:v>96.94</c:v>
                </c:pt>
              </c:numCache>
            </c:numRef>
          </c:val>
        </c:ser>
        <c:ser>
          <c:idx val="2"/>
          <c:order val="2"/>
          <c:tx>
            <c:strRef>
              <c:f>Sheet1!$E$30</c:f>
              <c:strCache>
                <c:ptCount val="1"/>
                <c:pt idx="0">
                  <c:v>CutoffGraph</c:v>
                </c:pt>
              </c:strCache>
            </c:strRef>
          </c:tx>
          <c:invertIfNegative val="0"/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Sheet1!$E$31:$E$36</c:f>
              <c:numCache>
                <c:formatCode>General</c:formatCode>
                <c:ptCount val="6"/>
                <c:pt idx="0">
                  <c:v>27.52</c:v>
                </c:pt>
                <c:pt idx="1">
                  <c:v>15.67</c:v>
                </c:pt>
                <c:pt idx="2">
                  <c:v>8.77</c:v>
                </c:pt>
                <c:pt idx="3">
                  <c:v>4.83</c:v>
                </c:pt>
                <c:pt idx="4">
                  <c:v>2.95</c:v>
                </c:pt>
                <c:pt idx="5">
                  <c:v>3.42</c:v>
                </c:pt>
              </c:numCache>
            </c:numRef>
          </c:val>
        </c:ser>
        <c:ser>
          <c:idx val="3"/>
          <c:order val="3"/>
          <c:tx>
            <c:strRef>
              <c:f>Sheet1!$F$30</c:f>
              <c:strCache>
                <c:ptCount val="1"/>
                <c:pt idx="0">
                  <c:v>Construct MSG Graph</c:v>
                </c:pt>
              </c:strCache>
            </c:strRef>
          </c:tx>
          <c:invertIfNegative val="0"/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Sheet1!$F$31:$F$36</c:f>
              <c:numCache>
                <c:formatCode>General</c:formatCode>
                <c:ptCount val="6"/>
                <c:pt idx="0">
                  <c:v>200.69</c:v>
                </c:pt>
                <c:pt idx="1">
                  <c:v>100</c:v>
                </c:pt>
                <c:pt idx="2">
                  <c:v>50.1</c:v>
                </c:pt>
                <c:pt idx="3">
                  <c:v>25.34</c:v>
                </c:pt>
                <c:pt idx="4">
                  <c:v>12.98</c:v>
                </c:pt>
                <c:pt idx="5">
                  <c:v>8.17</c:v>
                </c:pt>
              </c:numCache>
            </c:numRef>
          </c:val>
        </c:ser>
        <c:ser>
          <c:idx val="4"/>
          <c:order val="4"/>
          <c:tx>
            <c:strRef>
              <c:f>Sheet1!$G$30</c:f>
              <c:strCache>
                <c:ptCount val="1"/>
                <c:pt idx="0">
                  <c:v>Graph Simplification</c:v>
                </c:pt>
              </c:strCache>
            </c:strRef>
          </c:tx>
          <c:invertIfNegative val="0"/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Sheet1!$G$31:$G$36</c:f>
              <c:numCache>
                <c:formatCode>General</c:formatCode>
                <c:ptCount val="6"/>
                <c:pt idx="0">
                  <c:v>1505.82</c:v>
                </c:pt>
                <c:pt idx="1">
                  <c:v>790.41899999999998</c:v>
                </c:pt>
                <c:pt idx="2">
                  <c:v>418.43</c:v>
                </c:pt>
                <c:pt idx="3">
                  <c:v>199.78</c:v>
                </c:pt>
                <c:pt idx="4">
                  <c:v>100.55</c:v>
                </c:pt>
                <c:pt idx="5">
                  <c:v>60.84</c:v>
                </c:pt>
              </c:numCache>
            </c:numRef>
          </c:val>
        </c:ser>
        <c:ser>
          <c:idx val="5"/>
          <c:order val="5"/>
          <c:tx>
            <c:strRef>
              <c:f>Sheet1!$H$30</c:f>
              <c:strCache>
                <c:ptCount val="1"/>
                <c:pt idx="0">
                  <c:v>Output</c:v>
                </c:pt>
              </c:strCache>
            </c:strRef>
          </c:tx>
          <c:invertIfNegative val="0"/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Sheet1!$H$31:$H$36</c:f>
              <c:numCache>
                <c:formatCode>General</c:formatCode>
                <c:ptCount val="6"/>
                <c:pt idx="0">
                  <c:v>22.95</c:v>
                </c:pt>
                <c:pt idx="1">
                  <c:v>13.68</c:v>
                </c:pt>
                <c:pt idx="2">
                  <c:v>11.92</c:v>
                </c:pt>
                <c:pt idx="3">
                  <c:v>6.96</c:v>
                </c:pt>
                <c:pt idx="4">
                  <c:v>3.95</c:v>
                </c:pt>
                <c:pt idx="5">
                  <c:v>5.64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939200"/>
        <c:axId val="155940736"/>
      </c:barChart>
      <c:lineChart>
        <c:grouping val="standard"/>
        <c:varyColors val="0"/>
        <c:ser>
          <c:idx val="7"/>
          <c:order val="6"/>
          <c:tx>
            <c:strRef>
              <c:f>Sheet1!$J$30</c:f>
              <c:strCache>
                <c:ptCount val="1"/>
                <c:pt idx="0">
                  <c:v>Efficiency</c:v>
                </c:pt>
              </c:strCache>
            </c:strRef>
          </c:tx>
          <c:cat>
            <c:numRef>
              <c:f>Sheet1!$B$31:$B$36</c:f>
              <c:numCache>
                <c:formatCode>General</c:formatCode>
                <c:ptCount val="6"/>
                <c:pt idx="0">
                  <c:v>2048</c:v>
                </c:pt>
                <c:pt idx="1">
                  <c:v>4096</c:v>
                </c:pt>
                <c:pt idx="2">
                  <c:v>8192</c:v>
                </c:pt>
                <c:pt idx="3">
                  <c:v>16384</c:v>
                </c:pt>
                <c:pt idx="4">
                  <c:v>32768</c:v>
                </c:pt>
                <c:pt idx="5">
                  <c:v>65536</c:v>
                </c:pt>
              </c:numCache>
            </c:numRef>
          </c:cat>
          <c:val>
            <c:numRef>
              <c:f>Sheet1!$J$31:$J$36</c:f>
              <c:numCache>
                <c:formatCode>General</c:formatCode>
                <c:ptCount val="6"/>
                <c:pt idx="0">
                  <c:v>100</c:v>
                </c:pt>
                <c:pt idx="1">
                  <c:v>88.894999999999996</c:v>
                </c:pt>
                <c:pt idx="2">
                  <c:v>82.408225000000002</c:v>
                </c:pt>
                <c:pt idx="3">
                  <c:v>79.747500000000002</c:v>
                </c:pt>
                <c:pt idx="4">
                  <c:v>70.736874999999998</c:v>
                </c:pt>
                <c:pt idx="5">
                  <c:v>39.200000000000003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944064"/>
        <c:axId val="155942272"/>
      </c:lineChart>
      <c:catAx>
        <c:axId val="1559392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5940736"/>
        <c:crosses val="autoZero"/>
        <c:auto val="1"/>
        <c:lblAlgn val="ctr"/>
        <c:lblOffset val="100"/>
        <c:noMultiLvlLbl val="0"/>
      </c:catAx>
      <c:valAx>
        <c:axId val="155940736"/>
        <c:scaling>
          <c:orientation val="minMax"/>
          <c:max val="35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5939200"/>
        <c:crosses val="autoZero"/>
        <c:crossBetween val="between"/>
      </c:valAx>
      <c:valAx>
        <c:axId val="155942272"/>
        <c:scaling>
          <c:orientation val="minMax"/>
          <c:max val="100"/>
        </c:scaling>
        <c:delete val="0"/>
        <c:axPos val="r"/>
        <c:numFmt formatCode="General" sourceLinked="1"/>
        <c:majorTickMark val="out"/>
        <c:minorTickMark val="none"/>
        <c:tickLblPos val="nextTo"/>
        <c:crossAx val="155944064"/>
        <c:crosses val="max"/>
        <c:crossBetween val="between"/>
      </c:valAx>
      <c:catAx>
        <c:axId val="1559440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5942272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0.66170602852591542"/>
          <c:y val="0.26329055621832903"/>
          <c:w val="0.30874227879617572"/>
          <c:h val="0.47341888756334183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Sheet1!$D$3</c:f>
              <c:strCache>
                <c:ptCount val="1"/>
                <c:pt idx="0">
                  <c:v>Input Parallelization</c:v>
                </c:pt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Sheet1!$D$4:$D$9</c:f>
              <c:numCache>
                <c:formatCode>General</c:formatCode>
                <c:ptCount val="6"/>
                <c:pt idx="0">
                  <c:v>5754.9599600000001</c:v>
                </c:pt>
                <c:pt idx="1">
                  <c:v>3276.2299800000001</c:v>
                </c:pt>
                <c:pt idx="2">
                  <c:v>1817.829</c:v>
                </c:pt>
                <c:pt idx="3">
                  <c:v>1574.17993</c:v>
                </c:pt>
                <c:pt idx="4">
                  <c:v>700.19</c:v>
                </c:pt>
                <c:pt idx="5">
                  <c:v>440.11002000000002</c:v>
                </c:pt>
              </c:numCache>
            </c:numRef>
          </c:val>
        </c:ser>
        <c:ser>
          <c:idx val="1"/>
          <c:order val="1"/>
          <c:tx>
            <c:strRef>
              <c:f>Sheet1!$E$3</c:f>
              <c:strCache>
                <c:ptCount val="1"/>
                <c:pt idx="0">
                  <c:v>Construct k-mer Graph </c:v>
                </c:pt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Sheet1!$E$4:$E$9</c:f>
              <c:numCache>
                <c:formatCode>General</c:formatCode>
                <c:ptCount val="6"/>
                <c:pt idx="0">
                  <c:v>2394.2600000000002</c:v>
                </c:pt>
                <c:pt idx="1">
                  <c:v>1410.73999</c:v>
                </c:pt>
                <c:pt idx="2">
                  <c:v>888.97990000000004</c:v>
                </c:pt>
                <c:pt idx="3">
                  <c:v>586.65989999999999</c:v>
                </c:pt>
                <c:pt idx="4">
                  <c:v>456.17899999999997</c:v>
                </c:pt>
                <c:pt idx="5">
                  <c:v>421</c:v>
                </c:pt>
              </c:numCache>
            </c:numRef>
          </c:val>
        </c:ser>
        <c:ser>
          <c:idx val="2"/>
          <c:order val="2"/>
          <c:tx>
            <c:strRef>
              <c:f>Sheet1!$F$3</c:f>
              <c:strCache>
                <c:ptCount val="1"/>
                <c:pt idx="0">
                  <c:v>CutoffGraph</c:v>
                </c:pt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Sheet1!$F$4:$F$9</c:f>
              <c:numCache>
                <c:formatCode>General</c:formatCode>
                <c:ptCount val="6"/>
                <c:pt idx="0">
                  <c:v>30.04</c:v>
                </c:pt>
                <c:pt idx="1">
                  <c:v>15.71</c:v>
                </c:pt>
                <c:pt idx="2">
                  <c:v>8.31</c:v>
                </c:pt>
                <c:pt idx="3">
                  <c:v>4.59</c:v>
                </c:pt>
                <c:pt idx="4">
                  <c:v>2.77</c:v>
                </c:pt>
                <c:pt idx="5">
                  <c:v>1.82</c:v>
                </c:pt>
              </c:numCache>
            </c:numRef>
          </c:val>
        </c:ser>
        <c:ser>
          <c:idx val="3"/>
          <c:order val="3"/>
          <c:tx>
            <c:strRef>
              <c:f>Sheet1!$G$3</c:f>
              <c:strCache>
                <c:ptCount val="1"/>
                <c:pt idx="0">
                  <c:v>Construct MSG Graph</c:v>
                </c:pt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Sheet1!$G$4:$G$9</c:f>
              <c:numCache>
                <c:formatCode>General</c:formatCode>
                <c:ptCount val="6"/>
                <c:pt idx="0">
                  <c:v>45.01</c:v>
                </c:pt>
                <c:pt idx="1">
                  <c:v>21.48</c:v>
                </c:pt>
                <c:pt idx="2">
                  <c:v>11.17</c:v>
                </c:pt>
                <c:pt idx="3">
                  <c:v>3.89</c:v>
                </c:pt>
                <c:pt idx="4">
                  <c:v>2.25</c:v>
                </c:pt>
                <c:pt idx="5">
                  <c:v>1.44</c:v>
                </c:pt>
              </c:numCache>
            </c:numRef>
          </c:val>
        </c:ser>
        <c:ser>
          <c:idx val="4"/>
          <c:order val="4"/>
          <c:tx>
            <c:strRef>
              <c:f>Sheet1!$H$3</c:f>
              <c:strCache>
                <c:ptCount val="1"/>
                <c:pt idx="0">
                  <c:v>Graph Simplification</c:v>
                </c:pt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Sheet1!$H$4:$H$9</c:f>
              <c:numCache>
                <c:formatCode>General</c:formatCode>
                <c:ptCount val="6"/>
                <c:pt idx="0">
                  <c:v>251.99</c:v>
                </c:pt>
                <c:pt idx="1">
                  <c:v>132.33000000000001</c:v>
                </c:pt>
                <c:pt idx="2">
                  <c:v>66.36</c:v>
                </c:pt>
                <c:pt idx="3">
                  <c:v>32.28</c:v>
                </c:pt>
                <c:pt idx="4">
                  <c:v>113.12</c:v>
                </c:pt>
                <c:pt idx="5">
                  <c:v>92.34</c:v>
                </c:pt>
              </c:numCache>
            </c:numRef>
          </c:val>
        </c:ser>
        <c:ser>
          <c:idx val="5"/>
          <c:order val="5"/>
          <c:tx>
            <c:strRef>
              <c:f>Sheet1!$I$3</c:f>
              <c:strCache>
                <c:ptCount val="1"/>
                <c:pt idx="0">
                  <c:v>Output</c:v>
                </c:pt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Sheet1!$I$4:$I$9</c:f>
              <c:numCache>
                <c:formatCode>General</c:formatCode>
                <c:ptCount val="6"/>
                <c:pt idx="0">
                  <c:v>7.59</c:v>
                </c:pt>
                <c:pt idx="1">
                  <c:v>4.6399999999999997</c:v>
                </c:pt>
                <c:pt idx="2">
                  <c:v>3.26</c:v>
                </c:pt>
                <c:pt idx="3">
                  <c:v>3.37</c:v>
                </c:pt>
                <c:pt idx="4">
                  <c:v>4.42</c:v>
                </c:pt>
                <c:pt idx="5">
                  <c:v>6.89</c:v>
                </c:pt>
              </c:numCache>
            </c:numRef>
          </c:val>
        </c:ser>
        <c:ser>
          <c:idx val="7"/>
          <c:order val="6"/>
          <c:tx>
            <c:strRef>
              <c:f>Sheet1!$K$3</c:f>
              <c:strCache>
                <c:ptCount val="1"/>
              </c:strCache>
            </c:strRef>
          </c:tx>
          <c:invertIfNegative val="0"/>
          <c:cat>
            <c:strRef>
              <c:f>Sheet1!$C$4:$C$9</c:f>
              <c:strCache>
                <c:ptCount val="6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  <c:pt idx="5">
                  <c:v>256k</c:v>
                </c:pt>
              </c:strCache>
            </c:strRef>
          </c:cat>
          <c:val>
            <c:numRef>
              <c:f>Sheet1!$K$4:$K$9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794432"/>
        <c:axId val="155800320"/>
      </c:barChart>
      <c:lineChart>
        <c:grouping val="standard"/>
        <c:varyColors val="0"/>
        <c:ser>
          <c:idx val="8"/>
          <c:order val="7"/>
          <c:tx>
            <c:strRef>
              <c:f>Sheet1!$L$3</c:f>
              <c:strCache>
                <c:ptCount val="1"/>
                <c:pt idx="0">
                  <c:v>Speedup</c:v>
                </c:pt>
              </c:strCache>
            </c:strRef>
          </c:tx>
          <c:cat>
            <c:strRef>
              <c:f>Sheet1!$C$4:$C$8</c:f>
              <c:strCache>
                <c:ptCount val="5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</c:strCache>
            </c:strRef>
          </c:cat>
          <c:val>
            <c:numRef>
              <c:f>Sheet1!$L$4:$L$9</c:f>
              <c:numCache>
                <c:formatCode>General</c:formatCode>
                <c:ptCount val="6"/>
                <c:pt idx="0">
                  <c:v>1</c:v>
                </c:pt>
                <c:pt idx="1">
                  <c:v>1.7452885099906399</c:v>
                </c:pt>
                <c:pt idx="2">
                  <c:v>3.0345047203547399</c:v>
                </c:pt>
                <c:pt idx="3">
                  <c:v>3.8479313096868299</c:v>
                </c:pt>
                <c:pt idx="4">
                  <c:v>6.63333124877858</c:v>
                </c:pt>
                <c:pt idx="5">
                  <c:v>8.8013950400879502</c:v>
                </c:pt>
              </c:numCache>
            </c:numRef>
          </c:val>
          <c:smooth val="0"/>
        </c:ser>
        <c:ser>
          <c:idx val="9"/>
          <c:order val="8"/>
          <c:tx>
            <c:strRef>
              <c:f>Sheet1!$M$3</c:f>
              <c:strCache>
                <c:ptCount val="1"/>
                <c:pt idx="0">
                  <c:v>Linear Speedup</c:v>
                </c:pt>
              </c:strCache>
            </c:strRef>
          </c:tx>
          <c:cat>
            <c:strRef>
              <c:f>Sheet1!$C$4:$C$8</c:f>
              <c:strCache>
                <c:ptCount val="5"/>
                <c:pt idx="0">
                  <c:v>8k</c:v>
                </c:pt>
                <c:pt idx="1">
                  <c:v>16k</c:v>
                </c:pt>
                <c:pt idx="2">
                  <c:v>32k</c:v>
                </c:pt>
                <c:pt idx="3">
                  <c:v>64k</c:v>
                </c:pt>
                <c:pt idx="4">
                  <c:v>128k</c:v>
                </c:pt>
              </c:strCache>
            </c:strRef>
          </c:cat>
          <c:val>
            <c:numRef>
              <c:f>Sheet1!$M$4:$M$9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811840"/>
        <c:axId val="155801856"/>
      </c:lineChart>
      <c:catAx>
        <c:axId val="155794432"/>
        <c:scaling>
          <c:orientation val="minMax"/>
        </c:scaling>
        <c:delete val="0"/>
        <c:axPos val="b"/>
        <c:majorTickMark val="out"/>
        <c:minorTickMark val="none"/>
        <c:tickLblPos val="nextTo"/>
        <c:crossAx val="155800320"/>
        <c:crosses val="autoZero"/>
        <c:auto val="1"/>
        <c:lblAlgn val="ctr"/>
        <c:lblOffset val="100"/>
        <c:noMultiLvlLbl val="0"/>
      </c:catAx>
      <c:valAx>
        <c:axId val="15580032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5794432"/>
        <c:crosses val="autoZero"/>
        <c:crossBetween val="between"/>
      </c:valAx>
      <c:valAx>
        <c:axId val="155801856"/>
        <c:scaling>
          <c:logBase val="2"/>
          <c:orientation val="minMax"/>
          <c:max val="32"/>
        </c:scaling>
        <c:delete val="0"/>
        <c:axPos val="r"/>
        <c:numFmt formatCode="General" sourceLinked="1"/>
        <c:majorTickMark val="out"/>
        <c:minorTickMark val="none"/>
        <c:tickLblPos val="nextTo"/>
        <c:crossAx val="155811840"/>
        <c:crosses val="max"/>
        <c:crossBetween val="between"/>
      </c:valAx>
      <c:catAx>
        <c:axId val="155811840"/>
        <c:scaling>
          <c:orientation val="minMax"/>
        </c:scaling>
        <c:delete val="1"/>
        <c:axPos val="b"/>
        <c:majorTickMark val="out"/>
        <c:minorTickMark val="none"/>
        <c:tickLblPos val="nextTo"/>
        <c:crossAx val="155801856"/>
        <c:crosses val="autoZero"/>
        <c:auto val="1"/>
        <c:lblAlgn val="ctr"/>
        <c:lblOffset val="100"/>
        <c:noMultiLvlLbl val="0"/>
      </c:cat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400" baseline="0"/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95C3E51-F39D-498D-B98F-40CC1547B190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4FA4619-A5DA-48EF-B305-CD68A07E588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496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B0A3338-634B-44E4-B240-F1F3920525AA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eaLnBrk="1" hangingPunct="1">
              <a:spcBef>
                <a:spcPct val="0"/>
              </a:spcBef>
              <a:buFontTx/>
              <a:buNone/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72B40BC-F6F8-4EAB-9D93-CADAD7D269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633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hyperlink" Target="http://photo.tlw.cn/2/JPEG640/033/001_050/AH016_L.htm" TargetMode="External"/><Relationship Id="rId18" Type="http://schemas.openxmlformats.org/officeDocument/2006/relationships/image" Target="../media/image10.jpeg"/><Relationship Id="rId3" Type="http://schemas.openxmlformats.org/officeDocument/2006/relationships/image" Target="../media/image2.jpeg"/><Relationship Id="rId7" Type="http://schemas.openxmlformats.org/officeDocument/2006/relationships/hyperlink" Target="http://photo.tlw.cn/7/JPEG/Vol_113/ER004_L.htm" TargetMode="External"/><Relationship Id="rId12" Type="http://schemas.openxmlformats.org/officeDocument/2006/relationships/image" Target="../media/image7.jpeg"/><Relationship Id="rId17" Type="http://schemas.openxmlformats.org/officeDocument/2006/relationships/hyperlink" Target="http://photo.tlw.cn/5/JPEG640/087/151_200/DP151_L.htm" TargetMode="External"/><Relationship Id="rId2" Type="http://schemas.openxmlformats.org/officeDocument/2006/relationships/hyperlink" Target="http://photo.tlw.cn/7/JPEG/Vol_117/EV163_L.htm" TargetMode="External"/><Relationship Id="rId16" Type="http://schemas.openxmlformats.org/officeDocument/2006/relationships/image" Target="../media/image9.jpeg"/><Relationship Id="rId20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jpeg"/><Relationship Id="rId11" Type="http://schemas.openxmlformats.org/officeDocument/2006/relationships/hyperlink" Target="http://photo.tlw.cn/5/JPEG640/097/001_050/DZ006_L.htm" TargetMode="External"/><Relationship Id="rId5" Type="http://schemas.openxmlformats.org/officeDocument/2006/relationships/hyperlink" Target="http://photo.tlw.cn/7/JPEG/Vol_126/FE088_L.htm" TargetMode="External"/><Relationship Id="rId15" Type="http://schemas.openxmlformats.org/officeDocument/2006/relationships/hyperlink" Target="http://photo.tlw.cn/7/JPEG/Vol_113/ER147_L.htm" TargetMode="External"/><Relationship Id="rId10" Type="http://schemas.openxmlformats.org/officeDocument/2006/relationships/image" Target="../media/image6.jpeg"/><Relationship Id="rId19" Type="http://schemas.openxmlformats.org/officeDocument/2006/relationships/hyperlink" Target="http://photo.tlw.cn/7/JPEG/Vol_117/EV032_L.htm" TargetMode="External"/><Relationship Id="rId4" Type="http://schemas.openxmlformats.org/officeDocument/2006/relationships/image" Target="../media/image3.jpeg"/><Relationship Id="rId9" Type="http://schemas.openxmlformats.org/officeDocument/2006/relationships/hyperlink" Target="http://photo.tlw.cn/5/JPEG640/087/151_200/DP172_L.htm" TargetMode="External"/><Relationship Id="rId14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CE6A7-DBC3-4CA3-ABCB-053018DD6C52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01BF2-E41D-439A-A9A6-BCA6FA59B9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13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9873-8655-46D0-A4B7-630B2744757E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89660-3F86-4F20-BEF2-2833362AF7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15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CA420-52E1-4B14-9B0F-F84382A58FDB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0A7DF-8F08-42E6-ABE8-9F90DBEA90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56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B3595-1F72-40EE-8BDE-3B953A53CC13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A5005-1144-4CBA-A163-54EFB1EF82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79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A3EFB-FD2E-4D9E-8A61-5CE2E4D294D2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23F04-1449-4995-A828-07DEB574B7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13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7BADB-0D90-4866-ADD0-7B254946AB3C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1D74-314B-493D-BEBE-3A54A2565B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1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5C83A-FE87-40BE-9096-3A229F3D8BF6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68A0B-112B-45D8-ABA2-F9FBADC344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0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033EE-D612-4166-9FC3-D47B5D5B3CAC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40F15-D332-41C0-8DDF-DCB6ABC160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30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EDA7D-F343-4CDF-A1E0-58F31EBD9E1D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38599-74B4-4740-BE77-5B28527928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05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79B7B-806F-43D3-92AA-B64F9CEB0D93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EB505-58B3-42B2-81E8-2BA2FAEB9F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2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B9DF5-A6A5-4D9D-8797-9DCC24098D79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DF1BC-4E79-4AB1-9FF0-1C3B3C6188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78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163_T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5125"/>
            <a:ext cx="8636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上标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44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FE088_T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5437188"/>
            <a:ext cx="165735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ER004_T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5437188"/>
            <a:ext cx="86518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DP172_T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Z006_T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00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AH016_T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5437188"/>
            <a:ext cx="15113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 descr="ER147_T">
            <a:hlinkClick r:id="rId15"/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437188"/>
            <a:ext cx="8651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DP151_T">
            <a:hlinkClick r:id="rId17"/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EV032_T">
            <a:hlinkClick r:id="rId19"/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5437188"/>
            <a:ext cx="8636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BCD4E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11124"/>
      </p:ext>
    </p:extLst>
  </p:cSld>
  <p:clrMapOvr>
    <a:masterClrMapping/>
  </p:clrMapOvr>
  <p:transition>
    <p:pull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2B1F0-13B6-48C3-94A6-195F855565C9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52B1E3-C63B-4C78-972D-F110F39719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4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30C2F7-83EF-40EC-B752-543318158CD3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1D556-49F3-4D19-88EC-A12D4D3B3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1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60CE9-23B0-4AC6-99FB-0953A4F4319E}" type="datetimeFigureOut">
              <a:rPr lang="zh-CN" altLang="en-US"/>
              <a:pPr>
                <a:defRPr/>
              </a:pPr>
              <a:t>2015/11/26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C332E2A-555E-4384-9074-58F16B386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8" r:id="rId12"/>
    <p:sldLayoutId id="2147483676" r:id="rId13"/>
    <p:sldLayoutId id="214748367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gif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/>
              <a:t> </a:t>
            </a:r>
          </a:p>
        </p:txBody>
      </p:sp>
      <p:sp>
        <p:nvSpPr>
          <p:cNvPr id="3075" name="Rectangle 12"/>
          <p:cNvSpPr>
            <a:spLocks noChangeArrowheads="1"/>
          </p:cNvSpPr>
          <p:nvPr/>
        </p:nvSpPr>
        <p:spPr bwMode="auto">
          <a:xfrm>
            <a:off x="746125" y="104298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博士</a:t>
            </a:r>
            <a:r>
              <a:rPr lang="zh-CN" altLang="en-US" sz="4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论文</a:t>
            </a:r>
            <a:r>
              <a:rPr lang="zh-CN" altLang="en-US" sz="44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中期考核</a:t>
            </a:r>
            <a:endParaRPr lang="zh-CN" altLang="en-US" sz="4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6" name="Rectangle 13"/>
          <p:cNvSpPr>
            <a:spLocks noChangeArrowheads="1"/>
          </p:cNvSpPr>
          <p:nvPr/>
        </p:nvSpPr>
        <p:spPr bwMode="auto">
          <a:xfrm>
            <a:off x="1151620" y="2348881"/>
            <a:ext cx="7065786" cy="4230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buFontTx/>
              <a:buNone/>
            </a:pPr>
            <a:r>
              <a:rPr lang="zh-CN" altLang="en-US" sz="36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高可扩展基因组组装</a:t>
            </a:r>
            <a:r>
              <a:rPr lang="zh-CN" altLang="en-US" sz="36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zh-CN" altLang="en-US" sz="36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研究</a:t>
            </a:r>
            <a:endParaRPr lang="en-US" altLang="zh-CN" sz="36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endParaRPr lang="en-US" altLang="zh-CN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答辩人：孟金涛</a:t>
            </a:r>
          </a:p>
          <a:p>
            <a:pPr algn="ctr"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导   师：赵晓</a:t>
            </a:r>
            <a:r>
              <a:rPr lang="zh-CN" altLang="en-US" sz="28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芳，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冯圣中</a:t>
            </a: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中科院计算技术研究所</a:t>
            </a: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FontTx/>
              <a:buNone/>
            </a:pPr>
            <a:r>
              <a:rPr lang="en-US" altLang="zh-CN" sz="280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2015-1-26</a:t>
            </a:r>
            <a:endParaRPr lang="en-US" altLang="zh-CN" sz="28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8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时限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分钟</a:t>
            </a:r>
            <a:endParaRPr lang="en-US" altLang="zh-CN" sz="28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advTm="1468"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70659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800">
                <a:latin typeface="微软雅黑" pitchFamily="34" charset="-122"/>
                <a:ea typeface="微软雅黑" pitchFamily="34" charset="-122"/>
              </a:rPr>
              <a:t>内容提要</a:t>
            </a:r>
            <a:endParaRPr lang="en-US" altLang="zh-CN" sz="4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000125" y="1403350"/>
            <a:ext cx="7667330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、选题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依据                              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、研究现状与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挑战                      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、研究内容、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目标                      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、拟解决的关键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问题                    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、拟采取的研究方案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可行性分析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、现已取得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进展                           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、实验计划及时间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安排              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、参考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文献                                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页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701569" y="1403350"/>
            <a:ext cx="8055895" cy="585490"/>
          </a:xfrm>
          <a:prstGeom prst="round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选题依据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生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命遗传信息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Content Placeholder 2"/>
          <p:cNvSpPr>
            <a:spLocks/>
          </p:cNvSpPr>
          <p:nvPr/>
        </p:nvSpPr>
        <p:spPr bwMode="auto">
          <a:xfrm>
            <a:off x="296862" y="1178750"/>
            <a:ext cx="3330033" cy="558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人类已测序的生物物种有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万个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sz="2800" dirty="0" smtClean="0"/>
              <a:t>“</a:t>
            </a:r>
            <a:r>
              <a:rPr lang="zh-CN" altLang="en-US" sz="2800" dirty="0" smtClean="0"/>
              <a:t>生命之树</a:t>
            </a:r>
            <a:r>
              <a:rPr lang="en-US" altLang="zh-CN" sz="2800" dirty="0" smtClean="0"/>
              <a:t>”</a:t>
            </a:r>
            <a:r>
              <a:rPr lang="zh-CN" altLang="en-US" sz="2800" dirty="0" smtClean="0"/>
              <a:t>估计全球有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亿物种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同一物种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人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个体也有差异</a:t>
            </a:r>
            <a:r>
              <a:rPr lang="en-US" altLang="zh-CN" sz="2800" dirty="0"/>
              <a:t>(</a:t>
            </a:r>
            <a:r>
              <a:rPr lang="zh-CN" altLang="en-US" sz="2800" dirty="0" smtClean="0"/>
              <a:t>千人基因组</a:t>
            </a:r>
            <a:r>
              <a:rPr lang="zh-CN" altLang="en-US" sz="2800" dirty="0"/>
              <a:t>计划</a:t>
            </a:r>
            <a:r>
              <a:rPr lang="en-US" altLang="zh-CN" sz="2800" dirty="0" smtClean="0"/>
              <a:t>)</a:t>
            </a:r>
          </a:p>
          <a:p>
            <a:pPr marL="285750" indent="-285750">
              <a:buFont typeface="Arial" charset="0"/>
              <a:buChar char="•"/>
            </a:pPr>
            <a:endParaRPr lang="en-US" altLang="zh-CN" sz="28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生命遗传研究的主要技术是</a:t>
            </a:r>
            <a:r>
              <a:rPr lang="zh-CN" altLang="en-US" sz="2800" b="1" dirty="0">
                <a:solidFill>
                  <a:srgbClr val="FF0000"/>
                </a:solidFill>
              </a:rPr>
              <a:t>基因测序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895" y="1216165"/>
            <a:ext cx="5517104" cy="554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94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1252842"/>
            <a:ext cx="5639609" cy="19145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3163792"/>
            <a:ext cx="5639610" cy="20669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5038441"/>
            <a:ext cx="5639610" cy="17240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选题依据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测序技术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Content Placeholder 2"/>
          <p:cNvSpPr>
            <a:spLocks/>
          </p:cNvSpPr>
          <p:nvPr/>
        </p:nvSpPr>
        <p:spPr bwMode="auto">
          <a:xfrm>
            <a:off x="296863" y="1268412"/>
            <a:ext cx="3195016" cy="5494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800" dirty="0"/>
              <a:t>新</a:t>
            </a:r>
            <a:r>
              <a:rPr lang="zh-CN" altLang="en-US" sz="2800" dirty="0" smtClean="0"/>
              <a:t>测序技术使得测序费用不断降低，测序通量</a:t>
            </a:r>
            <a:r>
              <a:rPr lang="en-US" altLang="zh-CN" sz="2800" dirty="0" smtClean="0"/>
              <a:t>9</a:t>
            </a:r>
            <a:r>
              <a:rPr lang="zh-CN" altLang="en-US" sz="2800" dirty="0" smtClean="0"/>
              <a:t>个月提高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倍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三大基因库数据总量每年翻番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现有数据已接近</a:t>
            </a:r>
            <a:r>
              <a:rPr lang="en-US" altLang="zh-CN" sz="2800" dirty="0" smtClean="0"/>
              <a:t>EB</a:t>
            </a:r>
            <a:r>
              <a:rPr lang="zh-CN" altLang="en-US" sz="2800" dirty="0" smtClean="0"/>
              <a:t>级，测序数据分析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组装</a:t>
            </a:r>
            <a:r>
              <a:rPr lang="en-US" altLang="zh-CN" sz="2800" dirty="0" smtClean="0"/>
              <a:t>&amp;</a:t>
            </a:r>
            <a:r>
              <a:rPr lang="zh-CN" altLang="en-US" sz="2800" dirty="0" smtClean="0"/>
              <a:t>比对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是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主要瓶颈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400137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选题依据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为什么并行基因组装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3"/>
            <a:ext cx="8550611" cy="3600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生命大数据研究：    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大数据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-&gt;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高扩展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百万动植物，百万环境宏基因组</a:t>
            </a:r>
            <a:r>
              <a:rPr lang="zh-CN" altLang="en-US" sz="2400" dirty="0"/>
              <a:t>，百万人</a:t>
            </a:r>
            <a:r>
              <a:rPr lang="zh-CN" altLang="en-US" sz="2400" dirty="0" smtClean="0"/>
              <a:t>基因组</a:t>
            </a:r>
            <a:r>
              <a:rPr lang="en-US" altLang="zh-CN" sz="2400" dirty="0" smtClean="0"/>
              <a:t>(0.5EB)</a:t>
            </a:r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并行组装软件高效：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时间成本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-&gt;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高效率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组装百万人类基因组需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5479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年</a:t>
            </a:r>
            <a:r>
              <a:rPr lang="zh-CN" altLang="en-US" sz="2400" dirty="0" smtClean="0"/>
              <a:t>或者花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50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亿美元建大内存超算 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(1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 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Mira + SWAP </a:t>
            </a:r>
            <a:r>
              <a:rPr lang="zh-CN" altLang="en-US" sz="2400" dirty="0" smtClean="0"/>
              <a:t>只要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周</a:t>
            </a:r>
            <a:endParaRPr lang="en-US" altLang="zh-CN" sz="2400" b="1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软硬件系统可扩展：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自动化分析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-&gt;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高质量  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数据存储可扩充，</a:t>
            </a:r>
            <a:r>
              <a:rPr lang="zh-CN" altLang="en-US" sz="2400" dirty="0"/>
              <a:t>数据分析可</a:t>
            </a:r>
            <a:r>
              <a:rPr lang="zh-CN" altLang="en-US" sz="2400" dirty="0" smtClean="0"/>
              <a:t>扩展</a:t>
            </a:r>
            <a:endParaRPr lang="en-US" altLang="zh-CN" sz="2800" dirty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800" dirty="0" smtClean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869161"/>
            <a:ext cx="9004130" cy="198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499" y="4395424"/>
            <a:ext cx="2610591" cy="94747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499" y="5612926"/>
            <a:ext cx="2623630" cy="9429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40479" y="4335653"/>
            <a:ext cx="8550611" cy="25545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/>
              <a:t>基因</a:t>
            </a:r>
            <a:r>
              <a:rPr lang="zh-CN" altLang="en-US" sz="2000" dirty="0" smtClean="0"/>
              <a:t>组装，序列比对是最基本的生物数据分析工具。</a:t>
            </a:r>
            <a:endParaRPr lang="en-US" altLang="zh-CN" sz="2000" dirty="0" smtClean="0"/>
          </a:p>
          <a:p>
            <a:r>
              <a:rPr lang="zh-CN" altLang="en-US" sz="2000" dirty="0" smtClean="0"/>
              <a:t>现已有多种高可扩展的序列比对工具：</a:t>
            </a:r>
            <a:r>
              <a:rPr lang="en-US" altLang="zh-CN" sz="2000" dirty="0" err="1" smtClean="0"/>
              <a:t>mpiBLAST</a:t>
            </a:r>
            <a:r>
              <a:rPr lang="en-US" altLang="zh-CN" sz="2000" dirty="0" smtClean="0"/>
              <a:t>, SOAP2, </a:t>
            </a:r>
            <a:r>
              <a:rPr lang="zh-CN" altLang="en-US" sz="2000" dirty="0" smtClean="0"/>
              <a:t>等</a:t>
            </a:r>
            <a:r>
              <a:rPr lang="en-US" altLang="zh-CN" sz="2000" dirty="0" smtClean="0"/>
              <a:t>.  </a:t>
            </a:r>
          </a:p>
          <a:p>
            <a:r>
              <a:rPr lang="zh-CN" altLang="en-US" sz="2000" dirty="0" smtClean="0"/>
              <a:t>但唯独序列组装到现在为止都没有一个高可扩展</a:t>
            </a:r>
            <a:r>
              <a:rPr lang="en-US" altLang="zh-CN" sz="2000" dirty="0" smtClean="0"/>
              <a:t>(&gt;512</a:t>
            </a:r>
            <a:r>
              <a:rPr lang="zh-CN" altLang="en-US" sz="2000" dirty="0" smtClean="0"/>
              <a:t>核</a:t>
            </a:r>
            <a:r>
              <a:rPr lang="zh-CN" altLang="en-US" sz="2000" dirty="0"/>
              <a:t>心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的组装工具。</a:t>
            </a:r>
            <a:endParaRPr lang="en-US" altLang="zh-CN" sz="2000" dirty="0" smtClean="0"/>
          </a:p>
          <a:p>
            <a:r>
              <a:rPr lang="zh-CN" altLang="en-US" sz="2000" dirty="0" smtClean="0"/>
              <a:t>现在政府机构</a:t>
            </a:r>
            <a:r>
              <a:rPr lang="en-US" altLang="zh-CN" sz="2000" dirty="0" smtClean="0"/>
              <a:t>(DOE,JGI),  </a:t>
            </a:r>
            <a:r>
              <a:rPr lang="zh-CN" altLang="en-US" sz="2000" dirty="0" smtClean="0"/>
              <a:t>商业公司</a:t>
            </a:r>
            <a:r>
              <a:rPr lang="en-US" altLang="zh-CN" sz="2000" dirty="0" smtClean="0"/>
              <a:t>(BGI/CG, </a:t>
            </a:r>
            <a:r>
              <a:rPr lang="en-US" altLang="zh-CN" sz="2000" dirty="0" err="1" smtClean="0"/>
              <a:t>Illumina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均投入资源研发并行组装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此项工作旨在填补</a:t>
            </a:r>
            <a:r>
              <a:rPr lang="zh-CN" altLang="en-US" sz="2000" dirty="0"/>
              <a:t>该</a:t>
            </a:r>
            <a:r>
              <a:rPr lang="zh-CN" altLang="en-US" sz="2000" dirty="0" smtClean="0"/>
              <a:t>空白</a:t>
            </a:r>
            <a:r>
              <a:rPr lang="en-US" altLang="zh-CN" sz="2000" dirty="0" smtClean="0"/>
              <a:t>, </a:t>
            </a:r>
            <a:r>
              <a:rPr lang="zh-CN" altLang="en-US" sz="2000" dirty="0" smtClean="0"/>
              <a:t>目标是研发可扩展</a:t>
            </a:r>
            <a:r>
              <a:rPr lang="zh-CN" altLang="en-US" sz="2000" b="1" dirty="0" smtClean="0"/>
              <a:t>百万核</a:t>
            </a:r>
            <a:r>
              <a:rPr lang="zh-CN" altLang="en-US" sz="2000" dirty="0" smtClean="0"/>
              <a:t>的</a:t>
            </a:r>
            <a:r>
              <a:rPr lang="en-US" altLang="zh-CN" sz="2000" b="1" dirty="0" smtClean="0"/>
              <a:t>PB</a:t>
            </a:r>
            <a:r>
              <a:rPr lang="zh-CN" altLang="en-US" sz="2000" b="1" dirty="0" smtClean="0"/>
              <a:t>级</a:t>
            </a:r>
            <a:r>
              <a:rPr lang="zh-CN" altLang="en-US" sz="2000" dirty="0"/>
              <a:t>基因</a:t>
            </a:r>
            <a:r>
              <a:rPr lang="zh-CN" altLang="en-US" sz="2000" dirty="0" smtClean="0"/>
              <a:t>数据的组装软件。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28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选题依据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基因组装应用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4" y="1268412"/>
            <a:ext cx="5106015" cy="5494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土壤</a:t>
            </a:r>
            <a:r>
              <a:rPr lang="zh-CN" altLang="en-US" sz="2400" b="1" dirty="0">
                <a:solidFill>
                  <a:srgbClr val="FF0000"/>
                </a:solidFill>
              </a:rPr>
              <a:t>宏基因组</a:t>
            </a:r>
            <a:r>
              <a:rPr lang="zh-CN" altLang="en-US" sz="2400" dirty="0"/>
              <a:t>：</a:t>
            </a:r>
            <a:r>
              <a:rPr lang="zh-CN" altLang="en-US" sz="1800" dirty="0"/>
              <a:t>种群成分变化和关键基因检测  </a:t>
            </a:r>
            <a:r>
              <a:rPr lang="en-US" altLang="zh-CN" sz="1800" dirty="0"/>
              <a:t>(Nature, 2014)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绿色清洁能源生物催化</a:t>
            </a:r>
            <a:endParaRPr lang="en-US" altLang="zh-CN" sz="20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转基因作物对土壤种群影响</a:t>
            </a:r>
            <a:endParaRPr lang="en-US" altLang="zh-CN" sz="20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土壤碳含量与气候变迁 </a:t>
            </a:r>
            <a:endParaRPr lang="en-US" altLang="zh-CN" sz="2000" dirty="0"/>
          </a:p>
          <a:p>
            <a:pPr marL="285750" indent="-285750">
              <a:buFont typeface="Arial" charset="0"/>
              <a:buChar char="•"/>
            </a:pP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癌症基因治疗</a:t>
            </a:r>
            <a:r>
              <a:rPr lang="en-US" altLang="zh-CN" sz="2400" dirty="0" smtClean="0"/>
              <a:t>: </a:t>
            </a:r>
            <a:r>
              <a:rPr lang="zh-CN" altLang="en-US" sz="1800" dirty="0" smtClean="0"/>
              <a:t>致病基因发现与关联分析</a:t>
            </a:r>
            <a:endParaRPr lang="en-US" altLang="zh-CN" sz="1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致癌基因</a:t>
            </a:r>
            <a:r>
              <a:rPr lang="en-US" altLang="zh-CN" sz="2000" dirty="0" smtClean="0"/>
              <a:t>(SNP)</a:t>
            </a:r>
            <a:r>
              <a:rPr lang="zh-CN" altLang="en-US" sz="2000" dirty="0" smtClean="0"/>
              <a:t>组装查找与分析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基因治疗和基因修复药物</a:t>
            </a:r>
            <a:endParaRPr lang="en-US" altLang="zh-CN" sz="2000" dirty="0" smtClean="0"/>
          </a:p>
          <a:p>
            <a:pPr lvl="1"/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千人基因组计划</a:t>
            </a:r>
            <a:r>
              <a:rPr lang="zh-CN" altLang="en-US" sz="2400" dirty="0" smtClean="0"/>
              <a:t>：</a:t>
            </a:r>
            <a:r>
              <a:rPr lang="en-US" altLang="zh-CN" sz="1800" dirty="0" smtClean="0"/>
              <a:t>SNP</a:t>
            </a:r>
            <a:r>
              <a:rPr lang="zh-CN" altLang="en-US" sz="1800" dirty="0" smtClean="0"/>
              <a:t>突变点位，致病基因关联分析  </a:t>
            </a:r>
            <a:r>
              <a:rPr lang="en-US" altLang="zh-CN" sz="1800" dirty="0" smtClean="0"/>
              <a:t>(Nature, 2010)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人类遗传病致病基因关联分析 </a:t>
            </a:r>
            <a:r>
              <a:rPr lang="en-US" altLang="zh-CN" sz="2000" dirty="0" smtClean="0"/>
              <a:t>(GWAS)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遗传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病理</a:t>
            </a:r>
            <a:r>
              <a:rPr lang="en-US" altLang="zh-CN" sz="2000" dirty="0"/>
              <a:t>,</a:t>
            </a:r>
            <a:r>
              <a:rPr lang="zh-CN" altLang="en-US" sz="2000" dirty="0" smtClean="0"/>
              <a:t>药理</a:t>
            </a:r>
            <a:r>
              <a:rPr lang="en-US" altLang="zh-CN" sz="2000" dirty="0"/>
              <a:t>,</a:t>
            </a:r>
            <a:r>
              <a:rPr lang="zh-CN" altLang="en-US" sz="2000" dirty="0" smtClean="0"/>
              <a:t>生物化学反应</a:t>
            </a:r>
            <a:r>
              <a:rPr lang="zh-CN" altLang="en-US" sz="2000" dirty="0"/>
              <a:t>性</a:t>
            </a:r>
            <a:r>
              <a:rPr lang="zh-CN" altLang="en-US" sz="2000" dirty="0" smtClean="0"/>
              <a:t>分析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开发常见疾病诊断，治疗，预防策略</a:t>
            </a:r>
            <a:endParaRPr lang="en-US" altLang="zh-CN" sz="2000" dirty="0" smtClean="0"/>
          </a:p>
        </p:txBody>
      </p:sp>
      <p:grpSp>
        <p:nvGrpSpPr>
          <p:cNvPr id="9" name="组合 8"/>
          <p:cNvGrpSpPr/>
          <p:nvPr/>
        </p:nvGrpSpPr>
        <p:grpSpPr>
          <a:xfrm>
            <a:off x="5195354" y="1244467"/>
            <a:ext cx="3933064" cy="1859050"/>
            <a:chOff x="-1419531" y="2354561"/>
            <a:chExt cx="9622420" cy="2391510"/>
          </a:xfrm>
        </p:grpSpPr>
        <p:grpSp>
          <p:nvGrpSpPr>
            <p:cNvPr id="6" name="组合 5"/>
            <p:cNvGrpSpPr/>
            <p:nvPr/>
          </p:nvGrpSpPr>
          <p:grpSpPr>
            <a:xfrm>
              <a:off x="-1358693" y="2354561"/>
              <a:ext cx="9545151" cy="2391510"/>
              <a:chOff x="2656875" y="2448362"/>
              <a:chExt cx="9545151" cy="2391510"/>
            </a:xfrm>
          </p:grpSpPr>
          <p:pic>
            <p:nvPicPr>
              <p:cNvPr id="57357" name="Picture 13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6875" y="2470593"/>
                <a:ext cx="3258796" cy="2366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7358" name="Picture 1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8710" y="2451484"/>
                <a:ext cx="3180353" cy="2385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7359" name="Picture 15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13346" y="2448362"/>
                <a:ext cx="3188680" cy="23915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7" name="TextBox 6"/>
            <p:cNvSpPr txBox="1"/>
            <p:nvPr/>
          </p:nvSpPr>
          <p:spPr>
            <a:xfrm>
              <a:off x="-1419531" y="2404428"/>
              <a:ext cx="3083533" cy="435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未开垦的土地</a:t>
              </a:r>
              <a:endParaRPr lang="zh-CN" altLang="en-US" sz="16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39264" y="2376792"/>
              <a:ext cx="3083533" cy="4355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/>
                <a:t>新开垦的土地</a:t>
              </a:r>
              <a:endParaRPr lang="zh-CN" altLang="en-US" sz="16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63495" y="2407892"/>
              <a:ext cx="3139394" cy="395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/>
                <a:t>开垦百年的土地</a:t>
              </a:r>
              <a:endParaRPr lang="zh-CN" altLang="en-US" sz="1400" dirty="0"/>
            </a:p>
          </p:txBody>
        </p:sp>
      </p:grp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682" y="5184195"/>
            <a:ext cx="3921318" cy="1673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c:\users\lenovo\appdata\roaming\360se6\User Data\temp\FeaturedImage_727x25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97" y="3158969"/>
            <a:ext cx="3926348" cy="1980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6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基因组装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4950211" cy="544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基本理论</a:t>
            </a:r>
            <a:endParaRPr lang="en-US" altLang="zh-CN" sz="2400" dirty="0"/>
          </a:p>
          <a:p>
            <a:pPr lvl="1"/>
            <a:r>
              <a:rPr lang="zh-CN" altLang="en-US" sz="2400" dirty="0" smtClean="0"/>
              <a:t>使用互相重叠的</a:t>
            </a:r>
            <a:r>
              <a:rPr lang="en-US" altLang="zh-CN" sz="2400" dirty="0" smtClean="0"/>
              <a:t>Reads/</a:t>
            </a:r>
            <a:r>
              <a:rPr lang="en-US" altLang="zh-CN" sz="2400" dirty="0" err="1" smtClean="0"/>
              <a:t>kmers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重建连续的</a:t>
            </a:r>
            <a:r>
              <a:rPr lang="en-US" altLang="zh-CN" sz="2400" dirty="0" smtClean="0"/>
              <a:t>DNA</a:t>
            </a:r>
            <a:r>
              <a:rPr lang="zh-CN" altLang="en-US" sz="2400" dirty="0"/>
              <a:t>序列</a:t>
            </a:r>
            <a:r>
              <a:rPr lang="en-US" altLang="zh-CN" sz="2400" dirty="0" err="1" smtClean="0"/>
              <a:t>contigs</a:t>
            </a:r>
            <a:endParaRPr lang="en-US" altLang="zh-CN" sz="2400" dirty="0" smtClean="0"/>
          </a:p>
          <a:p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主要策略有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种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b="1" dirty="0">
                <a:solidFill>
                  <a:srgbClr val="3333CC"/>
                </a:solidFill>
              </a:rPr>
              <a:t>O</a:t>
            </a:r>
            <a:r>
              <a:rPr lang="en-US" altLang="zh-CN" sz="2400" dirty="0"/>
              <a:t>verlap-</a:t>
            </a:r>
            <a:r>
              <a:rPr lang="en-US" altLang="zh-CN" sz="2400" b="1" dirty="0">
                <a:solidFill>
                  <a:srgbClr val="3333CC"/>
                </a:solidFill>
              </a:rPr>
              <a:t>L</a:t>
            </a:r>
            <a:r>
              <a:rPr lang="en-US" altLang="zh-CN" sz="2400" dirty="0"/>
              <a:t>ayout-</a:t>
            </a:r>
            <a:r>
              <a:rPr lang="en-US" altLang="zh-CN" sz="2400" b="1" dirty="0">
                <a:solidFill>
                  <a:srgbClr val="3333CC"/>
                </a:solidFill>
              </a:rPr>
              <a:t>C</a:t>
            </a:r>
            <a:r>
              <a:rPr lang="en-US" altLang="zh-CN" sz="2400" dirty="0"/>
              <a:t>onsensus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/>
              <a:t>De </a:t>
            </a:r>
            <a:r>
              <a:rPr lang="en-US" altLang="zh-CN" sz="2400" dirty="0" err="1"/>
              <a:t>Bruijn</a:t>
            </a:r>
            <a:r>
              <a:rPr lang="zh-CN" altLang="en-US" sz="2400" dirty="0"/>
              <a:t>图  </a:t>
            </a:r>
            <a:r>
              <a:rPr lang="en-US" altLang="zh-CN" sz="2000" i="1" dirty="0">
                <a:solidFill>
                  <a:srgbClr val="FF0000"/>
                </a:solidFill>
              </a:rPr>
              <a:t>(</a:t>
            </a:r>
            <a:r>
              <a:rPr lang="zh-CN" altLang="en-US" sz="2000" i="1" dirty="0">
                <a:solidFill>
                  <a:srgbClr val="FF0000"/>
                </a:solidFill>
              </a:rPr>
              <a:t>复杂度低，可并行</a:t>
            </a:r>
            <a:r>
              <a:rPr lang="en-US" altLang="zh-CN" sz="2000" i="1" dirty="0">
                <a:solidFill>
                  <a:srgbClr val="FF0000"/>
                </a:solidFill>
              </a:rPr>
              <a:t>)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/>
              <a:t>String </a:t>
            </a:r>
            <a:r>
              <a:rPr lang="zh-CN" altLang="en-US" sz="2400" dirty="0"/>
              <a:t>图 </a:t>
            </a:r>
            <a:endParaRPr lang="en-US" altLang="zh-CN" sz="2400" dirty="0" smtClean="0"/>
          </a:p>
          <a:p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DBG</a:t>
            </a:r>
            <a:r>
              <a:rPr lang="zh-CN" altLang="en-US" sz="2400" dirty="0" smtClean="0"/>
              <a:t>策略核心步骤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DBG</a:t>
            </a:r>
            <a:r>
              <a:rPr lang="zh-CN" altLang="en-US" sz="2400" dirty="0" smtClean="0"/>
              <a:t>图构建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边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顶点合并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err="1" smtClean="0"/>
              <a:t>Contig</a:t>
            </a:r>
            <a:r>
              <a:rPr lang="zh-CN" altLang="en-US" sz="2400" dirty="0" smtClean="0"/>
              <a:t>生成</a:t>
            </a:r>
            <a:endParaRPr lang="en-US" altLang="zh-CN" sz="2400" dirty="0" smtClean="0"/>
          </a:p>
          <a:p>
            <a:pPr lvl="1"/>
            <a:endParaRPr lang="en-US" altLang="zh-CN" sz="2400" dirty="0" smtClean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26" y="1523999"/>
            <a:ext cx="4097640" cy="482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06946" y="6312265"/>
            <a:ext cx="24384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/>
              <a:t>基因组装工作流程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7634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3870091" cy="544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数据密集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PB</a:t>
            </a:r>
            <a:r>
              <a:rPr lang="zh-CN" altLang="en-US" sz="2400" dirty="0" smtClean="0"/>
              <a:t>级数据并行</a:t>
            </a:r>
            <a:r>
              <a:rPr lang="en-US" altLang="zh-CN" sz="2400" dirty="0" smtClean="0"/>
              <a:t>I/O</a:t>
            </a:r>
            <a:endParaRPr lang="en-US" altLang="zh-CN" sz="24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内存密集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/>
              <a:t>读入</a:t>
            </a:r>
            <a:r>
              <a:rPr lang="zh-CN" altLang="en-US" sz="2400" dirty="0" smtClean="0"/>
              <a:t>数据的</a:t>
            </a:r>
            <a:r>
              <a:rPr lang="en-US" altLang="zh-CN" sz="2400" dirty="0" smtClean="0"/>
              <a:t>50</a:t>
            </a:r>
            <a:r>
              <a:rPr lang="zh-CN" altLang="en-US" sz="2400" dirty="0" smtClean="0"/>
              <a:t>倍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高效数据结构压缩</a:t>
            </a:r>
            <a:r>
              <a:rPr lang="en-US" altLang="zh-CN" sz="2400" dirty="0" smtClean="0"/>
              <a:t>10X</a:t>
            </a:r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通讯密集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大内存数据交换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err="1" smtClean="0"/>
              <a:t>kmer</a:t>
            </a:r>
            <a:r>
              <a:rPr lang="zh-CN" altLang="en-US" sz="2400" dirty="0" smtClean="0"/>
              <a:t>谱分析</a:t>
            </a:r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800" dirty="0" smtClean="0"/>
              <a:t>紧耦合问题</a:t>
            </a:r>
            <a:endParaRPr lang="en-US" altLang="zh-CN" sz="28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10P</a:t>
            </a:r>
            <a:r>
              <a:rPr lang="zh-CN" altLang="en-US" sz="2400" dirty="0" smtClean="0"/>
              <a:t>的图顶点互相通讯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图拓扑结构快速变化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顶点访问的冲突同步</a:t>
            </a:r>
            <a:endParaRPr lang="en-US" altLang="zh-CN" sz="2400" dirty="0" smtClean="0"/>
          </a:p>
        </p:txBody>
      </p:sp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基因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组装挑战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007" y="1223755"/>
            <a:ext cx="2562795" cy="720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007" y="1944183"/>
            <a:ext cx="2584994" cy="124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007" y="3969060"/>
            <a:ext cx="2486362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007" y="5931210"/>
            <a:ext cx="2584993" cy="899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4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691" y="5064435"/>
            <a:ext cx="25086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8849" name="直接箭头连接符 78848"/>
          <p:cNvCxnSpPr>
            <a:stCxn id="4" idx="1"/>
            <a:endCxn id="78870" idx="3"/>
          </p:cNvCxnSpPr>
          <p:nvPr/>
        </p:nvCxnSpPr>
        <p:spPr>
          <a:xfrm flipH="1" flipV="1">
            <a:off x="3536886" y="1538616"/>
            <a:ext cx="855094" cy="292707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7" idx="1"/>
            <a:endCxn id="70" idx="3"/>
          </p:cNvCxnSpPr>
          <p:nvPr/>
        </p:nvCxnSpPr>
        <p:spPr>
          <a:xfrm flipH="1" flipV="1">
            <a:off x="3536886" y="2475783"/>
            <a:ext cx="855093" cy="300645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7" idx="1"/>
            <a:endCxn id="71" idx="3"/>
          </p:cNvCxnSpPr>
          <p:nvPr/>
        </p:nvCxnSpPr>
        <p:spPr>
          <a:xfrm flipH="1">
            <a:off x="3536886" y="2776428"/>
            <a:ext cx="855093" cy="1102622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8" idx="1"/>
            <a:endCxn id="70" idx="3"/>
          </p:cNvCxnSpPr>
          <p:nvPr/>
        </p:nvCxnSpPr>
        <p:spPr>
          <a:xfrm flipH="1" flipV="1">
            <a:off x="3536886" y="2475783"/>
            <a:ext cx="855094" cy="1245750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8" idx="1"/>
            <a:endCxn id="71" idx="3"/>
          </p:cNvCxnSpPr>
          <p:nvPr/>
        </p:nvCxnSpPr>
        <p:spPr>
          <a:xfrm flipH="1">
            <a:off x="3536886" y="3721533"/>
            <a:ext cx="855094" cy="157517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9" idx="1"/>
            <a:endCxn id="72" idx="3"/>
          </p:cNvCxnSpPr>
          <p:nvPr/>
        </p:nvCxnSpPr>
        <p:spPr>
          <a:xfrm flipH="1">
            <a:off x="3536887" y="4666638"/>
            <a:ext cx="855093" cy="562664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9" idx="1"/>
            <a:endCxn id="71" idx="3"/>
          </p:cNvCxnSpPr>
          <p:nvPr/>
        </p:nvCxnSpPr>
        <p:spPr>
          <a:xfrm flipH="1" flipV="1">
            <a:off x="3536886" y="3879050"/>
            <a:ext cx="855094" cy="787588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870" name="矩形 78869"/>
          <p:cNvSpPr/>
          <p:nvPr/>
        </p:nvSpPr>
        <p:spPr>
          <a:xfrm>
            <a:off x="296864" y="1268412"/>
            <a:ext cx="3240022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296863" y="2205579"/>
            <a:ext cx="3240023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96863" y="3608846"/>
            <a:ext cx="3240023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345469" y="4959098"/>
            <a:ext cx="3191418" cy="540408"/>
          </a:xfrm>
          <a:prstGeom prst="rect">
            <a:avLst/>
          </a:prstGeom>
          <a:solidFill>
            <a:schemeClr val="bg2">
              <a:lumMod val="75000"/>
              <a:alpha val="13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箭头连接符 82"/>
          <p:cNvCxnSpPr>
            <a:stCxn id="11" idx="1"/>
            <a:endCxn id="72" idx="3"/>
          </p:cNvCxnSpPr>
          <p:nvPr/>
        </p:nvCxnSpPr>
        <p:spPr>
          <a:xfrm flipH="1" flipV="1">
            <a:off x="3536887" y="5229302"/>
            <a:ext cx="855093" cy="1282541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10" idx="1"/>
            <a:endCxn id="72" idx="3"/>
          </p:cNvCxnSpPr>
          <p:nvPr/>
        </p:nvCxnSpPr>
        <p:spPr>
          <a:xfrm flipH="1" flipV="1">
            <a:off x="3536887" y="5229302"/>
            <a:ext cx="855093" cy="337436"/>
          </a:xfrm>
          <a:prstGeom prst="straightConnector1">
            <a:avLst/>
          </a:prstGeom>
          <a:ln w="38100" cmpd="sng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4391980" y="1538790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Input </a:t>
            </a:r>
            <a:r>
              <a:rPr lang="en-US" altLang="zh-CN" sz="1800" dirty="0" err="1" smtClean="0"/>
              <a:t>Parallelizaion</a:t>
            </a:r>
            <a:endParaRPr lang="zh-CN" altLang="en-US" sz="1800" dirty="0"/>
          </a:p>
        </p:txBody>
      </p:sp>
      <p:sp>
        <p:nvSpPr>
          <p:cNvPr id="7" name="圆角矩形 6"/>
          <p:cNvSpPr/>
          <p:nvPr/>
        </p:nvSpPr>
        <p:spPr>
          <a:xfrm>
            <a:off x="4391979" y="2483895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err="1" smtClean="0"/>
              <a:t>Kmer</a:t>
            </a:r>
            <a:r>
              <a:rPr lang="en-US" altLang="zh-CN" sz="1800" dirty="0" smtClean="0"/>
              <a:t> Graph Analysis</a:t>
            </a:r>
            <a:endParaRPr lang="zh-CN" altLang="en-US" sz="1800" dirty="0"/>
          </a:p>
        </p:txBody>
      </p:sp>
      <p:sp>
        <p:nvSpPr>
          <p:cNvPr id="8" name="圆角矩形 7"/>
          <p:cNvSpPr/>
          <p:nvPr/>
        </p:nvSpPr>
        <p:spPr>
          <a:xfrm>
            <a:off x="4391980" y="3429000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Graph </a:t>
            </a:r>
            <a:r>
              <a:rPr lang="en-US" altLang="zh-CN" sz="1800" dirty="0" err="1" smtClean="0"/>
              <a:t>Constrution</a:t>
            </a:r>
            <a:endParaRPr lang="zh-CN" altLang="en-US" sz="1800" dirty="0"/>
          </a:p>
        </p:txBody>
      </p:sp>
      <p:sp>
        <p:nvSpPr>
          <p:cNvPr id="9" name="圆角矩形 8"/>
          <p:cNvSpPr/>
          <p:nvPr/>
        </p:nvSpPr>
        <p:spPr>
          <a:xfrm>
            <a:off x="4391980" y="4374105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Edge Merging</a:t>
            </a:r>
            <a:endParaRPr lang="zh-CN" altLang="en-US" sz="1800" dirty="0"/>
          </a:p>
        </p:txBody>
      </p:sp>
      <p:sp>
        <p:nvSpPr>
          <p:cNvPr id="10" name="圆角矩形 9"/>
          <p:cNvSpPr/>
          <p:nvPr/>
        </p:nvSpPr>
        <p:spPr>
          <a:xfrm>
            <a:off x="4391980" y="5274205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err="1" smtClean="0"/>
              <a:t>Contig</a:t>
            </a:r>
            <a:r>
              <a:rPr lang="en-US" altLang="zh-CN" sz="1800" dirty="0" smtClean="0"/>
              <a:t> Generation</a:t>
            </a:r>
            <a:endParaRPr lang="zh-CN" altLang="en-US" sz="1800" dirty="0"/>
          </a:p>
        </p:txBody>
      </p:sp>
      <p:sp>
        <p:nvSpPr>
          <p:cNvPr id="11" name="圆角矩形 10"/>
          <p:cNvSpPr/>
          <p:nvPr/>
        </p:nvSpPr>
        <p:spPr>
          <a:xfrm>
            <a:off x="4391980" y="6219310"/>
            <a:ext cx="2205245" cy="5850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dirty="0" smtClean="0"/>
              <a:t>Scaffolding</a:t>
            </a:r>
            <a:endParaRPr lang="zh-CN" altLang="en-US" sz="1800" dirty="0"/>
          </a:p>
        </p:txBody>
      </p:sp>
      <p:cxnSp>
        <p:nvCxnSpPr>
          <p:cNvPr id="12" name="直接箭头连接符 11"/>
          <p:cNvCxnSpPr>
            <a:stCxn id="4" idx="2"/>
            <a:endCxn id="7" idx="0"/>
          </p:cNvCxnSpPr>
          <p:nvPr/>
        </p:nvCxnSpPr>
        <p:spPr>
          <a:xfrm flipH="1">
            <a:off x="5494602" y="2123855"/>
            <a:ext cx="1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8" idx="0"/>
          </p:cNvCxnSpPr>
          <p:nvPr/>
        </p:nvCxnSpPr>
        <p:spPr>
          <a:xfrm>
            <a:off x="5494602" y="3068960"/>
            <a:ext cx="1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2"/>
            <a:endCxn id="9" idx="0"/>
          </p:cNvCxnSpPr>
          <p:nvPr/>
        </p:nvCxnSpPr>
        <p:spPr>
          <a:xfrm>
            <a:off x="5494603" y="4014065"/>
            <a:ext cx="0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9" idx="2"/>
            <a:endCxn id="10" idx="0"/>
          </p:cNvCxnSpPr>
          <p:nvPr/>
        </p:nvCxnSpPr>
        <p:spPr>
          <a:xfrm>
            <a:off x="5494603" y="4959170"/>
            <a:ext cx="0" cy="315035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0" idx="2"/>
            <a:endCxn id="11" idx="0"/>
          </p:cNvCxnSpPr>
          <p:nvPr/>
        </p:nvCxnSpPr>
        <p:spPr>
          <a:xfrm>
            <a:off x="5494603" y="5859270"/>
            <a:ext cx="0" cy="36004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256966" y="1143000"/>
            <a:ext cx="2475274" cy="5715000"/>
          </a:xfrm>
          <a:prstGeom prst="rect">
            <a:avLst/>
          </a:prstGeom>
          <a:solidFill>
            <a:schemeClr val="accent1">
              <a:alpha val="14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基因组装流程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564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已发表的并行组装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23755"/>
            <a:ext cx="8550612" cy="522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ABySS   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JT. Simpson</a:t>
            </a:r>
            <a:r>
              <a:rPr lang="en-US" altLang="zh-CN" sz="1800" dirty="0" smtClean="0"/>
              <a:t>, Genome Research/Nature Methods, 2009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贡献： 经典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策略在</a:t>
            </a:r>
            <a:r>
              <a:rPr lang="en-US" altLang="zh-CN" sz="2000" dirty="0" smtClean="0"/>
              <a:t>MPI</a:t>
            </a:r>
            <a:r>
              <a:rPr lang="zh-CN" altLang="en-US" sz="2000" dirty="0" smtClean="0"/>
              <a:t>通讯上的简单实现</a:t>
            </a:r>
            <a:r>
              <a:rPr lang="en-US" altLang="zh-CN" sz="2000" dirty="0" smtClean="0"/>
              <a:t> (SC 2014)</a:t>
            </a:r>
            <a:r>
              <a:rPr lang="zh-CN" altLang="en-US" sz="2000" dirty="0" smtClean="0"/>
              <a:t>，并行度不够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18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Ray/Ray-meta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Sebastien</a:t>
            </a:r>
            <a:r>
              <a:rPr lang="en-US" altLang="zh-CN" sz="1800" dirty="0"/>
              <a:t>, </a:t>
            </a:r>
            <a:r>
              <a:rPr lang="en-US" altLang="zh-CN" sz="1800" dirty="0" smtClean="0"/>
              <a:t>JCB/Genome Biology, </a:t>
            </a:r>
            <a:r>
              <a:rPr lang="en-US" altLang="zh-CN" sz="1800" dirty="0"/>
              <a:t>2012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贡献： 基于</a:t>
            </a:r>
            <a:r>
              <a:rPr lang="en-US" altLang="zh-CN" sz="2000" dirty="0" smtClean="0"/>
              <a:t>MPI</a:t>
            </a:r>
            <a:r>
              <a:rPr lang="zh-CN" altLang="en-US" sz="2000" dirty="0" smtClean="0"/>
              <a:t>开发的通用分布式引擎上的经典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策略实现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18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YAGA  </a:t>
            </a:r>
            <a:r>
              <a:rPr lang="en-US" altLang="zh-CN" sz="1800" b="1" dirty="0">
                <a:solidFill>
                  <a:srgbClr val="FF0000"/>
                </a:solidFill>
              </a:rPr>
              <a:t>BG. 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Jackson,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S.aluru</a:t>
            </a:r>
            <a:r>
              <a:rPr lang="en-US" altLang="zh-CN" sz="1800" dirty="0" smtClean="0"/>
              <a:t>, </a:t>
            </a:r>
            <a:r>
              <a:rPr lang="en-US" altLang="zh-CN" sz="1800" dirty="0"/>
              <a:t>ICPP /IPDPS /BMC Bioinformatics </a:t>
            </a:r>
            <a:r>
              <a:rPr lang="en-US" altLang="zh-CN" sz="1800" dirty="0" smtClean="0"/>
              <a:t>2009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贡献： 双向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的构建，基于</a:t>
            </a:r>
            <a:r>
              <a:rPr lang="en-US" altLang="zh-CN" sz="2000" dirty="0" smtClean="0"/>
              <a:t>List ranking </a:t>
            </a:r>
            <a:r>
              <a:rPr lang="zh-CN" altLang="en-US" sz="2000" dirty="0" smtClean="0"/>
              <a:t>路径收缩算法</a:t>
            </a:r>
            <a:r>
              <a:rPr lang="zh-CN" altLang="en-US" sz="2000" dirty="0"/>
              <a:t>复杂度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nlogn</a:t>
            </a:r>
            <a:r>
              <a:rPr lang="en-US" altLang="zh-CN" sz="2000" dirty="0" smtClean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BGI Hecate, Contrail </a:t>
            </a:r>
            <a:r>
              <a:rPr lang="zh-CN" altLang="en-US" sz="2000" b="1" dirty="0" smtClean="0"/>
              <a:t>云上组装项目</a:t>
            </a:r>
            <a:r>
              <a:rPr lang="zh-CN" altLang="en-US" sz="2000" dirty="0" smtClean="0"/>
              <a:t>的核心算法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18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PASHA </a:t>
            </a:r>
            <a:r>
              <a:rPr lang="en-US" altLang="zh-CN" sz="1800" b="1" dirty="0" err="1" smtClean="0">
                <a:solidFill>
                  <a:srgbClr val="FF0000"/>
                </a:solidFill>
              </a:rPr>
              <a:t>Yongchao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Liu</a:t>
            </a:r>
            <a:r>
              <a:rPr lang="en-US" altLang="zh-CN" sz="1800" dirty="0"/>
              <a:t>, BMC Bioinformatics, </a:t>
            </a:r>
            <a:r>
              <a:rPr lang="en-US" altLang="zh-CN" sz="1800" dirty="0" smtClean="0"/>
              <a:t>2011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1800" dirty="0"/>
              <a:t>贡献：在</a:t>
            </a:r>
            <a:r>
              <a:rPr lang="en-US" altLang="zh-CN" sz="1800" dirty="0" err="1"/>
              <a:t>kmer</a:t>
            </a:r>
            <a:r>
              <a:rPr lang="zh-CN" altLang="en-US" sz="1800" dirty="0"/>
              <a:t>统计 </a:t>
            </a:r>
            <a:r>
              <a:rPr lang="en-US" altLang="zh-CN" sz="1800" dirty="0"/>
              <a:t>&amp; </a:t>
            </a:r>
            <a:r>
              <a:rPr lang="zh-CN" altLang="en-US" sz="1800" dirty="0"/>
              <a:t>路径合并阶段有线程级并行，同一路径要</a:t>
            </a:r>
            <a:r>
              <a:rPr lang="zh-CN" altLang="en-US" sz="1800" dirty="0" smtClean="0"/>
              <a:t>串行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err="1" smtClean="0"/>
              <a:t>SOAPdenovo</a:t>
            </a:r>
            <a:r>
              <a:rPr lang="en-US" altLang="zh-CN" sz="2400" dirty="0" smtClean="0"/>
              <a:t> </a:t>
            </a:r>
            <a:r>
              <a:rPr lang="en-US" altLang="zh-CN" sz="1800" dirty="0" smtClean="0"/>
              <a:t>,  </a:t>
            </a:r>
            <a:r>
              <a:rPr lang="en-US" altLang="zh-CN" sz="1800" dirty="0" err="1" smtClean="0"/>
              <a:t>Ruiqiang</a:t>
            </a:r>
            <a:r>
              <a:rPr lang="en-US" altLang="zh-CN" sz="1800" dirty="0" smtClean="0"/>
              <a:t>, Li, Bioinformatics</a:t>
            </a:r>
            <a:r>
              <a:rPr lang="en-US" altLang="zh-CN" sz="1800" dirty="0"/>
              <a:t>, </a:t>
            </a:r>
            <a:r>
              <a:rPr lang="en-US" altLang="zh-CN" sz="1800" dirty="0" smtClean="0"/>
              <a:t>2009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1800" dirty="0" smtClean="0"/>
              <a:t>贡献</a:t>
            </a:r>
            <a:r>
              <a:rPr lang="en-US" altLang="zh-CN" sz="1800" dirty="0" smtClean="0"/>
              <a:t>:  </a:t>
            </a:r>
            <a:r>
              <a:rPr lang="zh-CN" altLang="en-US" sz="1800" dirty="0" smtClean="0"/>
              <a:t>仅在</a:t>
            </a:r>
            <a:r>
              <a:rPr lang="en-US" altLang="zh-CN" sz="1800" dirty="0" err="1" smtClean="0"/>
              <a:t>kmer</a:t>
            </a:r>
            <a:r>
              <a:rPr lang="zh-CN" altLang="en-US" sz="1800" dirty="0" smtClean="0"/>
              <a:t>统计阶段并行，专注于人类基因组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长度扩展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771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在研项目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8550612" cy="531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400" dirty="0" smtClean="0"/>
              <a:t>在研组装项目：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</a:rPr>
              <a:t>目标：高扩展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</a:rPr>
              <a:t>高质量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Kiki:        </a:t>
            </a:r>
            <a:r>
              <a:rPr lang="en-US" altLang="zh-CN" sz="2400" dirty="0" err="1" smtClean="0"/>
              <a:t>Fangfang</a:t>
            </a:r>
            <a:r>
              <a:rPr lang="en-US" altLang="zh-CN" sz="2400" dirty="0" smtClean="0"/>
              <a:t> Xia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基于</a:t>
            </a:r>
            <a:r>
              <a:rPr lang="en-US" altLang="zh-CN" sz="2400" b="1" dirty="0" err="1" smtClean="0">
                <a:solidFill>
                  <a:srgbClr val="3333CC"/>
                </a:solidFill>
              </a:rPr>
              <a:t>K</a:t>
            </a:r>
            <a:r>
              <a:rPr lang="en-US" altLang="zh-CN" sz="2400" dirty="0" err="1" smtClean="0"/>
              <a:t>mer</a:t>
            </a:r>
            <a:r>
              <a:rPr lang="en-US" altLang="zh-CN" sz="2400" dirty="0" smtClean="0"/>
              <a:t> </a:t>
            </a:r>
            <a:r>
              <a:rPr lang="en-US" altLang="zh-CN" sz="2400" b="1" dirty="0" smtClean="0">
                <a:solidFill>
                  <a:srgbClr val="3333CC"/>
                </a:solidFill>
              </a:rPr>
              <a:t>M</a:t>
            </a:r>
            <a:r>
              <a:rPr lang="en-US" altLang="zh-CN" sz="2400" dirty="0" smtClean="0"/>
              <a:t>atch </a:t>
            </a:r>
            <a:r>
              <a:rPr lang="en-US" altLang="zh-CN" sz="2400" b="1" dirty="0" smtClean="0">
                <a:solidFill>
                  <a:srgbClr val="3333CC"/>
                </a:solidFill>
              </a:rPr>
              <a:t>I</a:t>
            </a:r>
            <a:r>
              <a:rPr lang="en-US" altLang="zh-CN" sz="2400" dirty="0" smtClean="0"/>
              <a:t>nterface 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高可扩展序列组装分析</a:t>
            </a:r>
            <a:r>
              <a:rPr lang="zh-CN" altLang="en-US" sz="2400" dirty="0" smtClean="0"/>
              <a:t>软件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/>
              <a:t>组装</a:t>
            </a:r>
            <a:r>
              <a:rPr lang="zh-CN" altLang="en-US" sz="2400" dirty="0" smtClean="0"/>
              <a:t>单物种样本，</a:t>
            </a:r>
            <a:r>
              <a:rPr lang="en-US" altLang="zh-CN" sz="2400" dirty="0" err="1" smtClean="0"/>
              <a:t>Contig</a:t>
            </a:r>
            <a:r>
              <a:rPr lang="zh-CN" altLang="en-US" sz="2400" dirty="0" smtClean="0"/>
              <a:t>质量和长度不高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Spate</a:t>
            </a:r>
            <a:r>
              <a:rPr lang="zh-CN" altLang="en-US" sz="2400" dirty="0" smtClean="0"/>
              <a:t>： </a:t>
            </a:r>
            <a:r>
              <a:rPr lang="en-US" altLang="zh-CN" sz="2400" dirty="0" err="1" smtClean="0"/>
              <a:t>Sebastien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基于</a:t>
            </a:r>
            <a:r>
              <a:rPr lang="en-US" altLang="zh-CN" sz="2400" dirty="0" smtClean="0">
                <a:solidFill>
                  <a:srgbClr val="3333CC"/>
                </a:solidFill>
              </a:rPr>
              <a:t>Actor</a:t>
            </a:r>
            <a:r>
              <a:rPr lang="en-US" altLang="zh-CN" sz="2400" dirty="0" smtClean="0"/>
              <a:t> Model (1973,Carl Hewitt) </a:t>
            </a:r>
            <a:r>
              <a:rPr lang="zh-CN" altLang="en-US" sz="2400" dirty="0" smtClean="0"/>
              <a:t>的并行组装软件          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 smtClean="0"/>
              <a:t>组装土壤环境宏基因组样本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400" dirty="0"/>
              <a:t>工作</a:t>
            </a:r>
            <a:r>
              <a:rPr lang="zh-CN" altLang="en-US" sz="2400" dirty="0" smtClean="0"/>
              <a:t>已投稿</a:t>
            </a:r>
            <a:r>
              <a:rPr lang="en-US" altLang="zh-CN" sz="2400" dirty="0" smtClean="0"/>
              <a:t>IPDPS 2014.</a:t>
            </a:r>
          </a:p>
          <a:p>
            <a:pPr marL="285750" indent="-285750">
              <a:buFont typeface="Arial" charset="0"/>
              <a:buChar char="•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9672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现有工作的问题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8190572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问题抽象</a:t>
            </a:r>
            <a:r>
              <a:rPr lang="en-US" altLang="zh-CN" sz="2400" dirty="0" smtClean="0"/>
              <a:t>              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数学</a:t>
            </a:r>
            <a:r>
              <a:rPr lang="zh-CN" altLang="en-US" sz="2000" b="1" dirty="0">
                <a:solidFill>
                  <a:srgbClr val="FF0000"/>
                </a:solidFill>
              </a:rPr>
              <a:t>抽象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2001</a:t>
            </a:r>
            <a:r>
              <a:rPr lang="zh-CN" altLang="en-US" sz="2000" dirty="0" smtClean="0"/>
              <a:t>年</a:t>
            </a:r>
            <a:r>
              <a:rPr lang="en-US" altLang="zh-CN" sz="2000" dirty="0" smtClean="0"/>
              <a:t>MS Waterman</a:t>
            </a:r>
            <a:r>
              <a:rPr lang="zh-CN" altLang="en-US" sz="2000" dirty="0" smtClean="0"/>
              <a:t>提出经典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策略，后续并行组装均沿用该策略，但该策略是</a:t>
            </a:r>
            <a:r>
              <a:rPr lang="en-US" altLang="zh-CN" sz="2000" dirty="0" smtClean="0"/>
              <a:t>NP</a:t>
            </a:r>
            <a:r>
              <a:rPr lang="zh-CN" altLang="en-US" sz="2000" dirty="0" smtClean="0"/>
              <a:t>难问题</a:t>
            </a:r>
            <a:endParaRPr lang="en-US" altLang="zh-CN" sz="20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并行算法复杂度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有改进但仍无法解耦数据依赖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无改进          </a:t>
            </a:r>
            <a:r>
              <a:rPr lang="en-US" altLang="zh-CN" sz="2000" dirty="0" smtClean="0"/>
              <a:t>O(</a:t>
            </a:r>
            <a:r>
              <a:rPr lang="en-US" altLang="zh-CN" sz="2000" i="1" dirty="0" smtClean="0"/>
              <a:t>n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       </a:t>
            </a:r>
            <a:r>
              <a:rPr lang="en-US" altLang="zh-CN" sz="2000" dirty="0" smtClean="0"/>
              <a:t>Velvet, SOAPdenovo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有</a:t>
            </a:r>
            <a:r>
              <a:rPr lang="zh-CN" altLang="en-US" sz="2000" dirty="0"/>
              <a:t>一定</a:t>
            </a:r>
            <a:r>
              <a:rPr lang="zh-CN" altLang="en-US" sz="2000" dirty="0" smtClean="0"/>
              <a:t>改进</a:t>
            </a:r>
            <a:r>
              <a:rPr lang="en-US" altLang="zh-CN" sz="2000" dirty="0" smtClean="0"/>
              <a:t> O(</a:t>
            </a:r>
            <a:r>
              <a:rPr lang="en-US" altLang="zh-CN" sz="2000" dirty="0" err="1" smtClean="0"/>
              <a:t>log</a:t>
            </a:r>
            <a:r>
              <a:rPr lang="en-US" altLang="zh-CN" sz="2000" i="1" dirty="0" err="1" smtClean="0"/>
              <a:t>n</a:t>
            </a:r>
            <a:r>
              <a:rPr lang="en-US" altLang="zh-CN" sz="2000" dirty="0" smtClean="0"/>
              <a:t>)  PASHA, YAGA, ABySS</a:t>
            </a:r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并行计算模型   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</a:rPr>
              <a:t>沿用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现有并行计算模型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P2P</a:t>
            </a:r>
            <a:r>
              <a:rPr lang="zh-CN" altLang="en-US" sz="2000" dirty="0" smtClean="0"/>
              <a:t>模型</a:t>
            </a:r>
            <a:r>
              <a:rPr lang="en-US" altLang="zh-CN" sz="2000" dirty="0" smtClean="0"/>
              <a:t>   ABySS, Ray/Ray-meta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BSP</a:t>
            </a:r>
            <a:r>
              <a:rPr lang="zh-CN" altLang="en-US" sz="2000" dirty="0" smtClean="0"/>
              <a:t>模型</a:t>
            </a:r>
            <a:r>
              <a:rPr lang="en-US" altLang="zh-CN" sz="2000" dirty="0" smtClean="0"/>
              <a:t>   YAGA</a:t>
            </a:r>
            <a:endParaRPr lang="en-US" altLang="zh-CN" sz="20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软件扩展性          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无法扩展到千核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共享内存          </a:t>
            </a:r>
            <a:r>
              <a:rPr lang="en-US" altLang="zh-CN" sz="2000" dirty="0"/>
              <a:t>Velvet(1),  </a:t>
            </a:r>
            <a:r>
              <a:rPr lang="en-US" altLang="zh-CN" sz="2000" dirty="0" err="1"/>
              <a:t>SOAPdenovo&amp;PASHA</a:t>
            </a:r>
            <a:r>
              <a:rPr lang="en-US" altLang="zh-CN" sz="2000" dirty="0"/>
              <a:t> (32)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分布式              </a:t>
            </a:r>
            <a:r>
              <a:rPr lang="en-US" altLang="zh-CN" sz="2000" dirty="0"/>
              <a:t>ABySS &amp; Ray </a:t>
            </a:r>
            <a:r>
              <a:rPr lang="zh-CN" altLang="en-US" sz="2000" dirty="0"/>
              <a:t>几百核</a:t>
            </a:r>
            <a:endParaRPr lang="en-US" altLang="zh-CN" sz="20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组装结果的质量     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可并行但质量受损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串行结果好于并行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208636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研究现状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现有工作比较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19282"/>
              </p:ext>
            </p:extLst>
          </p:nvPr>
        </p:nvGraphicFramePr>
        <p:xfrm>
          <a:off x="113729" y="1312376"/>
          <a:ext cx="8890398" cy="4922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33"/>
                <a:gridCol w="1481733"/>
                <a:gridCol w="1481733"/>
                <a:gridCol w="1481733"/>
                <a:gridCol w="1231639"/>
                <a:gridCol w="1731827"/>
              </a:tblGrid>
              <a:tr h="55645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数学模型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算法复杂度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并行计算模型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软件扩展性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组装质量排名</a:t>
                      </a:r>
                      <a:endParaRPr lang="zh-CN" altLang="en-US" sz="16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SOAPdenovo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PRAM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共享内存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PASHA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PRAM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共享内存</a:t>
                      </a:r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无质量分析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ABySS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通讯</a:t>
                      </a:r>
                      <a:r>
                        <a:rPr lang="zh-CN" altLang="en-US" sz="1400" baseline="0" dirty="0" smtClean="0"/>
                        <a:t> </a:t>
                      </a:r>
                      <a:r>
                        <a:rPr lang="en-US" altLang="zh-CN" sz="1400" baseline="0" dirty="0" smtClean="0"/>
                        <a:t>O(log(n))</a:t>
                      </a:r>
                      <a:endParaRPr lang="en-US" altLang="zh-C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P2P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&lt;512</a:t>
                      </a:r>
                      <a:r>
                        <a:rPr lang="zh-CN" altLang="en-US" sz="1400" dirty="0" smtClean="0"/>
                        <a:t>核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Ray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P2P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&lt;512</a:t>
                      </a:r>
                      <a:r>
                        <a:rPr lang="zh-CN" altLang="en-US" sz="1400" dirty="0" smtClean="0"/>
                        <a:t>核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YAGA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 </a:t>
                      </a:r>
                      <a:r>
                        <a:rPr lang="zh-CN" altLang="en-US" sz="1400" dirty="0" smtClean="0"/>
                        <a:t>双向</a:t>
                      </a:r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计算 </a:t>
                      </a:r>
                      <a:r>
                        <a:rPr lang="en-US" altLang="zh-CN" sz="1400" dirty="0" smtClean="0"/>
                        <a:t>O(n)</a:t>
                      </a:r>
                    </a:p>
                    <a:p>
                      <a:r>
                        <a:rPr lang="zh-CN" altLang="en-US" sz="1400" dirty="0" smtClean="0"/>
                        <a:t>通讯</a:t>
                      </a:r>
                      <a:r>
                        <a:rPr lang="zh-CN" altLang="en-US" sz="1400" baseline="0" dirty="0" smtClean="0"/>
                        <a:t> </a:t>
                      </a:r>
                      <a:r>
                        <a:rPr lang="en-US" altLang="zh-CN" sz="1400" baseline="0" dirty="0" smtClean="0"/>
                        <a:t>O(log(n))</a:t>
                      </a:r>
                      <a:endParaRPr lang="en-US" altLang="zh-C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BSP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无质量分析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Kiki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P2P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</a:tr>
              <a:tr h="500386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Spate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DBG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Actor</a:t>
                      </a:r>
                      <a:r>
                        <a:rPr lang="en-US" altLang="zh-CN" sz="1400" baseline="0" dirty="0" smtClean="0"/>
                        <a:t> Model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~1024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</a:tr>
              <a:tr h="54774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SWAP-Assembler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MSG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计算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O(n)</a:t>
                      </a:r>
                    </a:p>
                    <a:p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通讯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O(</a:t>
                      </a:r>
                      <a:r>
                        <a:rPr lang="en-US" altLang="zh-CN" sz="1400" b="1" dirty="0" err="1" smtClean="0">
                          <a:solidFill>
                            <a:srgbClr val="FF0000"/>
                          </a:solidFill>
                        </a:rPr>
                        <a:t>loglog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(n))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SWAP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2048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核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  <a:p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256,000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核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81514" y="6203455"/>
            <a:ext cx="8822615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800" dirty="0" smtClean="0"/>
              <a:t>1. Jintao </a:t>
            </a:r>
            <a:r>
              <a:rPr lang="en-US" altLang="zh-CN" sz="1800" dirty="0" err="1" smtClean="0"/>
              <a:t>Meng</a:t>
            </a:r>
            <a:r>
              <a:rPr lang="en-US" altLang="zh-CN" sz="1800" dirty="0" smtClean="0"/>
              <a:t>, etc. SWAP-Assembler</a:t>
            </a:r>
            <a:r>
              <a:rPr lang="en-US" altLang="zh-CN" sz="1800" dirty="0"/>
              <a:t>: Scalable and Efficient Genome Assembly towards Thousands of Cores, BMC Bioinformatics, </a:t>
            </a:r>
            <a:r>
              <a:rPr lang="en-US" altLang="zh-CN" sz="1800" dirty="0" smtClean="0"/>
              <a:t>2014 (JCR 1</a:t>
            </a:r>
            <a:r>
              <a:rPr lang="zh-CN" altLang="en-US" sz="1800" dirty="0" smtClean="0"/>
              <a:t>区</a:t>
            </a:r>
            <a:r>
              <a:rPr lang="en-US" altLang="zh-CN" sz="1800" dirty="0" smtClean="0"/>
              <a:t>, IF=3.0)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28456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研究内容和目标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2"/>
            <a:ext cx="5850312" cy="558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扩展</a:t>
            </a:r>
            <a:r>
              <a:rPr lang="zh-CN" altLang="en-US" sz="2400" dirty="0" smtClean="0"/>
              <a:t>，高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效率</a:t>
            </a:r>
            <a:r>
              <a:rPr lang="zh-CN" altLang="en-US" sz="2400" dirty="0" smtClean="0"/>
              <a:t>，高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质量</a:t>
            </a:r>
            <a:r>
              <a:rPr lang="zh-CN" altLang="en-US" sz="2400" dirty="0" smtClean="0"/>
              <a:t>序列组装软件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 smtClean="0"/>
              <a:t>高扩展</a:t>
            </a:r>
            <a:r>
              <a:rPr lang="en-US" altLang="zh-CN" sz="2000" dirty="0"/>
              <a:t>:</a:t>
            </a:r>
            <a:endParaRPr lang="en-US" altLang="zh-CN" sz="2000" dirty="0" smtClean="0"/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可扩展数学模型 </a:t>
            </a:r>
            <a:r>
              <a:rPr lang="en-US" altLang="zh-CN" sz="2000" dirty="0" smtClean="0"/>
              <a:t>MSG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可扩展计算模型 </a:t>
            </a:r>
            <a:r>
              <a:rPr lang="en-US" altLang="zh-CN" sz="2000" dirty="0" smtClean="0"/>
              <a:t>SWAP  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目标：</a:t>
            </a:r>
            <a:r>
              <a:rPr lang="zh-CN" altLang="en-US" sz="2000" dirty="0"/>
              <a:t>扩展</a:t>
            </a:r>
            <a:r>
              <a:rPr lang="zh-CN" altLang="en-US" sz="2000" dirty="0">
                <a:solidFill>
                  <a:srgbClr val="FF0000"/>
                </a:solidFill>
              </a:rPr>
              <a:t>整个</a:t>
            </a:r>
            <a:r>
              <a:rPr lang="en-US" altLang="zh-CN" sz="2000" dirty="0" smtClean="0">
                <a:solidFill>
                  <a:srgbClr val="FF0000"/>
                </a:solidFill>
              </a:rPr>
              <a:t>Mira(768,000</a:t>
            </a:r>
            <a:r>
              <a:rPr lang="zh-CN" altLang="en-US" sz="2000" dirty="0" smtClean="0">
                <a:solidFill>
                  <a:srgbClr val="FF0000"/>
                </a:solidFill>
              </a:rPr>
              <a:t>核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</a:p>
          <a:p>
            <a:pPr lvl="2"/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 smtClean="0"/>
              <a:t>高效率</a:t>
            </a:r>
            <a:r>
              <a:rPr lang="en-US" altLang="zh-CN" sz="2000" dirty="0"/>
              <a:t>:</a:t>
            </a:r>
            <a:endParaRPr lang="en-US" altLang="zh-CN" sz="2000" dirty="0" smtClean="0"/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高效</a:t>
            </a:r>
            <a:r>
              <a:rPr lang="en-US" altLang="zh-CN" sz="2000" dirty="0" smtClean="0"/>
              <a:t>IO/</a:t>
            </a:r>
            <a:r>
              <a:rPr lang="zh-CN" altLang="en-US" sz="2000" dirty="0" smtClean="0"/>
              <a:t>通讯  </a:t>
            </a:r>
            <a:r>
              <a:rPr lang="en-US" altLang="zh-CN" sz="2000" dirty="0" smtClean="0"/>
              <a:t>(GPFS, IO Ratio)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低内存数据片动态调整技术  </a:t>
            </a:r>
            <a:r>
              <a:rPr lang="en-US" altLang="zh-CN" sz="2000" dirty="0" smtClean="0"/>
              <a:t>(5D Torus)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/>
              <a:t>目标： </a:t>
            </a:r>
            <a:r>
              <a:rPr lang="zh-CN" altLang="en-US" sz="2000" dirty="0"/>
              <a:t>释放</a:t>
            </a:r>
            <a:r>
              <a:rPr lang="en-US" altLang="zh-CN" sz="2000" dirty="0" smtClean="0">
                <a:solidFill>
                  <a:srgbClr val="FF0000"/>
                </a:solidFill>
              </a:rPr>
              <a:t>Mira</a:t>
            </a:r>
            <a:r>
              <a:rPr lang="zh-CN" altLang="en-US" sz="2000" dirty="0" smtClean="0">
                <a:solidFill>
                  <a:srgbClr val="FF0000"/>
                </a:solidFill>
              </a:rPr>
              <a:t>峰值</a:t>
            </a:r>
            <a:r>
              <a:rPr lang="zh-CN" altLang="en-US" sz="2000" dirty="0">
                <a:solidFill>
                  <a:srgbClr val="FF0000"/>
                </a:solidFill>
              </a:rPr>
              <a:t>性能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/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 smtClean="0"/>
              <a:t>高质量</a:t>
            </a:r>
            <a:r>
              <a:rPr lang="en-US" altLang="zh-CN" sz="2000" dirty="0" smtClean="0"/>
              <a:t>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长度 </a:t>
            </a:r>
            <a:r>
              <a:rPr lang="en-US" altLang="zh-CN" sz="2000" dirty="0" smtClean="0"/>
              <a:t>(N50, N75)</a:t>
            </a:r>
          </a:p>
          <a:p>
            <a:pPr marL="1200150" lvl="2" indent="-285750" algn="just">
              <a:buFont typeface="Arial" charset="0"/>
              <a:buChar char="•"/>
            </a:pP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精度 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错误率，</a:t>
            </a:r>
            <a:r>
              <a:rPr lang="en-US" altLang="zh-CN" sz="2000" dirty="0" smtClean="0"/>
              <a:t>Coverage)</a:t>
            </a:r>
          </a:p>
          <a:p>
            <a:pPr marL="1200150" lvl="2" indent="-285750" algn="just">
              <a:buFont typeface="Arial" charset="0"/>
              <a:buChar char="•"/>
            </a:pPr>
            <a:r>
              <a:rPr lang="zh-CN" altLang="en-US" sz="2000" dirty="0" smtClean="0"/>
              <a:t>目标：延长</a:t>
            </a:r>
            <a:r>
              <a:rPr lang="zh-CN" altLang="en-US" sz="2000" dirty="0">
                <a:solidFill>
                  <a:srgbClr val="FF0000"/>
                </a:solidFill>
              </a:rPr>
              <a:t>长度保</a:t>
            </a:r>
            <a:r>
              <a:rPr lang="zh-CN" altLang="en-US" sz="2000" dirty="0" smtClean="0">
                <a:solidFill>
                  <a:srgbClr val="FF0000"/>
                </a:solidFill>
              </a:rPr>
              <a:t>精度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SOAPdenovo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5" y="1255577"/>
            <a:ext cx="2766944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237185" y="2646227"/>
            <a:ext cx="276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/>
              <a:t>Microbes</a:t>
            </a:r>
            <a:endParaRPr lang="en-US" altLang="zh-CN" dirty="0"/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5" y="3158970"/>
            <a:ext cx="2766944" cy="137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5" y="5004175"/>
            <a:ext cx="2766944" cy="137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237185" y="4509120"/>
            <a:ext cx="276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Communities</a:t>
            </a:r>
          </a:p>
        </p:txBody>
      </p:sp>
      <p:sp>
        <p:nvSpPr>
          <p:cNvPr id="6" name="矩形 5"/>
          <p:cNvSpPr/>
          <p:nvPr/>
        </p:nvSpPr>
        <p:spPr>
          <a:xfrm>
            <a:off x="6237186" y="6314628"/>
            <a:ext cx="276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Plants</a:t>
            </a:r>
          </a:p>
        </p:txBody>
      </p:sp>
    </p:spTree>
    <p:extLst>
      <p:ext uri="{BB962C8B-B14F-4D97-AF65-F5344CB8AC3E}">
        <p14:creationId xmlns:p14="http://schemas.microsoft.com/office/powerpoint/2010/main" val="61888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拟解决关键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问题</a:t>
            </a:r>
            <a:endParaRPr lang="en-US" altLang="zh-CN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2"/>
            <a:ext cx="8190572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高扩展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 smtClean="0"/>
              <a:t>DBG</a:t>
            </a:r>
            <a:r>
              <a:rPr lang="zh-CN" altLang="en-US" sz="2000" dirty="0" smtClean="0"/>
              <a:t>组装策略</a:t>
            </a:r>
            <a:r>
              <a:rPr lang="zh-CN" altLang="en-US" sz="2000" dirty="0"/>
              <a:t>提高</a:t>
            </a:r>
            <a:r>
              <a:rPr lang="zh-CN" altLang="en-US" sz="2000" dirty="0" smtClean="0"/>
              <a:t>并行度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数据依赖</a:t>
            </a:r>
            <a:r>
              <a:rPr lang="en-US" altLang="zh-CN" sz="2000" dirty="0" smtClean="0"/>
              <a:t>)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zh-CN" sz="2000" dirty="0" smtClean="0"/>
              <a:t>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如何解耦数据依赖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现有计算模型上</a:t>
            </a:r>
            <a:r>
              <a:rPr lang="en-US" altLang="zh-CN" sz="2000" dirty="0" smtClean="0"/>
              <a:t>DBG</a:t>
            </a:r>
            <a:r>
              <a:rPr lang="zh-CN" altLang="en-US" sz="2000" dirty="0" smtClean="0"/>
              <a:t>难扩展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                     -&gt;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适合图算法计算模型</a:t>
            </a:r>
            <a:endParaRPr lang="en-US" altLang="zh-CN" sz="2000" dirty="0" smtClean="0"/>
          </a:p>
          <a:p>
            <a:pPr lvl="1"/>
            <a:endParaRPr lang="en-US" altLang="zh-CN" sz="2000" b="1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高效率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内存消耗</a:t>
            </a:r>
            <a:r>
              <a:rPr lang="en-US" altLang="zh-CN" sz="2000" dirty="0" smtClean="0"/>
              <a:t>IO</a:t>
            </a:r>
            <a:r>
              <a:rPr lang="zh-CN" altLang="en-US" sz="2000" dirty="0" smtClean="0"/>
              <a:t>数据</a:t>
            </a:r>
            <a:r>
              <a:rPr lang="zh-CN" altLang="en-US" sz="2000" dirty="0"/>
              <a:t>通讯大 </a:t>
            </a:r>
            <a:r>
              <a:rPr lang="zh-CN" altLang="en-US" sz="2000" dirty="0" smtClean="0"/>
              <a:t>            </a:t>
            </a:r>
            <a:r>
              <a:rPr lang="en-US" altLang="zh-CN" sz="2000" b="1" dirty="0">
                <a:solidFill>
                  <a:srgbClr val="FF0000"/>
                </a:solidFill>
              </a:rPr>
              <a:t>-&gt;</a:t>
            </a:r>
            <a:r>
              <a:rPr lang="en-US" altLang="zh-CN" sz="2000" dirty="0"/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如何压缩内存释放</a:t>
            </a:r>
            <a:r>
              <a:rPr lang="en-US" altLang="zh-CN" sz="2000" b="1" dirty="0">
                <a:solidFill>
                  <a:srgbClr val="FF0000"/>
                </a:solidFill>
              </a:rPr>
              <a:t>IO/</a:t>
            </a:r>
            <a:r>
              <a:rPr lang="zh-CN" altLang="en-US" sz="2000" b="1" dirty="0">
                <a:solidFill>
                  <a:srgbClr val="FF0000"/>
                </a:solidFill>
              </a:rPr>
              <a:t>通讯峰值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/>
              <a:t>SWAP</a:t>
            </a:r>
            <a:r>
              <a:rPr lang="zh-CN" altLang="en-US" sz="2000" dirty="0"/>
              <a:t>通讯协议空闲时间增加  </a:t>
            </a:r>
            <a:r>
              <a:rPr lang="en-US" altLang="zh-CN" sz="2000" b="1" dirty="0">
                <a:solidFill>
                  <a:srgbClr val="FF0000"/>
                </a:solidFill>
              </a:rPr>
              <a:t>-&gt;</a:t>
            </a:r>
            <a:r>
              <a:rPr lang="en-US" altLang="zh-CN" sz="2000" dirty="0"/>
              <a:t>  </a:t>
            </a:r>
            <a:r>
              <a:rPr lang="zh-CN" altLang="en-US" sz="2000" b="1" dirty="0">
                <a:solidFill>
                  <a:srgbClr val="FF0000"/>
                </a:solidFill>
              </a:rPr>
              <a:t>如何提高并保持通讯效率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高质量</a:t>
            </a: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组装结果的质量</a:t>
            </a:r>
            <a:r>
              <a:rPr lang="en-US" altLang="zh-CN" sz="2000" dirty="0"/>
              <a:t>(N50</a:t>
            </a:r>
            <a:r>
              <a:rPr lang="zh-CN" altLang="en-US" sz="2000" dirty="0"/>
              <a:t>长度</a:t>
            </a:r>
            <a:r>
              <a:rPr lang="en-US" altLang="zh-CN" sz="2000" dirty="0"/>
              <a:t>)</a:t>
            </a:r>
            <a:r>
              <a:rPr lang="zh-CN" altLang="en-US" sz="2000" dirty="0"/>
              <a:t>和精度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contig</a:t>
            </a:r>
            <a:r>
              <a:rPr lang="zh-CN" altLang="en-US" sz="2000" dirty="0"/>
              <a:t>错配率</a:t>
            </a:r>
            <a:r>
              <a:rPr lang="en-US" altLang="zh-CN" sz="2000" dirty="0"/>
              <a:t>)</a:t>
            </a:r>
            <a:r>
              <a:rPr lang="zh-CN" altLang="en-US" sz="2000" dirty="0"/>
              <a:t>是衡量组装结果好坏的重要指标。但是这两个指标很难同时提高，现有软件基本是做</a:t>
            </a:r>
            <a:r>
              <a:rPr lang="en-US" altLang="zh-CN" sz="2000" dirty="0"/>
              <a:t>tradeoff.  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是否存在</a:t>
            </a:r>
            <a:r>
              <a:rPr lang="en-US" altLang="zh-CN" sz="2000" dirty="0" smtClean="0"/>
              <a:t>No tradeoff </a:t>
            </a:r>
            <a:r>
              <a:rPr lang="zh-CN" altLang="en-US" sz="2000" dirty="0" smtClean="0"/>
              <a:t>策略</a:t>
            </a:r>
            <a:r>
              <a:rPr lang="en-US" altLang="zh-CN" sz="2000" dirty="0" smtClean="0"/>
              <a:t>)</a:t>
            </a:r>
            <a:endParaRPr lang="en-US" altLang="zh-CN" sz="20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如何保证精度的情况下提高质量</a:t>
            </a:r>
            <a:r>
              <a:rPr lang="en-US" altLang="zh-CN" sz="2000" b="1" dirty="0">
                <a:solidFill>
                  <a:srgbClr val="FF0000"/>
                </a:solidFill>
              </a:rPr>
              <a:t>(N50</a:t>
            </a:r>
            <a:r>
              <a:rPr lang="zh-CN" altLang="en-US" sz="2000" b="1" dirty="0">
                <a:solidFill>
                  <a:srgbClr val="FF0000"/>
                </a:solidFill>
              </a:rPr>
              <a:t>长度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endParaRPr lang="en-US" altLang="zh-CN" sz="2400" dirty="0" smtClean="0"/>
          </a:p>
          <a:p>
            <a:pPr marL="285750" indent="-285750">
              <a:buFont typeface="Arial" charset="0"/>
              <a:buChar char="•"/>
            </a:pPr>
            <a:endParaRPr lang="en-US" altLang="zh-CN" sz="2400" dirty="0" smtClean="0"/>
          </a:p>
          <a:p>
            <a:pPr marL="742950" lvl="1" indent="-285750">
              <a:buFont typeface="Arial" charset="0"/>
              <a:buChar char="•"/>
            </a:pPr>
            <a:endParaRPr lang="en-US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35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高扩展</a:t>
            </a: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3"/>
            <a:ext cx="8707266" cy="283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/>
              <a:t>高</a:t>
            </a:r>
            <a:r>
              <a:rPr lang="zh-CN" altLang="en-US" sz="2400" dirty="0" smtClean="0"/>
              <a:t>扩展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目标：任务并行化</a:t>
            </a:r>
            <a:r>
              <a:rPr lang="en-US" altLang="zh-CN" sz="2400" dirty="0" smtClean="0"/>
              <a:t>)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/>
              <a:t>DBG</a:t>
            </a:r>
            <a:r>
              <a:rPr lang="zh-CN" altLang="en-US" sz="2000" dirty="0"/>
              <a:t>组装策略无法并行</a:t>
            </a:r>
            <a:r>
              <a:rPr lang="en-US" altLang="zh-CN" sz="2000" dirty="0"/>
              <a:t>(</a:t>
            </a:r>
            <a:r>
              <a:rPr lang="zh-CN" altLang="en-US" sz="2000" dirty="0"/>
              <a:t>数据依赖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可扩展的数学模型</a:t>
            </a:r>
            <a:r>
              <a:rPr lang="en-US" altLang="zh-CN" sz="2000" b="1" dirty="0" smtClean="0">
                <a:solidFill>
                  <a:srgbClr val="3333CC"/>
                </a:solidFill>
              </a:rPr>
              <a:t>MSG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</a:rPr>
              <a:t>MSG</a:t>
            </a:r>
            <a:r>
              <a:rPr lang="zh-CN" altLang="en-US" sz="2000" dirty="0" smtClean="0">
                <a:solidFill>
                  <a:srgbClr val="FF0000"/>
                </a:solidFill>
              </a:rPr>
              <a:t>组装策略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数据依赖解耦</a:t>
            </a:r>
            <a:r>
              <a:rPr lang="en-US" altLang="zh-CN" sz="2000" dirty="0" smtClean="0">
                <a:solidFill>
                  <a:srgbClr val="FF0000"/>
                </a:solidFill>
              </a:rPr>
              <a:t>,  NP</a:t>
            </a:r>
            <a:r>
              <a:rPr lang="zh-CN" altLang="en-US" sz="2000" dirty="0" smtClean="0">
                <a:solidFill>
                  <a:srgbClr val="FF0000"/>
                </a:solidFill>
              </a:rPr>
              <a:t>难问题近似解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  <a:endParaRPr lang="en-US" altLang="zh-CN" sz="20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/>
              <a:t>现有计算模型上</a:t>
            </a:r>
            <a:r>
              <a:rPr lang="en-US" altLang="zh-CN" sz="2000" dirty="0"/>
              <a:t>DBG</a:t>
            </a:r>
            <a:r>
              <a:rPr lang="zh-CN" altLang="en-US" sz="2000" dirty="0"/>
              <a:t>难扩展 </a:t>
            </a:r>
            <a:r>
              <a:rPr lang="zh-CN" altLang="en-US" sz="2000" dirty="0" smtClean="0"/>
              <a:t>   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smtClean="0"/>
              <a:t>&gt;   </a:t>
            </a:r>
            <a:r>
              <a:rPr lang="zh-CN" altLang="en-US" sz="2000" dirty="0"/>
              <a:t>可扩展的计算模型</a:t>
            </a:r>
            <a:r>
              <a:rPr lang="en-US" altLang="zh-CN" sz="2000" b="1" dirty="0">
                <a:solidFill>
                  <a:srgbClr val="3333CC"/>
                </a:solidFill>
              </a:rPr>
              <a:t>SWAP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</a:rPr>
              <a:t>SWAP</a:t>
            </a:r>
            <a:r>
              <a:rPr lang="zh-CN" altLang="en-US" sz="2000" dirty="0" smtClean="0">
                <a:solidFill>
                  <a:srgbClr val="FF0000"/>
                </a:solidFill>
              </a:rPr>
              <a:t>计算模型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图算法计算</a:t>
            </a:r>
            <a:r>
              <a:rPr lang="zh-CN" altLang="en-US" sz="2000" dirty="0">
                <a:solidFill>
                  <a:srgbClr val="FF0000"/>
                </a:solidFill>
              </a:rPr>
              <a:t>轻， 访问随机，通讯频繁 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并行系统设计与算法优化        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smtClean="0"/>
              <a:t>&gt;    </a:t>
            </a:r>
            <a:r>
              <a:rPr lang="zh-CN" altLang="en-US" sz="2000" dirty="0" smtClean="0"/>
              <a:t>复杂度最低</a:t>
            </a:r>
            <a:endParaRPr lang="en-US" altLang="zh-CN" sz="2000" dirty="0" smtClean="0"/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并行化</a:t>
            </a:r>
            <a:r>
              <a:rPr lang="zh-CN" altLang="en-US" sz="2000" dirty="0">
                <a:solidFill>
                  <a:srgbClr val="FF0000"/>
                </a:solidFill>
              </a:rPr>
              <a:t>所有</a:t>
            </a:r>
            <a:r>
              <a:rPr lang="zh-CN" altLang="en-US" sz="2000" dirty="0" smtClean="0">
                <a:solidFill>
                  <a:srgbClr val="FF0000"/>
                </a:solidFill>
              </a:rPr>
              <a:t>模块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复杂度，通讯轮数比其他软件低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129" name="组合 128"/>
          <p:cNvGrpSpPr/>
          <p:nvPr/>
        </p:nvGrpSpPr>
        <p:grpSpPr>
          <a:xfrm>
            <a:off x="1701917" y="4062859"/>
            <a:ext cx="6295828" cy="2619435"/>
            <a:chOff x="1460862" y="3876441"/>
            <a:chExt cx="6295828" cy="2619435"/>
          </a:xfrm>
        </p:grpSpPr>
        <p:sp>
          <p:nvSpPr>
            <p:cNvPr id="9" name="TextBox 8"/>
            <p:cNvSpPr txBox="1"/>
            <p:nvPr/>
          </p:nvSpPr>
          <p:spPr>
            <a:xfrm>
              <a:off x="1460862" y="6095766"/>
              <a:ext cx="6295828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2000" dirty="0" smtClean="0"/>
                <a:t>在</a:t>
              </a:r>
              <a:r>
                <a:rPr lang="en-US" altLang="zh-CN" sz="2000" dirty="0" smtClean="0"/>
                <a:t>MSG</a:t>
              </a:r>
              <a:r>
                <a:rPr lang="zh-CN" altLang="en-US" sz="2000" dirty="0" smtClean="0"/>
                <a:t>策略中， 组装问题可解耦为边合并的原子操作</a:t>
              </a:r>
              <a:endParaRPr lang="zh-CN" altLang="en-US" sz="2000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2667" y="3876441"/>
              <a:ext cx="4914900" cy="2219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1" name="组合 130"/>
          <p:cNvGrpSpPr/>
          <p:nvPr/>
        </p:nvGrpSpPr>
        <p:grpSpPr>
          <a:xfrm>
            <a:off x="157110" y="4050701"/>
            <a:ext cx="8731250" cy="2631593"/>
            <a:chOff x="196966" y="3865006"/>
            <a:chExt cx="8731250" cy="2631593"/>
          </a:xfrm>
        </p:grpSpPr>
        <p:grpSp>
          <p:nvGrpSpPr>
            <p:cNvPr id="130" name="组合 129"/>
            <p:cNvGrpSpPr/>
            <p:nvPr/>
          </p:nvGrpSpPr>
          <p:grpSpPr>
            <a:xfrm>
              <a:off x="196966" y="3865006"/>
              <a:ext cx="8731250" cy="2214562"/>
              <a:chOff x="303954" y="1845235"/>
              <a:chExt cx="8731250" cy="2214562"/>
            </a:xfrm>
          </p:grpSpPr>
          <p:sp>
            <p:nvSpPr>
              <p:cNvPr id="10" name="AutoShape 405"/>
              <p:cNvSpPr>
                <a:spLocks noChangeArrowheads="1"/>
              </p:cNvSpPr>
              <p:nvPr/>
            </p:nvSpPr>
            <p:spPr bwMode="auto">
              <a:xfrm>
                <a:off x="303954" y="1845235"/>
                <a:ext cx="8731250" cy="2214562"/>
              </a:xfrm>
              <a:prstGeom prst="roundRect">
                <a:avLst>
                  <a:gd name="adj" fmla="val 16667"/>
                </a:avLst>
              </a:prstGeom>
              <a:solidFill>
                <a:srgbClr val="D8E4F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342900" indent="-342900" algn="ctr"/>
                <a:endParaRPr lang="zh-CN" altLang="en-US"/>
              </a:p>
            </p:txBody>
          </p:sp>
          <p:sp>
            <p:nvSpPr>
              <p:cNvPr id="11" name="Oval 114"/>
              <p:cNvSpPr/>
              <p:nvPr/>
            </p:nvSpPr>
            <p:spPr>
              <a:xfrm>
                <a:off x="3004292" y="1891272"/>
                <a:ext cx="1890712" cy="1611313"/>
              </a:xfrm>
              <a:custGeom>
                <a:avLst/>
                <a:gdLst>
                  <a:gd name="connsiteX0" fmla="*/ 0 w 1957294"/>
                  <a:gd name="connsiteY0" fmla="*/ 824283 h 1648565"/>
                  <a:gd name="connsiteX1" fmla="*/ 978647 w 1957294"/>
                  <a:gd name="connsiteY1" fmla="*/ 0 h 1648565"/>
                  <a:gd name="connsiteX2" fmla="*/ 1957294 w 1957294"/>
                  <a:gd name="connsiteY2" fmla="*/ 824283 h 1648565"/>
                  <a:gd name="connsiteX3" fmla="*/ 978647 w 1957294"/>
                  <a:gd name="connsiteY3" fmla="*/ 1648566 h 1648565"/>
                  <a:gd name="connsiteX4" fmla="*/ 0 w 1957294"/>
                  <a:gd name="connsiteY4" fmla="*/ 824283 h 1648565"/>
                  <a:gd name="connsiteX0" fmla="*/ 0 w 1983425"/>
                  <a:gd name="connsiteY0" fmla="*/ 856857 h 1681140"/>
                  <a:gd name="connsiteX1" fmla="*/ 978647 w 1983425"/>
                  <a:gd name="connsiteY1" fmla="*/ 32574 h 1681140"/>
                  <a:gd name="connsiteX2" fmla="*/ 1643529 w 1983425"/>
                  <a:gd name="connsiteY2" fmla="*/ 232493 h 1681140"/>
                  <a:gd name="connsiteX3" fmla="*/ 1957294 w 1983425"/>
                  <a:gd name="connsiteY3" fmla="*/ 856857 h 1681140"/>
                  <a:gd name="connsiteX4" fmla="*/ 978647 w 1983425"/>
                  <a:gd name="connsiteY4" fmla="*/ 1681140 h 1681140"/>
                  <a:gd name="connsiteX5" fmla="*/ 0 w 1983425"/>
                  <a:gd name="connsiteY5" fmla="*/ 856857 h 1681140"/>
                  <a:gd name="connsiteX0" fmla="*/ 22049 w 2005474"/>
                  <a:gd name="connsiteY0" fmla="*/ 824998 h 1649281"/>
                  <a:gd name="connsiteX1" fmla="*/ 373166 w 2005474"/>
                  <a:gd name="connsiteY1" fmla="*/ 252927 h 1649281"/>
                  <a:gd name="connsiteX2" fmla="*/ 1000696 w 2005474"/>
                  <a:gd name="connsiteY2" fmla="*/ 715 h 1649281"/>
                  <a:gd name="connsiteX3" fmla="*/ 1665578 w 2005474"/>
                  <a:gd name="connsiteY3" fmla="*/ 200634 h 1649281"/>
                  <a:gd name="connsiteX4" fmla="*/ 1979343 w 2005474"/>
                  <a:gd name="connsiteY4" fmla="*/ 824998 h 1649281"/>
                  <a:gd name="connsiteX5" fmla="*/ 1000696 w 2005474"/>
                  <a:gd name="connsiteY5" fmla="*/ 1649281 h 1649281"/>
                  <a:gd name="connsiteX6" fmla="*/ 22049 w 2005474"/>
                  <a:gd name="connsiteY6" fmla="*/ 824998 h 1649281"/>
                  <a:gd name="connsiteX0" fmla="*/ 61 w 1983486"/>
                  <a:gd name="connsiteY0" fmla="*/ 824998 h 1674201"/>
                  <a:gd name="connsiteX1" fmla="*/ 351178 w 1983486"/>
                  <a:gd name="connsiteY1" fmla="*/ 252927 h 1674201"/>
                  <a:gd name="connsiteX2" fmla="*/ 978708 w 1983486"/>
                  <a:gd name="connsiteY2" fmla="*/ 715 h 1674201"/>
                  <a:gd name="connsiteX3" fmla="*/ 1643590 w 1983486"/>
                  <a:gd name="connsiteY3" fmla="*/ 200634 h 1674201"/>
                  <a:gd name="connsiteX4" fmla="*/ 1957355 w 1983486"/>
                  <a:gd name="connsiteY4" fmla="*/ 824998 h 1674201"/>
                  <a:gd name="connsiteX5" fmla="*/ 978708 w 1983486"/>
                  <a:gd name="connsiteY5" fmla="*/ 1649281 h 1674201"/>
                  <a:gd name="connsiteX6" fmla="*/ 328767 w 1983486"/>
                  <a:gd name="connsiteY6" fmla="*/ 1403397 h 1674201"/>
                  <a:gd name="connsiteX7" fmla="*/ 61 w 1983486"/>
                  <a:gd name="connsiteY7" fmla="*/ 824998 h 1674201"/>
                  <a:gd name="connsiteX0" fmla="*/ 61 w 1959522"/>
                  <a:gd name="connsiteY0" fmla="*/ 824998 h 1649328"/>
                  <a:gd name="connsiteX1" fmla="*/ 351178 w 1959522"/>
                  <a:gd name="connsiteY1" fmla="*/ 252927 h 1649328"/>
                  <a:gd name="connsiteX2" fmla="*/ 978708 w 1959522"/>
                  <a:gd name="connsiteY2" fmla="*/ 715 h 1649328"/>
                  <a:gd name="connsiteX3" fmla="*/ 1643590 w 1959522"/>
                  <a:gd name="connsiteY3" fmla="*/ 200634 h 1649328"/>
                  <a:gd name="connsiteX4" fmla="*/ 1957355 w 1959522"/>
                  <a:gd name="connsiteY4" fmla="*/ 824998 h 1649328"/>
                  <a:gd name="connsiteX5" fmla="*/ 1606237 w 1959522"/>
                  <a:gd name="connsiteY5" fmla="*/ 1418339 h 1649328"/>
                  <a:gd name="connsiteX6" fmla="*/ 978708 w 1959522"/>
                  <a:gd name="connsiteY6" fmla="*/ 1649281 h 1649328"/>
                  <a:gd name="connsiteX7" fmla="*/ 328767 w 1959522"/>
                  <a:gd name="connsiteY7" fmla="*/ 1403397 h 1649328"/>
                  <a:gd name="connsiteX8" fmla="*/ 61 w 1959522"/>
                  <a:gd name="connsiteY8" fmla="*/ 824998 h 1649328"/>
                  <a:gd name="connsiteX0" fmla="*/ 61 w 1958869"/>
                  <a:gd name="connsiteY0" fmla="*/ 824998 h 1649311"/>
                  <a:gd name="connsiteX1" fmla="*/ 351178 w 1958869"/>
                  <a:gd name="connsiteY1" fmla="*/ 252927 h 1649311"/>
                  <a:gd name="connsiteX2" fmla="*/ 978708 w 1958869"/>
                  <a:gd name="connsiteY2" fmla="*/ 715 h 1649311"/>
                  <a:gd name="connsiteX3" fmla="*/ 1643590 w 1958869"/>
                  <a:gd name="connsiteY3" fmla="*/ 200634 h 1649311"/>
                  <a:gd name="connsiteX4" fmla="*/ 1957355 w 1958869"/>
                  <a:gd name="connsiteY4" fmla="*/ 824998 h 1649311"/>
                  <a:gd name="connsiteX5" fmla="*/ 1471767 w 1958869"/>
                  <a:gd name="connsiteY5" fmla="*/ 992515 h 1649311"/>
                  <a:gd name="connsiteX6" fmla="*/ 1606237 w 1958869"/>
                  <a:gd name="connsiteY6" fmla="*/ 1418339 h 1649311"/>
                  <a:gd name="connsiteX7" fmla="*/ 978708 w 1958869"/>
                  <a:gd name="connsiteY7" fmla="*/ 1649281 h 1649311"/>
                  <a:gd name="connsiteX8" fmla="*/ 328767 w 1958869"/>
                  <a:gd name="connsiteY8" fmla="*/ 1403397 h 1649311"/>
                  <a:gd name="connsiteX9" fmla="*/ 61 w 1958869"/>
                  <a:gd name="connsiteY9" fmla="*/ 824998 h 1649311"/>
                  <a:gd name="connsiteX0" fmla="*/ 61 w 1958869"/>
                  <a:gd name="connsiteY0" fmla="*/ 824998 h 1653105"/>
                  <a:gd name="connsiteX1" fmla="*/ 351178 w 1958869"/>
                  <a:gd name="connsiteY1" fmla="*/ 252927 h 1653105"/>
                  <a:gd name="connsiteX2" fmla="*/ 978708 w 1958869"/>
                  <a:gd name="connsiteY2" fmla="*/ 715 h 1653105"/>
                  <a:gd name="connsiteX3" fmla="*/ 1643590 w 1958869"/>
                  <a:gd name="connsiteY3" fmla="*/ 200634 h 1653105"/>
                  <a:gd name="connsiteX4" fmla="*/ 1957355 w 1958869"/>
                  <a:gd name="connsiteY4" fmla="*/ 824998 h 1653105"/>
                  <a:gd name="connsiteX5" fmla="*/ 1471767 w 1958869"/>
                  <a:gd name="connsiteY5" fmla="*/ 992515 h 1653105"/>
                  <a:gd name="connsiteX6" fmla="*/ 1606237 w 1958869"/>
                  <a:gd name="connsiteY6" fmla="*/ 1418339 h 1653105"/>
                  <a:gd name="connsiteX7" fmla="*/ 1172944 w 1958869"/>
                  <a:gd name="connsiteY7" fmla="*/ 1231575 h 1653105"/>
                  <a:gd name="connsiteX8" fmla="*/ 978708 w 1958869"/>
                  <a:gd name="connsiteY8" fmla="*/ 1649281 h 1653105"/>
                  <a:gd name="connsiteX9" fmla="*/ 328767 w 1958869"/>
                  <a:gd name="connsiteY9" fmla="*/ 1403397 h 1653105"/>
                  <a:gd name="connsiteX10" fmla="*/ 61 w 1958869"/>
                  <a:gd name="connsiteY10" fmla="*/ 824998 h 1653105"/>
                  <a:gd name="connsiteX0" fmla="*/ 61 w 1958869"/>
                  <a:gd name="connsiteY0" fmla="*/ 824998 h 1649425"/>
                  <a:gd name="connsiteX1" fmla="*/ 351178 w 1958869"/>
                  <a:gd name="connsiteY1" fmla="*/ 252927 h 1649425"/>
                  <a:gd name="connsiteX2" fmla="*/ 978708 w 1958869"/>
                  <a:gd name="connsiteY2" fmla="*/ 715 h 1649425"/>
                  <a:gd name="connsiteX3" fmla="*/ 1643590 w 1958869"/>
                  <a:gd name="connsiteY3" fmla="*/ 200634 h 1649425"/>
                  <a:gd name="connsiteX4" fmla="*/ 1957355 w 1958869"/>
                  <a:gd name="connsiteY4" fmla="*/ 824998 h 1649425"/>
                  <a:gd name="connsiteX5" fmla="*/ 1471767 w 1958869"/>
                  <a:gd name="connsiteY5" fmla="*/ 992515 h 1649425"/>
                  <a:gd name="connsiteX6" fmla="*/ 1606237 w 1958869"/>
                  <a:gd name="connsiteY6" fmla="*/ 1418339 h 1649425"/>
                  <a:gd name="connsiteX7" fmla="*/ 1172944 w 1958869"/>
                  <a:gd name="connsiteY7" fmla="*/ 1231575 h 1649425"/>
                  <a:gd name="connsiteX8" fmla="*/ 978708 w 1958869"/>
                  <a:gd name="connsiteY8" fmla="*/ 1649281 h 1649425"/>
                  <a:gd name="connsiteX9" fmla="*/ 814356 w 1958869"/>
                  <a:gd name="connsiteY9" fmla="*/ 1179281 h 1649425"/>
                  <a:gd name="connsiteX10" fmla="*/ 328767 w 1958869"/>
                  <a:gd name="connsiteY10" fmla="*/ 1403397 h 1649425"/>
                  <a:gd name="connsiteX11" fmla="*/ 61 w 1958869"/>
                  <a:gd name="connsiteY11" fmla="*/ 824998 h 1649425"/>
                  <a:gd name="connsiteX0" fmla="*/ 1821 w 1960629"/>
                  <a:gd name="connsiteY0" fmla="*/ 824998 h 1649425"/>
                  <a:gd name="connsiteX1" fmla="*/ 352938 w 1960629"/>
                  <a:gd name="connsiteY1" fmla="*/ 252927 h 1649425"/>
                  <a:gd name="connsiteX2" fmla="*/ 980468 w 1960629"/>
                  <a:gd name="connsiteY2" fmla="*/ 715 h 1649425"/>
                  <a:gd name="connsiteX3" fmla="*/ 1645350 w 1960629"/>
                  <a:gd name="connsiteY3" fmla="*/ 200634 h 1649425"/>
                  <a:gd name="connsiteX4" fmla="*/ 1959115 w 1960629"/>
                  <a:gd name="connsiteY4" fmla="*/ 824998 h 1649425"/>
                  <a:gd name="connsiteX5" fmla="*/ 1473527 w 1960629"/>
                  <a:gd name="connsiteY5" fmla="*/ 992515 h 1649425"/>
                  <a:gd name="connsiteX6" fmla="*/ 1607997 w 1960629"/>
                  <a:gd name="connsiteY6" fmla="*/ 1418339 h 1649425"/>
                  <a:gd name="connsiteX7" fmla="*/ 1174704 w 1960629"/>
                  <a:gd name="connsiteY7" fmla="*/ 1231575 h 1649425"/>
                  <a:gd name="connsiteX8" fmla="*/ 980468 w 1960629"/>
                  <a:gd name="connsiteY8" fmla="*/ 1649281 h 1649425"/>
                  <a:gd name="connsiteX9" fmla="*/ 816116 w 1960629"/>
                  <a:gd name="connsiteY9" fmla="*/ 1179281 h 1649425"/>
                  <a:gd name="connsiteX10" fmla="*/ 330527 w 1960629"/>
                  <a:gd name="connsiteY10" fmla="*/ 1403397 h 1649425"/>
                  <a:gd name="connsiteX11" fmla="*/ 494881 w 1960629"/>
                  <a:gd name="connsiteY11" fmla="*/ 992516 h 1649425"/>
                  <a:gd name="connsiteX12" fmla="*/ 1821 w 1960629"/>
                  <a:gd name="connsiteY12" fmla="*/ 824998 h 1649425"/>
                  <a:gd name="connsiteX0" fmla="*/ 3 w 1958811"/>
                  <a:gd name="connsiteY0" fmla="*/ 824998 h 1649425"/>
                  <a:gd name="connsiteX1" fmla="*/ 485592 w 1958811"/>
                  <a:gd name="connsiteY1" fmla="*/ 663810 h 1649425"/>
                  <a:gd name="connsiteX2" fmla="*/ 351120 w 1958811"/>
                  <a:gd name="connsiteY2" fmla="*/ 252927 h 1649425"/>
                  <a:gd name="connsiteX3" fmla="*/ 978650 w 1958811"/>
                  <a:gd name="connsiteY3" fmla="*/ 715 h 1649425"/>
                  <a:gd name="connsiteX4" fmla="*/ 1643532 w 1958811"/>
                  <a:gd name="connsiteY4" fmla="*/ 200634 h 1649425"/>
                  <a:gd name="connsiteX5" fmla="*/ 1957297 w 1958811"/>
                  <a:gd name="connsiteY5" fmla="*/ 824998 h 1649425"/>
                  <a:gd name="connsiteX6" fmla="*/ 1471709 w 1958811"/>
                  <a:gd name="connsiteY6" fmla="*/ 992515 h 1649425"/>
                  <a:gd name="connsiteX7" fmla="*/ 1606179 w 1958811"/>
                  <a:gd name="connsiteY7" fmla="*/ 1418339 h 1649425"/>
                  <a:gd name="connsiteX8" fmla="*/ 1172886 w 1958811"/>
                  <a:gd name="connsiteY8" fmla="*/ 1231575 h 1649425"/>
                  <a:gd name="connsiteX9" fmla="*/ 978650 w 1958811"/>
                  <a:gd name="connsiteY9" fmla="*/ 1649281 h 1649425"/>
                  <a:gd name="connsiteX10" fmla="*/ 814298 w 1958811"/>
                  <a:gd name="connsiteY10" fmla="*/ 1179281 h 1649425"/>
                  <a:gd name="connsiteX11" fmla="*/ 328709 w 1958811"/>
                  <a:gd name="connsiteY11" fmla="*/ 1403397 h 1649425"/>
                  <a:gd name="connsiteX12" fmla="*/ 493063 w 1958811"/>
                  <a:gd name="connsiteY12" fmla="*/ 992516 h 1649425"/>
                  <a:gd name="connsiteX13" fmla="*/ 3 w 1958811"/>
                  <a:gd name="connsiteY13" fmla="*/ 824998 h 1649425"/>
                  <a:gd name="connsiteX0" fmla="*/ 3 w 1958811"/>
                  <a:gd name="connsiteY0" fmla="*/ 835454 h 1659881"/>
                  <a:gd name="connsiteX1" fmla="*/ 485592 w 1958811"/>
                  <a:gd name="connsiteY1" fmla="*/ 674266 h 1659881"/>
                  <a:gd name="connsiteX2" fmla="*/ 351120 w 1958811"/>
                  <a:gd name="connsiteY2" fmla="*/ 263383 h 1659881"/>
                  <a:gd name="connsiteX3" fmla="*/ 814298 w 1958811"/>
                  <a:gd name="connsiteY3" fmla="*/ 494972 h 1659881"/>
                  <a:gd name="connsiteX4" fmla="*/ 978650 w 1958811"/>
                  <a:gd name="connsiteY4" fmla="*/ 11171 h 1659881"/>
                  <a:gd name="connsiteX5" fmla="*/ 1643532 w 1958811"/>
                  <a:gd name="connsiteY5" fmla="*/ 211090 h 1659881"/>
                  <a:gd name="connsiteX6" fmla="*/ 1957297 w 1958811"/>
                  <a:gd name="connsiteY6" fmla="*/ 835454 h 1659881"/>
                  <a:gd name="connsiteX7" fmla="*/ 1471709 w 1958811"/>
                  <a:gd name="connsiteY7" fmla="*/ 1002971 h 1659881"/>
                  <a:gd name="connsiteX8" fmla="*/ 1606179 w 1958811"/>
                  <a:gd name="connsiteY8" fmla="*/ 1428795 h 1659881"/>
                  <a:gd name="connsiteX9" fmla="*/ 1172886 w 1958811"/>
                  <a:gd name="connsiteY9" fmla="*/ 1242031 h 1659881"/>
                  <a:gd name="connsiteX10" fmla="*/ 978650 w 1958811"/>
                  <a:gd name="connsiteY10" fmla="*/ 1659737 h 1659881"/>
                  <a:gd name="connsiteX11" fmla="*/ 814298 w 1958811"/>
                  <a:gd name="connsiteY11" fmla="*/ 1189737 h 1659881"/>
                  <a:gd name="connsiteX12" fmla="*/ 328709 w 1958811"/>
                  <a:gd name="connsiteY12" fmla="*/ 1413853 h 1659881"/>
                  <a:gd name="connsiteX13" fmla="*/ 493063 w 1958811"/>
                  <a:gd name="connsiteY13" fmla="*/ 1002972 h 1659881"/>
                  <a:gd name="connsiteX14" fmla="*/ 3 w 1958811"/>
                  <a:gd name="connsiteY14" fmla="*/ 835454 h 1659881"/>
                  <a:gd name="connsiteX0" fmla="*/ 3 w 1958811"/>
                  <a:gd name="connsiteY0" fmla="*/ 824327 h 1648754"/>
                  <a:gd name="connsiteX1" fmla="*/ 485592 w 1958811"/>
                  <a:gd name="connsiteY1" fmla="*/ 663139 h 1648754"/>
                  <a:gd name="connsiteX2" fmla="*/ 351120 w 1958811"/>
                  <a:gd name="connsiteY2" fmla="*/ 252256 h 1648754"/>
                  <a:gd name="connsiteX3" fmla="*/ 814298 w 1958811"/>
                  <a:gd name="connsiteY3" fmla="*/ 483845 h 1648754"/>
                  <a:gd name="connsiteX4" fmla="*/ 978650 w 1958811"/>
                  <a:gd name="connsiteY4" fmla="*/ 44 h 1648754"/>
                  <a:gd name="connsiteX5" fmla="*/ 1180357 w 1958811"/>
                  <a:gd name="connsiteY5" fmla="*/ 453963 h 1648754"/>
                  <a:gd name="connsiteX6" fmla="*/ 1643532 w 1958811"/>
                  <a:gd name="connsiteY6" fmla="*/ 199963 h 1648754"/>
                  <a:gd name="connsiteX7" fmla="*/ 1957297 w 1958811"/>
                  <a:gd name="connsiteY7" fmla="*/ 824327 h 1648754"/>
                  <a:gd name="connsiteX8" fmla="*/ 1471709 w 1958811"/>
                  <a:gd name="connsiteY8" fmla="*/ 991844 h 1648754"/>
                  <a:gd name="connsiteX9" fmla="*/ 1606179 w 1958811"/>
                  <a:gd name="connsiteY9" fmla="*/ 1417668 h 1648754"/>
                  <a:gd name="connsiteX10" fmla="*/ 1172886 w 1958811"/>
                  <a:gd name="connsiteY10" fmla="*/ 1230904 h 1648754"/>
                  <a:gd name="connsiteX11" fmla="*/ 978650 w 1958811"/>
                  <a:gd name="connsiteY11" fmla="*/ 1648610 h 1648754"/>
                  <a:gd name="connsiteX12" fmla="*/ 814298 w 1958811"/>
                  <a:gd name="connsiteY12" fmla="*/ 1178610 h 1648754"/>
                  <a:gd name="connsiteX13" fmla="*/ 328709 w 1958811"/>
                  <a:gd name="connsiteY13" fmla="*/ 1402726 h 1648754"/>
                  <a:gd name="connsiteX14" fmla="*/ 493063 w 1958811"/>
                  <a:gd name="connsiteY14" fmla="*/ 991845 h 1648754"/>
                  <a:gd name="connsiteX15" fmla="*/ 3 w 1958811"/>
                  <a:gd name="connsiteY15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43532 w 1962531"/>
                  <a:gd name="connsiteY6" fmla="*/ 199963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43532 w 1962531"/>
                  <a:gd name="connsiteY6" fmla="*/ 199963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43532 w 1962531"/>
                  <a:gd name="connsiteY6" fmla="*/ 199963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62531"/>
                  <a:gd name="connsiteY0" fmla="*/ 824327 h 1648754"/>
                  <a:gd name="connsiteX1" fmla="*/ 485592 w 1962531"/>
                  <a:gd name="connsiteY1" fmla="*/ 663139 h 1648754"/>
                  <a:gd name="connsiteX2" fmla="*/ 351120 w 1962531"/>
                  <a:gd name="connsiteY2" fmla="*/ 252256 h 1648754"/>
                  <a:gd name="connsiteX3" fmla="*/ 814298 w 1962531"/>
                  <a:gd name="connsiteY3" fmla="*/ 483845 h 1648754"/>
                  <a:gd name="connsiteX4" fmla="*/ 978650 w 1962531"/>
                  <a:gd name="connsiteY4" fmla="*/ 44 h 1648754"/>
                  <a:gd name="connsiteX5" fmla="*/ 1180357 w 1962531"/>
                  <a:gd name="connsiteY5" fmla="*/ 453963 h 1648754"/>
                  <a:gd name="connsiteX6" fmla="*/ 1636061 w 1962531"/>
                  <a:gd name="connsiteY6" fmla="*/ 244787 h 1648754"/>
                  <a:gd name="connsiteX7" fmla="*/ 1494121 w 1962531"/>
                  <a:gd name="connsiteY7" fmla="*/ 648197 h 1648754"/>
                  <a:gd name="connsiteX8" fmla="*/ 1957297 w 1962531"/>
                  <a:gd name="connsiteY8" fmla="*/ 824327 h 1648754"/>
                  <a:gd name="connsiteX9" fmla="*/ 1471709 w 1962531"/>
                  <a:gd name="connsiteY9" fmla="*/ 991844 h 1648754"/>
                  <a:gd name="connsiteX10" fmla="*/ 1606179 w 1962531"/>
                  <a:gd name="connsiteY10" fmla="*/ 1417668 h 1648754"/>
                  <a:gd name="connsiteX11" fmla="*/ 1172886 w 1962531"/>
                  <a:gd name="connsiteY11" fmla="*/ 1230904 h 1648754"/>
                  <a:gd name="connsiteX12" fmla="*/ 978650 w 1962531"/>
                  <a:gd name="connsiteY12" fmla="*/ 1648610 h 1648754"/>
                  <a:gd name="connsiteX13" fmla="*/ 814298 w 1962531"/>
                  <a:gd name="connsiteY13" fmla="*/ 1178610 h 1648754"/>
                  <a:gd name="connsiteX14" fmla="*/ 328709 w 1962531"/>
                  <a:gd name="connsiteY14" fmla="*/ 1402726 h 1648754"/>
                  <a:gd name="connsiteX15" fmla="*/ 493063 w 1962531"/>
                  <a:gd name="connsiteY15" fmla="*/ 991845 h 1648754"/>
                  <a:gd name="connsiteX16" fmla="*/ 3 w 1962531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48754"/>
                  <a:gd name="connsiteX1" fmla="*/ 485592 w 1957297"/>
                  <a:gd name="connsiteY1" fmla="*/ 663139 h 1648754"/>
                  <a:gd name="connsiteX2" fmla="*/ 351120 w 1957297"/>
                  <a:gd name="connsiteY2" fmla="*/ 252256 h 1648754"/>
                  <a:gd name="connsiteX3" fmla="*/ 814298 w 1957297"/>
                  <a:gd name="connsiteY3" fmla="*/ 483845 h 1648754"/>
                  <a:gd name="connsiteX4" fmla="*/ 978650 w 1957297"/>
                  <a:gd name="connsiteY4" fmla="*/ 44 h 1648754"/>
                  <a:gd name="connsiteX5" fmla="*/ 1180357 w 1957297"/>
                  <a:gd name="connsiteY5" fmla="*/ 453963 h 1648754"/>
                  <a:gd name="connsiteX6" fmla="*/ 1636061 w 1957297"/>
                  <a:gd name="connsiteY6" fmla="*/ 244787 h 1648754"/>
                  <a:gd name="connsiteX7" fmla="*/ 1494121 w 1957297"/>
                  <a:gd name="connsiteY7" fmla="*/ 648197 h 1648754"/>
                  <a:gd name="connsiteX8" fmla="*/ 1957297 w 1957297"/>
                  <a:gd name="connsiteY8" fmla="*/ 824327 h 1648754"/>
                  <a:gd name="connsiteX9" fmla="*/ 1471709 w 1957297"/>
                  <a:gd name="connsiteY9" fmla="*/ 991844 h 1648754"/>
                  <a:gd name="connsiteX10" fmla="*/ 1606179 w 1957297"/>
                  <a:gd name="connsiteY10" fmla="*/ 1417668 h 1648754"/>
                  <a:gd name="connsiteX11" fmla="*/ 1172886 w 1957297"/>
                  <a:gd name="connsiteY11" fmla="*/ 1230904 h 1648754"/>
                  <a:gd name="connsiteX12" fmla="*/ 978650 w 1957297"/>
                  <a:gd name="connsiteY12" fmla="*/ 1648610 h 1648754"/>
                  <a:gd name="connsiteX13" fmla="*/ 814298 w 1957297"/>
                  <a:gd name="connsiteY13" fmla="*/ 1178610 h 1648754"/>
                  <a:gd name="connsiteX14" fmla="*/ 328709 w 1957297"/>
                  <a:gd name="connsiteY14" fmla="*/ 1402726 h 1648754"/>
                  <a:gd name="connsiteX15" fmla="*/ 493063 w 1957297"/>
                  <a:gd name="connsiteY15" fmla="*/ 991845 h 1648754"/>
                  <a:gd name="connsiteX16" fmla="*/ 3 w 1957297"/>
                  <a:gd name="connsiteY16" fmla="*/ 824327 h 1648754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28709 w 1957297"/>
                  <a:gd name="connsiteY14" fmla="*/ 140272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28709 w 1957297"/>
                  <a:gd name="connsiteY14" fmla="*/ 140272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28709 w 1957297"/>
                  <a:gd name="connsiteY14" fmla="*/ 140272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57297"/>
                  <a:gd name="connsiteY0" fmla="*/ 824327 h 1611416"/>
                  <a:gd name="connsiteX1" fmla="*/ 485592 w 1957297"/>
                  <a:gd name="connsiteY1" fmla="*/ 663139 h 1611416"/>
                  <a:gd name="connsiteX2" fmla="*/ 351120 w 1957297"/>
                  <a:gd name="connsiteY2" fmla="*/ 252256 h 1611416"/>
                  <a:gd name="connsiteX3" fmla="*/ 814298 w 1957297"/>
                  <a:gd name="connsiteY3" fmla="*/ 483845 h 1611416"/>
                  <a:gd name="connsiteX4" fmla="*/ 978650 w 1957297"/>
                  <a:gd name="connsiteY4" fmla="*/ 44 h 1611416"/>
                  <a:gd name="connsiteX5" fmla="*/ 1180357 w 1957297"/>
                  <a:gd name="connsiteY5" fmla="*/ 453963 h 1611416"/>
                  <a:gd name="connsiteX6" fmla="*/ 1636061 w 1957297"/>
                  <a:gd name="connsiteY6" fmla="*/ 244787 h 1611416"/>
                  <a:gd name="connsiteX7" fmla="*/ 1494121 w 1957297"/>
                  <a:gd name="connsiteY7" fmla="*/ 648197 h 1611416"/>
                  <a:gd name="connsiteX8" fmla="*/ 1957297 w 1957297"/>
                  <a:gd name="connsiteY8" fmla="*/ 824327 h 1611416"/>
                  <a:gd name="connsiteX9" fmla="*/ 1471709 w 1957297"/>
                  <a:gd name="connsiteY9" fmla="*/ 991844 h 1611416"/>
                  <a:gd name="connsiteX10" fmla="*/ 1606179 w 1957297"/>
                  <a:gd name="connsiteY10" fmla="*/ 1417668 h 1611416"/>
                  <a:gd name="connsiteX11" fmla="*/ 1172886 w 1957297"/>
                  <a:gd name="connsiteY11" fmla="*/ 1230904 h 1611416"/>
                  <a:gd name="connsiteX12" fmla="*/ 963709 w 1957297"/>
                  <a:gd name="connsiteY12" fmla="*/ 1611257 h 1611416"/>
                  <a:gd name="connsiteX13" fmla="*/ 814298 w 1957297"/>
                  <a:gd name="connsiteY13" fmla="*/ 1178610 h 1611416"/>
                  <a:gd name="connsiteX14" fmla="*/ 373532 w 1957297"/>
                  <a:gd name="connsiteY14" fmla="*/ 1410196 h 1611416"/>
                  <a:gd name="connsiteX15" fmla="*/ 493063 w 1957297"/>
                  <a:gd name="connsiteY15" fmla="*/ 991845 h 1611416"/>
                  <a:gd name="connsiteX16" fmla="*/ 3 w 1957297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13767 w 1919944"/>
                  <a:gd name="connsiteY2" fmla="*/ 252256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13767 w 1919944"/>
                  <a:gd name="connsiteY2" fmla="*/ 252256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13767 w 1919944"/>
                  <a:gd name="connsiteY2" fmla="*/ 252256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51119 w 1919944"/>
                  <a:gd name="connsiteY2" fmla="*/ 237315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919944"/>
                  <a:gd name="connsiteY0" fmla="*/ 824327 h 1611416"/>
                  <a:gd name="connsiteX1" fmla="*/ 448239 w 1919944"/>
                  <a:gd name="connsiteY1" fmla="*/ 663139 h 1611416"/>
                  <a:gd name="connsiteX2" fmla="*/ 351119 w 1919944"/>
                  <a:gd name="connsiteY2" fmla="*/ 237315 h 1611416"/>
                  <a:gd name="connsiteX3" fmla="*/ 776945 w 1919944"/>
                  <a:gd name="connsiteY3" fmla="*/ 483845 h 1611416"/>
                  <a:gd name="connsiteX4" fmla="*/ 941297 w 1919944"/>
                  <a:gd name="connsiteY4" fmla="*/ 44 h 1611416"/>
                  <a:gd name="connsiteX5" fmla="*/ 1143004 w 1919944"/>
                  <a:gd name="connsiteY5" fmla="*/ 453963 h 1611416"/>
                  <a:gd name="connsiteX6" fmla="*/ 1598708 w 1919944"/>
                  <a:gd name="connsiteY6" fmla="*/ 244787 h 1611416"/>
                  <a:gd name="connsiteX7" fmla="*/ 1456768 w 1919944"/>
                  <a:gd name="connsiteY7" fmla="*/ 648197 h 1611416"/>
                  <a:gd name="connsiteX8" fmla="*/ 1919944 w 1919944"/>
                  <a:gd name="connsiteY8" fmla="*/ 824327 h 1611416"/>
                  <a:gd name="connsiteX9" fmla="*/ 1434356 w 1919944"/>
                  <a:gd name="connsiteY9" fmla="*/ 991844 h 1611416"/>
                  <a:gd name="connsiteX10" fmla="*/ 1568826 w 1919944"/>
                  <a:gd name="connsiteY10" fmla="*/ 1417668 h 1611416"/>
                  <a:gd name="connsiteX11" fmla="*/ 1135533 w 1919944"/>
                  <a:gd name="connsiteY11" fmla="*/ 1230904 h 1611416"/>
                  <a:gd name="connsiteX12" fmla="*/ 926356 w 1919944"/>
                  <a:gd name="connsiteY12" fmla="*/ 1611257 h 1611416"/>
                  <a:gd name="connsiteX13" fmla="*/ 776945 w 1919944"/>
                  <a:gd name="connsiteY13" fmla="*/ 1178610 h 1611416"/>
                  <a:gd name="connsiteX14" fmla="*/ 336179 w 1919944"/>
                  <a:gd name="connsiteY14" fmla="*/ 1410196 h 1611416"/>
                  <a:gd name="connsiteX15" fmla="*/ 455710 w 1919944"/>
                  <a:gd name="connsiteY15" fmla="*/ 991845 h 1611416"/>
                  <a:gd name="connsiteX16" fmla="*/ 3 w 1919944"/>
                  <a:gd name="connsiteY16" fmla="*/ 824327 h 1611416"/>
                  <a:gd name="connsiteX0" fmla="*/ 3 w 1890061"/>
                  <a:gd name="connsiteY0" fmla="*/ 824327 h 1611416"/>
                  <a:gd name="connsiteX1" fmla="*/ 448239 w 1890061"/>
                  <a:gd name="connsiteY1" fmla="*/ 663139 h 1611416"/>
                  <a:gd name="connsiteX2" fmla="*/ 351119 w 1890061"/>
                  <a:gd name="connsiteY2" fmla="*/ 237315 h 1611416"/>
                  <a:gd name="connsiteX3" fmla="*/ 776945 w 1890061"/>
                  <a:gd name="connsiteY3" fmla="*/ 483845 h 1611416"/>
                  <a:gd name="connsiteX4" fmla="*/ 941297 w 1890061"/>
                  <a:gd name="connsiteY4" fmla="*/ 44 h 1611416"/>
                  <a:gd name="connsiteX5" fmla="*/ 1143004 w 1890061"/>
                  <a:gd name="connsiteY5" fmla="*/ 453963 h 1611416"/>
                  <a:gd name="connsiteX6" fmla="*/ 1598708 w 1890061"/>
                  <a:gd name="connsiteY6" fmla="*/ 244787 h 1611416"/>
                  <a:gd name="connsiteX7" fmla="*/ 1456768 w 1890061"/>
                  <a:gd name="connsiteY7" fmla="*/ 648197 h 1611416"/>
                  <a:gd name="connsiteX8" fmla="*/ 1890061 w 1890061"/>
                  <a:gd name="connsiteY8" fmla="*/ 824327 h 1611416"/>
                  <a:gd name="connsiteX9" fmla="*/ 1434356 w 1890061"/>
                  <a:gd name="connsiteY9" fmla="*/ 991844 h 1611416"/>
                  <a:gd name="connsiteX10" fmla="*/ 1568826 w 1890061"/>
                  <a:gd name="connsiteY10" fmla="*/ 1417668 h 1611416"/>
                  <a:gd name="connsiteX11" fmla="*/ 1135533 w 1890061"/>
                  <a:gd name="connsiteY11" fmla="*/ 1230904 h 1611416"/>
                  <a:gd name="connsiteX12" fmla="*/ 926356 w 1890061"/>
                  <a:gd name="connsiteY12" fmla="*/ 1611257 h 1611416"/>
                  <a:gd name="connsiteX13" fmla="*/ 776945 w 1890061"/>
                  <a:gd name="connsiteY13" fmla="*/ 1178610 h 1611416"/>
                  <a:gd name="connsiteX14" fmla="*/ 336179 w 1890061"/>
                  <a:gd name="connsiteY14" fmla="*/ 1410196 h 1611416"/>
                  <a:gd name="connsiteX15" fmla="*/ 455710 w 1890061"/>
                  <a:gd name="connsiteY15" fmla="*/ 991845 h 1611416"/>
                  <a:gd name="connsiteX16" fmla="*/ 3 w 1890061"/>
                  <a:gd name="connsiteY16" fmla="*/ 824327 h 1611416"/>
                  <a:gd name="connsiteX0" fmla="*/ 3 w 1890061"/>
                  <a:gd name="connsiteY0" fmla="*/ 824327 h 1611416"/>
                  <a:gd name="connsiteX1" fmla="*/ 448239 w 1890061"/>
                  <a:gd name="connsiteY1" fmla="*/ 663139 h 1611416"/>
                  <a:gd name="connsiteX2" fmla="*/ 351119 w 1890061"/>
                  <a:gd name="connsiteY2" fmla="*/ 237315 h 1611416"/>
                  <a:gd name="connsiteX3" fmla="*/ 776945 w 1890061"/>
                  <a:gd name="connsiteY3" fmla="*/ 483845 h 1611416"/>
                  <a:gd name="connsiteX4" fmla="*/ 941297 w 1890061"/>
                  <a:gd name="connsiteY4" fmla="*/ 44 h 1611416"/>
                  <a:gd name="connsiteX5" fmla="*/ 1143004 w 1890061"/>
                  <a:gd name="connsiteY5" fmla="*/ 453963 h 1611416"/>
                  <a:gd name="connsiteX6" fmla="*/ 1598708 w 1890061"/>
                  <a:gd name="connsiteY6" fmla="*/ 244787 h 1611416"/>
                  <a:gd name="connsiteX7" fmla="*/ 1456768 w 1890061"/>
                  <a:gd name="connsiteY7" fmla="*/ 648197 h 1611416"/>
                  <a:gd name="connsiteX8" fmla="*/ 1890061 w 1890061"/>
                  <a:gd name="connsiteY8" fmla="*/ 824327 h 1611416"/>
                  <a:gd name="connsiteX9" fmla="*/ 1434356 w 1890061"/>
                  <a:gd name="connsiteY9" fmla="*/ 991844 h 1611416"/>
                  <a:gd name="connsiteX10" fmla="*/ 1568826 w 1890061"/>
                  <a:gd name="connsiteY10" fmla="*/ 1417668 h 1611416"/>
                  <a:gd name="connsiteX11" fmla="*/ 1135533 w 1890061"/>
                  <a:gd name="connsiteY11" fmla="*/ 1230904 h 1611416"/>
                  <a:gd name="connsiteX12" fmla="*/ 926356 w 1890061"/>
                  <a:gd name="connsiteY12" fmla="*/ 1611257 h 1611416"/>
                  <a:gd name="connsiteX13" fmla="*/ 776945 w 1890061"/>
                  <a:gd name="connsiteY13" fmla="*/ 1178610 h 1611416"/>
                  <a:gd name="connsiteX14" fmla="*/ 336179 w 1890061"/>
                  <a:gd name="connsiteY14" fmla="*/ 1410196 h 1611416"/>
                  <a:gd name="connsiteX15" fmla="*/ 455710 w 1890061"/>
                  <a:gd name="connsiteY15" fmla="*/ 991845 h 1611416"/>
                  <a:gd name="connsiteX16" fmla="*/ 3 w 1890061"/>
                  <a:gd name="connsiteY16" fmla="*/ 824327 h 1611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90061" h="1611416">
                    <a:moveTo>
                      <a:pt x="3" y="824327"/>
                    </a:moveTo>
                    <a:cubicBezTo>
                      <a:pt x="-1242" y="523013"/>
                      <a:pt x="389720" y="758484"/>
                      <a:pt x="448239" y="663139"/>
                    </a:cubicBezTo>
                    <a:cubicBezTo>
                      <a:pt x="506758" y="567794"/>
                      <a:pt x="144433" y="415363"/>
                      <a:pt x="351119" y="237315"/>
                    </a:cubicBezTo>
                    <a:cubicBezTo>
                      <a:pt x="557805" y="59267"/>
                      <a:pt x="672357" y="525880"/>
                      <a:pt x="776945" y="483845"/>
                    </a:cubicBezTo>
                    <a:cubicBezTo>
                      <a:pt x="881533" y="441810"/>
                      <a:pt x="678581" y="5024"/>
                      <a:pt x="941297" y="44"/>
                    </a:cubicBezTo>
                    <a:cubicBezTo>
                      <a:pt x="1204013" y="-4936"/>
                      <a:pt x="1032190" y="420643"/>
                      <a:pt x="1143004" y="453963"/>
                    </a:cubicBezTo>
                    <a:cubicBezTo>
                      <a:pt x="1253818" y="487283"/>
                      <a:pt x="1378325" y="26895"/>
                      <a:pt x="1598708" y="244787"/>
                    </a:cubicBezTo>
                    <a:cubicBezTo>
                      <a:pt x="1819091" y="462679"/>
                      <a:pt x="1404474" y="544136"/>
                      <a:pt x="1456768" y="648197"/>
                    </a:cubicBezTo>
                    <a:cubicBezTo>
                      <a:pt x="1509062" y="752258"/>
                      <a:pt x="1890061" y="504337"/>
                      <a:pt x="1890061" y="824327"/>
                    </a:cubicBezTo>
                    <a:cubicBezTo>
                      <a:pt x="1890061" y="1144317"/>
                      <a:pt x="1492876" y="892954"/>
                      <a:pt x="1434356" y="991844"/>
                    </a:cubicBezTo>
                    <a:cubicBezTo>
                      <a:pt x="1375836" y="1090734"/>
                      <a:pt x="1750611" y="1204757"/>
                      <a:pt x="1568826" y="1417668"/>
                    </a:cubicBezTo>
                    <a:cubicBezTo>
                      <a:pt x="1387041" y="1630579"/>
                      <a:pt x="1240121" y="1192414"/>
                      <a:pt x="1135533" y="1230904"/>
                    </a:cubicBezTo>
                    <a:cubicBezTo>
                      <a:pt x="1030945" y="1269394"/>
                      <a:pt x="1217710" y="1619973"/>
                      <a:pt x="926356" y="1611257"/>
                    </a:cubicBezTo>
                    <a:cubicBezTo>
                      <a:pt x="635002" y="1602541"/>
                      <a:pt x="885268" y="1219591"/>
                      <a:pt x="776945" y="1178610"/>
                    </a:cubicBezTo>
                    <a:cubicBezTo>
                      <a:pt x="668622" y="1137629"/>
                      <a:pt x="514228" y="1594470"/>
                      <a:pt x="336179" y="1410196"/>
                    </a:cubicBezTo>
                    <a:cubicBezTo>
                      <a:pt x="158130" y="1225922"/>
                      <a:pt x="510494" y="1088245"/>
                      <a:pt x="455710" y="991845"/>
                    </a:cubicBezTo>
                    <a:cubicBezTo>
                      <a:pt x="400926" y="895445"/>
                      <a:pt x="1248" y="1125641"/>
                      <a:pt x="3" y="824327"/>
                    </a:cubicBezTo>
                    <a:close/>
                  </a:path>
                </a:pathLst>
              </a:cu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3066204" y="1984935"/>
                <a:ext cx="1768475" cy="2074862"/>
                <a:chOff x="4808059" y="1455201"/>
                <a:chExt cx="1769669" cy="2075896"/>
              </a:xfrm>
            </p:grpSpPr>
            <p:sp>
              <p:nvSpPr>
                <p:cNvPr id="13" name="Oval 4"/>
                <p:cNvSpPr/>
                <p:nvPr/>
              </p:nvSpPr>
              <p:spPr>
                <a:xfrm>
                  <a:off x="5494322" y="1995220"/>
                  <a:ext cx="392378" cy="392307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en-US" sz="1800"/>
                </a:p>
              </p:txBody>
            </p:sp>
            <p:grpSp>
              <p:nvGrpSpPr>
                <p:cNvPr id="14" name="Group 17"/>
                <p:cNvGrpSpPr>
                  <a:grpSpLocks/>
                </p:cNvGrpSpPr>
                <p:nvPr/>
              </p:nvGrpSpPr>
              <p:grpSpPr bwMode="auto">
                <a:xfrm>
                  <a:off x="4808059" y="1455201"/>
                  <a:ext cx="1769669" cy="1464869"/>
                  <a:chOff x="548131" y="3676332"/>
                  <a:chExt cx="1769669" cy="1464869"/>
                </a:xfrm>
              </p:grpSpPr>
              <p:cxnSp>
                <p:nvCxnSpPr>
                  <p:cNvPr id="16" name="Straight Connector 18"/>
                  <p:cNvCxnSpPr>
                    <a:stCxn id="28" idx="5"/>
                    <a:endCxn id="24" idx="1"/>
                  </p:cNvCxnSpPr>
                  <p:nvPr/>
                </p:nvCxnSpPr>
                <p:spPr>
                  <a:xfrm>
                    <a:off x="1032646" y="4054345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9"/>
                  <p:cNvCxnSpPr>
                    <a:stCxn id="24" idx="7"/>
                    <a:endCxn id="32" idx="3"/>
                  </p:cNvCxnSpPr>
                  <p:nvPr/>
                </p:nvCxnSpPr>
                <p:spPr>
                  <a:xfrm flipV="1">
                    <a:off x="1510806" y="4054345"/>
                    <a:ext cx="360606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20"/>
                  <p:cNvCxnSpPr>
                    <a:stCxn id="25" idx="4"/>
                    <a:endCxn id="24" idx="0"/>
                  </p:cNvCxnSpPr>
                  <p:nvPr/>
                </p:nvCxnSpPr>
                <p:spPr>
                  <a:xfrm flipH="1">
                    <a:off x="1432966" y="3898693"/>
                    <a:ext cx="1588" cy="40977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21"/>
                  <p:cNvCxnSpPr>
                    <a:stCxn id="24" idx="6"/>
                    <a:endCxn id="31" idx="2"/>
                  </p:cNvCxnSpPr>
                  <p:nvPr/>
                </p:nvCxnSpPr>
                <p:spPr>
                  <a:xfrm>
                    <a:off x="1544166" y="4418064"/>
                    <a:ext cx="55123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22"/>
                  <p:cNvCxnSpPr>
                    <a:stCxn id="27" idx="6"/>
                    <a:endCxn id="24" idx="2"/>
                  </p:cNvCxnSpPr>
                  <p:nvPr/>
                </p:nvCxnSpPr>
                <p:spPr>
                  <a:xfrm>
                    <a:off x="770531" y="4418064"/>
                    <a:ext cx="551235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3"/>
                  <p:cNvCxnSpPr>
                    <a:stCxn id="24" idx="4"/>
                    <a:endCxn id="26" idx="0"/>
                  </p:cNvCxnSpPr>
                  <p:nvPr/>
                </p:nvCxnSpPr>
                <p:spPr>
                  <a:xfrm>
                    <a:off x="1432966" y="4529244"/>
                    <a:ext cx="1588" cy="38913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4"/>
                  <p:cNvCxnSpPr>
                    <a:stCxn id="24" idx="3"/>
                    <a:endCxn id="29" idx="7"/>
                  </p:cNvCxnSpPr>
                  <p:nvPr/>
                </p:nvCxnSpPr>
                <p:spPr>
                  <a:xfrm flipH="1">
                    <a:off x="1032646" y="4497478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5"/>
                  <p:cNvCxnSpPr>
                    <a:stCxn id="24" idx="5"/>
                    <a:endCxn id="30" idx="1"/>
                  </p:cNvCxnSpPr>
                  <p:nvPr/>
                </p:nvCxnSpPr>
                <p:spPr>
                  <a:xfrm>
                    <a:off x="1510806" y="4497478"/>
                    <a:ext cx="360606" cy="312894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Oval 26"/>
                  <p:cNvSpPr/>
                  <p:nvPr/>
                </p:nvSpPr>
                <p:spPr>
                  <a:xfrm>
                    <a:off x="1321766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5" name="Oval 27"/>
                  <p:cNvSpPr/>
                  <p:nvPr/>
                </p:nvSpPr>
                <p:spPr>
                  <a:xfrm>
                    <a:off x="1323354" y="3676332"/>
                    <a:ext cx="222400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6" name="Oval 28"/>
                  <p:cNvSpPr/>
                  <p:nvPr/>
                </p:nvSpPr>
                <p:spPr>
                  <a:xfrm>
                    <a:off x="1323354" y="4918376"/>
                    <a:ext cx="222400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7" name="Oval 29"/>
                  <p:cNvSpPr/>
                  <p:nvPr/>
                </p:nvSpPr>
                <p:spPr>
                  <a:xfrm>
                    <a:off x="548131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8" name="Oval 30"/>
                  <p:cNvSpPr/>
                  <p:nvPr/>
                </p:nvSpPr>
                <p:spPr>
                  <a:xfrm>
                    <a:off x="842017" y="3865338"/>
                    <a:ext cx="222400" cy="220773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29" name="Oval 31"/>
                  <p:cNvSpPr/>
                  <p:nvPr/>
                </p:nvSpPr>
                <p:spPr>
                  <a:xfrm>
                    <a:off x="842017" y="4750017"/>
                    <a:ext cx="222400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30" name="Oval 32"/>
                  <p:cNvSpPr/>
                  <p:nvPr/>
                </p:nvSpPr>
                <p:spPr>
                  <a:xfrm>
                    <a:off x="1839640" y="4777018"/>
                    <a:ext cx="220811" cy="22236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31" name="Oval 33"/>
                  <p:cNvSpPr/>
                  <p:nvPr/>
                </p:nvSpPr>
                <p:spPr>
                  <a:xfrm>
                    <a:off x="2095400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32" name="Oval 34"/>
                  <p:cNvSpPr/>
                  <p:nvPr/>
                </p:nvSpPr>
                <p:spPr>
                  <a:xfrm>
                    <a:off x="1839640" y="3865338"/>
                    <a:ext cx="220811" cy="220773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</p:grpSp>
            <p:sp>
              <p:nvSpPr>
                <p:cNvPr id="15" name="TextBox 104"/>
                <p:cNvSpPr txBox="1">
                  <a:spLocks noChangeArrowheads="1"/>
                </p:cNvSpPr>
                <p:nvPr/>
              </p:nvSpPr>
              <p:spPr bwMode="auto">
                <a:xfrm>
                  <a:off x="5171842" y="3164202"/>
                  <a:ext cx="1042103" cy="3668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/>
                    <a:t>Compute</a:t>
                  </a:r>
                </a:p>
              </p:txBody>
            </p:sp>
          </p:grpSp>
          <p:grpSp>
            <p:nvGrpSpPr>
              <p:cNvPr id="33" name="Group 9"/>
              <p:cNvGrpSpPr>
                <a:grpSpLocks/>
              </p:cNvGrpSpPr>
              <p:nvPr/>
            </p:nvGrpSpPr>
            <p:grpSpPr bwMode="auto">
              <a:xfrm>
                <a:off x="953242" y="1976997"/>
                <a:ext cx="1768475" cy="2082800"/>
                <a:chOff x="2695043" y="1447800"/>
                <a:chExt cx="1769669" cy="2083411"/>
              </a:xfrm>
            </p:grpSpPr>
            <p:sp>
              <p:nvSpPr>
                <p:cNvPr id="34" name="Oval 49"/>
                <p:cNvSpPr/>
                <p:nvPr/>
              </p:nvSpPr>
              <p:spPr>
                <a:xfrm>
                  <a:off x="3381306" y="1987708"/>
                  <a:ext cx="392377" cy="392228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en-US" sz="1800"/>
                </a:p>
              </p:txBody>
            </p:sp>
            <p:grpSp>
              <p:nvGrpSpPr>
                <p:cNvPr id="35" name="Group 7"/>
                <p:cNvGrpSpPr>
                  <a:grpSpLocks/>
                </p:cNvGrpSpPr>
                <p:nvPr/>
              </p:nvGrpSpPr>
              <p:grpSpPr bwMode="auto">
                <a:xfrm>
                  <a:off x="2695043" y="1447800"/>
                  <a:ext cx="1769669" cy="2083411"/>
                  <a:chOff x="2695043" y="1447800"/>
                  <a:chExt cx="1769669" cy="2083411"/>
                </a:xfrm>
              </p:grpSpPr>
              <p:sp>
                <p:nvSpPr>
                  <p:cNvPr id="36" name="Text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9637" y="3164391"/>
                    <a:ext cx="602069" cy="36682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1pPr>
                    <a:lvl2pPr marL="742950" indent="-28575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2pPr>
                    <a:lvl3pPr marL="1143000" indent="-22860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3pPr>
                    <a:lvl4pPr marL="1600200" indent="-22860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4pPr>
                    <a:lvl5pPr marL="2057400" indent="-228600"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charset="0"/>
                      <a:defRPr sz="3200"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1800"/>
                      <a:t>Lock</a:t>
                    </a:r>
                  </a:p>
                </p:txBody>
              </p:sp>
              <p:grpSp>
                <p:nvGrpSpPr>
                  <p:cNvPr id="37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2695043" y="1447800"/>
                    <a:ext cx="1769669" cy="1464869"/>
                    <a:chOff x="548131" y="3676332"/>
                    <a:chExt cx="1769669" cy="1464869"/>
                  </a:xfrm>
                </p:grpSpPr>
                <p:cxnSp>
                  <p:nvCxnSpPr>
                    <p:cNvPr id="38" name="Straight Connector 52"/>
                    <p:cNvCxnSpPr>
                      <a:stCxn id="50" idx="5"/>
                      <a:endCxn id="46" idx="1"/>
                    </p:cNvCxnSpPr>
                    <p:nvPr/>
                  </p:nvCxnSpPr>
                  <p:spPr>
                    <a:xfrm>
                      <a:off x="1032645" y="4054268"/>
                      <a:ext cx="322481" cy="285834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Straight Connector 53"/>
                    <p:cNvCxnSpPr>
                      <a:stCxn id="46" idx="7"/>
                      <a:endCxn id="54" idx="3"/>
                    </p:cNvCxnSpPr>
                    <p:nvPr/>
                  </p:nvCxnSpPr>
                  <p:spPr>
                    <a:xfrm flipV="1">
                      <a:off x="1510806" y="4054268"/>
                      <a:ext cx="360605" cy="285834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54"/>
                    <p:cNvCxnSpPr>
                      <a:stCxn id="47" idx="4"/>
                      <a:endCxn id="46" idx="0"/>
                    </p:cNvCxnSpPr>
                    <p:nvPr/>
                  </p:nvCxnSpPr>
                  <p:spPr>
                    <a:xfrm flipH="1">
                      <a:off x="1432965" y="3898647"/>
                      <a:ext cx="1589" cy="409695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72"/>
                    <p:cNvCxnSpPr>
                      <a:stCxn id="46" idx="6"/>
                      <a:endCxn id="53" idx="2"/>
                    </p:cNvCxnSpPr>
                    <p:nvPr/>
                  </p:nvCxnSpPr>
                  <p:spPr>
                    <a:xfrm>
                      <a:off x="1544165" y="4417913"/>
                      <a:ext cx="551235" cy="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Straight Connector 73"/>
                    <p:cNvCxnSpPr>
                      <a:stCxn id="49" idx="6"/>
                      <a:endCxn id="46" idx="2"/>
                    </p:cNvCxnSpPr>
                    <p:nvPr/>
                  </p:nvCxnSpPr>
                  <p:spPr>
                    <a:xfrm>
                      <a:off x="770531" y="4417913"/>
                      <a:ext cx="551234" cy="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74"/>
                    <p:cNvCxnSpPr>
                      <a:stCxn id="46" idx="4"/>
                      <a:endCxn id="48" idx="0"/>
                    </p:cNvCxnSpPr>
                    <p:nvPr/>
                  </p:nvCxnSpPr>
                  <p:spPr>
                    <a:xfrm>
                      <a:off x="1432965" y="4529070"/>
                      <a:ext cx="1589" cy="389051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Straight Connector 75"/>
                    <p:cNvCxnSpPr>
                      <a:stCxn id="46" idx="3"/>
                      <a:endCxn id="51" idx="7"/>
                    </p:cNvCxnSpPr>
                    <p:nvPr/>
                  </p:nvCxnSpPr>
                  <p:spPr>
                    <a:xfrm flipH="1">
                      <a:off x="1032645" y="4497311"/>
                      <a:ext cx="322481" cy="285834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Connector 76"/>
                    <p:cNvCxnSpPr>
                      <a:stCxn id="46" idx="5"/>
                      <a:endCxn id="52" idx="1"/>
                    </p:cNvCxnSpPr>
                    <p:nvPr/>
                  </p:nvCxnSpPr>
                  <p:spPr>
                    <a:xfrm>
                      <a:off x="1510806" y="4497311"/>
                      <a:ext cx="360605" cy="312829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6" name="Oval 77"/>
                    <p:cNvSpPr/>
                    <p:nvPr/>
                  </p:nvSpPr>
                  <p:spPr>
                    <a:xfrm>
                      <a:off x="1321765" y="4308343"/>
                      <a:ext cx="222400" cy="22072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47" name="Oval 78"/>
                    <p:cNvSpPr/>
                    <p:nvPr/>
                  </p:nvSpPr>
                  <p:spPr>
                    <a:xfrm>
                      <a:off x="1323354" y="3676332"/>
                      <a:ext cx="222400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48" name="Oval 79"/>
                    <p:cNvSpPr/>
                    <p:nvPr/>
                  </p:nvSpPr>
                  <p:spPr>
                    <a:xfrm>
                      <a:off x="1323354" y="4918122"/>
                      <a:ext cx="222400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49" name="Oval 80"/>
                    <p:cNvSpPr/>
                    <p:nvPr/>
                  </p:nvSpPr>
                  <p:spPr>
                    <a:xfrm>
                      <a:off x="548131" y="4308343"/>
                      <a:ext cx="222400" cy="22072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0" name="Oval 81"/>
                    <p:cNvSpPr/>
                    <p:nvPr/>
                  </p:nvSpPr>
                  <p:spPr>
                    <a:xfrm>
                      <a:off x="842016" y="3865300"/>
                      <a:ext cx="222400" cy="22072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1" name="Oval 82"/>
                    <p:cNvSpPr/>
                    <p:nvPr/>
                  </p:nvSpPr>
                  <p:spPr>
                    <a:xfrm>
                      <a:off x="842016" y="4749797"/>
                      <a:ext cx="222400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2" name="Oval 83"/>
                    <p:cNvSpPr/>
                    <p:nvPr/>
                  </p:nvSpPr>
                  <p:spPr>
                    <a:xfrm>
                      <a:off x="1839639" y="4776793"/>
                      <a:ext cx="220812" cy="222315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3" name="Oval 84"/>
                    <p:cNvSpPr/>
                    <p:nvPr/>
                  </p:nvSpPr>
                  <p:spPr>
                    <a:xfrm>
                      <a:off x="2095400" y="4308343"/>
                      <a:ext cx="222400" cy="22072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  <p:sp>
                  <p:nvSpPr>
                    <p:cNvPr id="54" name="Oval 85"/>
                    <p:cNvSpPr/>
                    <p:nvPr/>
                  </p:nvSpPr>
                  <p:spPr>
                    <a:xfrm>
                      <a:off x="1839639" y="3865300"/>
                      <a:ext cx="220812" cy="220727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dk1">
                        <a:shade val="50000"/>
                      </a:schemeClr>
                    </a:lnRef>
                    <a:fillRef idx="1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endParaRPr lang="en-US" sz="1800"/>
                    </a:p>
                  </p:txBody>
                </p:sp>
              </p:grpSp>
            </p:grpSp>
          </p:grpSp>
          <p:grpSp>
            <p:nvGrpSpPr>
              <p:cNvPr id="55" name="Group 8"/>
              <p:cNvGrpSpPr>
                <a:grpSpLocks/>
              </p:cNvGrpSpPr>
              <p:nvPr/>
            </p:nvGrpSpPr>
            <p:grpSpPr bwMode="auto">
              <a:xfrm>
                <a:off x="1194542" y="2137335"/>
                <a:ext cx="1304925" cy="1143000"/>
                <a:chOff x="2937065" y="1608563"/>
                <a:chExt cx="1304544" cy="1143001"/>
              </a:xfrm>
            </p:grpSpPr>
            <p:grpSp>
              <p:nvGrpSpPr>
                <p:cNvPr id="56" name="Group 52"/>
                <p:cNvGrpSpPr>
                  <a:grpSpLocks/>
                </p:cNvGrpSpPr>
                <p:nvPr/>
              </p:nvGrpSpPr>
              <p:grpSpPr bwMode="auto">
                <a:xfrm>
                  <a:off x="3860609" y="2065763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92" name="Straight Arrow Connector 101"/>
                  <p:cNvCxnSpPr/>
                  <p:nvPr/>
                </p:nvCxnSpPr>
                <p:spPr bwMode="auto">
                  <a:xfrm>
                    <a:off x="1219015" y="4877435"/>
                    <a:ext cx="457385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94" name="Rectangle 103"/>
                    <p:cNvSpPr/>
                    <p:nvPr/>
                  </p:nvSpPr>
                  <p:spPr bwMode="auto">
                    <a:xfrm>
                      <a:off x="762537" y="2971800"/>
                      <a:ext cx="837256" cy="384172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95" name="Isosceles Triangle 105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2537" y="2971800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57" name="Group 52"/>
                <p:cNvGrpSpPr>
                  <a:grpSpLocks/>
                </p:cNvGrpSpPr>
                <p:nvPr/>
              </p:nvGrpSpPr>
              <p:grpSpPr bwMode="auto">
                <a:xfrm rot="-2306177">
                  <a:off x="3646375" y="1793805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88" name="Straight Arrow Connector 109"/>
                  <p:cNvCxnSpPr/>
                  <p:nvPr/>
                </p:nvCxnSpPr>
                <p:spPr bwMode="auto">
                  <a:xfrm>
                    <a:off x="1217967" y="4868001"/>
                    <a:ext cx="457385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9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90" name="Rectangle 111"/>
                    <p:cNvSpPr/>
                    <p:nvPr/>
                  </p:nvSpPr>
                  <p:spPr bwMode="auto">
                    <a:xfrm>
                      <a:off x="766877" y="2970016"/>
                      <a:ext cx="837261" cy="370207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91" name="Isosceles Triangle 112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6396" y="2966472"/>
                      <a:ext cx="837261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58" name="Group 52"/>
                <p:cNvGrpSpPr>
                  <a:grpSpLocks/>
                </p:cNvGrpSpPr>
                <p:nvPr/>
              </p:nvGrpSpPr>
              <p:grpSpPr bwMode="auto">
                <a:xfrm rot="-5400000">
                  <a:off x="3256205" y="1755767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84" name="Straight Arrow Connector 114"/>
                  <p:cNvCxnSpPr/>
                  <p:nvPr/>
                </p:nvCxnSpPr>
                <p:spPr bwMode="auto">
                  <a:xfrm>
                    <a:off x="1225866" y="4877949"/>
                    <a:ext cx="457516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5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86" name="Rectangle 1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9681" y="2972873"/>
                      <a:ext cx="837498" cy="377081"/>
                    </a:xfrm>
                    <a:prstGeom prst="rect">
                      <a:avLst/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87" name="Isosceles Triangle 11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9681" y="2972873"/>
                      <a:ext cx="837498" cy="153625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59" name="Group 52"/>
                <p:cNvGrpSpPr>
                  <a:grpSpLocks/>
                </p:cNvGrpSpPr>
                <p:nvPr/>
              </p:nvGrpSpPr>
              <p:grpSpPr bwMode="auto">
                <a:xfrm rot="13119278" flipV="1">
                  <a:off x="2997228" y="1959185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80" name="Straight Arrow Connector 119"/>
                  <p:cNvCxnSpPr/>
                  <p:nvPr/>
                </p:nvCxnSpPr>
                <p:spPr bwMode="auto">
                  <a:xfrm>
                    <a:off x="1227345" y="4878428"/>
                    <a:ext cx="453893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1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82" name="Rectangle 121"/>
                    <p:cNvSpPr/>
                    <p:nvPr/>
                  </p:nvSpPr>
                  <p:spPr bwMode="auto">
                    <a:xfrm>
                      <a:off x="798464" y="2972751"/>
                      <a:ext cx="837261" cy="37719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83" name="Isosceles Triangle 122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85259" y="2976518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0" name="Group 52"/>
                <p:cNvGrpSpPr>
                  <a:grpSpLocks/>
                </p:cNvGrpSpPr>
                <p:nvPr/>
              </p:nvGrpSpPr>
              <p:grpSpPr bwMode="auto">
                <a:xfrm rot="10800000" flipV="1">
                  <a:off x="2937065" y="2265102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76" name="Straight Arrow Connector 124"/>
                  <p:cNvCxnSpPr/>
                  <p:nvPr/>
                </p:nvCxnSpPr>
                <p:spPr bwMode="auto">
                  <a:xfrm>
                    <a:off x="1226000" y="4878946"/>
                    <a:ext cx="457383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7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78" name="Rectangle 126"/>
                    <p:cNvSpPr/>
                    <p:nvPr/>
                  </p:nvSpPr>
                  <p:spPr bwMode="auto">
                    <a:xfrm>
                      <a:off x="777900" y="2974823"/>
                      <a:ext cx="837261" cy="37719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79" name="Isosceles Triangle 12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70221" y="2974823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1" name="Group 52"/>
                <p:cNvGrpSpPr>
                  <a:grpSpLocks/>
                </p:cNvGrpSpPr>
                <p:nvPr/>
              </p:nvGrpSpPr>
              <p:grpSpPr bwMode="auto">
                <a:xfrm rot="8446622" flipV="1">
                  <a:off x="3190352" y="2477724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72" name="Straight Arrow Connector 129"/>
                  <p:cNvCxnSpPr/>
                  <p:nvPr/>
                </p:nvCxnSpPr>
                <p:spPr bwMode="auto">
                  <a:xfrm>
                    <a:off x="1222822" y="4873536"/>
                    <a:ext cx="457385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3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74" name="Rectangle 131"/>
                    <p:cNvSpPr/>
                    <p:nvPr/>
                  </p:nvSpPr>
                  <p:spPr bwMode="auto">
                    <a:xfrm>
                      <a:off x="766832" y="2958081"/>
                      <a:ext cx="837256" cy="37719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75" name="Isosceles Triangle 132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8052" y="2960738"/>
                      <a:ext cx="837256" cy="153670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2" name="Group 52"/>
                <p:cNvGrpSpPr>
                  <a:grpSpLocks/>
                </p:cNvGrpSpPr>
                <p:nvPr/>
              </p:nvGrpSpPr>
              <p:grpSpPr bwMode="auto">
                <a:xfrm rot="5400000" flipV="1">
                  <a:off x="3484805" y="2517768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68" name="Straight Arrow Connector 134"/>
                  <p:cNvCxnSpPr/>
                  <p:nvPr/>
                </p:nvCxnSpPr>
                <p:spPr bwMode="auto">
                  <a:xfrm>
                    <a:off x="1218882" y="4877801"/>
                    <a:ext cx="457519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9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70" name="Rectangle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2000" y="2972579"/>
                      <a:ext cx="837498" cy="377081"/>
                    </a:xfrm>
                    <a:prstGeom prst="rect">
                      <a:avLst/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71" name="Isosceles Triangle 13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62000" y="2972579"/>
                      <a:ext cx="837498" cy="153625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  <p:grpSp>
              <p:nvGrpSpPr>
                <p:cNvPr id="63" name="Group 52"/>
                <p:cNvGrpSpPr>
                  <a:grpSpLocks/>
                </p:cNvGrpSpPr>
                <p:nvPr/>
              </p:nvGrpSpPr>
              <p:grpSpPr bwMode="auto">
                <a:xfrm rot="2700000">
                  <a:off x="3759226" y="2340186"/>
                  <a:ext cx="381000" cy="86591"/>
                  <a:chOff x="838200" y="4800600"/>
                  <a:chExt cx="838200" cy="190500"/>
                </a:xfrm>
              </p:grpSpPr>
              <p:cxnSp>
                <p:nvCxnSpPr>
                  <p:cNvPr id="64" name="Straight Arrow Connector 144"/>
                  <p:cNvCxnSpPr/>
                  <p:nvPr/>
                </p:nvCxnSpPr>
                <p:spPr bwMode="auto">
                  <a:xfrm>
                    <a:off x="1211979" y="4877200"/>
                    <a:ext cx="457516" cy="0"/>
                  </a:xfrm>
                  <a:prstGeom prst="straightConnector1">
                    <a:avLst/>
                  </a:prstGeom>
                  <a:ln w="12700">
                    <a:headEnd type="none" w="med" len="med"/>
                    <a:tailEnd type="arrow"/>
                  </a:ln>
                  <a:effectLst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5" name="Group 132"/>
                  <p:cNvGrpSpPr>
                    <a:grpSpLocks/>
                  </p:cNvGrpSpPr>
                  <p:nvPr/>
                </p:nvGrpSpPr>
                <p:grpSpPr bwMode="auto">
                  <a:xfrm>
                    <a:off x="838200" y="4800600"/>
                    <a:ext cx="381000" cy="190500"/>
                    <a:chOff x="762000" y="2971800"/>
                    <a:chExt cx="838200" cy="381000"/>
                  </a:xfrm>
                </p:grpSpPr>
                <p:sp>
                  <p:nvSpPr>
                    <p:cNvPr id="66" name="Rectangle 1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1512" y="2971021"/>
                      <a:ext cx="837503" cy="377081"/>
                    </a:xfrm>
                    <a:prstGeom prst="rect">
                      <a:avLst/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rot="10800000"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  <p:sp>
                  <p:nvSpPr>
                    <p:cNvPr id="67" name="Isosceles Triangle 147"/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756080" y="2969180"/>
                      <a:ext cx="837503" cy="153625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rgbClr val="F79646"/>
                    </a:solidFill>
                    <a:ln w="12700" algn="ctr">
                      <a:solidFill>
                        <a:srgbClr val="0D0D0D"/>
                      </a:solidFill>
                      <a:round/>
                      <a:headEnd/>
                      <a:tailEnd/>
                    </a:ln>
                  </p:spPr>
                  <p:txBody>
                    <a:bodyPr vert="eaVert" wrap="none" anchor="ctr"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lang="en-US" sz="2800">
                        <a:solidFill>
                          <a:prstClr val="black"/>
                        </a:solidFill>
                        <a:latin typeface="Tahoma" pitchFamily="-64" charset="0"/>
                        <a:ea typeface="+mn-ea"/>
                      </a:endParaRPr>
                    </a:p>
                  </p:txBody>
                </p:sp>
              </p:grpSp>
            </p:grpSp>
          </p:grpSp>
          <p:grpSp>
            <p:nvGrpSpPr>
              <p:cNvPr id="96" name="Group 179"/>
              <p:cNvGrpSpPr>
                <a:grpSpLocks/>
              </p:cNvGrpSpPr>
              <p:nvPr/>
            </p:nvGrpSpPr>
            <p:grpSpPr bwMode="auto">
              <a:xfrm>
                <a:off x="5272829" y="1984935"/>
                <a:ext cx="1768475" cy="2074862"/>
                <a:chOff x="587034" y="1836201"/>
                <a:chExt cx="1769669" cy="2075896"/>
              </a:xfrm>
            </p:grpSpPr>
            <p:grpSp>
              <p:nvGrpSpPr>
                <p:cNvPr id="97" name="Group 17"/>
                <p:cNvGrpSpPr>
                  <a:grpSpLocks/>
                </p:cNvGrpSpPr>
                <p:nvPr/>
              </p:nvGrpSpPr>
              <p:grpSpPr bwMode="auto">
                <a:xfrm>
                  <a:off x="587034" y="1836201"/>
                  <a:ext cx="1769669" cy="1464869"/>
                  <a:chOff x="548131" y="3676332"/>
                  <a:chExt cx="1769669" cy="1464869"/>
                </a:xfrm>
              </p:grpSpPr>
              <p:cxnSp>
                <p:nvCxnSpPr>
                  <p:cNvPr id="99" name="Straight Connector 154"/>
                  <p:cNvCxnSpPr>
                    <a:stCxn id="111" idx="5"/>
                    <a:endCxn id="107" idx="1"/>
                  </p:cNvCxnSpPr>
                  <p:nvPr/>
                </p:nvCxnSpPr>
                <p:spPr>
                  <a:xfrm>
                    <a:off x="1032646" y="4054345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155"/>
                  <p:cNvCxnSpPr>
                    <a:stCxn id="107" idx="7"/>
                    <a:endCxn id="115" idx="3"/>
                  </p:cNvCxnSpPr>
                  <p:nvPr/>
                </p:nvCxnSpPr>
                <p:spPr>
                  <a:xfrm flipV="1">
                    <a:off x="1510806" y="4054345"/>
                    <a:ext cx="360606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56"/>
                  <p:cNvCxnSpPr>
                    <a:stCxn id="108" idx="4"/>
                    <a:endCxn id="107" idx="0"/>
                  </p:cNvCxnSpPr>
                  <p:nvPr/>
                </p:nvCxnSpPr>
                <p:spPr>
                  <a:xfrm flipH="1">
                    <a:off x="1432966" y="3898693"/>
                    <a:ext cx="1588" cy="40977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57"/>
                  <p:cNvCxnSpPr>
                    <a:stCxn id="107" idx="6"/>
                    <a:endCxn id="114" idx="2"/>
                  </p:cNvCxnSpPr>
                  <p:nvPr/>
                </p:nvCxnSpPr>
                <p:spPr>
                  <a:xfrm>
                    <a:off x="1544166" y="4418064"/>
                    <a:ext cx="551234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58"/>
                  <p:cNvCxnSpPr>
                    <a:stCxn id="110" idx="6"/>
                    <a:endCxn id="107" idx="2"/>
                  </p:cNvCxnSpPr>
                  <p:nvPr/>
                </p:nvCxnSpPr>
                <p:spPr>
                  <a:xfrm>
                    <a:off x="770531" y="4418064"/>
                    <a:ext cx="551235" cy="0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59"/>
                  <p:cNvCxnSpPr>
                    <a:stCxn id="107" idx="4"/>
                    <a:endCxn id="109" idx="0"/>
                  </p:cNvCxnSpPr>
                  <p:nvPr/>
                </p:nvCxnSpPr>
                <p:spPr>
                  <a:xfrm>
                    <a:off x="1432966" y="4529244"/>
                    <a:ext cx="1588" cy="38913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60"/>
                  <p:cNvCxnSpPr>
                    <a:stCxn id="107" idx="3"/>
                    <a:endCxn id="112" idx="7"/>
                  </p:cNvCxnSpPr>
                  <p:nvPr/>
                </p:nvCxnSpPr>
                <p:spPr>
                  <a:xfrm flipH="1">
                    <a:off x="1032646" y="4497478"/>
                    <a:ext cx="322480" cy="285892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61"/>
                  <p:cNvCxnSpPr>
                    <a:stCxn id="107" idx="5"/>
                    <a:endCxn id="113" idx="1"/>
                  </p:cNvCxnSpPr>
                  <p:nvPr/>
                </p:nvCxnSpPr>
                <p:spPr>
                  <a:xfrm>
                    <a:off x="1510806" y="4497478"/>
                    <a:ext cx="360606" cy="312894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62"/>
                  <p:cNvSpPr/>
                  <p:nvPr/>
                </p:nvSpPr>
                <p:spPr>
                  <a:xfrm>
                    <a:off x="1321766" y="4308472"/>
                    <a:ext cx="222400" cy="22077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08" name="Oval 163"/>
                  <p:cNvSpPr/>
                  <p:nvPr/>
                </p:nvSpPr>
                <p:spPr>
                  <a:xfrm>
                    <a:off x="1323354" y="3676332"/>
                    <a:ext cx="222400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09" name="Oval 164"/>
                  <p:cNvSpPr/>
                  <p:nvPr/>
                </p:nvSpPr>
                <p:spPr>
                  <a:xfrm>
                    <a:off x="1323354" y="4918376"/>
                    <a:ext cx="222400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0" name="Oval 165"/>
                  <p:cNvSpPr/>
                  <p:nvPr/>
                </p:nvSpPr>
                <p:spPr>
                  <a:xfrm>
                    <a:off x="548131" y="4308472"/>
                    <a:ext cx="222400" cy="22077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1" name="Oval 166"/>
                  <p:cNvSpPr/>
                  <p:nvPr/>
                </p:nvSpPr>
                <p:spPr>
                  <a:xfrm>
                    <a:off x="842017" y="3865338"/>
                    <a:ext cx="222400" cy="22077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2" name="Oval 167"/>
                  <p:cNvSpPr/>
                  <p:nvPr/>
                </p:nvSpPr>
                <p:spPr>
                  <a:xfrm>
                    <a:off x="842017" y="4750017"/>
                    <a:ext cx="222400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3" name="Oval 168"/>
                  <p:cNvSpPr/>
                  <p:nvPr/>
                </p:nvSpPr>
                <p:spPr>
                  <a:xfrm>
                    <a:off x="1839640" y="4777018"/>
                    <a:ext cx="220811" cy="222361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4" name="Oval 169"/>
                  <p:cNvSpPr/>
                  <p:nvPr/>
                </p:nvSpPr>
                <p:spPr>
                  <a:xfrm>
                    <a:off x="2095400" y="4308472"/>
                    <a:ext cx="222400" cy="22077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  <p:sp>
                <p:nvSpPr>
                  <p:cNvPr id="115" name="Oval 170"/>
                  <p:cNvSpPr/>
                  <p:nvPr/>
                </p:nvSpPr>
                <p:spPr>
                  <a:xfrm>
                    <a:off x="1839640" y="3865338"/>
                    <a:ext cx="220811" cy="22077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buFontTx/>
                      <a:buNone/>
                      <a:defRPr/>
                    </a:pPr>
                    <a:endParaRPr lang="en-US" sz="1800"/>
                  </a:p>
                </p:txBody>
              </p:sp>
            </p:grpSp>
            <p:sp>
              <p:nvSpPr>
                <p:cNvPr id="98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1062017" y="3545202"/>
                  <a:ext cx="824469" cy="3668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1pPr>
                  <a:lvl2pPr marL="742950" indent="-28575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2pPr>
                  <a:lvl3pPr marL="11430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3pPr>
                  <a:lvl4pPr marL="16002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4pPr>
                  <a:lvl5pPr marL="2057400" indent="-228600"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charset="0"/>
                    <a:defRPr sz="3200">
                      <a:solidFill>
                        <a:schemeClr val="tx1"/>
                      </a:solidFill>
                      <a:latin typeface="Calibri" pitchFamily="34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dirty="0"/>
                    <a:t>Unlock</a:t>
                  </a:r>
                </a:p>
              </p:txBody>
            </p:sp>
          </p:grpSp>
          <p:sp>
            <p:nvSpPr>
              <p:cNvPr id="116" name="Oval 296"/>
              <p:cNvSpPr/>
              <p:nvPr/>
            </p:nvSpPr>
            <p:spPr>
              <a:xfrm>
                <a:off x="3858367" y="2018272"/>
                <a:ext cx="184150" cy="18573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17" name="Oval 299"/>
              <p:cNvSpPr/>
              <p:nvPr/>
            </p:nvSpPr>
            <p:spPr>
              <a:xfrm>
                <a:off x="4374304" y="2204010"/>
                <a:ext cx="184150" cy="18415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18" name="Oval 300"/>
              <p:cNvSpPr/>
              <p:nvPr/>
            </p:nvSpPr>
            <p:spPr>
              <a:xfrm>
                <a:off x="4639417" y="2643747"/>
                <a:ext cx="184150" cy="18573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19" name="Oval 301"/>
              <p:cNvSpPr/>
              <p:nvPr/>
            </p:nvSpPr>
            <p:spPr>
              <a:xfrm>
                <a:off x="4374304" y="3118410"/>
                <a:ext cx="184150" cy="18573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0" name="Oval 345"/>
              <p:cNvSpPr/>
              <p:nvPr/>
            </p:nvSpPr>
            <p:spPr>
              <a:xfrm>
                <a:off x="3858367" y="3253347"/>
                <a:ext cx="184150" cy="18415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1" name="Oval 348"/>
              <p:cNvSpPr/>
              <p:nvPr/>
            </p:nvSpPr>
            <p:spPr>
              <a:xfrm>
                <a:off x="3388467" y="3091422"/>
                <a:ext cx="185737" cy="18573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2" name="Oval 349"/>
              <p:cNvSpPr/>
              <p:nvPr/>
            </p:nvSpPr>
            <p:spPr>
              <a:xfrm>
                <a:off x="3101129" y="2642160"/>
                <a:ext cx="185738" cy="18573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3" name="Oval 361"/>
              <p:cNvSpPr/>
              <p:nvPr/>
            </p:nvSpPr>
            <p:spPr>
              <a:xfrm>
                <a:off x="3382117" y="2191310"/>
                <a:ext cx="185737" cy="18573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sz="1800"/>
              </a:p>
            </p:txBody>
          </p:sp>
          <p:sp>
            <p:nvSpPr>
              <p:cNvPr id="124" name="Rectangle 407"/>
              <p:cNvSpPr>
                <a:spLocks noChangeArrowheads="1"/>
              </p:cNvSpPr>
              <p:nvPr/>
            </p:nvSpPr>
            <p:spPr bwMode="auto">
              <a:xfrm>
                <a:off x="7144492" y="2340535"/>
                <a:ext cx="1809750" cy="1163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342900" indent="-342900" algn="ctr"/>
                <a:r>
                  <a:rPr lang="en-US" altLang="zh-CN" dirty="0"/>
                  <a:t>SWAP </a:t>
                </a:r>
              </a:p>
              <a:p>
                <a:pPr marL="342900" indent="-342900" algn="ctr"/>
                <a:r>
                  <a:rPr lang="zh-CN" altLang="en-US" dirty="0"/>
                  <a:t>计算模型</a:t>
                </a: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1732079" y="6096489"/>
              <a:ext cx="6295828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 smtClean="0"/>
                <a:t>全局</a:t>
              </a:r>
              <a:r>
                <a:rPr lang="zh-CN" altLang="en-US" sz="2000" dirty="0"/>
                <a:t>异步子集同步</a:t>
              </a:r>
              <a:r>
                <a:rPr lang="zh-CN" altLang="en-US" sz="2000" dirty="0" smtClean="0"/>
                <a:t>的</a:t>
              </a:r>
              <a:r>
                <a:rPr lang="en-US" altLang="zh-CN" sz="2000" dirty="0" smtClean="0"/>
                <a:t>SWAP</a:t>
              </a:r>
              <a:r>
                <a:rPr lang="zh-CN" altLang="en-US" sz="2000" dirty="0" smtClean="0"/>
                <a:t>并行计算模型</a:t>
              </a:r>
              <a:endParaRPr lang="zh-CN" altLang="en-US" sz="2000" dirty="0"/>
            </a:p>
          </p:txBody>
        </p:sp>
      </p:grpSp>
      <p:sp>
        <p:nvSpPr>
          <p:cNvPr id="4" name="矩形 3"/>
          <p:cNvSpPr/>
          <p:nvPr/>
        </p:nvSpPr>
        <p:spPr>
          <a:xfrm>
            <a:off x="203665" y="3835278"/>
            <a:ext cx="8699647" cy="30839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b="1" dirty="0" smtClean="0"/>
              <a:t>相关论文：</a:t>
            </a:r>
            <a:endParaRPr lang="en-US" altLang="zh-CN" sz="18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 smtClean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etc. SWAP-Assembler: Scalable and Efficient Genome Assembly </a:t>
            </a:r>
            <a:r>
              <a:rPr lang="en-US" altLang="zh-CN" sz="1800" dirty="0" smtClean="0"/>
              <a:t>towards Thousands </a:t>
            </a:r>
            <a:r>
              <a:rPr lang="en-US" altLang="zh-CN" sz="1800" dirty="0"/>
              <a:t>of Cores, BMC Bioinformatics, 2014 (JCR 1</a:t>
            </a:r>
            <a:r>
              <a:rPr lang="zh-CN" altLang="en-US" sz="1800" dirty="0"/>
              <a:t>区</a:t>
            </a:r>
            <a:r>
              <a:rPr lang="en-US" altLang="zh-CN" sz="1800" dirty="0"/>
              <a:t>, IF=3.0</a:t>
            </a:r>
            <a:r>
              <a:rPr lang="en-US" altLang="zh-CN" sz="1800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etc. A Highly Scalable List Ranking Algorithm on </a:t>
            </a:r>
            <a:r>
              <a:rPr lang="en-US" altLang="zh-CN" sz="1800" dirty="0" err="1"/>
              <a:t>Pregel</a:t>
            </a:r>
            <a:r>
              <a:rPr lang="en-US" altLang="zh-CN" sz="1800" dirty="0"/>
              <a:t> framework, Concurrency and Computation: Practice and Experience. (JCR 2</a:t>
            </a:r>
            <a:r>
              <a:rPr lang="zh-CN" altLang="en-US" sz="1800" dirty="0"/>
              <a:t>区</a:t>
            </a:r>
            <a:r>
              <a:rPr lang="en-US" altLang="zh-CN" sz="1800" dirty="0"/>
              <a:t>, IF=0.784, Major Revision)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 smtClean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etc</a:t>
            </a:r>
            <a:r>
              <a:rPr lang="en-US" altLang="zh-CN" sz="1800" dirty="0"/>
              <a:t>, Small World Asynchronous Parallel Model for Genome Assembly, NPC 2012, Sep.6, </a:t>
            </a:r>
            <a:r>
              <a:rPr lang="en-US" altLang="zh-CN" sz="1800" dirty="0" err="1"/>
              <a:t>Gwangju</a:t>
            </a:r>
            <a:r>
              <a:rPr lang="en-US" altLang="zh-CN" sz="1800" dirty="0"/>
              <a:t>, Korea</a:t>
            </a:r>
            <a:r>
              <a:rPr lang="en-US" altLang="zh-CN" sz="1800" dirty="0" smtClean="0"/>
              <a:t>. (CCF</a:t>
            </a:r>
            <a:r>
              <a:rPr lang="zh-CN" altLang="en-US" sz="1800" dirty="0" smtClean="0"/>
              <a:t>推荐会议 </a:t>
            </a:r>
            <a:r>
              <a:rPr lang="en-US" altLang="zh-CN" sz="1800" dirty="0" smtClean="0"/>
              <a:t>3</a:t>
            </a:r>
            <a:r>
              <a:rPr lang="zh-CN" altLang="en-US" sz="1800" dirty="0" smtClean="0"/>
              <a:t>区</a:t>
            </a:r>
            <a:r>
              <a:rPr lang="en-US" altLang="zh-CN" sz="1800" dirty="0" smtClean="0"/>
              <a:t>)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 smtClean="0"/>
              <a:t>Jintao </a:t>
            </a:r>
            <a:r>
              <a:rPr lang="en-US" altLang="zh-CN" sz="1800" dirty="0" err="1"/>
              <a:t>Meng</a:t>
            </a:r>
            <a:r>
              <a:rPr lang="en-US" altLang="zh-CN" sz="1800" dirty="0"/>
              <a:t>, etc. An Energy Efficient Clustering Scheme for Data Aggregation in Wireless Sensor Networks, JCST </a:t>
            </a:r>
            <a:r>
              <a:rPr lang="en-US" altLang="zh-CN" sz="1800" dirty="0" smtClean="0"/>
              <a:t>2013 </a:t>
            </a:r>
            <a:r>
              <a:rPr lang="zh-CN" altLang="en-US" sz="1800" dirty="0"/>
              <a:t> </a:t>
            </a:r>
            <a:r>
              <a:rPr lang="en-US" altLang="zh-CN" sz="1800" dirty="0" smtClean="0"/>
              <a:t>(JCR 3</a:t>
            </a:r>
            <a:r>
              <a:rPr lang="zh-CN" altLang="en-US" sz="1800" dirty="0" smtClean="0"/>
              <a:t>区</a:t>
            </a:r>
            <a:r>
              <a:rPr lang="en-US" altLang="zh-CN" sz="1800" dirty="0" smtClean="0"/>
              <a:t>, IF=0.642)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91571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926" y="3699030"/>
            <a:ext cx="6229055" cy="110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拟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采取的技术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方案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扩展</a:t>
            </a:r>
            <a:endParaRPr lang="zh-CN" altLang="en-US" sz="2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xfrm>
            <a:off x="431800" y="1403350"/>
            <a:ext cx="8370670" cy="364583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并行化系统所有模块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IO, MSG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建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图， 图简化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(Edge Merging)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zh-CN" altLang="en-US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算法复杂度低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通讯复杂度 </a:t>
            </a:r>
            <a:r>
              <a:rPr lang="en-US" altLang="zh-CN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 log log(g)/p),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Pasha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最低是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O(n/p)</a:t>
            </a:r>
          </a:p>
          <a:p>
            <a:pPr lvl="1">
              <a:lnSpc>
                <a:spcPct val="8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通讯轮数   </a:t>
            </a:r>
            <a:r>
              <a:rPr lang="en-US" altLang="zh-CN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</a:t>
            </a:r>
            <a:r>
              <a:rPr lang="en-US" altLang="zh-CN" sz="2000" i="1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loglog</a:t>
            </a:r>
            <a:r>
              <a:rPr lang="en-US" altLang="zh-CN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(g))</a:t>
            </a:r>
            <a:r>
              <a:rPr lang="zh-CN" altLang="en-US" sz="2000" i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，       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YAGA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最低是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O(log(g)) </a:t>
            </a:r>
            <a:endParaRPr lang="zh-CN" altLang="en-US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系统扩展性分析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加速比公式：</a:t>
            </a:r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964" y="4695825"/>
            <a:ext cx="644842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011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高效率</a:t>
            </a:r>
            <a:endParaRPr lang="zh-CN" altLang="en-US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3"/>
            <a:ext cx="8190572" cy="2205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高效率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 探寻峰值性能</a:t>
            </a:r>
            <a:r>
              <a:rPr lang="en-US" altLang="zh-CN" sz="2400" dirty="0" smtClean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高效</a:t>
            </a:r>
            <a:r>
              <a:rPr lang="en-US" altLang="zh-CN" sz="2000" dirty="0" smtClean="0"/>
              <a:t>IO/</a:t>
            </a:r>
            <a:r>
              <a:rPr lang="zh-CN" altLang="en-US" sz="2000" dirty="0" smtClean="0"/>
              <a:t>数据通讯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释放系统峰值</a:t>
            </a:r>
            <a:r>
              <a:rPr lang="en-US" altLang="zh-CN" sz="2000" dirty="0" smtClean="0"/>
              <a:t>)  -&gt;  </a:t>
            </a:r>
            <a:r>
              <a:rPr lang="zh-CN" altLang="en-US" sz="2000" dirty="0" smtClean="0"/>
              <a:t>数据块自调整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solidFill>
                  <a:srgbClr val="3333CC"/>
                </a:solidFill>
              </a:rPr>
              <a:t>IO &amp; </a:t>
            </a:r>
            <a:r>
              <a:rPr lang="zh-CN" altLang="en-US" sz="2000" dirty="0" smtClean="0">
                <a:solidFill>
                  <a:srgbClr val="3333CC"/>
                </a:solidFill>
              </a:rPr>
              <a:t>通讯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  </a:t>
            </a:r>
            <a:endParaRPr lang="en-US" altLang="zh-CN" sz="2000" dirty="0" smtClean="0"/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文件分块</a:t>
            </a:r>
            <a:r>
              <a:rPr lang="zh-CN" altLang="en-US" sz="2000" dirty="0">
                <a:solidFill>
                  <a:srgbClr val="FF0000"/>
                </a:solidFill>
              </a:rPr>
              <a:t>内存压缩</a:t>
            </a:r>
            <a:r>
              <a:rPr lang="zh-CN" altLang="en-US" sz="2000" dirty="0" smtClean="0">
                <a:solidFill>
                  <a:srgbClr val="FF0000"/>
                </a:solidFill>
              </a:rPr>
              <a:t>，通讯效率优化</a:t>
            </a:r>
            <a:r>
              <a:rPr lang="en-US" altLang="zh-CN" sz="2000" dirty="0" smtClean="0">
                <a:solidFill>
                  <a:srgbClr val="FF0000"/>
                </a:solidFill>
              </a:rPr>
              <a:t>, </a:t>
            </a:r>
            <a:r>
              <a:rPr lang="zh-CN" altLang="en-US" sz="2000" dirty="0" smtClean="0">
                <a:solidFill>
                  <a:srgbClr val="FF0000"/>
                </a:solidFill>
              </a:rPr>
              <a:t>逼近系统峰值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通讯协议耦合                                      </a:t>
            </a:r>
            <a:r>
              <a:rPr lang="en-US" altLang="zh-CN" sz="2000" dirty="0" smtClean="0"/>
              <a:t>-&gt;  </a:t>
            </a:r>
            <a:r>
              <a:rPr lang="zh-CN" altLang="en-US" sz="2000" dirty="0" smtClean="0"/>
              <a:t>消息循环合并 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solidFill>
                  <a:srgbClr val="3333CC"/>
                </a:solidFill>
              </a:rPr>
              <a:t>Loop Combine</a:t>
            </a:r>
            <a:r>
              <a:rPr lang="en-US" altLang="zh-CN" sz="2000" dirty="0" smtClean="0"/>
              <a:t>)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减少通讯等待时间，提高</a:t>
            </a:r>
            <a:r>
              <a:rPr lang="en-US" altLang="zh-CN" sz="2000" dirty="0" smtClean="0">
                <a:solidFill>
                  <a:srgbClr val="FF0000"/>
                </a:solidFill>
              </a:rPr>
              <a:t>Edge Merging</a:t>
            </a:r>
            <a:r>
              <a:rPr lang="zh-CN" altLang="en-US" sz="2000" dirty="0" smtClean="0">
                <a:solidFill>
                  <a:srgbClr val="FF0000"/>
                </a:solidFill>
              </a:rPr>
              <a:t>通讯效率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124618" y="6596965"/>
            <a:ext cx="384175" cy="365125"/>
          </a:xfrm>
        </p:spPr>
        <p:txBody>
          <a:bodyPr/>
          <a:lstStyle/>
          <a:p>
            <a:fld id="{87034D8C-3CB4-402A-BC46-2AB14C0FE90A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3" name="组合 2"/>
          <p:cNvGrpSpPr/>
          <p:nvPr/>
        </p:nvGrpSpPr>
        <p:grpSpPr>
          <a:xfrm>
            <a:off x="416096" y="3429000"/>
            <a:ext cx="8026141" cy="3509694"/>
            <a:chOff x="416096" y="3429000"/>
            <a:chExt cx="8026141" cy="3509694"/>
          </a:xfrm>
        </p:grpSpPr>
        <p:pic>
          <p:nvPicPr>
            <p:cNvPr id="14" name="Picture 2" descr="https://computing.llnl.gov/tutorials/bgp/images/bgpScalingArch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096" y="3429000"/>
              <a:ext cx="8026141" cy="3164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346257" y="6477029"/>
              <a:ext cx="3394737" cy="46166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BG/Q Scaling Architecture</a:t>
              </a:r>
              <a:endParaRPr lang="zh-CN" altLang="en-US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02064" y="5679250"/>
              <a:ext cx="1035861" cy="6340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5D torus </a:t>
              </a:r>
            </a:p>
            <a:p>
              <a:r>
                <a:rPr lang="en-US" altLang="zh-CN" sz="1600" dirty="0" smtClean="0"/>
                <a:t>(4,4,4,4,2)</a:t>
              </a:r>
              <a:endParaRPr lang="zh-CN" altLang="en-US" sz="16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06814" y="3654025"/>
              <a:ext cx="1035861" cy="6340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5D torus</a:t>
              </a:r>
            </a:p>
            <a:p>
              <a:r>
                <a:rPr lang="en-US" altLang="zh-CN" sz="1600" dirty="0" smtClean="0"/>
                <a:t>(4,4,4,8,2)</a:t>
              </a:r>
              <a:endParaRPr lang="zh-CN" altLang="en-US" sz="16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62210" y="5215422"/>
              <a:ext cx="1348446" cy="6340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5D torus</a:t>
              </a:r>
            </a:p>
            <a:p>
              <a:r>
                <a:rPr lang="en-US" altLang="zh-CN" sz="1600" dirty="0" smtClean="0"/>
                <a:t>(8,16,16,16,2)</a:t>
              </a:r>
              <a:endParaRPr lang="zh-CN" altLang="en-US" sz="16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79169" y="5843009"/>
              <a:ext cx="1035861" cy="6340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600" dirty="0" smtClean="0"/>
                <a:t>5D torus </a:t>
              </a:r>
            </a:p>
            <a:p>
              <a:r>
                <a:rPr lang="en-US" altLang="zh-CN" sz="1600" dirty="0" smtClean="0"/>
                <a:t>(2,2,2,2,2)</a:t>
              </a:r>
              <a:endParaRPr lang="zh-CN" altLang="en-US" sz="16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215" y="3868153"/>
            <a:ext cx="8991600" cy="2743200"/>
            <a:chOff x="0" y="3962400"/>
            <a:chExt cx="8991600" cy="2743200"/>
          </a:xfrm>
        </p:grpSpPr>
        <p:sp>
          <p:nvSpPr>
            <p:cNvPr id="13" name="矩形 12"/>
            <p:cNvSpPr/>
            <p:nvPr/>
          </p:nvSpPr>
          <p:spPr bwMode="auto">
            <a:xfrm>
              <a:off x="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Calibri" pitchFamily="34" charset="0"/>
                </a:rPr>
                <a:t>A0</a:t>
              </a:r>
              <a:endParaRPr lang="zh-CN" altLang="en-US" sz="1800" dirty="0">
                <a:solidFill>
                  <a:schemeClr val="tx1"/>
                </a:solidFill>
                <a:latin typeface="Calibri" pitchFamily="34" charset="0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762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1524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3048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B0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3810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 smtClean="0">
                  <a:solidFill>
                    <a:schemeClr val="tx1"/>
                  </a:solidFill>
                  <a:latin typeface="Calibri" pitchFamily="34" charset="0"/>
                </a:rPr>
                <a:t>B1</a:t>
              </a:r>
              <a:endParaRPr lang="zh-CN" altLang="en-US" sz="1800" dirty="0">
                <a:solidFill>
                  <a:schemeClr val="tx1"/>
                </a:solidFill>
                <a:latin typeface="Calibri" pitchFamily="34" charset="0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4572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B2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6096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C0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6858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 bwMode="auto">
            <a:xfrm>
              <a:off x="7620000" y="3962400"/>
              <a:ext cx="7620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2019300" y="4953000"/>
              <a:ext cx="533400" cy="5334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P0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4" name="椭圆 23"/>
            <p:cNvSpPr/>
            <p:nvPr/>
          </p:nvSpPr>
          <p:spPr bwMode="auto">
            <a:xfrm>
              <a:off x="4305300" y="4953000"/>
              <a:ext cx="533400" cy="5334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P1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5" name="椭圆 24"/>
            <p:cNvSpPr/>
            <p:nvPr/>
          </p:nvSpPr>
          <p:spPr bwMode="auto">
            <a:xfrm>
              <a:off x="6591300" y="4953000"/>
              <a:ext cx="533400" cy="5334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P2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cxnSp>
          <p:nvCxnSpPr>
            <p:cNvPr id="26" name="直接箭头连接符 25"/>
            <p:cNvCxnSpPr>
              <a:stCxn id="13" idx="2"/>
              <a:endCxn id="23" idx="1"/>
            </p:cNvCxnSpPr>
            <p:nvPr/>
          </p:nvCxnSpPr>
          <p:spPr bwMode="auto">
            <a:xfrm>
              <a:off x="381000" y="4267200"/>
              <a:ext cx="1716415" cy="763915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1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直接箭头连接符 26"/>
            <p:cNvCxnSpPr>
              <a:stCxn id="17" idx="2"/>
              <a:endCxn id="24" idx="1"/>
            </p:cNvCxnSpPr>
            <p:nvPr/>
          </p:nvCxnSpPr>
          <p:spPr bwMode="auto">
            <a:xfrm>
              <a:off x="3429000" y="4267200"/>
              <a:ext cx="954415" cy="763915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1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8" name="直接箭头连接符 27"/>
            <p:cNvCxnSpPr>
              <a:stCxn id="20" idx="2"/>
              <a:endCxn id="25" idx="1"/>
            </p:cNvCxnSpPr>
            <p:nvPr/>
          </p:nvCxnSpPr>
          <p:spPr bwMode="auto">
            <a:xfrm>
              <a:off x="6477000" y="4267200"/>
              <a:ext cx="192415" cy="763915"/>
            </a:xfrm>
            <a:prstGeom prst="straightConnector1">
              <a:avLst/>
            </a:prstGeom>
            <a:noFill/>
            <a:ln w="9525" cap="flat" cmpd="sng" algn="ctr">
              <a:solidFill>
                <a:schemeClr val="bg2">
                  <a:lumMod val="1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圆角矩形 34"/>
            <p:cNvSpPr/>
            <p:nvPr/>
          </p:nvSpPr>
          <p:spPr bwMode="auto">
            <a:xfrm>
              <a:off x="1962150" y="6248400"/>
              <a:ext cx="647700" cy="4572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dirty="0" err="1" smtClean="0">
                  <a:solidFill>
                    <a:schemeClr val="tx1">
                      <a:lumMod val="50000"/>
                    </a:schemeClr>
                  </a:solidFill>
                  <a:latin typeface="Calibri" pitchFamily="34" charset="0"/>
                </a:rPr>
                <a:t>Kmer</a:t>
              </a:r>
              <a:endParaRPr lang="en-US" altLang="zh-CN" sz="1200" dirty="0" smtClean="0">
                <a:solidFill>
                  <a:schemeClr val="tx1">
                    <a:lumMod val="50000"/>
                  </a:schemeClr>
                </a:solidFill>
                <a:latin typeface="Calibri" pitchFamily="34" charset="0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dirty="0" smtClean="0">
                  <a:solidFill>
                    <a:schemeClr val="tx1">
                      <a:lumMod val="50000"/>
                    </a:schemeClr>
                  </a:solidFill>
                  <a:latin typeface="Calibri" pitchFamily="34" charset="0"/>
                </a:rPr>
                <a:t>Graph</a:t>
              </a:r>
              <a:endPara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36" name="圆角矩形 35"/>
            <p:cNvSpPr/>
            <p:nvPr/>
          </p:nvSpPr>
          <p:spPr bwMode="auto">
            <a:xfrm>
              <a:off x="4248150" y="6248400"/>
              <a:ext cx="647700" cy="4572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alibri" pitchFamily="34" charset="0"/>
                </a:rPr>
                <a:t>Kmer</a:t>
              </a: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alibri" pitchFamily="34" charset="0"/>
                </a:rPr>
                <a:t>Graph</a:t>
              </a:r>
              <a:endParaRPr lang="zh-CN" altLang="en-US" sz="1200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</a:endParaRPr>
            </a:p>
          </p:txBody>
        </p:sp>
        <p:sp>
          <p:nvSpPr>
            <p:cNvPr id="37" name="圆角矩形 36"/>
            <p:cNvSpPr/>
            <p:nvPr/>
          </p:nvSpPr>
          <p:spPr bwMode="auto">
            <a:xfrm>
              <a:off x="6534150" y="6248400"/>
              <a:ext cx="647700" cy="4572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alibri" pitchFamily="34" charset="0"/>
                </a:rPr>
                <a:t>Kmer</a:t>
              </a: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alibri" pitchFamily="34" charset="0"/>
                </a:rPr>
                <a:t>Graph</a:t>
              </a:r>
              <a:endParaRPr lang="zh-CN" altLang="en-US" sz="1200" dirty="0">
                <a:solidFill>
                  <a:schemeClr val="tx1">
                    <a:lumMod val="50000"/>
                  </a:schemeClr>
                </a:solidFill>
                <a:latin typeface="Calibri" pitchFamily="34" charset="0"/>
              </a:endParaRPr>
            </a:p>
          </p:txBody>
        </p:sp>
        <p:sp>
          <p:nvSpPr>
            <p:cNvPr id="38" name="虚尾箭头 37"/>
            <p:cNvSpPr/>
            <p:nvPr/>
          </p:nvSpPr>
          <p:spPr bwMode="auto">
            <a:xfrm>
              <a:off x="2057400" y="5791200"/>
              <a:ext cx="457200" cy="533400"/>
            </a:xfrm>
            <a:prstGeom prst="striped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39" name="虚尾箭头 38"/>
            <p:cNvSpPr/>
            <p:nvPr/>
          </p:nvSpPr>
          <p:spPr bwMode="auto">
            <a:xfrm>
              <a:off x="4343400" y="5791200"/>
              <a:ext cx="457200" cy="533400"/>
            </a:xfrm>
            <a:prstGeom prst="striped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40" name="虚尾箭头 39"/>
            <p:cNvSpPr/>
            <p:nvPr/>
          </p:nvSpPr>
          <p:spPr bwMode="auto">
            <a:xfrm>
              <a:off x="6629400" y="5791200"/>
              <a:ext cx="457200" cy="533400"/>
            </a:xfrm>
            <a:prstGeom prst="stripedRightArrow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41" name="左右箭头 40"/>
            <p:cNvSpPr/>
            <p:nvPr/>
          </p:nvSpPr>
          <p:spPr bwMode="auto">
            <a:xfrm>
              <a:off x="1600200" y="5410200"/>
              <a:ext cx="5943600" cy="457200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Network</a:t>
              </a: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286000" y="3962400"/>
              <a:ext cx="6096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5334000" y="3962400"/>
              <a:ext cx="5334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B3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8382000" y="3962400"/>
              <a:ext cx="609600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C3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</p:grpSp>
      <p:grpSp>
        <p:nvGrpSpPr>
          <p:cNvPr id="393" name="组合 392"/>
          <p:cNvGrpSpPr/>
          <p:nvPr/>
        </p:nvGrpSpPr>
        <p:grpSpPr>
          <a:xfrm>
            <a:off x="309965" y="3054524"/>
            <a:ext cx="8630550" cy="3839861"/>
            <a:chOff x="309965" y="3054524"/>
            <a:chExt cx="8630550" cy="3839861"/>
          </a:xfrm>
        </p:grpSpPr>
        <p:grpSp>
          <p:nvGrpSpPr>
            <p:cNvPr id="287" name="组合 286"/>
            <p:cNvGrpSpPr/>
            <p:nvPr/>
          </p:nvGrpSpPr>
          <p:grpSpPr>
            <a:xfrm>
              <a:off x="309965" y="3054524"/>
              <a:ext cx="8630550" cy="3839861"/>
              <a:chOff x="309965" y="3054524"/>
              <a:chExt cx="8630550" cy="3839861"/>
            </a:xfrm>
          </p:grpSpPr>
          <p:pic>
            <p:nvPicPr>
              <p:cNvPr id="206" name="Picture 4" descr="https://computing.llnl.gov/tutorials/bgq/images/5Dtorus.400pix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3011" y="3224454"/>
                <a:ext cx="2430270" cy="1644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" name="Picture 2" descr="http://www.idris.fr/media/turing/pics/tore5d_nodecard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68543" y="4713161"/>
                <a:ext cx="2771972" cy="21812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8" name="Picture 10" descr="http://clusterdesign.org/wp-content/uploads/2012/09/fujitsu-3d-torus.jp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74290" y="3281025"/>
                <a:ext cx="1987820" cy="1588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9" name="组合 208"/>
              <p:cNvGrpSpPr/>
              <p:nvPr/>
            </p:nvGrpSpPr>
            <p:grpSpPr>
              <a:xfrm>
                <a:off x="3214675" y="4779149"/>
                <a:ext cx="2505903" cy="2075989"/>
                <a:chOff x="9302" y="1134380"/>
                <a:chExt cx="6226933" cy="5715000"/>
              </a:xfrm>
            </p:grpSpPr>
            <p:cxnSp>
              <p:nvCxnSpPr>
                <p:cNvPr id="210" name="直接连接符 209"/>
                <p:cNvCxnSpPr/>
                <p:nvPr/>
              </p:nvCxnSpPr>
              <p:spPr bwMode="auto">
                <a:xfrm flipH="1">
                  <a:off x="3552427" y="3073114"/>
                  <a:ext cx="63899" cy="2985691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1" name="直接连接符 210"/>
                <p:cNvCxnSpPr/>
                <p:nvPr/>
              </p:nvCxnSpPr>
              <p:spPr bwMode="auto">
                <a:xfrm flipH="1">
                  <a:off x="1712118" y="3063589"/>
                  <a:ext cx="56357" cy="3004741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2" name="直接连接符 211"/>
                <p:cNvCxnSpPr/>
                <p:nvPr/>
              </p:nvCxnSpPr>
              <p:spPr bwMode="auto">
                <a:xfrm flipH="1">
                  <a:off x="4419600" y="1362980"/>
                  <a:ext cx="42862" cy="297180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3" name="直接连接符 212"/>
                <p:cNvCxnSpPr/>
                <p:nvPr/>
              </p:nvCxnSpPr>
              <p:spPr bwMode="auto">
                <a:xfrm flipH="1">
                  <a:off x="2558256" y="1362980"/>
                  <a:ext cx="81755" cy="297180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4" name="平行四边形 213"/>
                <p:cNvSpPr/>
                <p:nvPr/>
              </p:nvSpPr>
              <p:spPr bwMode="auto">
                <a:xfrm>
                  <a:off x="1768475" y="1339564"/>
                  <a:ext cx="2743200" cy="1733550"/>
                </a:xfrm>
                <a:prstGeom prst="parallelogram">
                  <a:avLst>
                    <a:gd name="adj" fmla="val 49883"/>
                  </a:avLst>
                </a:prstGeom>
                <a:noFill/>
                <a:ln w="25400" cap="flat" cmpd="sng" algn="ctr">
                  <a:solidFill>
                    <a:srgbClr val="C00000"/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5" name="椭圆 214"/>
                <p:cNvSpPr/>
                <p:nvPr/>
              </p:nvSpPr>
              <p:spPr bwMode="auto">
                <a:xfrm>
                  <a:off x="2346325" y="4129596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6" name="椭圆 215"/>
                <p:cNvSpPr/>
                <p:nvPr/>
              </p:nvSpPr>
              <p:spPr bwMode="auto">
                <a:xfrm>
                  <a:off x="1508125" y="584925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7" name="椭圆 216"/>
                <p:cNvSpPr/>
                <p:nvPr/>
              </p:nvSpPr>
              <p:spPr bwMode="auto">
                <a:xfrm>
                  <a:off x="4127500" y="4177221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8" name="椭圆 217"/>
                <p:cNvSpPr/>
                <p:nvPr/>
              </p:nvSpPr>
              <p:spPr bwMode="auto">
                <a:xfrm>
                  <a:off x="3219450" y="584925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9" name="圆柱形 218"/>
                <p:cNvSpPr/>
                <p:nvPr/>
              </p:nvSpPr>
              <p:spPr bwMode="auto">
                <a:xfrm>
                  <a:off x="2438400" y="4786821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0" name="下箭头 219"/>
                <p:cNvSpPr/>
                <p:nvPr/>
              </p:nvSpPr>
              <p:spPr bwMode="auto">
                <a:xfrm>
                  <a:off x="2558256" y="4560999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1" name="圆柱形 220"/>
                <p:cNvSpPr/>
                <p:nvPr/>
              </p:nvSpPr>
              <p:spPr bwMode="auto">
                <a:xfrm>
                  <a:off x="1592262" y="651600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2" name="下箭头 221"/>
                <p:cNvSpPr/>
                <p:nvPr/>
              </p:nvSpPr>
              <p:spPr bwMode="auto">
                <a:xfrm>
                  <a:off x="1712118" y="629018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3" name="圆柱形 222"/>
                <p:cNvSpPr/>
                <p:nvPr/>
              </p:nvSpPr>
              <p:spPr bwMode="auto">
                <a:xfrm>
                  <a:off x="4211637" y="483960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4" name="下箭头 223"/>
                <p:cNvSpPr/>
                <p:nvPr/>
              </p:nvSpPr>
              <p:spPr bwMode="auto">
                <a:xfrm>
                  <a:off x="4331493" y="461378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5" name="圆柱形 224"/>
                <p:cNvSpPr/>
                <p:nvPr/>
              </p:nvSpPr>
              <p:spPr bwMode="auto">
                <a:xfrm>
                  <a:off x="3303587" y="6516004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6" name="下箭头 225"/>
                <p:cNvSpPr/>
                <p:nvPr/>
              </p:nvSpPr>
              <p:spPr bwMode="auto">
                <a:xfrm>
                  <a:off x="3423443" y="6290182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7" name="椭圆 226"/>
                <p:cNvSpPr/>
                <p:nvPr/>
              </p:nvSpPr>
              <p:spPr bwMode="auto">
                <a:xfrm>
                  <a:off x="2422525" y="1134380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8" name="椭圆 227"/>
                <p:cNvSpPr/>
                <p:nvPr/>
              </p:nvSpPr>
              <p:spPr bwMode="auto">
                <a:xfrm>
                  <a:off x="1584325" y="2854039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9" name="椭圆 228"/>
                <p:cNvSpPr/>
                <p:nvPr/>
              </p:nvSpPr>
              <p:spPr bwMode="auto">
                <a:xfrm>
                  <a:off x="4203700" y="118200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0" name="椭圆 229"/>
                <p:cNvSpPr/>
                <p:nvPr/>
              </p:nvSpPr>
              <p:spPr bwMode="auto">
                <a:xfrm>
                  <a:off x="3295650" y="2854039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1" name="圆柱形 230"/>
                <p:cNvSpPr/>
                <p:nvPr/>
              </p:nvSpPr>
              <p:spPr bwMode="auto">
                <a:xfrm>
                  <a:off x="2514600" y="179160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2" name="下箭头 231"/>
                <p:cNvSpPr/>
                <p:nvPr/>
              </p:nvSpPr>
              <p:spPr bwMode="auto">
                <a:xfrm>
                  <a:off x="2634456" y="156578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3" name="圆柱形 232"/>
                <p:cNvSpPr/>
                <p:nvPr/>
              </p:nvSpPr>
              <p:spPr bwMode="auto">
                <a:xfrm>
                  <a:off x="1668462" y="3520789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4" name="下箭头 233"/>
                <p:cNvSpPr/>
                <p:nvPr/>
              </p:nvSpPr>
              <p:spPr bwMode="auto">
                <a:xfrm>
                  <a:off x="1788318" y="3294967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5" name="圆柱形 234"/>
                <p:cNvSpPr/>
                <p:nvPr/>
              </p:nvSpPr>
              <p:spPr bwMode="auto">
                <a:xfrm>
                  <a:off x="4287837" y="1844389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6" name="下箭头 235"/>
                <p:cNvSpPr/>
                <p:nvPr/>
              </p:nvSpPr>
              <p:spPr bwMode="auto">
                <a:xfrm>
                  <a:off x="4407693" y="1618567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7" name="圆柱形 236"/>
                <p:cNvSpPr/>
                <p:nvPr/>
              </p:nvSpPr>
              <p:spPr bwMode="auto">
                <a:xfrm>
                  <a:off x="3379787" y="3520788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8" name="下箭头 237"/>
                <p:cNvSpPr/>
                <p:nvPr/>
              </p:nvSpPr>
              <p:spPr bwMode="auto">
                <a:xfrm>
                  <a:off x="3499643" y="3294966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grpSp>
              <p:nvGrpSpPr>
                <p:cNvPr id="239" name="组合 238"/>
                <p:cNvGrpSpPr/>
                <p:nvPr/>
              </p:nvGrpSpPr>
              <p:grpSpPr>
                <a:xfrm>
                  <a:off x="9302" y="4152423"/>
                  <a:ext cx="6226931" cy="2075167"/>
                  <a:chOff x="9302" y="3856243"/>
                  <a:chExt cx="6226931" cy="2075167"/>
                </a:xfrm>
              </p:grpSpPr>
              <p:cxnSp>
                <p:nvCxnSpPr>
                  <p:cNvPr id="250" name="直接箭头连接符 249"/>
                  <p:cNvCxnSpPr>
                    <a:stCxn id="256" idx="2"/>
                    <a:endCxn id="215" idx="2"/>
                  </p:cNvCxnSpPr>
                  <p:nvPr/>
                </p:nvCxnSpPr>
                <p:spPr bwMode="auto">
                  <a:xfrm flipV="1">
                    <a:off x="1992588" y="4052491"/>
                    <a:ext cx="353738" cy="8040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251" name="直接箭头连接符 250"/>
                  <p:cNvCxnSpPr>
                    <a:stCxn id="254" idx="2"/>
                    <a:endCxn id="216" idx="2"/>
                  </p:cNvCxnSpPr>
                  <p:nvPr/>
                </p:nvCxnSpPr>
                <p:spPr bwMode="auto">
                  <a:xfrm>
                    <a:off x="1163947" y="5742243"/>
                    <a:ext cx="344177" cy="29906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252" name="直接箭头连接符 251"/>
                  <p:cNvCxnSpPr>
                    <a:stCxn id="257" idx="5"/>
                    <a:endCxn id="217" idx="6"/>
                  </p:cNvCxnSpPr>
                  <p:nvPr/>
                </p:nvCxnSpPr>
                <p:spPr bwMode="auto">
                  <a:xfrm flipH="1">
                    <a:off x="4676775" y="4090164"/>
                    <a:ext cx="423060" cy="9953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253" name="直接箭头连接符 252"/>
                  <p:cNvCxnSpPr>
                    <a:stCxn id="255" idx="5"/>
                    <a:endCxn id="218" idx="6"/>
                  </p:cNvCxnSpPr>
                  <p:nvPr/>
                </p:nvCxnSpPr>
                <p:spPr bwMode="auto">
                  <a:xfrm flipH="1">
                    <a:off x="3768726" y="5746799"/>
                    <a:ext cx="541292" cy="25350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sp>
                <p:nvSpPr>
                  <p:cNvPr id="254" name="平行四边形 253"/>
                  <p:cNvSpPr/>
                  <p:nvPr/>
                </p:nvSpPr>
                <p:spPr bwMode="auto">
                  <a:xfrm>
                    <a:off x="9302" y="5553076"/>
                    <a:ext cx="1214659" cy="378334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255" name="平行四边形 254"/>
                  <p:cNvSpPr/>
                  <p:nvPr/>
                </p:nvSpPr>
                <p:spPr bwMode="auto">
                  <a:xfrm>
                    <a:off x="4251451" y="5562188"/>
                    <a:ext cx="1020803" cy="369221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256" name="平行四边形 255"/>
                  <p:cNvSpPr/>
                  <p:nvPr/>
                </p:nvSpPr>
                <p:spPr bwMode="auto">
                  <a:xfrm>
                    <a:off x="785416" y="3856243"/>
                    <a:ext cx="1271982" cy="408576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257" name="平行四边形 256"/>
                  <p:cNvSpPr/>
                  <p:nvPr/>
                </p:nvSpPr>
                <p:spPr bwMode="auto">
                  <a:xfrm>
                    <a:off x="5044424" y="3915506"/>
                    <a:ext cx="1191809" cy="349315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</p:grpSp>
            <p:grpSp>
              <p:nvGrpSpPr>
                <p:cNvPr id="240" name="组合 239"/>
                <p:cNvGrpSpPr/>
                <p:nvPr/>
              </p:nvGrpSpPr>
              <p:grpSpPr>
                <a:xfrm>
                  <a:off x="9303" y="1205483"/>
                  <a:ext cx="6226932" cy="2089485"/>
                  <a:chOff x="9303" y="909303"/>
                  <a:chExt cx="6226932" cy="2089485"/>
                </a:xfrm>
              </p:grpSpPr>
              <p:cxnSp>
                <p:nvCxnSpPr>
                  <p:cNvPr id="242" name="直接箭头连接符 241"/>
                  <p:cNvCxnSpPr>
                    <a:stCxn id="248" idx="2"/>
                    <a:endCxn id="227" idx="2"/>
                  </p:cNvCxnSpPr>
                  <p:nvPr/>
                </p:nvCxnSpPr>
                <p:spPr bwMode="auto">
                  <a:xfrm flipV="1">
                    <a:off x="2088693" y="1057275"/>
                    <a:ext cx="333832" cy="32178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243" name="直接箭头连接符 242"/>
                  <p:cNvCxnSpPr>
                    <a:stCxn id="246" idx="2"/>
                    <a:endCxn id="228" idx="2"/>
                  </p:cNvCxnSpPr>
                  <p:nvPr/>
                </p:nvCxnSpPr>
                <p:spPr bwMode="auto">
                  <a:xfrm flipV="1">
                    <a:off x="1156105" y="2776933"/>
                    <a:ext cx="428221" cy="18622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244" name="直接箭头连接符 243"/>
                  <p:cNvCxnSpPr>
                    <a:stCxn id="249" idx="5"/>
                    <a:endCxn id="229" idx="6"/>
                  </p:cNvCxnSpPr>
                  <p:nvPr/>
                </p:nvCxnSpPr>
                <p:spPr bwMode="auto">
                  <a:xfrm flipH="1">
                    <a:off x="4752978" y="1093916"/>
                    <a:ext cx="519276" cy="10985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cxnSp>
                <p:nvCxnSpPr>
                  <p:cNvPr id="245" name="直接箭头连接符 244"/>
                  <p:cNvCxnSpPr>
                    <a:stCxn id="247" idx="5"/>
                    <a:endCxn id="230" idx="6"/>
                  </p:cNvCxnSpPr>
                  <p:nvPr/>
                </p:nvCxnSpPr>
                <p:spPr bwMode="auto">
                  <a:xfrm flipH="1" flipV="1">
                    <a:off x="3844926" y="2776934"/>
                    <a:ext cx="501479" cy="2"/>
                  </a:xfrm>
                  <a:prstGeom prst="straightConnector1">
                    <a:avLst/>
                  </a:prstGeom>
                  <a:noFill/>
                  <a:ln w="9525" cap="flat" cmpd="sng" algn="ctr">
                    <a:solidFill>
                      <a:schemeClr val="bg2">
                        <a:lumMod val="10000"/>
                      </a:schemeClr>
                    </a:solidFill>
                    <a:prstDash val="solid"/>
                    <a:round/>
                    <a:headEnd type="none" w="med" len="med"/>
                    <a:tailEnd type="arrow"/>
                  </a:ln>
                  <a:effectLst/>
                </p:spPr>
              </p:cxnSp>
              <p:sp>
                <p:nvSpPr>
                  <p:cNvPr id="246" name="平行四边形 245"/>
                  <p:cNvSpPr/>
                  <p:nvPr/>
                </p:nvSpPr>
                <p:spPr bwMode="auto">
                  <a:xfrm>
                    <a:off x="9303" y="2592323"/>
                    <a:ext cx="1194633" cy="406465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247" name="平行四边形 246"/>
                  <p:cNvSpPr/>
                  <p:nvPr/>
                </p:nvSpPr>
                <p:spPr bwMode="auto">
                  <a:xfrm>
                    <a:off x="4287836" y="2592324"/>
                    <a:ext cx="984418" cy="369221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248" name="平行四边形 247"/>
                  <p:cNvSpPr/>
                  <p:nvPr/>
                </p:nvSpPr>
                <p:spPr bwMode="auto">
                  <a:xfrm>
                    <a:off x="1067951" y="909303"/>
                    <a:ext cx="1063143" cy="360298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  <p:sp>
                <p:nvSpPr>
                  <p:cNvPr id="249" name="平行四边形 248"/>
                  <p:cNvSpPr/>
                  <p:nvPr/>
                </p:nvSpPr>
                <p:spPr bwMode="auto">
                  <a:xfrm>
                    <a:off x="5213686" y="909307"/>
                    <a:ext cx="1022549" cy="369220"/>
                  </a:xfrm>
                  <a:prstGeom prst="parallelogram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endParaRPr>
                  </a:p>
                </p:txBody>
              </p:sp>
            </p:grpSp>
            <p:sp>
              <p:nvSpPr>
                <p:cNvPr id="241" name="平行四边形 240"/>
                <p:cNvSpPr/>
                <p:nvPr/>
              </p:nvSpPr>
              <p:spPr bwMode="auto">
                <a:xfrm>
                  <a:off x="1692275" y="4334780"/>
                  <a:ext cx="2743200" cy="1733550"/>
                </a:xfrm>
                <a:prstGeom prst="parallelogram">
                  <a:avLst>
                    <a:gd name="adj" fmla="val 49883"/>
                  </a:avLst>
                </a:prstGeom>
                <a:noFill/>
                <a:ln w="25400" cap="flat" cmpd="sng" algn="ctr">
                  <a:solidFill>
                    <a:srgbClr val="C00000">
                      <a:alpha val="82000"/>
                    </a:srgbClr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  <p:pic>
            <p:nvPicPr>
              <p:cNvPr id="258" name="图片 257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972" y="3224454"/>
                <a:ext cx="2192850" cy="1622505"/>
              </a:xfrm>
              <a:prstGeom prst="rect">
                <a:avLst/>
              </a:prstGeom>
            </p:spPr>
          </p:pic>
          <p:grpSp>
            <p:nvGrpSpPr>
              <p:cNvPr id="259" name="组合 258"/>
              <p:cNvGrpSpPr/>
              <p:nvPr/>
            </p:nvGrpSpPr>
            <p:grpSpPr>
              <a:xfrm>
                <a:off x="309965" y="4802616"/>
                <a:ext cx="2372686" cy="1910160"/>
                <a:chOff x="381000" y="3833416"/>
                <a:chExt cx="5364488" cy="2719784"/>
              </a:xfrm>
            </p:grpSpPr>
            <p:sp>
              <p:nvSpPr>
                <p:cNvPr id="260" name="平行四边形 259"/>
                <p:cNvSpPr/>
                <p:nvPr/>
              </p:nvSpPr>
              <p:spPr bwMode="auto">
                <a:xfrm>
                  <a:off x="1692275" y="4038600"/>
                  <a:ext cx="2743200" cy="1733550"/>
                </a:xfrm>
                <a:prstGeom prst="parallelogram">
                  <a:avLst>
                    <a:gd name="adj" fmla="val 49883"/>
                  </a:avLst>
                </a:prstGeom>
                <a:noFill/>
                <a:ln w="25400" cap="flat" cmpd="sng" algn="ctr">
                  <a:solidFill>
                    <a:srgbClr val="C00000">
                      <a:alpha val="82000"/>
                    </a:srgbClr>
                  </a:solidFill>
                  <a:prstDash val="dash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1" name="椭圆 260"/>
                <p:cNvSpPr/>
                <p:nvPr/>
              </p:nvSpPr>
              <p:spPr bwMode="auto">
                <a:xfrm>
                  <a:off x="2346325" y="3833416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2" name="椭圆 261"/>
                <p:cNvSpPr/>
                <p:nvPr/>
              </p:nvSpPr>
              <p:spPr bwMode="auto">
                <a:xfrm>
                  <a:off x="1508125" y="555307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3" name="椭圆 262"/>
                <p:cNvSpPr/>
                <p:nvPr/>
              </p:nvSpPr>
              <p:spPr bwMode="auto">
                <a:xfrm>
                  <a:off x="4127500" y="3881041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4" name="椭圆 263"/>
                <p:cNvSpPr/>
                <p:nvPr/>
              </p:nvSpPr>
              <p:spPr bwMode="auto">
                <a:xfrm>
                  <a:off x="3219450" y="5553075"/>
                  <a:ext cx="549275" cy="438150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5" name="圆柱形 264"/>
                <p:cNvSpPr/>
                <p:nvPr/>
              </p:nvSpPr>
              <p:spPr bwMode="auto">
                <a:xfrm>
                  <a:off x="2438400" y="4490641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6" name="下箭头 265"/>
                <p:cNvSpPr/>
                <p:nvPr/>
              </p:nvSpPr>
              <p:spPr bwMode="auto">
                <a:xfrm>
                  <a:off x="2558256" y="4264819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7" name="圆柱形 266"/>
                <p:cNvSpPr/>
                <p:nvPr/>
              </p:nvSpPr>
              <p:spPr bwMode="auto">
                <a:xfrm>
                  <a:off x="1592262" y="621982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8" name="下箭头 267"/>
                <p:cNvSpPr/>
                <p:nvPr/>
              </p:nvSpPr>
              <p:spPr bwMode="auto">
                <a:xfrm>
                  <a:off x="1712118" y="599400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69" name="圆柱形 268"/>
                <p:cNvSpPr/>
                <p:nvPr/>
              </p:nvSpPr>
              <p:spPr bwMode="auto">
                <a:xfrm>
                  <a:off x="4211637" y="4543425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70" name="下箭头 269"/>
                <p:cNvSpPr/>
                <p:nvPr/>
              </p:nvSpPr>
              <p:spPr bwMode="auto">
                <a:xfrm>
                  <a:off x="4331493" y="4317603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71" name="圆柱形 270"/>
                <p:cNvSpPr/>
                <p:nvPr/>
              </p:nvSpPr>
              <p:spPr bwMode="auto">
                <a:xfrm>
                  <a:off x="3303587" y="6219824"/>
                  <a:ext cx="381000" cy="333375"/>
                </a:xfrm>
                <a:prstGeom prst="can">
                  <a:avLst/>
                </a:prstGeom>
                <a:solidFill>
                  <a:schemeClr val="tx2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72" name="下箭头 271"/>
                <p:cNvSpPr/>
                <p:nvPr/>
              </p:nvSpPr>
              <p:spPr bwMode="auto">
                <a:xfrm>
                  <a:off x="3423443" y="5994002"/>
                  <a:ext cx="141287" cy="254794"/>
                </a:xfrm>
                <a:prstGeom prst="downArrow">
                  <a:avLst/>
                </a:prstGeom>
                <a:solidFill>
                  <a:schemeClr val="accent1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cxnSp>
              <p:nvCxnSpPr>
                <p:cNvPr id="273" name="直接箭头连接符 272"/>
                <p:cNvCxnSpPr>
                  <a:stCxn id="283" idx="2"/>
                  <a:endCxn id="261" idx="2"/>
                </p:cNvCxnSpPr>
                <p:nvPr/>
              </p:nvCxnSpPr>
              <p:spPr bwMode="auto">
                <a:xfrm flipV="1">
                  <a:off x="1837414" y="4052491"/>
                  <a:ext cx="508911" cy="13161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274" name="直接箭头连接符 273"/>
                <p:cNvCxnSpPr>
                  <a:stCxn id="277" idx="2"/>
                  <a:endCxn id="262" idx="2"/>
                </p:cNvCxnSpPr>
                <p:nvPr/>
              </p:nvCxnSpPr>
              <p:spPr bwMode="auto">
                <a:xfrm>
                  <a:off x="1177808" y="5772150"/>
                  <a:ext cx="330317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275" name="直接箭头连接符 274"/>
                <p:cNvCxnSpPr>
                  <a:endCxn id="263" idx="6"/>
                </p:cNvCxnSpPr>
                <p:nvPr/>
              </p:nvCxnSpPr>
              <p:spPr bwMode="auto">
                <a:xfrm flipH="1">
                  <a:off x="4676775" y="4100116"/>
                  <a:ext cx="462078" cy="0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276" name="直接箭头连接符 275"/>
                <p:cNvCxnSpPr>
                  <a:stCxn id="278" idx="5"/>
                  <a:endCxn id="264" idx="6"/>
                </p:cNvCxnSpPr>
                <p:nvPr/>
              </p:nvCxnSpPr>
              <p:spPr bwMode="auto">
                <a:xfrm flipH="1">
                  <a:off x="3768725" y="5759474"/>
                  <a:ext cx="542179" cy="12676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277" name="平行四边形 276"/>
                <p:cNvSpPr/>
                <p:nvPr/>
              </p:nvSpPr>
              <p:spPr bwMode="auto">
                <a:xfrm>
                  <a:off x="381000" y="5587539"/>
                  <a:ext cx="842961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78" name="平行四边形 277"/>
                <p:cNvSpPr/>
                <p:nvPr/>
              </p:nvSpPr>
              <p:spPr bwMode="auto">
                <a:xfrm>
                  <a:off x="4264751" y="5574863"/>
                  <a:ext cx="779673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79" name="平行四边形 278"/>
                <p:cNvSpPr/>
                <p:nvPr/>
              </p:nvSpPr>
              <p:spPr bwMode="auto">
                <a:xfrm>
                  <a:off x="1265236" y="3882897"/>
                  <a:ext cx="618331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1400" dirty="0" smtClean="0">
                      <a:solidFill>
                        <a:schemeClr val="tx1"/>
                      </a:solidFill>
                      <a:latin typeface="Calibri" pitchFamily="34" charset="0"/>
                    </a:rPr>
                    <a:t>D</a:t>
                  </a:r>
                  <a:r>
                    <a:rPr kumimoji="0" lang="en-US" altLang="zh-CN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0</a:t>
                  </a: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cxnSp>
              <p:nvCxnSpPr>
                <p:cNvPr id="280" name="直接箭头连接符 279"/>
                <p:cNvCxnSpPr>
                  <a:stCxn id="279" idx="2"/>
                  <a:endCxn id="261" idx="2"/>
                </p:cNvCxnSpPr>
                <p:nvPr/>
              </p:nvCxnSpPr>
              <p:spPr bwMode="auto">
                <a:xfrm flipV="1">
                  <a:off x="1837414" y="4052491"/>
                  <a:ext cx="508911" cy="15017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281" name="平行四边形 280"/>
                <p:cNvSpPr/>
                <p:nvPr/>
              </p:nvSpPr>
              <p:spPr bwMode="auto">
                <a:xfrm>
                  <a:off x="5092700" y="3895597"/>
                  <a:ext cx="652788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cxnSp>
              <p:nvCxnSpPr>
                <p:cNvPr id="282" name="直接箭头连接符 281"/>
                <p:cNvCxnSpPr>
                  <a:stCxn id="281" idx="5"/>
                  <a:endCxn id="263" idx="6"/>
                </p:cNvCxnSpPr>
                <p:nvPr/>
              </p:nvCxnSpPr>
              <p:spPr bwMode="auto">
                <a:xfrm flipH="1">
                  <a:off x="4676775" y="4080208"/>
                  <a:ext cx="462078" cy="19908"/>
                </a:xfrm>
                <a:prstGeom prst="straightConnector1">
                  <a:avLst/>
                </a:prstGeom>
                <a:noFill/>
                <a:ln w="9525" cap="flat" cmpd="sng" algn="ctr">
                  <a:solidFill>
                    <a:schemeClr val="bg2">
                      <a:lumMod val="10000"/>
                    </a:schemeClr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283" name="平行四边形 282"/>
                <p:cNvSpPr/>
                <p:nvPr/>
              </p:nvSpPr>
              <p:spPr bwMode="auto">
                <a:xfrm>
                  <a:off x="1050128" y="3881041"/>
                  <a:ext cx="833439" cy="369222"/>
                </a:xfrm>
                <a:prstGeom prst="parallelogram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  <p:sp>
            <p:nvSpPr>
              <p:cNvPr id="284" name="TextBox 283"/>
              <p:cNvSpPr txBox="1"/>
              <p:nvPr/>
            </p:nvSpPr>
            <p:spPr>
              <a:xfrm>
                <a:off x="791580" y="3054524"/>
                <a:ext cx="186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 smtClean="0"/>
                  <a:t>2D torus</a:t>
                </a:r>
                <a:r>
                  <a:rPr lang="zh-CN" altLang="en-US" sz="2400" dirty="0" smtClean="0"/>
                  <a:t>网络</a:t>
                </a:r>
                <a:endParaRPr lang="zh-CN" altLang="en-US" sz="2400" dirty="0"/>
              </a:p>
            </p:txBody>
          </p:sp>
          <p:sp>
            <p:nvSpPr>
              <p:cNvPr id="285" name="TextBox 284"/>
              <p:cNvSpPr txBox="1"/>
              <p:nvPr/>
            </p:nvSpPr>
            <p:spPr>
              <a:xfrm>
                <a:off x="3896925" y="3054524"/>
                <a:ext cx="186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3</a:t>
                </a:r>
                <a:r>
                  <a:rPr lang="en-US" altLang="zh-CN" sz="2400" dirty="0" smtClean="0"/>
                  <a:t>D torus</a:t>
                </a:r>
                <a:r>
                  <a:rPr lang="zh-CN" altLang="en-US" sz="2400" dirty="0" smtClean="0"/>
                  <a:t>网络</a:t>
                </a:r>
                <a:endParaRPr lang="zh-CN" altLang="en-US" sz="2400" dirty="0"/>
              </a:p>
            </p:txBody>
          </p:sp>
          <p:sp>
            <p:nvSpPr>
              <p:cNvPr id="286" name="TextBox 285"/>
              <p:cNvSpPr txBox="1"/>
              <p:nvPr/>
            </p:nvSpPr>
            <p:spPr>
              <a:xfrm>
                <a:off x="6732240" y="3054524"/>
                <a:ext cx="186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4</a:t>
                </a:r>
                <a:r>
                  <a:rPr lang="en-US" altLang="zh-CN" sz="2400" dirty="0" smtClean="0"/>
                  <a:t>D torus</a:t>
                </a:r>
                <a:r>
                  <a:rPr lang="zh-CN" altLang="en-US" sz="2400" dirty="0" smtClean="0"/>
                  <a:t>网络</a:t>
                </a:r>
                <a:endParaRPr lang="zh-CN" altLang="en-US" sz="2400" dirty="0"/>
              </a:p>
            </p:txBody>
          </p:sp>
        </p:grpSp>
        <p:cxnSp>
          <p:nvCxnSpPr>
            <p:cNvPr id="366" name="直接箭头连接符 365"/>
            <p:cNvCxnSpPr/>
            <p:nvPr/>
          </p:nvCxnSpPr>
          <p:spPr>
            <a:xfrm flipH="1">
              <a:off x="5268958" y="4101331"/>
              <a:ext cx="13312" cy="2555635"/>
            </a:xfrm>
            <a:prstGeom prst="straightConnector1">
              <a:avLst/>
            </a:prstGeom>
            <a:ln w="25400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5" name="组合 394"/>
          <p:cNvGrpSpPr/>
          <p:nvPr/>
        </p:nvGrpSpPr>
        <p:grpSpPr>
          <a:xfrm>
            <a:off x="102985" y="3092301"/>
            <a:ext cx="8969515" cy="3779665"/>
            <a:chOff x="102985" y="3092301"/>
            <a:chExt cx="8969515" cy="3779665"/>
          </a:xfrm>
        </p:grpSpPr>
        <p:grpSp>
          <p:nvGrpSpPr>
            <p:cNvPr id="368" name="组合 367"/>
            <p:cNvGrpSpPr/>
            <p:nvPr/>
          </p:nvGrpSpPr>
          <p:grpSpPr>
            <a:xfrm>
              <a:off x="102985" y="3092301"/>
              <a:ext cx="8969515" cy="3779665"/>
              <a:chOff x="71500" y="3023955"/>
              <a:chExt cx="8969515" cy="3779665"/>
            </a:xfrm>
          </p:grpSpPr>
          <p:grpSp>
            <p:nvGrpSpPr>
              <p:cNvPr id="369" name="组合 368"/>
              <p:cNvGrpSpPr/>
              <p:nvPr/>
            </p:nvGrpSpPr>
            <p:grpSpPr>
              <a:xfrm>
                <a:off x="5405690" y="3158970"/>
                <a:ext cx="3635325" cy="3378643"/>
                <a:chOff x="5405690" y="3228946"/>
                <a:chExt cx="3635325" cy="3308666"/>
              </a:xfrm>
            </p:grpSpPr>
            <p:sp>
              <p:nvSpPr>
                <p:cNvPr id="372" name="椭圆 371"/>
                <p:cNvSpPr/>
                <p:nvPr/>
              </p:nvSpPr>
              <p:spPr>
                <a:xfrm>
                  <a:off x="7020272" y="322894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0</a:t>
                  </a:r>
                  <a:endParaRPr lang="zh-CN" altLang="en-US" sz="2400" dirty="0"/>
                </a:p>
              </p:txBody>
            </p:sp>
            <p:sp>
              <p:nvSpPr>
                <p:cNvPr id="373" name="椭圆 372"/>
                <p:cNvSpPr/>
                <p:nvPr/>
              </p:nvSpPr>
              <p:spPr>
                <a:xfrm>
                  <a:off x="8100392" y="4093042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2</a:t>
                  </a:r>
                  <a:endParaRPr lang="zh-CN" altLang="en-US" sz="2400" dirty="0"/>
                </a:p>
              </p:txBody>
            </p:sp>
            <p:sp>
              <p:nvSpPr>
                <p:cNvPr id="374" name="椭圆 373"/>
                <p:cNvSpPr/>
                <p:nvPr/>
              </p:nvSpPr>
              <p:spPr>
                <a:xfrm>
                  <a:off x="5796136" y="4107342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1</a:t>
                  </a:r>
                  <a:endParaRPr lang="zh-CN" altLang="en-US" sz="2400" dirty="0"/>
                </a:p>
              </p:txBody>
            </p:sp>
            <p:cxnSp>
              <p:nvCxnSpPr>
                <p:cNvPr id="375" name="直接箭头连接符 374"/>
                <p:cNvCxnSpPr>
                  <a:stCxn id="372" idx="6"/>
                  <a:endCxn id="373" idx="1"/>
                </p:cNvCxnSpPr>
                <p:nvPr/>
              </p:nvCxnSpPr>
              <p:spPr>
                <a:xfrm>
                  <a:off x="7380312" y="3480974"/>
                  <a:ext cx="772807" cy="68588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直接箭头连接符 375"/>
                <p:cNvCxnSpPr>
                  <a:stCxn id="372" idx="2"/>
                  <a:endCxn id="374" idx="7"/>
                </p:cNvCxnSpPr>
                <p:nvPr/>
              </p:nvCxnSpPr>
              <p:spPr>
                <a:xfrm flipH="1">
                  <a:off x="6103449" y="3480974"/>
                  <a:ext cx="916823" cy="70018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7" name="椭圆 376"/>
                <p:cNvSpPr/>
                <p:nvPr/>
              </p:nvSpPr>
              <p:spPr>
                <a:xfrm>
                  <a:off x="6992652" y="502914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0</a:t>
                  </a:r>
                  <a:endParaRPr lang="zh-CN" altLang="en-US" sz="2400" dirty="0"/>
                </a:p>
              </p:txBody>
            </p:sp>
            <p:cxnSp>
              <p:nvCxnSpPr>
                <p:cNvPr id="378" name="直接箭头连接符 377"/>
                <p:cNvCxnSpPr>
                  <a:stCxn id="374" idx="5"/>
                  <a:endCxn id="377" idx="1"/>
                </p:cNvCxnSpPr>
                <p:nvPr/>
              </p:nvCxnSpPr>
              <p:spPr>
                <a:xfrm>
                  <a:off x="6103449" y="4537581"/>
                  <a:ext cx="941930" cy="56538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箭头连接符 378"/>
                <p:cNvCxnSpPr>
                  <a:stCxn id="373" idx="3"/>
                  <a:endCxn id="377" idx="7"/>
                </p:cNvCxnSpPr>
                <p:nvPr/>
              </p:nvCxnSpPr>
              <p:spPr>
                <a:xfrm flipH="1">
                  <a:off x="7299965" y="4523281"/>
                  <a:ext cx="853154" cy="57968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椭圆 379"/>
                <p:cNvSpPr/>
                <p:nvPr/>
              </p:nvSpPr>
              <p:spPr>
                <a:xfrm>
                  <a:off x="5750880" y="603355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1</a:t>
                  </a:r>
                  <a:endParaRPr lang="zh-CN" altLang="en-US" sz="2400" dirty="0"/>
                </a:p>
              </p:txBody>
            </p:sp>
            <p:sp>
              <p:nvSpPr>
                <p:cNvPr id="381" name="椭圆 380"/>
                <p:cNvSpPr/>
                <p:nvPr/>
              </p:nvSpPr>
              <p:spPr>
                <a:xfrm>
                  <a:off x="8124192" y="6033556"/>
                  <a:ext cx="360040" cy="50405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400" dirty="0" smtClean="0"/>
                    <a:t>2</a:t>
                  </a:r>
                  <a:endParaRPr lang="zh-CN" altLang="en-US" sz="2400" dirty="0"/>
                </a:p>
              </p:txBody>
            </p:sp>
            <p:cxnSp>
              <p:nvCxnSpPr>
                <p:cNvPr id="382" name="直接箭头连接符 381"/>
                <p:cNvCxnSpPr>
                  <a:stCxn id="377" idx="5"/>
                  <a:endCxn id="381" idx="1"/>
                </p:cNvCxnSpPr>
                <p:nvPr/>
              </p:nvCxnSpPr>
              <p:spPr>
                <a:xfrm>
                  <a:off x="7299965" y="5459385"/>
                  <a:ext cx="876954" cy="6479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直接箭头连接符 382"/>
                <p:cNvCxnSpPr>
                  <a:stCxn id="377" idx="3"/>
                  <a:endCxn id="380" idx="7"/>
                </p:cNvCxnSpPr>
                <p:nvPr/>
              </p:nvCxnSpPr>
              <p:spPr>
                <a:xfrm flipH="1">
                  <a:off x="6058193" y="5459385"/>
                  <a:ext cx="987186" cy="647988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4" name="圆角矩形 383"/>
                <p:cNvSpPr/>
                <p:nvPr/>
              </p:nvSpPr>
              <p:spPr>
                <a:xfrm>
                  <a:off x="8176919" y="5660652"/>
                  <a:ext cx="864096" cy="2870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Data</a:t>
                  </a:r>
                  <a:endParaRPr lang="zh-CN" altLang="en-US" sz="1800" dirty="0"/>
                </a:p>
              </p:txBody>
            </p:sp>
            <p:sp>
              <p:nvSpPr>
                <p:cNvPr id="385" name="圆角矩形 384"/>
                <p:cNvSpPr/>
                <p:nvPr/>
              </p:nvSpPr>
              <p:spPr>
                <a:xfrm>
                  <a:off x="7547520" y="3710026"/>
                  <a:ext cx="794922" cy="24208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</a:t>
                  </a:r>
                  <a:endParaRPr lang="zh-CN" altLang="en-US" sz="1800" dirty="0"/>
                </a:p>
              </p:txBody>
            </p:sp>
            <p:sp>
              <p:nvSpPr>
                <p:cNvPr id="386" name="圆角矩形 385"/>
                <p:cNvSpPr/>
                <p:nvPr/>
              </p:nvSpPr>
              <p:spPr>
                <a:xfrm>
                  <a:off x="6058193" y="3737938"/>
                  <a:ext cx="765345" cy="23714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</a:t>
                  </a:r>
                  <a:endParaRPr lang="zh-CN" altLang="en-US" sz="1800" dirty="0"/>
                </a:p>
              </p:txBody>
            </p:sp>
            <p:sp>
              <p:nvSpPr>
                <p:cNvPr id="387" name="圆角矩形 386"/>
                <p:cNvSpPr/>
                <p:nvPr/>
              </p:nvSpPr>
              <p:spPr>
                <a:xfrm>
                  <a:off x="7524328" y="4741114"/>
                  <a:ext cx="1296144" cy="3675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 reply</a:t>
                  </a:r>
                  <a:endParaRPr lang="zh-CN" altLang="en-US" sz="1800" dirty="0"/>
                </a:p>
              </p:txBody>
            </p:sp>
            <p:sp>
              <p:nvSpPr>
                <p:cNvPr id="388" name="圆角矩形 387"/>
                <p:cNvSpPr/>
                <p:nvPr/>
              </p:nvSpPr>
              <p:spPr>
                <a:xfrm>
                  <a:off x="5668262" y="4728538"/>
                  <a:ext cx="1189738" cy="3675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Lock reply</a:t>
                  </a:r>
                  <a:endParaRPr lang="zh-CN" altLang="en-US" sz="1800" dirty="0"/>
                </a:p>
              </p:txBody>
            </p:sp>
            <p:sp>
              <p:nvSpPr>
                <p:cNvPr id="389" name="圆角矩形 388"/>
                <p:cNvSpPr/>
                <p:nvPr/>
              </p:nvSpPr>
              <p:spPr>
                <a:xfrm>
                  <a:off x="7348730" y="5660653"/>
                  <a:ext cx="804670" cy="2870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/>
                    <a:t>N</a:t>
                  </a:r>
                  <a:r>
                    <a:rPr lang="en-US" altLang="zh-CN" sz="1800" dirty="0" smtClean="0"/>
                    <a:t>otify</a:t>
                  </a:r>
                  <a:endParaRPr lang="zh-CN" altLang="en-US" sz="1800" dirty="0"/>
                </a:p>
              </p:txBody>
            </p:sp>
            <p:sp>
              <p:nvSpPr>
                <p:cNvPr id="390" name="圆角矩形 389"/>
                <p:cNvSpPr/>
                <p:nvPr/>
              </p:nvSpPr>
              <p:spPr>
                <a:xfrm>
                  <a:off x="5405690" y="5660653"/>
                  <a:ext cx="804670" cy="28708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/>
                    <a:t>N</a:t>
                  </a:r>
                  <a:r>
                    <a:rPr lang="en-US" altLang="zh-CN" sz="1800" dirty="0" smtClean="0"/>
                    <a:t>otify</a:t>
                  </a:r>
                  <a:endParaRPr lang="zh-CN" altLang="en-US" sz="1800" dirty="0"/>
                </a:p>
              </p:txBody>
            </p:sp>
            <p:sp>
              <p:nvSpPr>
                <p:cNvPr id="391" name="圆角矩形 390"/>
                <p:cNvSpPr/>
                <p:nvPr/>
              </p:nvSpPr>
              <p:spPr>
                <a:xfrm>
                  <a:off x="6230712" y="5660652"/>
                  <a:ext cx="864096" cy="295287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800" dirty="0" smtClean="0"/>
                    <a:t>Data</a:t>
                  </a:r>
                  <a:endParaRPr lang="zh-CN" altLang="en-US" sz="1800" dirty="0"/>
                </a:p>
              </p:txBody>
            </p:sp>
          </p:grpSp>
          <p:sp>
            <p:nvSpPr>
              <p:cNvPr id="370" name="矩形 369"/>
              <p:cNvSpPr/>
              <p:nvPr/>
            </p:nvSpPr>
            <p:spPr>
              <a:xfrm>
                <a:off x="71500" y="5640225"/>
                <a:ext cx="4465239" cy="116339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CN" sz="1200" dirty="0" err="1" smtClean="0">
                    <a:solidFill>
                      <a:srgbClr val="FF0000"/>
                    </a:solidFill>
                  </a:rPr>
                  <a:t>RecvProc</a:t>
                </a:r>
                <a:r>
                  <a:rPr lang="en-US" altLang="zh-CN" sz="1200" dirty="0" smtClean="0">
                    <a:solidFill>
                      <a:srgbClr val="FF0000"/>
                    </a:solidFill>
                  </a:rPr>
                  <a:t> Routine (Service Routine)</a:t>
                </a:r>
              </a:p>
              <a:p>
                <a:r>
                  <a:rPr lang="en-US" altLang="zh-CN" sz="1200" dirty="0">
                    <a:solidFill>
                      <a:schemeClr val="tx1"/>
                    </a:solidFill>
                  </a:rPr>
                  <a:t>While(1)</a:t>
                </a:r>
              </a:p>
              <a:p>
                <a:r>
                  <a:rPr lang="en-US" altLang="zh-CN" sz="1200" dirty="0">
                    <a:solidFill>
                      <a:schemeClr val="tx1"/>
                    </a:solidFill>
                  </a:rPr>
                  <a:t>{</a:t>
                </a:r>
              </a:p>
              <a:p>
                <a:r>
                  <a:rPr lang="en-US" altLang="zh-CN" sz="1200" dirty="0">
                    <a:solidFill>
                      <a:schemeClr val="tx1"/>
                    </a:solidFill>
                  </a:rPr>
                  <a:t>      Post </a:t>
                </a:r>
                <a:r>
                  <a:rPr lang="en-US" altLang="zh-CN" sz="1200" dirty="0" err="1">
                    <a:solidFill>
                      <a:schemeClr val="tx1"/>
                    </a:solidFill>
                  </a:rPr>
                  <a:t>MPI_Testall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(2, </a:t>
                </a:r>
                <a:r>
                  <a:rPr lang="en-US" altLang="zh-CN" sz="1200" dirty="0" err="1">
                    <a:solidFill>
                      <a:schemeClr val="tx1"/>
                    </a:solidFill>
                  </a:rPr>
                  <a:t>compReq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, &amp;flag</a:t>
                </a:r>
                <a:r>
                  <a:rPr lang="en-US" altLang="zh-CN" sz="1200" dirty="0" smtClean="0">
                    <a:solidFill>
                      <a:schemeClr val="tx1"/>
                    </a:solidFill>
                  </a:rPr>
                  <a:t>) 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r>
                  <a:rPr lang="zh-CN" altLang="en-US" sz="1200" dirty="0" smtClean="0">
                    <a:solidFill>
                      <a:schemeClr val="tx1"/>
                    </a:solidFill>
                  </a:rPr>
                  <a:t>     。。。。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内容占位符 2"/>
              <p:cNvSpPr txBox="1">
                <a:spLocks/>
              </p:cNvSpPr>
              <p:nvPr/>
            </p:nvSpPr>
            <p:spPr>
              <a:xfrm>
                <a:off x="71500" y="3023955"/>
                <a:ext cx="4465239" cy="252085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1250" dirty="0" smtClean="0">
                    <a:solidFill>
                      <a:srgbClr val="FF0000"/>
                    </a:solidFill>
                  </a:rPr>
                  <a:t>Compute Routine</a:t>
                </a:r>
              </a:p>
              <a:p>
                <a:pPr marL="0" indent="0">
                  <a:buNone/>
                </a:pPr>
                <a:r>
                  <a:rPr lang="en-US" altLang="zh-CN" sz="1250" dirty="0" smtClean="0">
                    <a:solidFill>
                      <a:srgbClr val="FF0000"/>
                    </a:solidFill>
                  </a:rPr>
                  <a:t>Lock </a:t>
                </a:r>
                <a:r>
                  <a:rPr lang="en-US" altLang="zh-CN" sz="1250" dirty="0">
                    <a:solidFill>
                      <a:srgbClr val="FF0000"/>
                    </a:solidFill>
                  </a:rPr>
                  <a:t>Stage :</a:t>
                </a:r>
              </a:p>
              <a:p>
                <a:pPr marL="0" indent="0">
                  <a:buNone/>
                </a:pPr>
                <a:r>
                  <a:rPr lang="en-US" altLang="zh-CN" sz="1250" dirty="0"/>
                  <a:t>Post </a:t>
                </a:r>
                <a:r>
                  <a:rPr lang="en-US" altLang="zh-CN" sz="1250" dirty="0" err="1"/>
                  <a:t>MPI_Isend</a:t>
                </a:r>
                <a:r>
                  <a:rPr lang="en-US" altLang="zh-CN" sz="1250" dirty="0"/>
                  <a:t>(</a:t>
                </a:r>
                <a:r>
                  <a:rPr lang="en-US" altLang="zh-CN" sz="1250" dirty="0" err="1"/>
                  <a:t>compReq</a:t>
                </a:r>
                <a:r>
                  <a:rPr lang="en-US" altLang="zh-CN" sz="1250" dirty="0" smtClean="0"/>
                  <a:t>)      //Lock</a:t>
                </a:r>
                <a:endParaRPr lang="en-US" altLang="zh-CN" sz="1250" dirty="0"/>
              </a:p>
              <a:p>
                <a:pPr marL="0" indent="0">
                  <a:buNone/>
                </a:pPr>
                <a:r>
                  <a:rPr lang="en-US" altLang="zh-CN" sz="1250" dirty="0"/>
                  <a:t>Post </a:t>
                </a:r>
                <a:r>
                  <a:rPr lang="en-US" altLang="zh-CN" sz="1250" dirty="0" err="1" smtClean="0"/>
                  <a:t>MPI_Irecv</a:t>
                </a:r>
                <a:r>
                  <a:rPr lang="en-US" altLang="zh-CN" sz="1250" dirty="0" smtClean="0"/>
                  <a:t>(compReq+1)       //Lock Reply</a:t>
                </a:r>
                <a:endParaRPr lang="en-US" altLang="zh-CN" sz="1250" dirty="0"/>
              </a:p>
              <a:p>
                <a:pPr marL="0" indent="0">
                  <a:buNone/>
                </a:pPr>
                <a:r>
                  <a:rPr lang="en-US" altLang="zh-CN" sz="1250" dirty="0"/>
                  <a:t>Call </a:t>
                </a:r>
                <a:r>
                  <a:rPr lang="en-US" altLang="zh-CN" sz="1250" dirty="0" err="1"/>
                  <a:t>RecvProc</a:t>
                </a:r>
                <a:r>
                  <a:rPr lang="en-US" altLang="zh-CN" sz="1250" dirty="0"/>
                  <a:t>(2, </a:t>
                </a:r>
                <a:r>
                  <a:rPr lang="en-US" altLang="zh-CN" sz="1250" dirty="0" err="1"/>
                  <a:t>compReq</a:t>
                </a:r>
                <a:r>
                  <a:rPr lang="en-US" altLang="zh-CN" sz="1250" dirty="0" smtClean="0"/>
                  <a:t>)      //Wait until finish</a:t>
                </a:r>
                <a:endParaRPr lang="en-US" altLang="zh-CN" sz="1250" dirty="0"/>
              </a:p>
              <a:p>
                <a:pPr marL="0" indent="0">
                  <a:buNone/>
                </a:pPr>
                <a:endParaRPr lang="en-US" altLang="zh-CN" sz="125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1250" dirty="0" smtClean="0">
                    <a:solidFill>
                      <a:srgbClr val="FF0000"/>
                    </a:solidFill>
                  </a:rPr>
                  <a:t>Notify Stage :</a:t>
                </a:r>
              </a:p>
              <a:p>
                <a:pPr marL="0" indent="0">
                  <a:buNone/>
                </a:pPr>
                <a:r>
                  <a:rPr lang="en-US" altLang="zh-CN" sz="1250" dirty="0" smtClean="0"/>
                  <a:t>Post </a:t>
                </a:r>
                <a:r>
                  <a:rPr lang="en-US" altLang="zh-CN" sz="1250" dirty="0" err="1" smtClean="0"/>
                  <a:t>MPI_Isend</a:t>
                </a:r>
                <a:r>
                  <a:rPr lang="en-US" altLang="zh-CN" sz="1250" dirty="0" smtClean="0"/>
                  <a:t>(</a:t>
                </a:r>
                <a:r>
                  <a:rPr lang="en-US" altLang="zh-CN" sz="1250" dirty="0" err="1" smtClean="0"/>
                  <a:t>compReq</a:t>
                </a:r>
                <a:r>
                  <a:rPr lang="en-US" altLang="zh-CN" sz="1250" dirty="0" smtClean="0"/>
                  <a:t>)     //Notification &amp;data size</a:t>
                </a:r>
              </a:p>
              <a:p>
                <a:pPr marL="0" indent="0">
                  <a:buNone/>
                </a:pPr>
                <a:r>
                  <a:rPr lang="en-US" altLang="zh-CN" sz="1250" dirty="0" smtClean="0"/>
                  <a:t>Post </a:t>
                </a:r>
                <a:r>
                  <a:rPr lang="en-US" altLang="zh-CN" sz="1250" dirty="0" err="1" smtClean="0"/>
                  <a:t>MPI_Isend</a:t>
                </a:r>
                <a:r>
                  <a:rPr lang="en-US" altLang="zh-CN" sz="1250" dirty="0" smtClean="0"/>
                  <a:t>(compReq+1) //Data</a:t>
                </a:r>
              </a:p>
              <a:p>
                <a:pPr marL="0" indent="0">
                  <a:buNone/>
                </a:pPr>
                <a:r>
                  <a:rPr lang="en-US" altLang="zh-CN" sz="1250" dirty="0" smtClean="0"/>
                  <a:t> Call </a:t>
                </a:r>
                <a:r>
                  <a:rPr lang="en-US" altLang="zh-CN" sz="1250" dirty="0" err="1" smtClean="0"/>
                  <a:t>RecvProc</a:t>
                </a:r>
                <a:r>
                  <a:rPr lang="en-US" altLang="zh-CN" sz="1250" dirty="0" smtClean="0"/>
                  <a:t>(2, </a:t>
                </a:r>
                <a:r>
                  <a:rPr lang="en-US" altLang="zh-CN" sz="1250" dirty="0" err="1" smtClean="0"/>
                  <a:t>compReq</a:t>
                </a:r>
                <a:r>
                  <a:rPr lang="en-US" altLang="zh-CN" sz="1250" dirty="0" smtClean="0"/>
                  <a:t>)    //Wait until finish</a:t>
                </a:r>
                <a:endParaRPr lang="en-US" altLang="zh-CN" sz="1250" dirty="0"/>
              </a:p>
            </p:txBody>
          </p:sp>
        </p:grpSp>
        <p:sp>
          <p:nvSpPr>
            <p:cNvPr id="367" name="TextBox 366"/>
            <p:cNvSpPr txBox="1"/>
            <p:nvPr/>
          </p:nvSpPr>
          <p:spPr>
            <a:xfrm>
              <a:off x="5697467" y="6500023"/>
              <a:ext cx="3152210" cy="36933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1800" dirty="0" smtClean="0"/>
                <a:t>边合并中的 </a:t>
              </a:r>
              <a:r>
                <a:rPr lang="en-US" altLang="zh-CN" sz="1800" dirty="0" smtClean="0"/>
                <a:t>SWAP</a:t>
              </a:r>
              <a:r>
                <a:rPr lang="zh-CN" altLang="en-US" sz="1800" dirty="0"/>
                <a:t>通讯</a:t>
              </a:r>
              <a:r>
                <a:rPr lang="zh-CN" altLang="en-US" sz="1800" dirty="0" smtClean="0"/>
                <a:t>优化</a:t>
              </a:r>
              <a:endParaRPr lang="zh-CN" altLang="en-US" sz="1800" dirty="0"/>
            </a:p>
          </p:txBody>
        </p:sp>
      </p:grpSp>
      <p:sp>
        <p:nvSpPr>
          <p:cNvPr id="392" name="内容占位符 2"/>
          <p:cNvSpPr txBox="1">
            <a:spLocks/>
          </p:cNvSpPr>
          <p:nvPr/>
        </p:nvSpPr>
        <p:spPr>
          <a:xfrm>
            <a:off x="418020" y="3114720"/>
            <a:ext cx="4650381" cy="32510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50" dirty="0" smtClean="0">
                <a:solidFill>
                  <a:srgbClr val="FF0000"/>
                </a:solidFill>
              </a:rPr>
              <a:t>Compute Routine</a:t>
            </a: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FF0000"/>
                </a:solidFill>
              </a:rPr>
              <a:t>Lock </a:t>
            </a:r>
            <a:r>
              <a:rPr lang="en-US" altLang="zh-CN" sz="1250" dirty="0">
                <a:solidFill>
                  <a:srgbClr val="FF0000"/>
                </a:solidFill>
              </a:rPr>
              <a:t>Stage :</a:t>
            </a:r>
          </a:p>
          <a:p>
            <a:pPr marL="0" indent="0">
              <a:buNone/>
            </a:pPr>
            <a:r>
              <a:rPr lang="en-US" altLang="zh-CN" sz="1250" dirty="0"/>
              <a:t>Post </a:t>
            </a:r>
            <a:r>
              <a:rPr lang="en-US" altLang="zh-CN" sz="1250" dirty="0" err="1"/>
              <a:t>MPI_Isend</a:t>
            </a:r>
            <a:r>
              <a:rPr lang="en-US" altLang="zh-CN" sz="1250" dirty="0"/>
              <a:t>(</a:t>
            </a:r>
            <a:r>
              <a:rPr lang="en-US" altLang="zh-CN" sz="1250" dirty="0" err="1"/>
              <a:t>compReq</a:t>
            </a:r>
            <a:r>
              <a:rPr lang="en-US" altLang="zh-CN" sz="1250" dirty="0" smtClean="0"/>
              <a:t>)          //Lock</a:t>
            </a:r>
            <a:endParaRPr lang="en-US" altLang="zh-CN" sz="1250" dirty="0"/>
          </a:p>
          <a:p>
            <a:pPr marL="0" indent="0">
              <a:buNone/>
            </a:pPr>
            <a:r>
              <a:rPr lang="en-US" altLang="zh-CN" sz="1250" dirty="0"/>
              <a:t>Post </a:t>
            </a:r>
            <a:r>
              <a:rPr lang="en-US" altLang="zh-CN" sz="1250" dirty="0" err="1" smtClean="0"/>
              <a:t>MPI_Irecv</a:t>
            </a:r>
            <a:r>
              <a:rPr lang="en-US" altLang="zh-CN" sz="1250" dirty="0" smtClean="0"/>
              <a:t>(compReq+1)       //Lock Reply</a:t>
            </a: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MPI_Isend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(compReq+2)</a:t>
            </a: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MPI_Irecv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(compReq+3)</a:t>
            </a:r>
            <a:endParaRPr lang="en-US" altLang="zh-CN" sz="125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1250" dirty="0"/>
              <a:t>Call </a:t>
            </a:r>
            <a:r>
              <a:rPr lang="en-US" altLang="zh-CN" sz="1250" dirty="0" err="1" smtClean="0"/>
              <a:t>RecvProc</a:t>
            </a:r>
            <a:r>
              <a:rPr lang="en-US" altLang="zh-CN" sz="1250" dirty="0" smtClean="0"/>
              <a:t>(4, </a:t>
            </a:r>
            <a:r>
              <a:rPr lang="en-US" altLang="zh-CN" sz="1250" dirty="0" err="1"/>
              <a:t>compReq</a:t>
            </a:r>
            <a:r>
              <a:rPr lang="en-US" altLang="zh-CN" sz="1250" dirty="0" smtClean="0"/>
              <a:t>)      //Wait until finish</a:t>
            </a:r>
            <a:endParaRPr lang="en-US" altLang="zh-CN" sz="1250" dirty="0"/>
          </a:p>
          <a:p>
            <a:pPr marL="0" indent="0">
              <a:buNone/>
            </a:pPr>
            <a:endParaRPr lang="en-US" altLang="zh-CN" sz="125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250" dirty="0" smtClean="0">
                <a:solidFill>
                  <a:srgbClr val="FF0000"/>
                </a:solidFill>
              </a:rPr>
              <a:t>Notify Stage :</a:t>
            </a:r>
          </a:p>
          <a:p>
            <a:pPr marL="0" indent="0">
              <a:buNone/>
            </a:pPr>
            <a:r>
              <a:rPr lang="en-US" altLang="zh-CN" sz="1250" dirty="0" smtClean="0"/>
              <a:t>Post </a:t>
            </a:r>
            <a:r>
              <a:rPr lang="en-US" altLang="zh-CN" sz="1250" dirty="0" err="1" smtClean="0"/>
              <a:t>MPI_Isend</a:t>
            </a:r>
            <a:r>
              <a:rPr lang="en-US" altLang="zh-CN" sz="1250" dirty="0" smtClean="0"/>
              <a:t>(</a:t>
            </a:r>
            <a:r>
              <a:rPr lang="en-US" altLang="zh-CN" sz="1250" dirty="0" err="1" smtClean="0"/>
              <a:t>compReq</a:t>
            </a:r>
            <a:r>
              <a:rPr lang="en-US" altLang="zh-CN" sz="1250" dirty="0" smtClean="0"/>
              <a:t>)     //Notification &amp;data size</a:t>
            </a:r>
          </a:p>
          <a:p>
            <a:pPr marL="0" indent="0">
              <a:buNone/>
            </a:pPr>
            <a:r>
              <a:rPr lang="en-US" altLang="zh-CN" sz="1250" dirty="0" smtClean="0"/>
              <a:t>Post </a:t>
            </a:r>
            <a:r>
              <a:rPr lang="en-US" altLang="zh-CN" sz="1250" dirty="0" err="1" smtClean="0"/>
              <a:t>MPI_Isend</a:t>
            </a:r>
            <a:r>
              <a:rPr lang="en-US" altLang="zh-CN" sz="1250" dirty="0" smtClean="0"/>
              <a:t>(compReq+1) //Data</a:t>
            </a:r>
          </a:p>
          <a:p>
            <a:pPr marL="0" indent="0">
              <a:buNone/>
            </a:pPr>
            <a:r>
              <a:rPr lang="en-US" altLang="zh-CN" sz="1250" dirty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MPI_Isend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(compReq+2)</a:t>
            </a:r>
            <a:endParaRPr lang="en-US" altLang="zh-CN" sz="125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1250" dirty="0">
                <a:solidFill>
                  <a:srgbClr val="0070C0"/>
                </a:solidFill>
              </a:rPr>
              <a:t>Post </a:t>
            </a:r>
            <a:r>
              <a:rPr lang="en-US" altLang="zh-CN" sz="1250" dirty="0" err="1" smtClean="0">
                <a:solidFill>
                  <a:srgbClr val="0070C0"/>
                </a:solidFill>
              </a:rPr>
              <a:t>MPI_Isend</a:t>
            </a:r>
            <a:r>
              <a:rPr lang="en-US" altLang="zh-CN" sz="1250" dirty="0" smtClean="0">
                <a:solidFill>
                  <a:srgbClr val="0070C0"/>
                </a:solidFill>
              </a:rPr>
              <a:t>(compReq+3) </a:t>
            </a:r>
          </a:p>
          <a:p>
            <a:pPr marL="0" indent="0">
              <a:buNone/>
            </a:pPr>
            <a:r>
              <a:rPr lang="en-US" altLang="zh-CN" sz="1250" dirty="0" smtClean="0"/>
              <a:t>Call </a:t>
            </a:r>
            <a:r>
              <a:rPr lang="en-US" altLang="zh-CN" sz="1250" dirty="0" err="1" smtClean="0"/>
              <a:t>RecvProc</a:t>
            </a:r>
            <a:r>
              <a:rPr lang="en-US" altLang="zh-CN" sz="1250" dirty="0" smtClean="0"/>
              <a:t>(4, </a:t>
            </a:r>
            <a:r>
              <a:rPr lang="en-US" altLang="zh-CN" sz="1250" dirty="0" err="1" smtClean="0"/>
              <a:t>compReq</a:t>
            </a:r>
            <a:r>
              <a:rPr lang="en-US" altLang="zh-CN" sz="1250" dirty="0" smtClean="0"/>
              <a:t>)    //Wait until finish</a:t>
            </a:r>
            <a:endParaRPr lang="en-US" altLang="zh-CN" sz="1250" dirty="0"/>
          </a:p>
        </p:txBody>
      </p:sp>
      <p:sp>
        <p:nvSpPr>
          <p:cNvPr id="12" name="矩形 11"/>
          <p:cNvSpPr/>
          <p:nvPr/>
        </p:nvSpPr>
        <p:spPr>
          <a:xfrm>
            <a:off x="152901" y="4872683"/>
            <a:ext cx="8707265" cy="196361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 smtClean="0"/>
              <a:t>相关论文：</a:t>
            </a:r>
            <a:endParaRPr lang="en-US" altLang="zh-CN" sz="16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 2: Scalable Genome Assembler towards Millions of Cores - Practice and Experience, </a:t>
            </a:r>
            <a:r>
              <a:rPr lang="en-US" altLang="zh-CN" sz="1600" dirty="0" smtClean="0"/>
              <a:t>ANL Technique </a:t>
            </a:r>
            <a:r>
              <a:rPr lang="en-US" altLang="zh-CN" sz="1600" dirty="0"/>
              <a:t>report, 2014 </a:t>
            </a:r>
            <a:endParaRPr lang="en-US" altLang="zh-CN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A Highly Scalable List Ranking Algorithm on </a:t>
            </a:r>
            <a:r>
              <a:rPr lang="en-US" altLang="zh-CN" sz="1600" dirty="0" err="1"/>
              <a:t>Pregel</a:t>
            </a:r>
            <a:r>
              <a:rPr lang="en-US" altLang="zh-CN" sz="1600" dirty="0"/>
              <a:t> framework,  Submitted to Concurrency and Computation: Practice and Experience</a:t>
            </a:r>
            <a:r>
              <a:rPr lang="en-US" altLang="zh-CN" sz="1600" dirty="0" smtClean="0"/>
              <a:t>. (JCR 2</a:t>
            </a:r>
            <a:r>
              <a:rPr lang="zh-CN" altLang="en-US" sz="1600" dirty="0" smtClean="0"/>
              <a:t>区</a:t>
            </a:r>
            <a:r>
              <a:rPr lang="en-US" altLang="zh-CN" sz="1600" dirty="0" smtClean="0"/>
              <a:t>, IF=0.784)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Li </a:t>
            </a:r>
            <a:r>
              <a:rPr lang="en-US" altLang="zh-CN" sz="1600" dirty="0" err="1"/>
              <a:t>Zeng</a:t>
            </a:r>
            <a:r>
              <a:rPr lang="en-US" altLang="zh-CN" sz="1600" dirty="0"/>
              <a:t>, etc. Improved Parallel Processing of Massive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 for Genome Assembly, </a:t>
            </a:r>
            <a:r>
              <a:rPr lang="en-US" altLang="zh-CN" sz="1600" dirty="0" err="1"/>
              <a:t>APWeb</a:t>
            </a:r>
            <a:r>
              <a:rPr lang="en-US" altLang="zh-CN" sz="1600" dirty="0"/>
              <a:t> 2013, 2013 </a:t>
            </a:r>
            <a:r>
              <a:rPr lang="en-US" altLang="zh-CN" sz="1600" dirty="0" smtClean="0"/>
              <a:t>(CCF </a:t>
            </a:r>
            <a:r>
              <a:rPr lang="zh-CN" altLang="en-US" sz="1600" dirty="0" smtClean="0"/>
              <a:t>推荐会议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区</a:t>
            </a:r>
            <a:r>
              <a:rPr lang="en-US" altLang="zh-CN" sz="16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030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" grpId="0" animBg="1"/>
      <p:bldP spid="392" grpId="1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拟采取的技术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方案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高质量</a:t>
            </a:r>
          </a:p>
        </p:txBody>
      </p:sp>
      <p:sp>
        <p:nvSpPr>
          <p:cNvPr id="5" name="Content Placeholder 2"/>
          <p:cNvSpPr>
            <a:spLocks/>
          </p:cNvSpPr>
          <p:nvPr/>
        </p:nvSpPr>
        <p:spPr bwMode="auto">
          <a:xfrm>
            <a:off x="296863" y="1268413"/>
            <a:ext cx="8190572" cy="283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dirty="0" smtClean="0"/>
              <a:t>高</a:t>
            </a:r>
            <a:r>
              <a:rPr lang="zh-CN" altLang="en-US" sz="2400" dirty="0"/>
              <a:t>质量</a:t>
            </a:r>
            <a:r>
              <a:rPr lang="zh-CN" altLang="en-US" sz="2400" dirty="0" smtClean="0"/>
              <a:t>   </a:t>
            </a:r>
            <a:r>
              <a:rPr lang="en-US" altLang="zh-CN" sz="2400" dirty="0" smtClean="0"/>
              <a:t>(</a:t>
            </a:r>
            <a:r>
              <a:rPr lang="zh-CN" altLang="en-US" sz="2400" dirty="0" smtClean="0">
                <a:solidFill>
                  <a:srgbClr val="669900"/>
                </a:solidFill>
              </a:rPr>
              <a:t>目标：高质量高精度</a:t>
            </a:r>
            <a:r>
              <a:rPr lang="en-US" altLang="zh-CN" sz="2400" dirty="0" smtClean="0"/>
              <a:t>)</a:t>
            </a:r>
            <a:endParaRPr lang="en-US" altLang="zh-CN" sz="2400" dirty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延长</a:t>
            </a: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长度</a:t>
            </a:r>
            <a:r>
              <a:rPr lang="en-US" altLang="zh-CN" sz="2000" dirty="0" smtClean="0"/>
              <a:t>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-&gt;</a:t>
            </a:r>
            <a:r>
              <a:rPr lang="en-US" altLang="zh-CN" sz="2000" dirty="0" smtClean="0"/>
              <a:t>   </a:t>
            </a:r>
            <a:r>
              <a:rPr lang="zh-CN" altLang="en-US" sz="2000" dirty="0" smtClean="0"/>
              <a:t>基于覆盖度的启发式</a:t>
            </a: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扩展算法</a:t>
            </a:r>
            <a:endParaRPr lang="en-US" altLang="zh-CN" sz="2000" b="1" dirty="0" smtClean="0">
              <a:solidFill>
                <a:srgbClr val="3333CC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常规策略：</a:t>
            </a:r>
            <a:r>
              <a:rPr lang="en-US" altLang="zh-CN" sz="2000" dirty="0" smtClean="0">
                <a:solidFill>
                  <a:srgbClr val="FF0000"/>
                </a:solidFill>
              </a:rPr>
              <a:t>Tip, Bubble, and Multiple Edge removal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</a:rPr>
              <a:t>MSG</a:t>
            </a:r>
            <a:r>
              <a:rPr lang="zh-CN" altLang="en-US" sz="2000" dirty="0" smtClean="0">
                <a:solidFill>
                  <a:srgbClr val="FF0000"/>
                </a:solidFill>
              </a:rPr>
              <a:t>特有策略：交叉顶点解耦，虚交叉顶点解耦</a:t>
            </a:r>
            <a:endParaRPr lang="en-US" altLang="zh-CN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zh-CN" altLang="en-US" sz="2000" dirty="0" smtClean="0"/>
              <a:t>保证</a:t>
            </a:r>
            <a:r>
              <a:rPr lang="en-US" altLang="zh-CN" sz="2000" dirty="0" err="1" smtClean="0"/>
              <a:t>Contig</a:t>
            </a:r>
            <a:r>
              <a:rPr lang="zh-CN" altLang="en-US" sz="2000" dirty="0" smtClean="0"/>
              <a:t>精度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smtClean="0"/>
              <a:t>&gt;   </a:t>
            </a:r>
            <a:r>
              <a:rPr lang="zh-CN" altLang="en-US" sz="2000" dirty="0" smtClean="0"/>
              <a:t>基于变长</a:t>
            </a:r>
            <a:r>
              <a:rPr lang="en-US" altLang="zh-CN" sz="2000" dirty="0" err="1" smtClean="0"/>
              <a:t>kmer</a:t>
            </a:r>
            <a:r>
              <a:rPr lang="zh-CN" altLang="en-US" sz="2000" dirty="0" smtClean="0"/>
              <a:t>分支节点解耦算法</a:t>
            </a:r>
            <a:endParaRPr lang="en-US" altLang="zh-CN" sz="2000" b="1" dirty="0" smtClean="0">
              <a:solidFill>
                <a:srgbClr val="3333CC"/>
              </a:solidFill>
            </a:endParaRP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常规策略：穷举所有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kmer</a:t>
            </a:r>
            <a:r>
              <a:rPr lang="zh-CN" altLang="en-US" sz="2000" dirty="0" smtClean="0">
                <a:solidFill>
                  <a:srgbClr val="FF0000"/>
                </a:solidFill>
              </a:rPr>
              <a:t>长度后</a:t>
            </a:r>
            <a:r>
              <a:rPr lang="zh-CN" altLang="en-US" sz="2000" dirty="0">
                <a:solidFill>
                  <a:srgbClr val="FF0000"/>
                </a:solidFill>
              </a:rPr>
              <a:t>再</a:t>
            </a:r>
            <a:r>
              <a:rPr lang="zh-CN" altLang="en-US" sz="2000" dirty="0" smtClean="0">
                <a:solidFill>
                  <a:srgbClr val="FF0000"/>
                </a:solidFill>
              </a:rPr>
              <a:t>融合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contig</a:t>
            </a:r>
            <a:r>
              <a:rPr lang="en-US" altLang="zh-CN" sz="2000" dirty="0" smtClean="0">
                <a:solidFill>
                  <a:srgbClr val="FF0000"/>
                </a:solidFill>
              </a:rPr>
              <a:t>.</a:t>
            </a:r>
          </a:p>
          <a:p>
            <a:pPr marL="1200150" lvl="2" indent="-285750">
              <a:buFont typeface="Arial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通过变长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kmer</a:t>
            </a:r>
            <a:r>
              <a:rPr lang="zh-CN" altLang="en-US" sz="2000" dirty="0" smtClean="0">
                <a:solidFill>
                  <a:srgbClr val="FF0000"/>
                </a:solidFill>
              </a:rPr>
              <a:t>恢复定长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kmer</a:t>
            </a:r>
            <a:r>
              <a:rPr lang="zh-CN" altLang="en-US" sz="2000" dirty="0" smtClean="0">
                <a:solidFill>
                  <a:srgbClr val="FF0000"/>
                </a:solidFill>
              </a:rPr>
              <a:t>缺失信息  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</a:rPr>
              <a:t>可并行，问题规模小</a:t>
            </a:r>
            <a:r>
              <a:rPr lang="en-US" altLang="zh-CN" sz="2000" dirty="0" smtClean="0">
                <a:solidFill>
                  <a:srgbClr val="FF0000"/>
                </a:solidFill>
              </a:rPr>
              <a:t>)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98" y="3974485"/>
            <a:ext cx="4200170" cy="2483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500" y="3974485"/>
            <a:ext cx="4637221" cy="255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22050" y="6457890"/>
            <a:ext cx="327061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/>
              <a:t>变长</a:t>
            </a:r>
            <a:r>
              <a:rPr lang="en-US" altLang="zh-CN" sz="2000" dirty="0" err="1"/>
              <a:t>kmer</a:t>
            </a:r>
            <a:r>
              <a:rPr lang="zh-CN" altLang="en-US" sz="2000" dirty="0"/>
              <a:t>分支节点</a:t>
            </a:r>
            <a:r>
              <a:rPr lang="zh-CN" altLang="en-US" sz="2000" dirty="0" smtClean="0"/>
              <a:t>解耦算法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51198" y="6444335"/>
            <a:ext cx="406076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/>
              <a:t>基于覆盖度启发式</a:t>
            </a:r>
            <a:r>
              <a:rPr lang="en-US" altLang="zh-CN" sz="2000" dirty="0" err="1" smtClean="0"/>
              <a:t>Contig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扩展算法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72610" y="4059070"/>
            <a:ext cx="8707265" cy="27515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 smtClean="0"/>
              <a:t>部分相关论文</a:t>
            </a:r>
            <a:r>
              <a:rPr lang="en-US" altLang="zh-CN" sz="1600" b="1" dirty="0" smtClean="0"/>
              <a:t>:</a:t>
            </a:r>
          </a:p>
          <a:p>
            <a:pPr marL="342900" indent="-342900"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SWAP-Assembler: Scalable and Efficient Genome Assembly towards Thousands of Cores, BMC </a:t>
            </a:r>
            <a:r>
              <a:rPr lang="en-US" altLang="zh-CN" sz="1600" dirty="0" smtClean="0"/>
              <a:t>Bioinformatics,2014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</a:t>
            </a:r>
            <a:r>
              <a:rPr lang="en-US" altLang="zh-CN" sz="1600" dirty="0" err="1"/>
              <a:t>DGraph</a:t>
            </a:r>
            <a:r>
              <a:rPr lang="en-US" altLang="zh-CN" sz="1600" dirty="0"/>
              <a:t>: Algorithms for </a:t>
            </a:r>
            <a:r>
              <a:rPr lang="en-US" altLang="zh-CN" sz="1600" dirty="0" err="1"/>
              <a:t>Shortgun</a:t>
            </a:r>
            <a:r>
              <a:rPr lang="en-US" altLang="zh-CN" sz="1600" dirty="0"/>
              <a:t> Reads Assembly Using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Graph, in 9th IFIP International Conference on Network and Parallel Computing (NPC 2012), Sep.6, </a:t>
            </a:r>
            <a:r>
              <a:rPr lang="en-US" altLang="zh-CN" sz="1600" dirty="0" err="1"/>
              <a:t>Gwangju</a:t>
            </a:r>
            <a:r>
              <a:rPr lang="en-US" altLang="zh-CN" sz="1600" dirty="0"/>
              <a:t>, Korea</a:t>
            </a:r>
          </a:p>
          <a:p>
            <a:pPr marL="342900" indent="-342900">
              <a:buAutoNum type="arabicPeriod"/>
            </a:pPr>
            <a:r>
              <a:rPr lang="en-US" altLang="zh-CN" sz="1600" dirty="0"/>
              <a:t>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smtClean="0"/>
              <a:t>etc</a:t>
            </a:r>
            <a:r>
              <a:rPr lang="en-US" altLang="zh-CN" sz="1600" dirty="0"/>
              <a:t>. Gene and Disease Association Study with </a:t>
            </a:r>
            <a:r>
              <a:rPr lang="en-US" altLang="zh-CN" sz="1600" dirty="0" err="1"/>
              <a:t>Metagenomics</a:t>
            </a:r>
            <a:r>
              <a:rPr lang="en-US" altLang="zh-CN" sz="1600" dirty="0"/>
              <a:t> Assembling Tool: SWAP-Meta, e-Science Technology &amp; Application, </a:t>
            </a:r>
            <a:r>
              <a:rPr lang="en-US" altLang="zh-CN" sz="1600" dirty="0" smtClean="0"/>
              <a:t>2014</a:t>
            </a:r>
            <a:endParaRPr lang="en-US" altLang="zh-CN" sz="1600" dirty="0"/>
          </a:p>
          <a:p>
            <a:pPr marL="342900" indent="-342900">
              <a:buAutoNum type="arabicPeriod"/>
            </a:pPr>
            <a:r>
              <a:rPr lang="en-US" altLang="zh-CN" sz="1600" dirty="0" smtClean="0"/>
              <a:t>Jintao </a:t>
            </a:r>
            <a:r>
              <a:rPr lang="en-US" altLang="zh-CN" sz="1600" dirty="0" err="1" smtClean="0"/>
              <a:t>Meng</a:t>
            </a:r>
            <a:r>
              <a:rPr lang="en-US" altLang="zh-CN" sz="1600" dirty="0" smtClean="0"/>
              <a:t>, etc</a:t>
            </a:r>
            <a:r>
              <a:rPr lang="en-US" altLang="zh-CN" sz="1600" dirty="0"/>
              <a:t>. The Analysis of De Novo Genome Assembly Software Based on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Graph, e-Science Technology &amp; Application, </a:t>
            </a:r>
            <a:r>
              <a:rPr lang="en-US" altLang="zh-CN" sz="1600" dirty="0" smtClean="0"/>
              <a:t>2013.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88647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扩展性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SC</a:t>
            </a:r>
            <a:r>
              <a:rPr lang="zh-CN" altLang="en-US" sz="36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工作比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较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36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Content Placeholder 2"/>
          <p:cNvSpPr>
            <a:spLocks/>
          </p:cNvSpPr>
          <p:nvPr/>
        </p:nvSpPr>
        <p:spPr bwMode="auto">
          <a:xfrm>
            <a:off x="296863" y="1268413"/>
            <a:ext cx="8595617" cy="49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800" dirty="0" smtClean="0">
                <a:solidFill>
                  <a:prstClr val="black"/>
                </a:solidFill>
              </a:rPr>
              <a:t>SWAP </a:t>
            </a:r>
            <a:r>
              <a:rPr lang="zh-CN" altLang="en-US" sz="2800" dirty="0" smtClean="0">
                <a:solidFill>
                  <a:prstClr val="black"/>
                </a:solidFill>
              </a:rPr>
              <a:t>组装炎黄</a:t>
            </a:r>
            <a:r>
              <a:rPr lang="zh-CN" altLang="en-US" sz="2800" dirty="0">
                <a:solidFill>
                  <a:prstClr val="black"/>
                </a:solidFill>
              </a:rPr>
              <a:t>基因组</a:t>
            </a:r>
            <a:r>
              <a:rPr lang="zh-CN" altLang="en-US" sz="2800" dirty="0" smtClean="0">
                <a:solidFill>
                  <a:prstClr val="black"/>
                </a:solidFill>
              </a:rPr>
              <a:t>，</a:t>
            </a:r>
            <a:r>
              <a:rPr lang="en-US" altLang="zh-CN" sz="2800" dirty="0" err="1" smtClean="0">
                <a:solidFill>
                  <a:prstClr val="black"/>
                </a:solidFill>
              </a:rPr>
              <a:t>kmer</a:t>
            </a:r>
            <a:r>
              <a:rPr lang="zh-CN" altLang="en-US" sz="2800" dirty="0">
                <a:solidFill>
                  <a:prstClr val="black"/>
                </a:solidFill>
              </a:rPr>
              <a:t>统计和图</a:t>
            </a:r>
            <a:r>
              <a:rPr lang="zh-CN" altLang="en-US" sz="2800" dirty="0" smtClean="0">
                <a:solidFill>
                  <a:prstClr val="black"/>
                </a:solidFill>
              </a:rPr>
              <a:t>简化并行效率</a:t>
            </a:r>
            <a:endParaRPr lang="en-US" altLang="zh-CN" sz="2400" dirty="0" smtClean="0">
              <a:solidFill>
                <a:prstClr val="black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>
                <a:solidFill>
                  <a:prstClr val="black"/>
                </a:solidFill>
              </a:rPr>
              <a:t>SWAP 2:    8,192</a:t>
            </a:r>
            <a:r>
              <a:rPr lang="zh-CN" altLang="en-US" sz="2400" dirty="0" smtClean="0">
                <a:solidFill>
                  <a:prstClr val="black"/>
                </a:solidFill>
              </a:rPr>
              <a:t>核</a:t>
            </a:r>
            <a:r>
              <a:rPr lang="en-US" altLang="zh-CN" sz="2400" dirty="0" smtClean="0">
                <a:solidFill>
                  <a:prstClr val="black"/>
                </a:solidFill>
              </a:rPr>
              <a:t>82.4%, 16,384</a:t>
            </a:r>
            <a:r>
              <a:rPr lang="zh-CN" altLang="en-US" sz="2400" dirty="0" smtClean="0">
                <a:solidFill>
                  <a:prstClr val="black"/>
                </a:solidFill>
              </a:rPr>
              <a:t>核</a:t>
            </a:r>
            <a:r>
              <a:rPr lang="en-US" altLang="zh-CN" sz="2400" dirty="0" smtClean="0">
                <a:solidFill>
                  <a:prstClr val="black"/>
                </a:solidFill>
              </a:rPr>
              <a:t>79.7%</a:t>
            </a:r>
            <a:r>
              <a:rPr lang="zh-CN" altLang="en-US" sz="2400" dirty="0" smtClean="0">
                <a:solidFill>
                  <a:prstClr val="black"/>
                </a:solidFill>
              </a:rPr>
              <a:t>， </a:t>
            </a:r>
            <a:r>
              <a:rPr lang="en-US" altLang="zh-CN" sz="2400" dirty="0" smtClean="0">
                <a:solidFill>
                  <a:prstClr val="black"/>
                </a:solidFill>
              </a:rPr>
              <a:t>32</a:t>
            </a:r>
            <a:r>
              <a:rPr lang="en-US" altLang="zh-CN" sz="2400" dirty="0">
                <a:solidFill>
                  <a:prstClr val="black"/>
                </a:solidFill>
              </a:rPr>
              <a:t>,</a:t>
            </a:r>
            <a:r>
              <a:rPr lang="en-US" altLang="zh-CN" sz="2400" dirty="0" smtClean="0">
                <a:solidFill>
                  <a:prstClr val="black"/>
                </a:solidFill>
              </a:rPr>
              <a:t>768</a:t>
            </a:r>
            <a:r>
              <a:rPr lang="zh-CN" altLang="en-US" sz="2400" dirty="0" smtClean="0">
                <a:solidFill>
                  <a:prstClr val="black"/>
                </a:solidFill>
              </a:rPr>
              <a:t>核</a:t>
            </a:r>
            <a:r>
              <a:rPr lang="en-US" altLang="zh-CN" sz="2400" dirty="0" smtClean="0">
                <a:solidFill>
                  <a:prstClr val="black"/>
                </a:solidFill>
              </a:rPr>
              <a:t>70.7%.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400" dirty="0" smtClean="0"/>
              <a:t>SC 2014:   7,680</a:t>
            </a:r>
            <a:r>
              <a:rPr lang="zh-CN" altLang="en-US" sz="2400" dirty="0" smtClean="0"/>
              <a:t>核</a:t>
            </a:r>
            <a:r>
              <a:rPr lang="en-US" altLang="zh-CN" sz="2400" dirty="0" smtClean="0"/>
              <a:t>70%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671" y="3203975"/>
            <a:ext cx="4640492" cy="306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44608" y="6273225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SWAP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057165" y="6273225"/>
            <a:ext cx="1519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SC 2014</a:t>
            </a:r>
            <a:endParaRPr lang="zh-CN" altLang="en-US" dirty="0"/>
          </a:p>
        </p:txBody>
      </p:sp>
      <p:graphicFrame>
        <p:nvGraphicFramePr>
          <p:cNvPr id="8" name="图表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933609"/>
              </p:ext>
            </p:extLst>
          </p:nvPr>
        </p:nvGraphicFramePr>
        <p:xfrm>
          <a:off x="0" y="3036314"/>
          <a:ext cx="5157065" cy="339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/>
          <p:cNvSpPr/>
          <p:nvPr/>
        </p:nvSpPr>
        <p:spPr>
          <a:xfrm>
            <a:off x="170431" y="6285859"/>
            <a:ext cx="8707265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 smtClean="0"/>
              <a:t>1. Jintao </a:t>
            </a:r>
            <a:r>
              <a:rPr lang="en-US" altLang="zh-CN" sz="1600" dirty="0" err="1"/>
              <a:t>Meng</a:t>
            </a:r>
            <a:r>
              <a:rPr lang="en-US" altLang="zh-CN" sz="1600" dirty="0"/>
              <a:t>, etc. SWAP-Assembler 2: Scalable Genome Assembler towards Millions of Cores - Practice and Experience, Technique report, 2014 </a:t>
            </a:r>
          </a:p>
        </p:txBody>
      </p:sp>
    </p:spTree>
    <p:extLst>
      <p:ext uri="{BB962C8B-B14F-4D97-AF65-F5344CB8AC3E}">
        <p14:creationId xmlns:p14="http://schemas.microsoft.com/office/powerpoint/2010/main" val="357003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84175" cy="365125"/>
          </a:xfrm>
        </p:spPr>
        <p:txBody>
          <a:bodyPr/>
          <a:lstStyle/>
          <a:p>
            <a:fld id="{87034D8C-3CB4-402A-BC46-2AB14C0FE90A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4" name="图表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514266"/>
              </p:ext>
            </p:extLst>
          </p:nvPr>
        </p:nvGraphicFramePr>
        <p:xfrm>
          <a:off x="311933" y="2725698"/>
          <a:ext cx="8458200" cy="4026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>
          <a:xfrm>
            <a:off x="533399" y="1371600"/>
            <a:ext cx="8470729" cy="10672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千人</a:t>
            </a:r>
            <a:r>
              <a:rPr lang="zh-CN" altLang="en-US" sz="2000" dirty="0" smtClean="0"/>
              <a:t>基因组的数据</a:t>
            </a:r>
            <a:r>
              <a:rPr lang="en-US" altLang="zh-CN" sz="2000" dirty="0" smtClean="0"/>
              <a:t> (4TB</a:t>
            </a:r>
            <a:r>
              <a:rPr lang="en-US" altLang="zh-CN" sz="2000" dirty="0"/>
              <a:t>, 500</a:t>
            </a:r>
            <a:r>
              <a:rPr lang="zh-CN" altLang="en-US" sz="2000" dirty="0"/>
              <a:t>亿</a:t>
            </a:r>
            <a:r>
              <a:rPr lang="zh-CN" altLang="en-US" sz="2000" dirty="0" smtClean="0"/>
              <a:t>序列， 总计</a:t>
            </a:r>
            <a:r>
              <a:rPr lang="en-US" altLang="zh-CN" sz="2000" dirty="0" smtClean="0"/>
              <a:t>400TB</a:t>
            </a:r>
            <a:r>
              <a:rPr lang="zh-CN" altLang="en-US" sz="2000" dirty="0" smtClean="0"/>
              <a:t>， 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千亿序列</a:t>
            </a:r>
            <a:r>
              <a:rPr lang="en-US" altLang="zh-CN" sz="2000" dirty="0" smtClean="0"/>
              <a:t>)</a:t>
            </a:r>
          </a:p>
          <a:p>
            <a:r>
              <a:rPr lang="en-US" altLang="zh-CN" sz="2000" dirty="0" smtClean="0"/>
              <a:t>SWAP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256k</a:t>
            </a:r>
            <a:r>
              <a:rPr lang="zh-CN" altLang="en-US" sz="2000" dirty="0" smtClean="0"/>
              <a:t>核心上的系统效率是</a:t>
            </a:r>
            <a:r>
              <a:rPr lang="en-US" altLang="zh-CN" sz="2000" b="1" dirty="0" smtClean="0"/>
              <a:t>27.5%</a:t>
            </a:r>
            <a:r>
              <a:rPr lang="en-US" altLang="zh-CN" sz="2000" dirty="0" smtClean="0"/>
              <a:t>. (SWAP 2, JT </a:t>
            </a:r>
            <a:r>
              <a:rPr lang="en-US" altLang="zh-CN" sz="2000" dirty="0" err="1" smtClean="0"/>
              <a:t>Meng</a:t>
            </a:r>
            <a:r>
              <a:rPr lang="en-US" altLang="zh-CN" sz="2000" dirty="0" smtClean="0"/>
              <a:t>)</a:t>
            </a:r>
          </a:p>
          <a:p>
            <a:r>
              <a:rPr lang="zh-CN" altLang="en-US" sz="2000" dirty="0" smtClean="0">
                <a:solidFill>
                  <a:srgbClr val="FF0000"/>
                </a:solidFill>
              </a:rPr>
              <a:t>数据</a:t>
            </a:r>
            <a:r>
              <a:rPr lang="en-US" altLang="zh-CN" sz="2000" dirty="0" smtClean="0">
                <a:solidFill>
                  <a:srgbClr val="FF0000"/>
                </a:solidFill>
              </a:rPr>
              <a:t>I/O</a:t>
            </a:r>
            <a:r>
              <a:rPr lang="zh-CN" altLang="en-US" sz="2000" dirty="0" smtClean="0">
                <a:solidFill>
                  <a:srgbClr val="FF0000"/>
                </a:solidFill>
              </a:rPr>
              <a:t>占比比较大，图构建和图简化部分时间占比在扩大</a:t>
            </a:r>
            <a:endParaRPr lang="en-US" altLang="zh-CN" sz="1800" dirty="0" smtClean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51667" y="64447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/>
              <a:t>核心数量</a:t>
            </a:r>
            <a:endParaRPr lang="zh-CN" alt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971600" y="295653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各</a:t>
            </a:r>
            <a:r>
              <a:rPr lang="zh-CN" altLang="en-US" sz="1800" dirty="0" smtClean="0"/>
              <a:t>步骤时间消耗占比</a:t>
            </a:r>
            <a:endParaRPr lang="zh-CN" alt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6352423" y="28641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/>
              <a:t>加速比</a:t>
            </a:r>
            <a:endParaRPr lang="zh-CN" altLang="en-US" sz="1800" dirty="0"/>
          </a:p>
        </p:txBody>
      </p:sp>
      <p:sp>
        <p:nvSpPr>
          <p:cNvPr id="9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扩展性 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67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368467"/>
            <a:ext cx="4275475" cy="548953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/>
              <a:t>I/O </a:t>
            </a:r>
            <a:r>
              <a:rPr lang="zh-CN" altLang="en-US" sz="2400" dirty="0" smtClean="0"/>
              <a:t>优化</a:t>
            </a:r>
            <a:endParaRPr lang="en-US" altLang="zh-CN" sz="2400" dirty="0" smtClean="0"/>
          </a:p>
          <a:p>
            <a:r>
              <a:rPr lang="en-US" altLang="zh-CN" sz="1800" dirty="0" smtClean="0"/>
              <a:t>0.3GiB/s/rack  (SWAP, JT </a:t>
            </a:r>
            <a:r>
              <a:rPr lang="en-US" altLang="zh-CN" sz="1800" dirty="0" err="1" smtClean="0"/>
              <a:t>Meng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smtClean="0">
                <a:solidFill>
                  <a:srgbClr val="3333CC"/>
                </a:solidFill>
              </a:rPr>
              <a:t>4.7GiB/s/rack  (SWAP2, JT </a:t>
            </a:r>
            <a:r>
              <a:rPr lang="en-US" altLang="zh-CN" sz="1800" dirty="0" err="1" smtClean="0">
                <a:solidFill>
                  <a:srgbClr val="3333CC"/>
                </a:solidFill>
              </a:rPr>
              <a:t>Meng</a:t>
            </a:r>
            <a:r>
              <a:rPr lang="en-US" altLang="zh-CN" sz="1800" dirty="0" smtClean="0">
                <a:solidFill>
                  <a:srgbClr val="3333CC"/>
                </a:solidFill>
              </a:rPr>
              <a:t>) </a:t>
            </a:r>
          </a:p>
          <a:p>
            <a:r>
              <a:rPr lang="en-US" altLang="zh-CN" sz="1800" dirty="0"/>
              <a:t>5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GiB</a:t>
            </a:r>
            <a:r>
              <a:rPr lang="en-US" altLang="zh-CN" sz="1800" dirty="0" smtClean="0"/>
              <a:t>/s/rack    (</a:t>
            </a:r>
            <a:r>
              <a:rPr lang="en-US" altLang="zh-CN" sz="1800" dirty="0"/>
              <a:t>SC’09, Rob </a:t>
            </a:r>
            <a:r>
              <a:rPr lang="en-US" altLang="zh-CN" sz="1800" dirty="0" smtClean="0"/>
              <a:t>Latham)</a:t>
            </a:r>
          </a:p>
          <a:p>
            <a:r>
              <a:rPr lang="en-US" altLang="zh-CN" sz="1800" dirty="0" smtClean="0"/>
              <a:t>20 </a:t>
            </a:r>
            <a:r>
              <a:rPr lang="en-US" altLang="zh-CN" sz="1800" dirty="0" err="1" smtClean="0"/>
              <a:t>GiB</a:t>
            </a:r>
            <a:r>
              <a:rPr lang="en-US" altLang="zh-CN" sz="1800" dirty="0" smtClean="0"/>
              <a:t>/s/rack  (IBM BGQ user guide)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 smtClean="0"/>
              <a:t>通讯优化 </a:t>
            </a:r>
            <a:endParaRPr lang="en-US" altLang="zh-CN" sz="2400" dirty="0" smtClean="0"/>
          </a:p>
          <a:p>
            <a:r>
              <a:rPr lang="en-US" altLang="zh-CN" sz="1800" dirty="0" smtClean="0"/>
              <a:t>&lt; 3% 5D</a:t>
            </a:r>
            <a:r>
              <a:rPr lang="zh-CN" altLang="en-US" sz="1800" dirty="0"/>
              <a:t>峰值性能 </a:t>
            </a:r>
            <a:r>
              <a:rPr lang="en-US" altLang="zh-CN" sz="1800" dirty="0"/>
              <a:t>(</a:t>
            </a:r>
            <a:r>
              <a:rPr lang="en-US" altLang="zh-CN" sz="1800" dirty="0" smtClean="0"/>
              <a:t>SWAP)</a:t>
            </a:r>
          </a:p>
          <a:p>
            <a:r>
              <a:rPr lang="en-US" altLang="zh-CN" sz="1800" dirty="0" smtClean="0">
                <a:solidFill>
                  <a:srgbClr val="3333CC"/>
                </a:solidFill>
              </a:rPr>
              <a:t>30%  5D</a:t>
            </a:r>
            <a:r>
              <a:rPr lang="zh-CN" altLang="en-US" sz="1800" dirty="0" smtClean="0">
                <a:solidFill>
                  <a:srgbClr val="3333CC"/>
                </a:solidFill>
              </a:rPr>
              <a:t>峰值性能 </a:t>
            </a:r>
            <a:r>
              <a:rPr lang="en-US" altLang="zh-CN" sz="1800" dirty="0">
                <a:solidFill>
                  <a:srgbClr val="3333CC"/>
                </a:solidFill>
              </a:rPr>
              <a:t>(SWAP2, JT </a:t>
            </a:r>
            <a:r>
              <a:rPr lang="en-US" altLang="zh-CN" sz="1800" dirty="0" err="1">
                <a:solidFill>
                  <a:srgbClr val="3333CC"/>
                </a:solidFill>
              </a:rPr>
              <a:t>Meng</a:t>
            </a:r>
            <a:r>
              <a:rPr lang="en-US" altLang="zh-CN" sz="1800" dirty="0">
                <a:solidFill>
                  <a:srgbClr val="3333CC"/>
                </a:solidFill>
              </a:rPr>
              <a:t>)</a:t>
            </a:r>
            <a:r>
              <a:rPr lang="en-US" altLang="zh-CN" sz="1800" dirty="0" smtClean="0">
                <a:solidFill>
                  <a:srgbClr val="3333CC"/>
                </a:solidFill>
              </a:rPr>
              <a:t> </a:t>
            </a:r>
          </a:p>
          <a:p>
            <a:r>
              <a:rPr lang="en-US" altLang="zh-CN" sz="1800" dirty="0" smtClean="0"/>
              <a:t>74%  5D </a:t>
            </a:r>
            <a:r>
              <a:rPr lang="zh-CN" altLang="en-US" sz="1800" dirty="0" smtClean="0"/>
              <a:t>理论峰值 </a:t>
            </a:r>
            <a:r>
              <a:rPr lang="en-US" altLang="zh-CN" sz="1800" dirty="0"/>
              <a:t>(SC’12, Dong </a:t>
            </a:r>
            <a:r>
              <a:rPr lang="en-US" altLang="zh-CN" sz="1800" dirty="0" smtClean="0"/>
              <a:t>Chen)</a:t>
            </a:r>
          </a:p>
          <a:p>
            <a:r>
              <a:rPr lang="en-US" altLang="zh-CN" sz="1800" dirty="0" smtClean="0"/>
              <a:t>0.9 GB/s/node </a:t>
            </a:r>
            <a:r>
              <a:rPr lang="en-US" altLang="zh-CN" sz="1800" dirty="0"/>
              <a:t>(SC’12, Dong Chen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图计算并行度释放</a:t>
            </a:r>
            <a:endParaRPr lang="en-US" altLang="zh-CN" sz="2400" dirty="0" smtClean="0"/>
          </a:p>
          <a:p>
            <a:r>
              <a:rPr lang="zh-CN" altLang="en-US" sz="1800" dirty="0" smtClean="0">
                <a:solidFill>
                  <a:srgbClr val="FF0000"/>
                </a:solidFill>
              </a:rPr>
              <a:t>独立集算法 </a:t>
            </a:r>
            <a:r>
              <a:rPr lang="en-US" altLang="zh-CN" sz="1800" dirty="0" smtClean="0">
                <a:solidFill>
                  <a:srgbClr val="FF0000"/>
                </a:solidFill>
              </a:rPr>
              <a:t>(CCPE, JT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Meng</a:t>
            </a:r>
            <a:r>
              <a:rPr lang="en-US" altLang="zh-CN" sz="1800" dirty="0" smtClean="0">
                <a:solidFill>
                  <a:srgbClr val="FF0000"/>
                </a:solidFill>
              </a:rPr>
              <a:t> )</a:t>
            </a:r>
          </a:p>
        </p:txBody>
      </p:sp>
      <p:sp>
        <p:nvSpPr>
          <p:cNvPr id="4" name="Rectangle 2"/>
          <p:cNvSpPr txBox="1">
            <a:spLocks/>
          </p:cNvSpPr>
          <p:nvPr/>
        </p:nvSpPr>
        <p:spPr bwMode="auto"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已取得进展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高效率</a:t>
            </a:r>
            <a:r>
              <a:rPr lang="en-US" altLang="zh-CN" sz="3600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>
                <a:latin typeface="微软雅黑" pitchFamily="34" charset="-122"/>
                <a:ea typeface="微软雅黑" pitchFamily="34" charset="-122"/>
              </a:rPr>
              <a:t>释放峰值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性能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384175" cy="365125"/>
          </a:xfrm>
        </p:spPr>
        <p:txBody>
          <a:bodyPr/>
          <a:lstStyle/>
          <a:p>
            <a:fld id="{87034D8C-3CB4-402A-BC46-2AB14C0FE90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2" descr="https://computing.llnl.gov/tutorials/bgq/images/bgqScalingArch900pi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20" y="1460500"/>
            <a:ext cx="4381500" cy="479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679643" y="6135172"/>
            <a:ext cx="261680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/>
              <a:t>BG/Q Scaling Architecture</a:t>
            </a:r>
            <a:endParaRPr lang="zh-CN" alt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4941423" y="1792069"/>
            <a:ext cx="1141659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 </a:t>
            </a:r>
          </a:p>
          <a:p>
            <a:r>
              <a:rPr lang="en-US" altLang="zh-CN" sz="1800" dirty="0" smtClean="0"/>
              <a:t>(4,4,4,4,2)</a:t>
            </a:r>
            <a:endParaRPr lang="zh-CN" altLang="en-US" sz="1800" dirty="0"/>
          </a:p>
        </p:txBody>
      </p:sp>
      <p:sp>
        <p:nvSpPr>
          <p:cNvPr id="10" name="TextBox 9"/>
          <p:cNvSpPr txBox="1"/>
          <p:nvPr/>
        </p:nvSpPr>
        <p:spPr>
          <a:xfrm>
            <a:off x="6344320" y="990600"/>
            <a:ext cx="1141659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</a:t>
            </a:r>
          </a:p>
          <a:p>
            <a:r>
              <a:rPr lang="en-US" altLang="zh-CN" sz="1800" dirty="0" smtClean="0"/>
              <a:t>(4,4,4,8,2)</a:t>
            </a:r>
            <a:endParaRPr lang="zh-CN" alt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7651284" y="1003300"/>
            <a:ext cx="1492716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</a:t>
            </a:r>
          </a:p>
          <a:p>
            <a:r>
              <a:rPr lang="en-US" altLang="zh-CN" sz="1800" dirty="0" smtClean="0"/>
              <a:t>(8,16,16,16,2)</a:t>
            </a:r>
            <a:endParaRPr lang="zh-CN" altLang="en-US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7826811" y="3429000"/>
            <a:ext cx="1141659" cy="7017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800" dirty="0" smtClean="0"/>
              <a:t>5D torus </a:t>
            </a:r>
          </a:p>
          <a:p>
            <a:r>
              <a:rPr lang="en-US" altLang="zh-CN" sz="1800" dirty="0" smtClean="0"/>
              <a:t>(2,2,2,2,2)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5541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结果质量</a:t>
            </a:r>
            <a:endParaRPr lang="en-US" altLang="zh-CN" sz="36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Content Placeholder 2"/>
          <p:cNvSpPr>
            <a:spLocks/>
          </p:cNvSpPr>
          <p:nvPr/>
        </p:nvSpPr>
        <p:spPr bwMode="auto">
          <a:xfrm>
            <a:off x="296863" y="1268413"/>
            <a:ext cx="8595617" cy="540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800" dirty="0" smtClean="0">
                <a:solidFill>
                  <a:prstClr val="black"/>
                </a:solidFill>
              </a:rPr>
              <a:t>GAGE </a:t>
            </a:r>
            <a:r>
              <a:rPr lang="zh-CN" altLang="en-US" sz="2800" dirty="0" smtClean="0">
                <a:solidFill>
                  <a:prstClr val="black"/>
                </a:solidFill>
              </a:rPr>
              <a:t>竞赛数据比较 </a:t>
            </a:r>
            <a:r>
              <a:rPr lang="en-US" altLang="zh-CN" sz="2400" dirty="0">
                <a:solidFill>
                  <a:prstClr val="black"/>
                </a:solidFill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</a:rPr>
              <a:t>Recomb</a:t>
            </a:r>
            <a:r>
              <a:rPr lang="en-US" altLang="zh-CN" sz="2400" dirty="0">
                <a:solidFill>
                  <a:prstClr val="black"/>
                </a:solidFill>
              </a:rPr>
              <a:t> 2014, JT </a:t>
            </a:r>
            <a:r>
              <a:rPr lang="en-US" altLang="zh-CN" sz="2400" dirty="0" err="1">
                <a:solidFill>
                  <a:prstClr val="black"/>
                </a:solidFill>
              </a:rPr>
              <a:t>Meng</a:t>
            </a:r>
            <a:r>
              <a:rPr lang="en-US" altLang="zh-CN" sz="2400" dirty="0">
                <a:solidFill>
                  <a:prstClr val="black"/>
                </a:solidFill>
              </a:rPr>
              <a:t>)</a:t>
            </a:r>
          </a:p>
          <a:p>
            <a:endParaRPr lang="en-US" altLang="zh-CN" sz="2800" dirty="0" smtClean="0">
              <a:solidFill>
                <a:prstClr val="black"/>
              </a:solidFill>
            </a:endParaRPr>
          </a:p>
          <a:p>
            <a:endParaRPr lang="en-US" altLang="zh-CN" sz="2800" dirty="0" smtClean="0">
              <a:solidFill>
                <a:prstClr val="black"/>
              </a:solidFill>
            </a:endParaRPr>
          </a:p>
          <a:p>
            <a:endParaRPr lang="en-US" altLang="zh-CN" sz="2800" dirty="0">
              <a:solidFill>
                <a:prstClr val="black"/>
              </a:solidFill>
            </a:endParaRPr>
          </a:p>
          <a:p>
            <a:endParaRPr lang="en-US" altLang="zh-CN" sz="2800" dirty="0" smtClean="0">
              <a:solidFill>
                <a:prstClr val="black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1" y="3555206"/>
            <a:ext cx="8566150" cy="272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1864519"/>
            <a:ext cx="8567738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圆角矩形标注 9"/>
          <p:cNvSpPr/>
          <p:nvPr/>
        </p:nvSpPr>
        <p:spPr>
          <a:xfrm>
            <a:off x="4967288" y="1905794"/>
            <a:ext cx="4032250" cy="798512"/>
          </a:xfrm>
          <a:prstGeom prst="wedgeRoundRectCallout">
            <a:avLst>
              <a:gd name="adj1" fmla="val -73252"/>
              <a:gd name="adj2" fmla="val 11386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1800" dirty="0" smtClean="0"/>
              <a:t>SWAP</a:t>
            </a:r>
            <a:r>
              <a:rPr lang="zh-CN" altLang="en-US" sz="1800" dirty="0" smtClean="0"/>
              <a:t>产生的错误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最少</a:t>
            </a:r>
            <a:endParaRPr lang="en-US" altLang="zh-CN" sz="1800" dirty="0"/>
          </a:p>
        </p:txBody>
      </p:sp>
      <p:sp>
        <p:nvSpPr>
          <p:cNvPr id="11" name="圆角矩形标注 10"/>
          <p:cNvSpPr/>
          <p:nvPr/>
        </p:nvSpPr>
        <p:spPr>
          <a:xfrm>
            <a:off x="4842031" y="4029869"/>
            <a:ext cx="4162098" cy="860425"/>
          </a:xfrm>
          <a:prstGeom prst="wedgeRoundRectCallout">
            <a:avLst>
              <a:gd name="adj1" fmla="val -53220"/>
              <a:gd name="adj2" fmla="val 67818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1800" dirty="0" smtClean="0"/>
              <a:t>SWAP</a:t>
            </a:r>
            <a:r>
              <a:rPr lang="zh-CN" altLang="en-US" sz="1800" dirty="0" smtClean="0"/>
              <a:t>产生的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在</a:t>
            </a:r>
            <a:r>
              <a:rPr lang="en-US" altLang="zh-CN" sz="1800" dirty="0" smtClean="0"/>
              <a:t>chaff </a:t>
            </a:r>
            <a:r>
              <a:rPr lang="en-US" altLang="zh-CN" sz="1800" dirty="0"/>
              <a:t>size </a:t>
            </a:r>
            <a:r>
              <a:rPr lang="zh-CN" altLang="en-US" sz="1800" dirty="0"/>
              <a:t>和</a:t>
            </a:r>
            <a:r>
              <a:rPr lang="en-US" altLang="zh-CN" sz="1800" dirty="0" err="1" smtClean="0"/>
              <a:t>unalign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ref </a:t>
            </a:r>
            <a:r>
              <a:rPr lang="en-US" altLang="zh-CN" sz="1800" dirty="0" smtClean="0"/>
              <a:t>bases</a:t>
            </a:r>
            <a:r>
              <a:rPr lang="zh-CN" altLang="en-US" sz="1800" dirty="0" smtClean="0"/>
              <a:t>这两项精度指标比较好</a:t>
            </a:r>
            <a:r>
              <a:rPr lang="en-US" altLang="zh-CN" sz="1800" dirty="0" smtClean="0"/>
              <a:t>.</a:t>
            </a:r>
            <a:endParaRPr lang="en-US" altLang="zh-CN" sz="1800" dirty="0"/>
          </a:p>
        </p:txBody>
      </p:sp>
      <p:sp>
        <p:nvSpPr>
          <p:cNvPr id="12" name="椭圆 11"/>
          <p:cNvSpPr/>
          <p:nvPr/>
        </p:nvSpPr>
        <p:spPr>
          <a:xfrm>
            <a:off x="3559176" y="3134519"/>
            <a:ext cx="719137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992938" y="3104356"/>
            <a:ext cx="719138" cy="433388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322763" y="4850606"/>
            <a:ext cx="717550" cy="433388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278313" y="5953919"/>
            <a:ext cx="717550" cy="433387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4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结果质量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296863" y="1268413"/>
            <a:ext cx="8595617" cy="540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800" dirty="0" err="1" smtClean="0">
                <a:solidFill>
                  <a:prstClr val="black"/>
                </a:solidFill>
              </a:rPr>
              <a:t>Assembthon</a:t>
            </a:r>
            <a:r>
              <a:rPr lang="en-US" altLang="zh-CN" sz="2800" dirty="0" smtClean="0">
                <a:solidFill>
                  <a:prstClr val="black"/>
                </a:solidFill>
              </a:rPr>
              <a:t> 2 </a:t>
            </a:r>
            <a:r>
              <a:rPr lang="zh-CN" altLang="en-US" sz="2800" dirty="0" smtClean="0">
                <a:solidFill>
                  <a:prstClr val="black"/>
                </a:solidFill>
              </a:rPr>
              <a:t>竞赛提供 </a:t>
            </a:r>
            <a:r>
              <a:rPr lang="en-US" altLang="zh-CN" sz="2800" dirty="0" smtClean="0">
                <a:solidFill>
                  <a:prstClr val="black"/>
                </a:solidFill>
              </a:rPr>
              <a:t>Fish</a:t>
            </a:r>
            <a:r>
              <a:rPr lang="zh-CN" altLang="en-US" sz="2800" dirty="0" smtClean="0">
                <a:solidFill>
                  <a:prstClr val="black"/>
                </a:solidFill>
              </a:rPr>
              <a:t>数据 和 </a:t>
            </a:r>
            <a:r>
              <a:rPr lang="en-US" altLang="zh-CN" sz="2800" dirty="0" smtClean="0">
                <a:solidFill>
                  <a:prstClr val="black"/>
                </a:solidFill>
              </a:rPr>
              <a:t>BGI</a:t>
            </a:r>
            <a:r>
              <a:rPr lang="zh-CN" altLang="en-US" sz="2800" dirty="0" smtClean="0">
                <a:solidFill>
                  <a:prstClr val="black"/>
                </a:solidFill>
              </a:rPr>
              <a:t>提供的炎黄大型基因组组装比较 </a:t>
            </a:r>
            <a:r>
              <a:rPr lang="en-US" altLang="zh-CN" sz="2400" dirty="0" smtClean="0">
                <a:solidFill>
                  <a:prstClr val="black"/>
                </a:solidFill>
              </a:rPr>
              <a:t>(</a:t>
            </a:r>
            <a:r>
              <a:rPr lang="en-US" altLang="zh-CN" sz="2400" dirty="0" err="1" smtClean="0">
                <a:solidFill>
                  <a:prstClr val="black"/>
                </a:solidFill>
              </a:rPr>
              <a:t>Recomb</a:t>
            </a:r>
            <a:r>
              <a:rPr lang="en-US" altLang="zh-CN" sz="2400" dirty="0">
                <a:solidFill>
                  <a:prstClr val="black"/>
                </a:solidFill>
              </a:rPr>
              <a:t> 2014, JT </a:t>
            </a:r>
            <a:r>
              <a:rPr lang="en-US" altLang="zh-CN" sz="2400" dirty="0" err="1" smtClean="0">
                <a:solidFill>
                  <a:prstClr val="black"/>
                </a:solidFill>
              </a:rPr>
              <a:t>Meng</a:t>
            </a:r>
            <a:r>
              <a:rPr lang="en-US" altLang="zh-CN" sz="2400" dirty="0" smtClean="0">
                <a:solidFill>
                  <a:prstClr val="black"/>
                </a:solidFill>
              </a:rPr>
              <a:t>)</a:t>
            </a:r>
          </a:p>
          <a:p>
            <a:endParaRPr lang="en-US" altLang="zh-CN" sz="2800" dirty="0" smtClean="0">
              <a:solidFill>
                <a:prstClr val="black"/>
              </a:solidFill>
            </a:endParaRPr>
          </a:p>
          <a:p>
            <a:endParaRPr lang="en-US" altLang="zh-CN" sz="2800" dirty="0">
              <a:solidFill>
                <a:prstClr val="black"/>
              </a:solidFill>
            </a:endParaRPr>
          </a:p>
          <a:p>
            <a:endParaRPr lang="en-US" altLang="zh-CN" sz="2800" dirty="0" smtClean="0">
              <a:solidFill>
                <a:prstClr val="black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8" y="2203450"/>
            <a:ext cx="8277225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5567808" y="2573905"/>
            <a:ext cx="3243263" cy="634433"/>
          </a:xfrm>
          <a:prstGeom prst="wedgeRoundRectCallout">
            <a:avLst>
              <a:gd name="adj1" fmla="val -53178"/>
              <a:gd name="adj2" fmla="val 12015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1800" dirty="0" smtClean="0"/>
              <a:t>SWAP</a:t>
            </a:r>
            <a:r>
              <a:rPr lang="zh-CN" altLang="en-US" sz="1800" dirty="0" smtClean="0"/>
              <a:t>产生的</a:t>
            </a:r>
            <a:r>
              <a:rPr lang="en-US" altLang="zh-CN" sz="1800" dirty="0" err="1" smtClean="0"/>
              <a:t>contig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N50</a:t>
            </a:r>
            <a:r>
              <a:rPr lang="zh-CN" altLang="en-US" sz="1800" dirty="0" smtClean="0"/>
              <a:t>最长</a:t>
            </a:r>
            <a:r>
              <a:rPr lang="en-US" altLang="zh-CN" sz="1800" dirty="0" smtClean="0"/>
              <a:t>.</a:t>
            </a:r>
            <a:endParaRPr lang="en-US" altLang="zh-CN" sz="1800" dirty="0"/>
          </a:p>
        </p:txBody>
      </p:sp>
      <p:sp>
        <p:nvSpPr>
          <p:cNvPr id="6" name="椭圆 5"/>
          <p:cNvSpPr/>
          <p:nvPr/>
        </p:nvSpPr>
        <p:spPr>
          <a:xfrm>
            <a:off x="4850258" y="3571875"/>
            <a:ext cx="717550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850258" y="4724400"/>
            <a:ext cx="717550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50258" y="5932488"/>
            <a:ext cx="717550" cy="431800"/>
          </a:xfrm>
          <a:prstGeom prst="ellipse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9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发表论文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Content Placeholder 2"/>
          <p:cNvSpPr>
            <a:spLocks/>
          </p:cNvSpPr>
          <p:nvPr/>
        </p:nvSpPr>
        <p:spPr bwMode="auto">
          <a:xfrm>
            <a:off x="296862" y="1268760"/>
            <a:ext cx="8707267" cy="5355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并行基因组装</a:t>
            </a:r>
            <a:endParaRPr lang="en-US" altLang="zh-CN" sz="2400" b="1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Pavan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Balaji</a:t>
            </a:r>
            <a:r>
              <a:rPr lang="en-US" altLang="zh-CN" sz="1600" dirty="0"/>
              <a:t>. SWAP-Assembler: Scalable and Efficient Genome Assembly towards Thousands of Cores, BMC Bioinformatics, 2014</a:t>
            </a:r>
            <a:r>
              <a:rPr lang="en-US" altLang="zh-CN" sz="1600" dirty="0" smtClean="0"/>
              <a:t>. </a:t>
            </a:r>
            <a:r>
              <a:rPr lang="en-US" altLang="zh-CN" sz="1600" b="1" dirty="0"/>
              <a:t>(JCR 1</a:t>
            </a:r>
            <a:r>
              <a:rPr lang="zh-CN" altLang="en-US" sz="1600" b="1" dirty="0"/>
              <a:t>区</a:t>
            </a:r>
            <a:r>
              <a:rPr lang="en-US" altLang="zh-CN" sz="1600" b="1" dirty="0"/>
              <a:t>, IF=3.0)</a:t>
            </a:r>
            <a:endParaRPr lang="zh-CN" altLang="zh-CN" sz="1600" b="1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Pavan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Balaji</a:t>
            </a:r>
            <a:r>
              <a:rPr lang="en-US" altLang="zh-CN" sz="1600" dirty="0"/>
              <a:t>. SWAP-Assembler: Scalable and Efficient Genome Assembly towards Thousands of Cores, RECOMB-</a:t>
            </a:r>
            <a:r>
              <a:rPr lang="en-US" altLang="zh-CN" sz="1600" dirty="0" err="1"/>
              <a:t>seq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2014. </a:t>
            </a:r>
            <a:r>
              <a:rPr lang="en-US" altLang="zh-CN" sz="1600" b="1" dirty="0"/>
              <a:t>(CCF </a:t>
            </a:r>
            <a:r>
              <a:rPr lang="zh-CN" altLang="en-US" sz="1600" b="1" dirty="0"/>
              <a:t>推荐会议 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区</a:t>
            </a:r>
            <a:r>
              <a:rPr lang="en-US" altLang="zh-CN" sz="1600" b="1" dirty="0"/>
              <a:t>)</a:t>
            </a:r>
          </a:p>
          <a:p>
            <a:pPr lvl="0"/>
            <a:endParaRPr lang="en-US" altLang="zh-CN" sz="16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/>
              <a:t> </a:t>
            </a:r>
            <a:r>
              <a:rPr lang="zh-CN" altLang="en-US" sz="2400" b="1" dirty="0"/>
              <a:t>基因组装计算理论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b="1" dirty="0"/>
              <a:t>, </a:t>
            </a:r>
            <a:r>
              <a:rPr lang="en-US" altLang="zh-CN" sz="1600" dirty="0"/>
              <a:t>etc. A Highly Scalable List Ranking Algorithm on </a:t>
            </a:r>
            <a:r>
              <a:rPr lang="en-US" altLang="zh-CN" sz="1600" dirty="0" err="1"/>
              <a:t>Pregel</a:t>
            </a:r>
            <a:r>
              <a:rPr lang="en-US" altLang="zh-CN" sz="1600" dirty="0"/>
              <a:t> framework, Concurrency and Computation: Practice and Experience. </a:t>
            </a:r>
            <a:r>
              <a:rPr lang="en-US" altLang="zh-CN" sz="1600" b="1" dirty="0"/>
              <a:t>(JCR 2</a:t>
            </a:r>
            <a:r>
              <a:rPr lang="zh-CN" altLang="en-US" sz="1600" b="1" dirty="0"/>
              <a:t>区</a:t>
            </a:r>
            <a:r>
              <a:rPr lang="en-US" altLang="zh-CN" sz="1600" b="1" dirty="0"/>
              <a:t>, IF=0.784, Major Revision</a:t>
            </a:r>
            <a:r>
              <a:rPr lang="en-US" altLang="zh-CN" sz="1600" b="1" dirty="0" smtClean="0"/>
              <a:t>)</a:t>
            </a:r>
            <a:endParaRPr lang="en-US" altLang="zh-CN" sz="1600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dirty="0" smtClean="0"/>
              <a:t>Li </a:t>
            </a:r>
            <a:r>
              <a:rPr lang="en-US" altLang="zh-CN" sz="1600" dirty="0" err="1"/>
              <a:t>Zeng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Jiefeng</a:t>
            </a:r>
            <a:r>
              <a:rPr lang="en-US" altLang="zh-CN" sz="1600" dirty="0"/>
              <a:t> Cheng, </a:t>
            </a: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Bingqiang</a:t>
            </a:r>
            <a:r>
              <a:rPr lang="en-US" altLang="zh-CN" sz="1600" dirty="0"/>
              <a:t> Wang,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. Improved Parallel Processing of Massive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 for Genome Assembly, </a:t>
            </a:r>
            <a:r>
              <a:rPr lang="en-US" altLang="zh-CN" sz="1600" dirty="0" err="1"/>
              <a:t>APWeb</a:t>
            </a:r>
            <a:r>
              <a:rPr lang="en-US" altLang="zh-CN" sz="1600" dirty="0"/>
              <a:t> 2013</a:t>
            </a:r>
            <a:r>
              <a:rPr lang="en-US" altLang="zh-CN" sz="1600" dirty="0" smtClean="0"/>
              <a:t>. </a:t>
            </a:r>
            <a:r>
              <a:rPr lang="en-US" altLang="zh-CN" sz="1600" b="1" dirty="0"/>
              <a:t>(CCF </a:t>
            </a:r>
            <a:r>
              <a:rPr lang="zh-CN" altLang="en-US" sz="1600" b="1" dirty="0"/>
              <a:t>推荐会议 </a:t>
            </a:r>
            <a:r>
              <a:rPr lang="en-US" altLang="zh-CN" sz="1600" b="1" dirty="0" smtClean="0"/>
              <a:t>3</a:t>
            </a:r>
            <a:r>
              <a:rPr lang="zh-CN" altLang="en-US" sz="1600" b="1" dirty="0" smtClean="0"/>
              <a:t>区</a:t>
            </a:r>
            <a:r>
              <a:rPr lang="en-US" altLang="zh-CN" sz="1600" b="1" dirty="0"/>
              <a:t>)</a:t>
            </a:r>
            <a:endParaRPr lang="en-US" altLang="zh-CN" sz="16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Jiefeng</a:t>
            </a:r>
            <a:r>
              <a:rPr lang="en-US" altLang="zh-CN" sz="1600" dirty="0"/>
              <a:t> Cheng,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Small World Asynchronous Parallel Model for Genome Assembly, NPC </a:t>
            </a:r>
            <a:r>
              <a:rPr lang="en-US" altLang="zh-CN" sz="1600" dirty="0" smtClean="0"/>
              <a:t>2012 </a:t>
            </a:r>
            <a:r>
              <a:rPr lang="en-US" altLang="zh-CN" sz="1600" b="1" dirty="0"/>
              <a:t>(CCF </a:t>
            </a:r>
            <a:r>
              <a:rPr lang="zh-CN" altLang="en-US" sz="1600" b="1" dirty="0"/>
              <a:t>推荐会议 </a:t>
            </a:r>
            <a:r>
              <a:rPr lang="en-US" altLang="zh-CN" sz="1600" b="1" dirty="0" smtClean="0"/>
              <a:t>3</a:t>
            </a:r>
            <a:r>
              <a:rPr lang="zh-CN" altLang="en-US" sz="1600" b="1" dirty="0" smtClean="0"/>
              <a:t>区</a:t>
            </a:r>
            <a:r>
              <a:rPr lang="en-US" altLang="zh-CN" sz="1600" b="1" dirty="0"/>
              <a:t>)</a:t>
            </a:r>
            <a:endParaRPr lang="en-US" altLang="zh-CN" sz="1600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DGraph</a:t>
            </a:r>
            <a:r>
              <a:rPr lang="en-US" altLang="zh-CN" sz="1600" dirty="0"/>
              <a:t>: Algorithms for </a:t>
            </a:r>
            <a:r>
              <a:rPr lang="en-US" altLang="zh-CN" sz="1600" dirty="0" err="1"/>
              <a:t>Shortgun</a:t>
            </a:r>
            <a:r>
              <a:rPr lang="en-US" altLang="zh-CN" sz="1600" dirty="0"/>
              <a:t> Reads Assembly Using De </a:t>
            </a:r>
            <a:r>
              <a:rPr lang="en-US" altLang="zh-CN" sz="1600" dirty="0" err="1"/>
              <a:t>Bruijn</a:t>
            </a:r>
            <a:r>
              <a:rPr lang="en-US" altLang="zh-CN" sz="1600" dirty="0"/>
              <a:t> Graph, NPC 2012  </a:t>
            </a:r>
            <a:r>
              <a:rPr lang="en-US" altLang="zh-CN" sz="1600" b="1" dirty="0"/>
              <a:t>(CCF </a:t>
            </a:r>
            <a:r>
              <a:rPr lang="zh-CN" altLang="en-US" sz="1600" b="1" dirty="0"/>
              <a:t>推荐会议 </a:t>
            </a:r>
            <a:r>
              <a:rPr lang="en-US" altLang="zh-CN" sz="1600" b="1" dirty="0" smtClean="0"/>
              <a:t>3</a:t>
            </a:r>
            <a:r>
              <a:rPr lang="zh-CN" altLang="en-US" sz="1600" b="1" dirty="0" smtClean="0"/>
              <a:t>区</a:t>
            </a:r>
            <a:r>
              <a:rPr lang="en-US" altLang="zh-CN" sz="16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775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已发表论文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Content Placeholder 2"/>
          <p:cNvSpPr>
            <a:spLocks/>
          </p:cNvSpPr>
          <p:nvPr/>
        </p:nvSpPr>
        <p:spPr bwMode="auto">
          <a:xfrm>
            <a:off x="296861" y="1313765"/>
            <a:ext cx="8707267" cy="5399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其他论文</a:t>
            </a:r>
            <a:endParaRPr lang="en-US" altLang="zh-CN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Yanjie</a:t>
            </a:r>
            <a:r>
              <a:rPr lang="en-US" altLang="zh-CN" sz="1600" dirty="0"/>
              <a:t> Wei. An Energy Efficient Clustering Scheme for Data Aggregation in Wireless Sensor Networks, </a:t>
            </a:r>
            <a:r>
              <a:rPr lang="en-US" altLang="zh-CN" sz="1600" dirty="0" smtClean="0"/>
              <a:t>JCST, </a:t>
            </a:r>
            <a:r>
              <a:rPr lang="en-US" altLang="zh-CN" sz="1600" dirty="0"/>
              <a:t>2013   </a:t>
            </a:r>
            <a:r>
              <a:rPr lang="en-US" altLang="zh-CN" sz="1600" b="1" dirty="0" smtClean="0"/>
              <a:t>(JCR 3</a:t>
            </a:r>
            <a:r>
              <a:rPr lang="zh-CN" altLang="en-US" sz="1600" b="1" dirty="0" smtClean="0"/>
              <a:t>区</a:t>
            </a:r>
            <a:r>
              <a:rPr lang="en-US" altLang="zh-CN" sz="1600" b="1" dirty="0" smtClean="0"/>
              <a:t>, IF=0.642)</a:t>
            </a:r>
            <a:endParaRPr lang="en-US" altLang="zh-CN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Jianrui</a:t>
            </a:r>
            <a:r>
              <a:rPr lang="en-US" altLang="zh-CN" sz="1600" dirty="0"/>
              <a:t> Yuan, </a:t>
            </a:r>
            <a:r>
              <a:rPr lang="en-US" altLang="zh-CN" sz="1600" dirty="0" err="1"/>
              <a:t>Shengzhong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Liansheng</a:t>
            </a:r>
            <a:r>
              <a:rPr lang="en-US" altLang="zh-CN" sz="1600" dirty="0"/>
              <a:t> Tan, Power Adjusting Algorithm: A New Cross-Layer Power Saving Mechanism for Mobile Ad-Hoc Networks. </a:t>
            </a:r>
            <a:r>
              <a:rPr lang="en-US" altLang="zh-CN" sz="1600" dirty="0" smtClean="0"/>
              <a:t>JCST, </a:t>
            </a:r>
            <a:r>
              <a:rPr lang="en-US" altLang="zh-CN" sz="1600" dirty="0"/>
              <a:t>2013 </a:t>
            </a:r>
            <a:r>
              <a:rPr lang="en-US" altLang="zh-CN" sz="1600" b="1" dirty="0" smtClean="0"/>
              <a:t>(</a:t>
            </a:r>
            <a:r>
              <a:rPr lang="en-US" altLang="zh-CN" sz="1600" b="1" dirty="0"/>
              <a:t>JCR 3</a:t>
            </a:r>
            <a:r>
              <a:rPr lang="zh-CN" altLang="en-US" sz="1600" b="1" dirty="0"/>
              <a:t>区</a:t>
            </a:r>
            <a:r>
              <a:rPr lang="en-US" altLang="zh-CN" sz="1600" b="1" dirty="0"/>
              <a:t>, IF=0.642</a:t>
            </a:r>
            <a:r>
              <a:rPr lang="en-US" altLang="zh-CN" sz="1600" dirty="0" smtClean="0"/>
              <a:t>)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err="1"/>
              <a:t>Liansheng</a:t>
            </a:r>
            <a:r>
              <a:rPr lang="en-US" altLang="zh-CN" sz="1600" dirty="0"/>
              <a:t> Tan, </a:t>
            </a:r>
            <a:r>
              <a:rPr lang="en-US" altLang="zh-CN" sz="1600" b="1" dirty="0"/>
              <a:t>Jintao </a:t>
            </a:r>
            <a:r>
              <a:rPr lang="en-US" altLang="zh-CN" sz="1600" b="1" dirty="0" err="1"/>
              <a:t>Meng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Jie</a:t>
            </a:r>
            <a:r>
              <a:rPr lang="en-US" altLang="zh-CN" sz="1600" dirty="0"/>
              <a:t> Li and Han-</a:t>
            </a:r>
            <a:r>
              <a:rPr lang="en-US" altLang="zh-CN" sz="1600" dirty="0" err="1"/>
              <a:t>Chieh</a:t>
            </a:r>
            <a:r>
              <a:rPr lang="en-US" altLang="zh-CN" sz="1600" dirty="0"/>
              <a:t> Chao. PH-MAC: A Periodically Hybrid MAC Protocol for Wireless sensor networks, </a:t>
            </a:r>
            <a:r>
              <a:rPr lang="en-US" altLang="zh-CN" sz="1600" dirty="0" smtClean="0"/>
              <a:t>JIT, </a:t>
            </a:r>
            <a:r>
              <a:rPr lang="en-US" altLang="zh-CN" sz="1600" dirty="0"/>
              <a:t>2007. </a:t>
            </a:r>
            <a:r>
              <a:rPr lang="en-US" altLang="zh-CN" sz="1600" b="1" dirty="0"/>
              <a:t>(JCR </a:t>
            </a:r>
            <a:r>
              <a:rPr lang="en-US" altLang="zh-CN" sz="1600" b="1" dirty="0" smtClean="0"/>
              <a:t>4</a:t>
            </a:r>
            <a:r>
              <a:rPr lang="zh-CN" altLang="en-US" sz="1600" b="1" dirty="0" smtClean="0"/>
              <a:t>区</a:t>
            </a:r>
            <a:r>
              <a:rPr lang="en-US" altLang="zh-CN" sz="1600" b="1" dirty="0"/>
              <a:t>, </a:t>
            </a:r>
            <a:r>
              <a:rPr lang="en-US" altLang="zh-CN" sz="1600" b="1" dirty="0" smtClean="0"/>
              <a:t>IF=0.481)</a:t>
            </a:r>
            <a:endParaRPr lang="en-US" altLang="zh-CN" sz="1600" b="1" dirty="0"/>
          </a:p>
          <a:p>
            <a:endParaRPr lang="en-US" altLang="zh-CN" sz="1800" dirty="0"/>
          </a:p>
          <a:p>
            <a:pPr marL="342900" lvl="0" indent="-342900">
              <a:buFont typeface="+mj-lt"/>
              <a:buAutoNum type="arabicPeriod"/>
            </a:pPr>
            <a:endParaRPr lang="zh-CN" altLang="zh-CN" sz="1800" dirty="0"/>
          </a:p>
          <a:p>
            <a:pPr lvl="0"/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61174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63"/>
          <p:cNvSpPr>
            <a:spLocks noChangeArrowheads="1"/>
          </p:cNvSpPr>
          <p:nvPr/>
        </p:nvSpPr>
        <p:spPr bwMode="auto">
          <a:xfrm>
            <a:off x="0" y="5859463"/>
            <a:ext cx="8937625" cy="539750"/>
          </a:xfrm>
          <a:prstGeom prst="roundRect">
            <a:avLst>
              <a:gd name="adj" fmla="val 16667"/>
            </a:avLst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3" name="AutoShape 62"/>
          <p:cNvSpPr>
            <a:spLocks noChangeArrowheads="1"/>
          </p:cNvSpPr>
          <p:nvPr/>
        </p:nvSpPr>
        <p:spPr bwMode="auto">
          <a:xfrm>
            <a:off x="0" y="4959350"/>
            <a:ext cx="8937625" cy="539750"/>
          </a:xfrm>
          <a:prstGeom prst="roundRect">
            <a:avLst>
              <a:gd name="adj" fmla="val 16667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0964" name="AutoShape 61"/>
          <p:cNvSpPr>
            <a:spLocks noChangeArrowheads="1"/>
          </p:cNvSpPr>
          <p:nvPr/>
        </p:nvSpPr>
        <p:spPr bwMode="auto">
          <a:xfrm>
            <a:off x="0" y="4103688"/>
            <a:ext cx="8937625" cy="53975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AutoShape 60"/>
          <p:cNvSpPr>
            <a:spLocks noChangeArrowheads="1"/>
          </p:cNvSpPr>
          <p:nvPr/>
        </p:nvSpPr>
        <p:spPr bwMode="auto">
          <a:xfrm>
            <a:off x="0" y="3203575"/>
            <a:ext cx="8937625" cy="53975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AutoShape 59"/>
          <p:cNvSpPr>
            <a:spLocks noChangeArrowheads="1"/>
          </p:cNvSpPr>
          <p:nvPr/>
        </p:nvSpPr>
        <p:spPr bwMode="auto">
          <a:xfrm>
            <a:off x="0" y="2259013"/>
            <a:ext cx="8937625" cy="53975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7" name="AutoShape 58"/>
          <p:cNvSpPr>
            <a:spLocks noChangeArrowheads="1"/>
          </p:cNvSpPr>
          <p:nvPr/>
        </p:nvSpPr>
        <p:spPr bwMode="auto">
          <a:xfrm>
            <a:off x="0" y="1314450"/>
            <a:ext cx="8937625" cy="53975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年度研究计划及时间安排</a:t>
            </a:r>
          </a:p>
        </p:txBody>
      </p:sp>
      <p:sp>
        <p:nvSpPr>
          <p:cNvPr id="40969" name="AutoShape 29"/>
          <p:cNvSpPr>
            <a:spLocks noChangeArrowheads="1"/>
          </p:cNvSpPr>
          <p:nvPr/>
        </p:nvSpPr>
        <p:spPr bwMode="auto">
          <a:xfrm>
            <a:off x="2771775" y="1314450"/>
            <a:ext cx="315059" cy="5084763"/>
          </a:xfrm>
          <a:prstGeom prst="downArrow">
            <a:avLst>
              <a:gd name="adj1" fmla="val 50000"/>
              <a:gd name="adj2" fmla="val 314019"/>
            </a:avLst>
          </a:prstGeom>
          <a:gradFill>
            <a:gsLst>
              <a:gs pos="0">
                <a:schemeClr val="accent1">
                  <a:shade val="51000"/>
                  <a:satMod val="130000"/>
                </a:schemeClr>
              </a:gs>
              <a:gs pos="21000">
                <a:schemeClr val="accent1">
                  <a:shade val="93000"/>
                  <a:satMod val="130000"/>
                  <a:alpha val="13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</a:gradFill>
          <a:ln/>
          <a:effectLst>
            <a:glow rad="127000">
              <a:schemeClr val="accent1">
                <a:alpha val="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Rectangle 46"/>
          <p:cNvSpPr>
            <a:spLocks noChangeArrowheads="1"/>
          </p:cNvSpPr>
          <p:nvPr/>
        </p:nvSpPr>
        <p:spPr bwMode="auto">
          <a:xfrm>
            <a:off x="0" y="1296521"/>
            <a:ext cx="24881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2014.10-2015.3</a:t>
            </a:r>
            <a:endParaRPr lang="zh-CN" altLang="en-US" sz="2800" dirty="0"/>
          </a:p>
        </p:txBody>
      </p:sp>
      <p:sp>
        <p:nvSpPr>
          <p:cNvPr id="40971" name="Rectangle 47"/>
          <p:cNvSpPr>
            <a:spLocks noChangeArrowheads="1"/>
          </p:cNvSpPr>
          <p:nvPr/>
        </p:nvSpPr>
        <p:spPr bwMode="auto">
          <a:xfrm>
            <a:off x="3311524" y="1296521"/>
            <a:ext cx="5310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 smtClean="0"/>
              <a:t>优化</a:t>
            </a:r>
            <a:r>
              <a:rPr lang="en-US" altLang="zh-CN" sz="2800" dirty="0" smtClean="0"/>
              <a:t>SWAP 2</a:t>
            </a:r>
            <a:r>
              <a:rPr lang="zh-CN" altLang="en-US" sz="2800" dirty="0" smtClean="0"/>
              <a:t>并扩展到百万核</a:t>
            </a:r>
            <a:endParaRPr lang="zh-CN" altLang="en-US" sz="2800" dirty="0"/>
          </a:p>
        </p:txBody>
      </p:sp>
      <p:sp>
        <p:nvSpPr>
          <p:cNvPr id="40972" name="Rectangle 48"/>
          <p:cNvSpPr>
            <a:spLocks noChangeArrowheads="1"/>
          </p:cNvSpPr>
          <p:nvPr/>
        </p:nvSpPr>
        <p:spPr bwMode="auto">
          <a:xfrm>
            <a:off x="0" y="2242671"/>
            <a:ext cx="23054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2015.3-2015.6</a:t>
            </a:r>
            <a:endParaRPr lang="zh-CN" altLang="en-US" sz="2800" dirty="0"/>
          </a:p>
        </p:txBody>
      </p:sp>
      <p:sp>
        <p:nvSpPr>
          <p:cNvPr id="40973" name="Rectangle 49"/>
          <p:cNvSpPr>
            <a:spLocks noChangeArrowheads="1"/>
          </p:cNvSpPr>
          <p:nvPr/>
        </p:nvSpPr>
        <p:spPr bwMode="auto">
          <a:xfrm>
            <a:off x="3267075" y="2196634"/>
            <a:ext cx="57087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撰写论文提交</a:t>
            </a:r>
            <a:r>
              <a:rPr lang="en-US" altLang="zh-CN" sz="2800" dirty="0"/>
              <a:t>SC/ICPP/Bioinformatics</a:t>
            </a:r>
          </a:p>
        </p:txBody>
      </p:sp>
      <p:sp>
        <p:nvSpPr>
          <p:cNvPr id="40974" name="Rectangle 50"/>
          <p:cNvSpPr>
            <a:spLocks noChangeArrowheads="1"/>
          </p:cNvSpPr>
          <p:nvPr/>
        </p:nvSpPr>
        <p:spPr bwMode="auto">
          <a:xfrm>
            <a:off x="0" y="3231684"/>
            <a:ext cx="23054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2015.6-2015.9</a:t>
            </a:r>
            <a:endParaRPr lang="zh-CN" altLang="en-US" sz="2800" dirty="0"/>
          </a:p>
        </p:txBody>
      </p:sp>
      <p:sp>
        <p:nvSpPr>
          <p:cNvPr id="40975" name="Rectangle 51"/>
          <p:cNvSpPr>
            <a:spLocks noChangeArrowheads="1"/>
          </p:cNvSpPr>
          <p:nvPr/>
        </p:nvSpPr>
        <p:spPr bwMode="auto">
          <a:xfrm>
            <a:off x="3290888" y="3187234"/>
            <a:ext cx="56882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SWAP-Meta</a:t>
            </a:r>
            <a:r>
              <a:rPr lang="zh-CN" altLang="en-US" sz="2800" dirty="0" smtClean="0"/>
              <a:t>扩展百万核</a:t>
            </a:r>
            <a:r>
              <a:rPr lang="en-US" altLang="zh-CN" sz="2800" dirty="0" smtClean="0"/>
              <a:t>, </a:t>
            </a:r>
            <a:r>
              <a:rPr lang="zh-CN" altLang="en-US" sz="2800" dirty="0" smtClean="0"/>
              <a:t>并修正精度</a:t>
            </a:r>
            <a:endParaRPr lang="zh-CN" altLang="en-US" sz="2800" dirty="0"/>
          </a:p>
        </p:txBody>
      </p:sp>
      <p:sp>
        <p:nvSpPr>
          <p:cNvPr id="40976" name="Rectangle 52"/>
          <p:cNvSpPr>
            <a:spLocks noChangeArrowheads="1"/>
          </p:cNvSpPr>
          <p:nvPr/>
        </p:nvSpPr>
        <p:spPr bwMode="auto">
          <a:xfrm>
            <a:off x="0" y="4131796"/>
            <a:ext cx="24881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2015.9-2015.10</a:t>
            </a:r>
            <a:endParaRPr lang="zh-CN" altLang="en-US" sz="2800" dirty="0"/>
          </a:p>
        </p:txBody>
      </p:sp>
      <p:sp>
        <p:nvSpPr>
          <p:cNvPr id="40977" name="Rectangle 53"/>
          <p:cNvSpPr>
            <a:spLocks noChangeArrowheads="1"/>
          </p:cNvSpPr>
          <p:nvPr/>
        </p:nvSpPr>
        <p:spPr bwMode="auto">
          <a:xfrm>
            <a:off x="3287713" y="4087346"/>
            <a:ext cx="51576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SWAP-Meta</a:t>
            </a:r>
            <a:r>
              <a:rPr lang="zh-CN" altLang="en-US" sz="2800" dirty="0"/>
              <a:t>实验</a:t>
            </a:r>
            <a:r>
              <a:rPr lang="zh-CN" altLang="en-US" sz="2800" dirty="0" smtClean="0"/>
              <a:t>测试，精度验证</a:t>
            </a:r>
            <a:endParaRPr lang="en-US" altLang="zh-CN" sz="2800" dirty="0"/>
          </a:p>
        </p:txBody>
      </p:sp>
      <p:sp>
        <p:nvSpPr>
          <p:cNvPr id="40978" name="Rectangle 54"/>
          <p:cNvSpPr>
            <a:spLocks noChangeArrowheads="1"/>
          </p:cNvSpPr>
          <p:nvPr/>
        </p:nvSpPr>
        <p:spPr bwMode="auto">
          <a:xfrm>
            <a:off x="0" y="4943009"/>
            <a:ext cx="26709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2015.10-2015.12</a:t>
            </a:r>
            <a:endParaRPr lang="zh-CN" altLang="en-US" sz="2800" dirty="0"/>
          </a:p>
        </p:txBody>
      </p:sp>
      <p:sp>
        <p:nvSpPr>
          <p:cNvPr id="40979" name="Rectangle 55"/>
          <p:cNvSpPr>
            <a:spLocks noChangeArrowheads="1"/>
          </p:cNvSpPr>
          <p:nvPr/>
        </p:nvSpPr>
        <p:spPr bwMode="auto">
          <a:xfrm>
            <a:off x="0" y="5843121"/>
            <a:ext cx="24881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2015.12-2016.2</a:t>
            </a:r>
            <a:endParaRPr lang="zh-CN" altLang="en-US" sz="2800" dirty="0"/>
          </a:p>
        </p:txBody>
      </p:sp>
      <p:sp>
        <p:nvSpPr>
          <p:cNvPr id="22" name="Rectangle 56"/>
          <p:cNvSpPr>
            <a:spLocks noChangeArrowheads="1"/>
          </p:cNvSpPr>
          <p:nvPr/>
        </p:nvSpPr>
        <p:spPr bwMode="auto">
          <a:xfrm>
            <a:off x="3311526" y="5843120"/>
            <a:ext cx="56261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/>
              <a:t>撰写</a:t>
            </a:r>
            <a:r>
              <a:rPr lang="zh-CN" altLang="en-US" sz="2800" dirty="0" smtClean="0"/>
              <a:t>毕业论文， 论文答辩</a:t>
            </a:r>
            <a:endParaRPr lang="en-US" altLang="zh-CN" sz="2800" dirty="0"/>
          </a:p>
        </p:txBody>
      </p:sp>
      <p:sp>
        <p:nvSpPr>
          <p:cNvPr id="23" name="Rectangle 53"/>
          <p:cNvSpPr>
            <a:spLocks noChangeArrowheads="1"/>
          </p:cNvSpPr>
          <p:nvPr/>
        </p:nvSpPr>
        <p:spPr bwMode="auto">
          <a:xfrm>
            <a:off x="3266855" y="4965597"/>
            <a:ext cx="60312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撰写论文</a:t>
            </a:r>
            <a:r>
              <a:rPr lang="zh-CN" altLang="en-US" sz="2800" dirty="0" smtClean="0"/>
              <a:t>提交</a:t>
            </a:r>
            <a:r>
              <a:rPr lang="en-US" altLang="zh-CN" sz="2800" dirty="0" err="1" smtClean="0"/>
              <a:t>Recomb</a:t>
            </a:r>
            <a:r>
              <a:rPr lang="en-US" altLang="zh-CN" sz="2800" dirty="0" smtClean="0"/>
              <a:t>/IPDPS/BMC Bio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参考文献</a:t>
            </a:r>
          </a:p>
        </p:txBody>
      </p:sp>
      <p:sp>
        <p:nvSpPr>
          <p:cNvPr id="4" name="Content Placeholder 2"/>
          <p:cNvSpPr>
            <a:spLocks/>
          </p:cNvSpPr>
          <p:nvPr/>
        </p:nvSpPr>
        <p:spPr bwMode="auto">
          <a:xfrm>
            <a:off x="296862" y="1268412"/>
            <a:ext cx="8505607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 smtClean="0"/>
              <a:t>组装基本理论</a:t>
            </a:r>
            <a:endParaRPr lang="en-US" altLang="zh-CN" sz="2400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zh-CN" sz="1800" b="1" dirty="0"/>
              <a:t>Pevzner PA</a:t>
            </a:r>
            <a:r>
              <a:rPr lang="en-US" altLang="zh-CN" sz="1800" dirty="0"/>
              <a:t>, An </a:t>
            </a:r>
            <a:r>
              <a:rPr lang="en-US" altLang="zh-CN" sz="1800" dirty="0" err="1"/>
              <a:t>Eulerian</a:t>
            </a:r>
            <a:r>
              <a:rPr lang="en-US" altLang="zh-CN" sz="1800" dirty="0"/>
              <a:t> path approach to DNA fragment assembly. PNAS  2001.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1800" b="1" dirty="0" err="1"/>
              <a:t>Mihai</a:t>
            </a:r>
            <a:r>
              <a:rPr lang="en-US" altLang="zh-CN" sz="1800" b="1" dirty="0"/>
              <a:t>  Pop</a:t>
            </a:r>
            <a:r>
              <a:rPr lang="en-US" altLang="zh-CN" sz="1800" dirty="0"/>
              <a:t>, Genome sequence assembly: Algorithms and issues. Computer, 2002.</a:t>
            </a:r>
          </a:p>
          <a:p>
            <a:endParaRPr lang="en-US" altLang="zh-CN" sz="2400" dirty="0"/>
          </a:p>
          <a:p>
            <a:pPr marL="285750" indent="-285750">
              <a:buFont typeface="Arial" charset="0"/>
              <a:buChar char="•"/>
            </a:pPr>
            <a:r>
              <a:rPr lang="en-US" altLang="zh-CN" sz="2400" dirty="0" smtClean="0"/>
              <a:t> </a:t>
            </a:r>
            <a:r>
              <a:rPr lang="zh-CN" altLang="en-US" sz="2400" b="1" dirty="0"/>
              <a:t>单</a:t>
            </a:r>
            <a:r>
              <a:rPr lang="zh-CN" altLang="en-US" sz="2400" b="1" dirty="0" smtClean="0"/>
              <a:t>基因组组装</a:t>
            </a:r>
            <a:endParaRPr lang="en-US" altLang="zh-CN" sz="24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/>
              <a:t>SOAPdenovo</a:t>
            </a:r>
            <a:r>
              <a:rPr lang="en-US" altLang="zh-CN" sz="1800" dirty="0"/>
              <a:t>:  Li </a:t>
            </a:r>
            <a:r>
              <a:rPr lang="en-US" altLang="zh-CN" sz="1800" dirty="0" err="1"/>
              <a:t>Ruiqiang</a:t>
            </a:r>
            <a:r>
              <a:rPr lang="en-US" altLang="zh-CN" sz="1800" dirty="0"/>
              <a:t>, De novo assembly of human genomes with massively parallel short read sequencing. Genome research 2010.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/>
              <a:t>PASHA</a:t>
            </a:r>
            <a:r>
              <a:rPr lang="en-US" altLang="zh-CN" sz="1800" dirty="0"/>
              <a:t>:   Liu </a:t>
            </a:r>
            <a:r>
              <a:rPr lang="en-US" altLang="zh-CN" sz="1800" dirty="0" err="1"/>
              <a:t>Yunchao</a:t>
            </a:r>
            <a:r>
              <a:rPr lang="en-US" altLang="zh-CN" sz="1800" dirty="0"/>
              <a:t>, Parallelized short read assembly of large genomes using de </a:t>
            </a:r>
            <a:r>
              <a:rPr lang="en-US" altLang="zh-CN" sz="1800" dirty="0" err="1"/>
              <a:t>Bruijn</a:t>
            </a:r>
            <a:r>
              <a:rPr lang="en-US" altLang="zh-CN" sz="1800" dirty="0"/>
              <a:t> graphs. BMC bioinformatics 2011.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ABySS</a:t>
            </a:r>
            <a:r>
              <a:rPr lang="en-US" altLang="zh-CN" sz="1800" dirty="0"/>
              <a:t>:  Simpson JT, ABySS: a parallel assembler for short read sequence data. Genome research 2009.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YAGA</a:t>
            </a:r>
            <a:r>
              <a:rPr lang="en-US" altLang="zh-CN" sz="1800" dirty="0"/>
              <a:t>:   Jackson BG, Parallel short sequence assembly of </a:t>
            </a:r>
            <a:r>
              <a:rPr lang="en-US" altLang="zh-CN" sz="1800" dirty="0" err="1"/>
              <a:t>transcriptomes</a:t>
            </a:r>
            <a:r>
              <a:rPr lang="en-US" altLang="zh-CN" sz="1800" dirty="0"/>
              <a:t>. BMC bioinformatics 2009.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Ray</a:t>
            </a:r>
            <a:r>
              <a:rPr lang="en-US" altLang="zh-CN" sz="1800" dirty="0"/>
              <a:t>: </a:t>
            </a:r>
            <a:r>
              <a:rPr lang="en-US" altLang="zh-CN" sz="1800" dirty="0" err="1"/>
              <a:t>Boisvert</a:t>
            </a:r>
            <a:r>
              <a:rPr lang="en-US" altLang="zh-CN" sz="1800" dirty="0"/>
              <a:t> S, Ray: simultaneous assembly of reads from a mix of </a:t>
            </a:r>
            <a:r>
              <a:rPr lang="en-US" altLang="zh-CN" sz="1800" dirty="0" err="1"/>
              <a:t>highthroughput</a:t>
            </a:r>
            <a:r>
              <a:rPr lang="en-US" altLang="zh-CN" sz="1800" dirty="0"/>
              <a:t> sequencing technologies. Journal of Computational Biology 2010</a:t>
            </a:r>
            <a:r>
              <a:rPr lang="en-US" altLang="zh-CN" sz="1800" dirty="0" smtClean="0"/>
              <a:t>.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913944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参考文献</a:t>
            </a:r>
          </a:p>
        </p:txBody>
      </p:sp>
      <p:sp>
        <p:nvSpPr>
          <p:cNvPr id="4" name="Content Placeholder 2"/>
          <p:cNvSpPr>
            <a:spLocks/>
          </p:cNvSpPr>
          <p:nvPr/>
        </p:nvSpPr>
        <p:spPr bwMode="auto">
          <a:xfrm>
            <a:off x="296863" y="1268412"/>
            <a:ext cx="8190572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zh-CN" altLang="en-US" sz="2400" b="1" dirty="0"/>
              <a:t>宏</a:t>
            </a:r>
            <a:r>
              <a:rPr lang="zh-CN" altLang="en-US" sz="2400" b="1" dirty="0" smtClean="0"/>
              <a:t>基因组组装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/>
              <a:t>Ray-meta: </a:t>
            </a:r>
            <a:r>
              <a:rPr lang="en-US" altLang="zh-CN" sz="1800" dirty="0" err="1"/>
              <a:t>Boisver</a:t>
            </a:r>
            <a:r>
              <a:rPr lang="en-US" altLang="zh-CN" sz="1800" dirty="0"/>
              <a:t> S,  Ray Meta: scalable de novo </a:t>
            </a:r>
            <a:r>
              <a:rPr lang="en-US" altLang="zh-CN" sz="1800" dirty="0" err="1"/>
              <a:t>metagenome</a:t>
            </a:r>
            <a:r>
              <a:rPr lang="en-US" altLang="zh-CN" sz="1800" dirty="0"/>
              <a:t> assembly and profiling, genome biology, </a:t>
            </a:r>
            <a:r>
              <a:rPr lang="en-US" altLang="zh-CN" sz="1800" dirty="0" smtClean="0"/>
              <a:t>2012</a:t>
            </a:r>
            <a:endParaRPr lang="en-US" altLang="zh-CN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err="1" smtClean="0"/>
              <a:t>MetaVelvet</a:t>
            </a:r>
            <a:r>
              <a:rPr lang="en-US" altLang="zh-CN" sz="1800" b="1" dirty="0" smtClean="0"/>
              <a:t>: </a:t>
            </a:r>
            <a:r>
              <a:rPr lang="en-US" altLang="zh-CN" sz="1800" dirty="0" err="1" smtClean="0"/>
              <a:t>Namiki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T,  </a:t>
            </a:r>
            <a:r>
              <a:rPr lang="en-US" altLang="zh-CN" sz="1800" dirty="0" err="1"/>
              <a:t>MetaVelvet</a:t>
            </a:r>
            <a:r>
              <a:rPr lang="en-US" altLang="zh-CN" sz="1800" dirty="0"/>
              <a:t>: an extension of Velvet assembler to de novo </a:t>
            </a:r>
            <a:r>
              <a:rPr lang="en-US" altLang="zh-CN" sz="1800" dirty="0" err="1"/>
              <a:t>metagenome</a:t>
            </a:r>
            <a:r>
              <a:rPr lang="en-US" altLang="zh-CN" sz="1800" dirty="0"/>
              <a:t> assembly from short sequence reads, NAR, 2012</a:t>
            </a:r>
            <a:r>
              <a:rPr lang="en-US" altLang="zh-CN" sz="1800" dirty="0" smtClean="0"/>
              <a:t>.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IDBA-UD: </a:t>
            </a:r>
            <a:r>
              <a:rPr lang="en-US" altLang="zh-CN" sz="1800" dirty="0" err="1" smtClean="0"/>
              <a:t>Peng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Yu, IDBA-UD: a de novo assembler for single-cell and </a:t>
            </a:r>
            <a:r>
              <a:rPr lang="en-US" altLang="zh-CN" sz="1800" dirty="0" err="1"/>
              <a:t>metagenomic</a:t>
            </a:r>
            <a:r>
              <a:rPr lang="en-US" altLang="zh-CN" sz="1800" dirty="0"/>
              <a:t> sequencing data with highly uneven depth, Bioinformatics. 2012</a:t>
            </a:r>
          </a:p>
          <a:p>
            <a:endParaRPr lang="en-US" altLang="zh-CN" sz="2400" dirty="0"/>
          </a:p>
          <a:p>
            <a:pPr marL="285750" indent="-285750">
              <a:buFont typeface="Arial" charset="0"/>
              <a:buChar char="•"/>
            </a:pPr>
            <a:r>
              <a:rPr lang="zh-CN" altLang="en-US" sz="2400" b="1" dirty="0"/>
              <a:t>组装竞赛</a:t>
            </a:r>
            <a:endParaRPr lang="en-US" altLang="zh-CN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smtClean="0"/>
              <a:t>GAGE: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SL </a:t>
            </a:r>
            <a:r>
              <a:rPr lang="en-US" altLang="zh-CN" sz="1800" dirty="0" err="1"/>
              <a:t>Salzberg</a:t>
            </a:r>
            <a:r>
              <a:rPr lang="en-US" altLang="zh-CN" sz="1800" dirty="0"/>
              <a:t>, GAGE: A critical evaluation of genome assemblies and assembly algorithms, Genome Research, </a:t>
            </a:r>
            <a:r>
              <a:rPr lang="en-US" altLang="zh-CN" sz="1800" dirty="0" smtClean="0"/>
              <a:t>2011</a:t>
            </a:r>
            <a:endParaRPr lang="en-US" altLang="zh-CN" sz="18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err="1" smtClean="0"/>
              <a:t>Assemblathon</a:t>
            </a:r>
            <a:r>
              <a:rPr lang="en-US" altLang="zh-CN" sz="1800" b="1" dirty="0" smtClean="0"/>
              <a:t> 2</a:t>
            </a:r>
            <a:r>
              <a:rPr lang="en-US" altLang="zh-CN" sz="1800" dirty="0" smtClean="0"/>
              <a:t>: KR </a:t>
            </a:r>
            <a:r>
              <a:rPr lang="en-US" altLang="zh-CN" sz="1800" dirty="0" err="1"/>
              <a:t>Bradnam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Assemblathon</a:t>
            </a:r>
            <a:r>
              <a:rPr lang="en-US" altLang="zh-CN" sz="1800" dirty="0"/>
              <a:t> 2: evaluating de novo methods of genome assembly in three vertebrate species, Giga Science, 2014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b="1" dirty="0" err="1"/>
              <a:t>GrePraGChallenge</a:t>
            </a:r>
            <a:r>
              <a:rPr lang="en-US" altLang="zh-CN" sz="1800" dirty="0"/>
              <a:t>: http://genome.jgi.doe.gov/GrePraGChallenge_2/GrePraGChallenge_2.info.html</a:t>
            </a:r>
          </a:p>
          <a:p>
            <a:pPr marL="285750" indent="-285750">
              <a:buFont typeface="Arial" charset="0"/>
              <a:buChar char="•"/>
            </a:pPr>
            <a:endParaRPr lang="en-US" altLang="zh-CN" sz="2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16505" y="0"/>
            <a:ext cx="8229600" cy="1143000"/>
          </a:xfrm>
        </p:spPr>
        <p:txBody>
          <a:bodyPr/>
          <a:lstStyle/>
          <a:p>
            <a:pPr algn="l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致谢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116505" y="1243297"/>
            <a:ext cx="6680085" cy="466097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dirty="0" smtClean="0"/>
              <a:t>魏彦杰博士   先进院</a:t>
            </a:r>
          </a:p>
          <a:p>
            <a:r>
              <a:rPr lang="zh-CN" altLang="en-US" dirty="0" smtClean="0"/>
              <a:t>王丙强博士   华大基因</a:t>
            </a:r>
            <a:r>
              <a:rPr lang="en-US" altLang="zh-CN" dirty="0" smtClean="0"/>
              <a:t>/</a:t>
            </a:r>
            <a:r>
              <a:rPr lang="zh-CN" altLang="en-US" dirty="0" smtClean="0"/>
              <a:t>深圳超算</a:t>
            </a:r>
            <a:endParaRPr lang="en-US" altLang="zh-CN" dirty="0" smtClean="0"/>
          </a:p>
          <a:p>
            <a:r>
              <a:rPr lang="zh-CN" altLang="en-US" dirty="0"/>
              <a:t>成杰峰博士   先进</a:t>
            </a:r>
            <a:r>
              <a:rPr lang="zh-CN" altLang="en-US" dirty="0" smtClean="0"/>
              <a:t>院</a:t>
            </a:r>
            <a:r>
              <a:rPr lang="en-US" altLang="zh-CN" dirty="0" smtClean="0"/>
              <a:t>/</a:t>
            </a:r>
            <a:r>
              <a:rPr lang="zh-CN" altLang="en-US" dirty="0" smtClean="0"/>
              <a:t>诺亚实验室</a:t>
            </a:r>
            <a:endParaRPr lang="zh-CN" altLang="en-US" dirty="0"/>
          </a:p>
          <a:p>
            <a:r>
              <a:rPr lang="en-US" altLang="zh-CN" dirty="0" err="1" smtClean="0"/>
              <a:t>Pavan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Balaji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阿贡实验室</a:t>
            </a:r>
            <a:endParaRPr lang="en-US" altLang="zh-CN" dirty="0" smtClean="0"/>
          </a:p>
          <a:p>
            <a:r>
              <a:rPr lang="en-US" altLang="zh-CN" dirty="0" err="1" smtClean="0"/>
              <a:t>Sanmin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Seo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阿</a:t>
            </a:r>
            <a:r>
              <a:rPr lang="zh-CN" altLang="en-US" dirty="0"/>
              <a:t>贡</a:t>
            </a:r>
            <a:r>
              <a:rPr lang="zh-CN" altLang="en-US" dirty="0" smtClean="0"/>
              <a:t>实验室</a:t>
            </a:r>
            <a:endParaRPr lang="en-US" altLang="zh-CN" dirty="0" smtClean="0"/>
          </a:p>
          <a:p>
            <a:r>
              <a:rPr lang="en-US" altLang="zh-CN" dirty="0" err="1" smtClean="0"/>
              <a:t>Huiwei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Lv</a:t>
            </a:r>
            <a:r>
              <a:rPr lang="en-US" altLang="zh-CN" dirty="0" smtClean="0"/>
              <a:t>         </a:t>
            </a:r>
            <a:r>
              <a:rPr lang="zh-CN" altLang="en-US" dirty="0" smtClean="0"/>
              <a:t>计算所</a:t>
            </a:r>
            <a:r>
              <a:rPr lang="en-US" altLang="zh-CN" dirty="0" smtClean="0"/>
              <a:t>/</a:t>
            </a:r>
            <a:r>
              <a:rPr lang="zh-CN" altLang="en-US" dirty="0" smtClean="0"/>
              <a:t>阿</a:t>
            </a:r>
            <a:r>
              <a:rPr lang="zh-CN" altLang="en-US" dirty="0"/>
              <a:t>贡</a:t>
            </a:r>
            <a:r>
              <a:rPr lang="zh-CN" altLang="en-US" dirty="0" smtClean="0"/>
              <a:t>实验室</a:t>
            </a:r>
            <a:endParaRPr lang="en-US" altLang="zh-CN" dirty="0" smtClean="0"/>
          </a:p>
          <a:p>
            <a:r>
              <a:rPr lang="en-US" altLang="zh-CN" dirty="0"/>
              <a:t>Robert Latham</a:t>
            </a:r>
            <a:r>
              <a:rPr lang="zh-CN" altLang="en-US" dirty="0"/>
              <a:t>阿贡</a:t>
            </a:r>
            <a:r>
              <a:rPr lang="zh-CN" altLang="en-US" dirty="0" smtClean="0"/>
              <a:t>实验室</a:t>
            </a:r>
            <a:endParaRPr lang="en-US" altLang="zh-CN" dirty="0" smtClean="0"/>
          </a:p>
          <a:p>
            <a:r>
              <a:rPr lang="en-US" altLang="zh-CN" dirty="0" smtClean="0"/>
              <a:t>Dong Chen       IBM Watson</a:t>
            </a:r>
          </a:p>
          <a:p>
            <a:endParaRPr lang="zh-CN" altLang="en-US" dirty="0" smtClean="0"/>
          </a:p>
          <a:p>
            <a:pPr>
              <a:buFont typeface="Arial" charset="0"/>
              <a:buNone/>
            </a:pPr>
            <a:endParaRPr lang="zh-CN" altLang="en-US" dirty="0" smtClean="0"/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60" y="3755745"/>
            <a:ext cx="2215399" cy="151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0" y="5995618"/>
            <a:ext cx="5670630" cy="85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 descr="AN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141" y="5591761"/>
            <a:ext cx="3311859" cy="124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A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35" y="1358770"/>
            <a:ext cx="2092035" cy="209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现</a:t>
            </a:r>
            <a:r>
              <a:rPr lang="zh-CN" altLang="en-US" sz="4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已取得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进展</a:t>
            </a:r>
            <a:r>
              <a:rPr lang="en-US" altLang="zh-CN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问题挑战</a:t>
            </a:r>
            <a:endParaRPr lang="en-US" altLang="zh-CN" sz="4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86533" y="1313765"/>
            <a:ext cx="8190911" cy="5400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 smtClean="0"/>
              <a:t>高可扩展</a:t>
            </a:r>
            <a:endParaRPr lang="en-US" altLang="zh-CN" sz="2400" dirty="0" smtClean="0"/>
          </a:p>
          <a:p>
            <a:r>
              <a:rPr lang="zh-CN" altLang="en-US" sz="2000" dirty="0" smtClean="0"/>
              <a:t>图</a:t>
            </a:r>
            <a:r>
              <a:rPr lang="zh-CN" altLang="en-US" sz="2000" dirty="0"/>
              <a:t>收缩</a:t>
            </a:r>
            <a:r>
              <a:rPr lang="zh-CN" altLang="en-US" sz="2000" dirty="0" smtClean="0"/>
              <a:t>部分内存压缩和扩展性</a:t>
            </a:r>
            <a:endParaRPr lang="en-US" altLang="zh-CN" sz="2000" dirty="0" smtClean="0"/>
          </a:p>
          <a:p>
            <a:pPr marL="0" indent="0">
              <a:buFont typeface="Arial" charset="0"/>
              <a:buNone/>
            </a:pP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高效率</a:t>
            </a:r>
            <a:endParaRPr lang="en-US" altLang="zh-CN" sz="2400" dirty="0" smtClean="0"/>
          </a:p>
          <a:p>
            <a:r>
              <a:rPr lang="zh-CN" altLang="en-US" sz="2000" dirty="0" smtClean="0"/>
              <a:t>进一步提高系统效率</a:t>
            </a:r>
            <a:endParaRPr lang="en-US" altLang="zh-CN" sz="2000" dirty="0" smtClean="0"/>
          </a:p>
          <a:p>
            <a:r>
              <a:rPr lang="en-US" altLang="zh-CN" sz="2000" dirty="0" smtClean="0"/>
              <a:t>IO/</a:t>
            </a:r>
            <a:r>
              <a:rPr lang="zh-CN" altLang="en-US" sz="2000" dirty="0" smtClean="0"/>
              <a:t>计算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通讯重叠技术对现有系统的影响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Font typeface="Arial" charset="0"/>
              <a:buNone/>
            </a:pPr>
            <a:r>
              <a:rPr lang="zh-CN" altLang="en-US" sz="2400" dirty="0" smtClean="0"/>
              <a:t>高质量</a:t>
            </a:r>
            <a:endParaRPr lang="en-US" altLang="zh-CN" sz="2400" dirty="0" smtClean="0"/>
          </a:p>
          <a:p>
            <a:r>
              <a:rPr lang="zh-CN" altLang="en-US" sz="2000" dirty="0" smtClean="0"/>
              <a:t>变长</a:t>
            </a:r>
            <a:r>
              <a:rPr lang="en-US" altLang="zh-CN" sz="2000" dirty="0" err="1" smtClean="0"/>
              <a:t>kmer</a:t>
            </a:r>
            <a:r>
              <a:rPr lang="zh-CN" altLang="en-US" sz="2000" dirty="0" smtClean="0"/>
              <a:t>分支节点解耦策略的验证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生物应用背景</a:t>
            </a:r>
            <a:endParaRPr lang="en-US" altLang="zh-CN" sz="2400" dirty="0"/>
          </a:p>
          <a:p>
            <a:pPr>
              <a:buFont typeface="Arial" pitchFamily="34" charset="0"/>
              <a:buChar char="•"/>
            </a:pPr>
            <a:r>
              <a:rPr lang="zh-CN" altLang="en-US" sz="2000" dirty="0" smtClean="0"/>
              <a:t>千人基因组，宏基因组，癌症患者数据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03939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夏至">
    <a:dk1>
      <a:sysClr val="windowText" lastClr="000000"/>
    </a:dk1>
    <a:lt1>
      <a:sysClr val="window" lastClr="FFFFFF"/>
    </a:lt1>
    <a:dk2>
      <a:srgbClr val="4F271C"/>
    </a:dk2>
    <a:lt2>
      <a:srgbClr val="E7DEC9"/>
    </a:lt2>
    <a:accent1>
      <a:srgbClr val="3891A7"/>
    </a:accent1>
    <a:accent2>
      <a:srgbClr val="FEB80A"/>
    </a:accent2>
    <a:accent3>
      <a:srgbClr val="C32D2E"/>
    </a:accent3>
    <a:accent4>
      <a:srgbClr val="84AA33"/>
    </a:accent4>
    <a:accent5>
      <a:srgbClr val="964305"/>
    </a:accent5>
    <a:accent6>
      <a:srgbClr val="475A8D"/>
    </a:accent6>
    <a:hlink>
      <a:srgbClr val="8DC765"/>
    </a:hlink>
    <a:folHlink>
      <a:srgbClr val="AA8A1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50119</TotalTime>
  <Words>3090</Words>
  <Application>Microsoft Office PowerPoint</Application>
  <PresentationFormat>全屏显示(4:3)</PresentationFormat>
  <Paragraphs>497</Paragraphs>
  <Slides>30</Slides>
  <Notes>1</Notes>
  <HiddenSlides>1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拟采取的技术方案-高扩展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年度研究计划及时间安排</vt:lpstr>
      <vt:lpstr>参考文献</vt:lpstr>
      <vt:lpstr>参考文献</vt:lpstr>
      <vt:lpstr>致谢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互联网数据工程重点实验室</dc:title>
  <dc:creator>yueqiang</dc:creator>
  <cp:lastModifiedBy>孟金涛</cp:lastModifiedBy>
  <cp:revision>6779</cp:revision>
  <dcterms:modified xsi:type="dcterms:W3CDTF">2015-11-26T07:02:23Z</dcterms:modified>
</cp:coreProperties>
</file>